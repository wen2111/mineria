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7"/>
  </p:notesMasterIdLst>
  <p:sldIdLst>
    <p:sldId id="285" r:id="rId2"/>
    <p:sldId id="270" r:id="rId3"/>
    <p:sldId id="271" r:id="rId4"/>
    <p:sldId id="272" r:id="rId5"/>
    <p:sldId id="273" r:id="rId6"/>
    <p:sldId id="274" r:id="rId7"/>
    <p:sldId id="290" r:id="rId8"/>
    <p:sldId id="291" r:id="rId9"/>
    <p:sldId id="277" r:id="rId10"/>
    <p:sldId id="278" r:id="rId11"/>
    <p:sldId id="279" r:id="rId12"/>
    <p:sldId id="280" r:id="rId13"/>
    <p:sldId id="281" r:id="rId14"/>
    <p:sldId id="292" r:id="rId15"/>
    <p:sldId id="284" r:id="rId16"/>
  </p:sldIdLst>
  <p:sldSz cx="9144000" cy="5143500" type="screen16x9"/>
  <p:notesSz cx="6858000" cy="9144000"/>
  <p:embeddedFontLst>
    <p:embeddedFont>
      <p:font typeface="Arial Black" panose="020B0A04020102020204" pitchFamily="34" charset="0"/>
      <p:bold r:id="rId18"/>
    </p:embeddedFont>
    <p:embeddedFont>
      <p:font typeface="Arial Rounded MT Bold" panose="020F0704030504030204" pitchFamily="34" charset="0"/>
      <p:regular r:id="rId19"/>
    </p:embeddedFont>
    <p:embeddedFont>
      <p:font typeface="Didact Gothic" panose="00000500000000000000" pitchFamily="2" charset="0"/>
      <p:regular r:id="rId20"/>
    </p:embeddedFont>
    <p:embeddedFont>
      <p:font typeface="Libre Franklin" pitchFamily="2" charset="0"/>
      <p:regular r:id="rId21"/>
      <p:bold r:id="rId22"/>
      <p:italic r:id="rId23"/>
      <p:boldItalic r:id="rId24"/>
    </p:embeddedFont>
    <p:embeddedFont>
      <p:font typeface="Poppins" panose="00000500000000000000" pitchFamily="2" charset="0"/>
      <p:regular r:id="rId25"/>
      <p:bold r:id="rId26"/>
      <p:italic r:id="rId27"/>
      <p:boldItalic r:id="rId28"/>
    </p:embeddedFont>
    <p:embeddedFont>
      <p:font typeface="Raleway" pitchFamily="2"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3440"/>
    <p:restoredTop sz="94595"/>
  </p:normalViewPr>
  <p:slideViewPr>
    <p:cSldViewPr snapToGrid="0">
      <p:cViewPr varScale="1">
        <p:scale>
          <a:sx n="89" d="100"/>
          <a:sy n="89" d="100"/>
        </p:scale>
        <p:origin x="12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21" Type="http://schemas.openxmlformats.org/officeDocument/2006/relationships/font" Target="fonts/font4.fntdata"/><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modSld">
      <pc:chgData name="Mario Aragón Valderrama" userId="ab42593c9091a3c7" providerId="LiveId" clId="{A94EC9C8-FC2E-45B4-829C-AEB6B286F687}" dt="2025-11-10T11:24:48.369" v="208" actId="20577"/>
      <pc:docMkLst>
        <pc:docMk/>
      </pc:docMkLst>
      <pc:sldChg chg="modSp mod">
        <pc:chgData name="Mario Aragón Valderrama" userId="ab42593c9091a3c7" providerId="LiveId" clId="{A94EC9C8-FC2E-45B4-829C-AEB6B286F687}" dt="2025-11-10T11:24:48.369" v="208" actId="20577"/>
        <pc:sldMkLst>
          <pc:docMk/>
          <pc:sldMk cId="3535935293" sldId="291"/>
        </pc:sldMkLst>
        <pc:spChg chg="mod">
          <ac:chgData name="Mario Aragón Valderrama" userId="ab42593c9091a3c7" providerId="LiveId" clId="{A94EC9C8-FC2E-45B4-829C-AEB6B286F687}" dt="2025-11-10T11:24:48.369" v="208" actId="20577"/>
          <ac:spMkLst>
            <pc:docMk/>
            <pc:sldMk cId="3535935293" sldId="291"/>
            <ac:spMk id="3" creationId="{2EEF3947-4909-7EA1-9CA3-22FEB8ED7AAA}"/>
          </ac:spMkLst>
        </pc:sp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_rels/drawing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	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      	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  	Diseño del </a:t>
          </a:r>
          <a:r>
            <a:rPr lang="es-ES" sz="800" dirty="0" err="1"/>
            <a:t>metadata</a:t>
          </a:r>
          <a:r>
            <a:rPr lang="es-ES" sz="800" dirty="0"/>
            <a:t> – Melissa</a:t>
          </a:r>
        </a:p>
        <a:p>
          <a:r>
            <a:rPr lang="es-ES" sz="800" dirty="0"/>
            <a:t>     	EDA– </a:t>
          </a:r>
          <a:r>
            <a:rPr lang="es-ES" sz="800" dirty="0" err="1"/>
            <a:t>Wenjia</a:t>
          </a:r>
          <a:r>
            <a:rPr lang="es-ES" sz="800" dirty="0"/>
            <a:t> y </a:t>
          </a:r>
          <a:r>
            <a:rPr lang="es-ES" sz="800" dirty="0" err="1"/>
            <a:t>Siling</a:t>
          </a:r>
          <a:endParaRPr lang="es-ES" sz="800" dirty="0"/>
        </a:p>
        <a:p>
          <a:r>
            <a:rPr lang="es-ES" sz="800" dirty="0"/>
            <a:t>     	Análisis de </a:t>
          </a:r>
          <a:r>
            <a:rPr lang="es-ES" sz="800" dirty="0" err="1"/>
            <a:t>outliers</a:t>
          </a:r>
          <a:r>
            <a:rPr lang="es-ES" sz="800" dirty="0"/>
            <a:t> (pre-imputación):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 	Data </a:t>
          </a:r>
          <a:r>
            <a:rPr lang="es-ES" sz="800" b="1" dirty="0" err="1">
              <a:solidFill>
                <a:srgbClr val="002060"/>
              </a:solidFill>
            </a:rPr>
            <a:t>preparation</a:t>
          </a:r>
          <a:endParaRPr lang="es-ES" sz="800" b="1" dirty="0">
            <a:solidFill>
              <a:srgbClr val="002060"/>
            </a:solidFill>
          </a:endParaRPr>
        </a:p>
        <a:p>
          <a:r>
            <a:rPr lang="es-ES" sz="800" dirty="0"/>
            <a:t>	Imputación </a:t>
          </a:r>
          <a:r>
            <a:rPr lang="es-ES" sz="800" dirty="0" err="1"/>
            <a:t>missings</a:t>
          </a:r>
          <a:r>
            <a:rPr lang="es-ES" sz="800" dirty="0"/>
            <a:t> – Mario y Laura</a:t>
          </a:r>
        </a:p>
        <a:p>
          <a:r>
            <a:rPr lang="es-ES" sz="800" dirty="0"/>
            <a:t>	</a:t>
          </a:r>
          <a:r>
            <a:rPr lang="es-ES" sz="800" dirty="0" err="1"/>
            <a:t>Tratatamiento</a:t>
          </a:r>
          <a:r>
            <a:rPr lang="es-ES" sz="800" dirty="0"/>
            <a:t> </a:t>
          </a:r>
          <a:r>
            <a:rPr lang="es-ES" sz="800" dirty="0" err="1"/>
            <a:t>Outliers</a:t>
          </a:r>
          <a:r>
            <a:rPr lang="es-ES" sz="800" dirty="0"/>
            <a:t> – Mario, Laura y Melissa</a:t>
          </a:r>
        </a:p>
        <a:p>
          <a:r>
            <a:rPr lang="es-ES" sz="800" dirty="0"/>
            <a:t>	</a:t>
          </a:r>
          <a:r>
            <a:rPr lang="es-ES" sz="800" dirty="0" err="1"/>
            <a:t>Feature</a:t>
          </a:r>
          <a:r>
            <a:rPr lang="es-ES" sz="800" dirty="0"/>
            <a:t> </a:t>
          </a:r>
          <a:r>
            <a:rPr lang="es-ES" sz="800" dirty="0" err="1"/>
            <a:t>Engineering</a:t>
          </a:r>
          <a:r>
            <a:rPr lang="es-ES" sz="800" dirty="0"/>
            <a:t>–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            	</a:t>
          </a:r>
          <a:r>
            <a:rPr lang="es-ES" sz="800" b="1" dirty="0" err="1">
              <a:solidFill>
                <a:srgbClr val="002060"/>
              </a:solidFill>
            </a:rPr>
            <a:t>Modeling</a:t>
          </a:r>
          <a:r>
            <a:rPr lang="es-ES" sz="800" b="1" dirty="0">
              <a:solidFill>
                <a:srgbClr val="002060"/>
              </a:solidFill>
            </a:rPr>
            <a:t> &amp; </a:t>
          </a:r>
          <a:r>
            <a:rPr lang="es-ES" sz="800" b="1" dirty="0" err="1">
              <a:solidFill>
                <a:srgbClr val="002060"/>
              </a:solidFill>
            </a:rPr>
            <a:t>Evaluation</a:t>
          </a:r>
          <a:endParaRPr lang="es-ES" sz="800" b="1" dirty="0">
            <a:solidFill>
              <a:srgbClr val="002060"/>
            </a:solidFill>
          </a:endParaRPr>
        </a:p>
        <a:p>
          <a:r>
            <a:rPr lang="es-ES" sz="700" dirty="0"/>
            <a:t>	KNN – </a:t>
          </a:r>
          <a:r>
            <a:rPr lang="es-ES" sz="700" dirty="0" err="1"/>
            <a:t>Siling</a:t>
          </a:r>
          <a:r>
            <a:rPr lang="es-ES" sz="700" dirty="0"/>
            <a:t> y Laura</a:t>
          </a:r>
        </a:p>
        <a:p>
          <a:r>
            <a:rPr lang="es-ES" sz="700" dirty="0"/>
            <a:t>               </a:t>
          </a:r>
          <a:r>
            <a:rPr lang="es-ES" sz="700" dirty="0" err="1"/>
            <a:t>Naive</a:t>
          </a:r>
          <a:r>
            <a:rPr lang="es-ES" sz="700" dirty="0"/>
            <a:t> Bayes – Melissa y </a:t>
          </a:r>
          <a:r>
            <a:rPr lang="es-ES" sz="700" dirty="0" err="1"/>
            <a:t>Wenjia</a:t>
          </a:r>
          <a:endParaRPr lang="es-ES" sz="700" dirty="0"/>
        </a:p>
        <a:p>
          <a:r>
            <a:rPr lang="es-ES" sz="700" dirty="0"/>
            <a:t>               </a:t>
          </a:r>
          <a:r>
            <a:rPr lang="es-ES" sz="700" dirty="0" err="1"/>
            <a:t>Testing</a:t>
          </a:r>
          <a:r>
            <a:rPr lang="es-ES" sz="700" dirty="0"/>
            <a:t> múltiples configuraciones de variables</a:t>
          </a:r>
          <a:endParaRPr lang="es-ES" sz="800" b="1" dirty="0">
            <a:solidFill>
              <a:srgbClr val="002060"/>
            </a:solidFill>
          </a:endParaRP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B9802D42-76B7-4AE8-9963-A689582E6B35}">
      <dgm:prSet phldrT="[Texto]" phldr="0" custT="1"/>
      <dgm:spPr/>
      <dgm:t>
        <a:bodyPr/>
        <a:lstStyle/>
        <a:p>
          <a:r>
            <a:rPr lang="es-ES" sz="800" b="1" dirty="0">
              <a:solidFill>
                <a:srgbClr val="002060"/>
              </a:solidFill>
            </a:rPr>
            <a:t>            	</a:t>
          </a:r>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DF5B256E-1BCA-468C-AF06-39814118FCEF}" type="presOf" srcId="{B0A54B65-E829-4553-8B45-B4EBDAF3C233}" destId="{B12AE6C0-B4ED-4A08-98AA-6732B6DC385E}" srcOrd="0" destOrd="0"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712DF1A2-9649-4A26-A0DA-529186D8E53F}" type="presOf" srcId="{D3DB2985-286F-4E1B-A3EF-B67DCD1C08F6}" destId="{9368D843-76C1-42B0-834B-2DA28FCB0771}" srcOrd="0" destOrd="0" presId="urn:microsoft.com/office/officeart/2005/8/layout/vList4"/>
    <dgm:cxn modelId="{A44658AC-B46F-4B08-B962-B06FFFD99B33}" srcId="{E0DBD592-C900-4D5D-A79A-93A58E8DA172}" destId="{B9802D42-76B7-4AE8-9963-A689582E6B35}" srcOrd="4" destOrd="0" parTransId="{5522CECA-745D-4D76-A87A-0DA536D5330D}" sibTransId="{1B62F6DE-B574-43AD-B04F-ABDF9E20E863}"/>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F0F9E5-841B-FF4D-9CB5-2F1286FB0B81}" type="doc">
      <dgm:prSet loTypeId="urn:microsoft.com/office/officeart/2005/8/layout/chevron1" loCatId="list" qsTypeId="urn:microsoft.com/office/officeart/2005/8/quickstyle/simple1" qsCatId="simple" csTypeId="urn:microsoft.com/office/officeart/2005/8/colors/accent1_2" csCatId="accent1" phldr="1"/>
      <dgm:spPr/>
      <dgm:t>
        <a:bodyPr/>
        <a:lstStyle/>
        <a:p>
          <a:endParaRPr lang="en-GB"/>
        </a:p>
      </dgm:t>
    </dgm:pt>
    <dgm:pt modelId="{4B7548F0-E499-254C-9C9F-E02382EEB5E9}">
      <dgm:prSet/>
      <dgm:spPr/>
      <dgm:t>
        <a:bodyPr/>
        <a:lstStyle/>
        <a:p>
          <a:r>
            <a:rPr lang="es-ES" b="1" i="0" dirty="0"/>
            <a:t>9NN</a:t>
          </a:r>
          <a:endParaRPr lang="en-ES" dirty="0"/>
        </a:p>
      </dgm:t>
    </dgm:pt>
    <dgm:pt modelId="{C262CEBB-7006-A242-ADD3-B9235EF8735C}" type="parTrans" cxnId="{702EFC95-8543-6E42-8059-09D9E582B607}">
      <dgm:prSet/>
      <dgm:spPr/>
      <dgm:t>
        <a:bodyPr/>
        <a:lstStyle/>
        <a:p>
          <a:endParaRPr lang="en-GB"/>
        </a:p>
      </dgm:t>
    </dgm:pt>
    <dgm:pt modelId="{82304106-D479-C64E-9799-69BDAE43ED77}" type="sibTrans" cxnId="{702EFC95-8543-6E42-8059-09D9E582B607}">
      <dgm:prSet/>
      <dgm:spPr/>
      <dgm:t>
        <a:bodyPr/>
        <a:lstStyle/>
        <a:p>
          <a:endParaRPr lang="en-GB"/>
        </a:p>
      </dgm:t>
    </dgm:pt>
    <dgm:pt modelId="{67E4A056-504D-AF46-98B0-70C35D9DA4E2}" type="pres">
      <dgm:prSet presAssocID="{9DF0F9E5-841B-FF4D-9CB5-2F1286FB0B81}" presName="Name0" presStyleCnt="0">
        <dgm:presLayoutVars>
          <dgm:dir/>
          <dgm:animLvl val="lvl"/>
          <dgm:resizeHandles val="exact"/>
        </dgm:presLayoutVars>
      </dgm:prSet>
      <dgm:spPr/>
    </dgm:pt>
    <dgm:pt modelId="{73A4D826-B1A8-D24F-BF3E-D0DBA84542CC}" type="pres">
      <dgm:prSet presAssocID="{4B7548F0-E499-254C-9C9F-E02382EEB5E9}" presName="parTxOnly" presStyleLbl="node1" presStyleIdx="0" presStyleCnt="1" custScaleY="100359" custLinFactY="20531" custLinFactNeighborX="-24777" custLinFactNeighborY="100000">
        <dgm:presLayoutVars>
          <dgm:chMax val="0"/>
          <dgm:chPref val="0"/>
          <dgm:bulletEnabled val="1"/>
        </dgm:presLayoutVars>
      </dgm:prSet>
      <dgm:spPr/>
    </dgm:pt>
  </dgm:ptLst>
  <dgm:cxnLst>
    <dgm:cxn modelId="{1002DE02-5ED3-4342-BDE1-FA3F312D68AD}" type="presOf" srcId="{4B7548F0-E499-254C-9C9F-E02382EEB5E9}" destId="{73A4D826-B1A8-D24F-BF3E-D0DBA84542CC}" srcOrd="0" destOrd="0" presId="urn:microsoft.com/office/officeart/2005/8/layout/chevron1"/>
    <dgm:cxn modelId="{F9CE3E5F-7A8A-9343-B18D-8C94EFA95159}" type="presOf" srcId="{9DF0F9E5-841B-FF4D-9CB5-2F1286FB0B81}" destId="{67E4A056-504D-AF46-98B0-70C35D9DA4E2}" srcOrd="0" destOrd="0" presId="urn:microsoft.com/office/officeart/2005/8/layout/chevron1"/>
    <dgm:cxn modelId="{702EFC95-8543-6E42-8059-09D9E582B607}" srcId="{9DF0F9E5-841B-FF4D-9CB5-2F1286FB0B81}" destId="{4B7548F0-E499-254C-9C9F-E02382EEB5E9}" srcOrd="0" destOrd="0" parTransId="{C262CEBB-7006-A242-ADD3-B9235EF8735C}" sibTransId="{82304106-D479-C64E-9799-69BDAE43ED77}"/>
    <dgm:cxn modelId="{69D04B74-A752-5042-9CF7-6117575B75E6}" type="presParOf" srcId="{67E4A056-504D-AF46-98B0-70C35D9DA4E2}" destId="{73A4D826-B1A8-D24F-BF3E-D0DBA84542CC}" srcOrd="0" destOrd="0" presId="urn:microsoft.com/office/officeart/2005/8/layout/chevron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6A8F40A-6895-D54A-891B-0666CD46C550}" type="doc">
      <dgm:prSet loTypeId="urn:microsoft.com/office/officeart/2005/8/layout/lProcess3" loCatId="process" qsTypeId="urn:microsoft.com/office/officeart/2005/8/quickstyle/simple1" qsCatId="simple" csTypeId="urn:microsoft.com/office/officeart/2005/8/colors/accent1_2" csCatId="accent1" phldr="1"/>
      <dgm:spPr/>
      <dgm:t>
        <a:bodyPr/>
        <a:lstStyle/>
        <a:p>
          <a:endParaRPr lang="en-GB"/>
        </a:p>
      </dgm:t>
    </dgm:pt>
    <dgm:pt modelId="{C1C1743D-B186-F748-A62C-FD5A8898EAD1}">
      <dgm:prSet/>
      <dgm:spPr/>
      <dgm:t>
        <a:bodyPr/>
        <a:lstStyle/>
        <a:p>
          <a:r>
            <a:rPr lang="es-ES" b="1" i="0" dirty="0" err="1"/>
            <a:t>Naive</a:t>
          </a:r>
          <a:r>
            <a:rPr lang="es-ES" b="1" i="0" dirty="0"/>
            <a:t> bayes</a:t>
          </a:r>
          <a:endParaRPr lang="en-ES" dirty="0"/>
        </a:p>
      </dgm:t>
    </dgm:pt>
    <dgm:pt modelId="{BFDED490-0320-3A44-AD14-229EFAEF53D6}" type="parTrans" cxnId="{67CFEEEF-B575-2949-97D0-9FE1107E538B}">
      <dgm:prSet/>
      <dgm:spPr/>
      <dgm:t>
        <a:bodyPr/>
        <a:lstStyle/>
        <a:p>
          <a:endParaRPr lang="en-GB"/>
        </a:p>
      </dgm:t>
    </dgm:pt>
    <dgm:pt modelId="{4D310E4D-EC3C-4D47-A9BB-A0B136EAB064}" type="sibTrans" cxnId="{67CFEEEF-B575-2949-97D0-9FE1107E538B}">
      <dgm:prSet/>
      <dgm:spPr/>
      <dgm:t>
        <a:bodyPr/>
        <a:lstStyle/>
        <a:p>
          <a:endParaRPr lang="en-GB"/>
        </a:p>
      </dgm:t>
    </dgm:pt>
    <dgm:pt modelId="{801AE17F-C31F-CA43-BC84-69CE827808FD}" type="pres">
      <dgm:prSet presAssocID="{06A8F40A-6895-D54A-891B-0666CD46C550}" presName="Name0" presStyleCnt="0">
        <dgm:presLayoutVars>
          <dgm:chPref val="3"/>
          <dgm:dir/>
          <dgm:animLvl val="lvl"/>
          <dgm:resizeHandles/>
        </dgm:presLayoutVars>
      </dgm:prSet>
      <dgm:spPr/>
    </dgm:pt>
    <dgm:pt modelId="{06EE72E4-7873-9447-9BF1-5DC88BD79E5B}" type="pres">
      <dgm:prSet presAssocID="{C1C1743D-B186-F748-A62C-FD5A8898EAD1}" presName="horFlow" presStyleCnt="0"/>
      <dgm:spPr/>
    </dgm:pt>
    <dgm:pt modelId="{259A7068-6F6F-9B4D-894D-518C62EBCA00}" type="pres">
      <dgm:prSet presAssocID="{C1C1743D-B186-F748-A62C-FD5A8898EAD1}" presName="bigChev" presStyleLbl="node1" presStyleIdx="0" presStyleCnt="1" custAng="0" custScaleX="137387" custLinFactNeighborX="23488" custLinFactNeighborY="44"/>
      <dgm:spPr/>
    </dgm:pt>
  </dgm:ptLst>
  <dgm:cxnLst>
    <dgm:cxn modelId="{5CCA5F2A-4954-FF43-8687-2DC8E689D82F}" type="presOf" srcId="{06A8F40A-6895-D54A-891B-0666CD46C550}" destId="{801AE17F-C31F-CA43-BC84-69CE827808FD}" srcOrd="0" destOrd="0" presId="urn:microsoft.com/office/officeart/2005/8/layout/lProcess3"/>
    <dgm:cxn modelId="{556D64A5-CEA6-3040-B2B1-568B85FB8AA7}" type="presOf" srcId="{C1C1743D-B186-F748-A62C-FD5A8898EAD1}" destId="{259A7068-6F6F-9B4D-894D-518C62EBCA00}" srcOrd="0" destOrd="0" presId="urn:microsoft.com/office/officeart/2005/8/layout/lProcess3"/>
    <dgm:cxn modelId="{67CFEEEF-B575-2949-97D0-9FE1107E538B}" srcId="{06A8F40A-6895-D54A-891B-0666CD46C550}" destId="{C1C1743D-B186-F748-A62C-FD5A8898EAD1}" srcOrd="0" destOrd="0" parTransId="{BFDED490-0320-3A44-AD14-229EFAEF53D6}" sibTransId="{4D310E4D-EC3C-4D47-A9BB-A0B136EAB064}"/>
    <dgm:cxn modelId="{FB2D6210-190A-204E-B71F-517859FDEE68}" type="presParOf" srcId="{801AE17F-C31F-CA43-BC84-69CE827808FD}" destId="{06EE72E4-7873-9447-9BF1-5DC88BD79E5B}" srcOrd="0" destOrd="0" presId="urn:microsoft.com/office/officeart/2005/8/layout/lProcess3"/>
    <dgm:cxn modelId="{FB235A8D-837A-A841-8A54-20EA48662ADC}" type="presParOf" srcId="{06EE72E4-7873-9447-9BF1-5DC88BD79E5B}" destId="{259A7068-6F6F-9B4D-894D-518C62EBCA00}" srcOrd="0" destOrd="0" presId="urn:microsoft.com/office/officeart/2005/8/layout/lProcess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	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  	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     	EDA–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     	Análisis de </a:t>
          </a:r>
          <a:r>
            <a:rPr lang="es-ES" sz="800" kern="1200" dirty="0" err="1"/>
            <a:t>outliers</a:t>
          </a:r>
          <a:r>
            <a:rPr lang="es-ES" sz="800" kern="1200" dirty="0"/>
            <a:t> (pre-imputación):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	Imputación </a:t>
          </a:r>
          <a:r>
            <a:rPr lang="es-ES" sz="800" kern="1200" dirty="0" err="1"/>
            <a:t>missings</a:t>
          </a:r>
          <a:r>
            <a:rPr lang="es-ES" sz="800" kern="1200" dirty="0"/>
            <a:t> – Mario y Laura</a:t>
          </a:r>
        </a:p>
        <a:p>
          <a:pPr marL="0" lvl="0" indent="0" algn="l" defTabSz="355600">
            <a:lnSpc>
              <a:spcPct val="90000"/>
            </a:lnSpc>
            <a:spcBef>
              <a:spcPct val="0"/>
            </a:spcBef>
            <a:spcAft>
              <a:spcPct val="35000"/>
            </a:spcAft>
            <a:buNone/>
          </a:pPr>
          <a:r>
            <a:rPr lang="es-ES" sz="800" kern="1200" dirty="0"/>
            <a:t>	</a:t>
          </a:r>
          <a:r>
            <a:rPr lang="es-ES" sz="800" kern="1200" dirty="0" err="1"/>
            <a:t>Tratatamiento</a:t>
          </a:r>
          <a:r>
            <a:rPr lang="es-ES" sz="800" kern="1200" dirty="0"/>
            <a:t> </a:t>
          </a:r>
          <a:r>
            <a:rPr lang="es-ES" sz="800" kern="1200" dirty="0" err="1"/>
            <a:t>Outliers</a:t>
          </a:r>
          <a:r>
            <a:rPr lang="es-ES" sz="800" kern="1200" dirty="0"/>
            <a:t> – Mario, Laura y Melissa</a:t>
          </a:r>
        </a:p>
        <a:p>
          <a:pPr marL="0" lvl="0" indent="0" algn="l" defTabSz="355600">
            <a:lnSpc>
              <a:spcPct val="90000"/>
            </a:lnSpc>
            <a:spcBef>
              <a:spcPct val="0"/>
            </a:spcBef>
            <a:spcAft>
              <a:spcPct val="35000"/>
            </a:spcAft>
            <a:buNone/>
          </a:pPr>
          <a:r>
            <a:rPr lang="es-ES" sz="800" kern="1200" dirty="0"/>
            <a:t>	</a:t>
          </a:r>
          <a:r>
            <a:rPr lang="es-ES" sz="800" kern="1200" dirty="0" err="1"/>
            <a:t>Feature</a:t>
          </a:r>
          <a:r>
            <a:rPr lang="es-ES" sz="800" kern="1200" dirty="0"/>
            <a:t> </a:t>
          </a:r>
          <a:r>
            <a:rPr lang="es-ES" sz="800" kern="1200" dirty="0" err="1"/>
            <a:t>Engineering</a:t>
          </a:r>
          <a:r>
            <a:rPr lang="es-ES" sz="800" kern="1200" dirty="0"/>
            <a:t>–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Modeling</a:t>
          </a:r>
          <a:r>
            <a:rPr lang="es-ES" sz="800" b="1" kern="1200" dirty="0">
              <a:solidFill>
                <a:srgbClr val="002060"/>
              </a:solidFill>
            </a:rPr>
            <a:t> &amp; </a:t>
          </a:r>
          <a:r>
            <a:rPr lang="es-ES" sz="800" b="1" kern="1200" dirty="0" err="1">
              <a:solidFill>
                <a:srgbClr val="002060"/>
              </a:solidFill>
            </a:rPr>
            <a:t>Evaluation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700" kern="1200" dirty="0"/>
            <a:t>	KNN – </a:t>
          </a:r>
          <a:r>
            <a:rPr lang="es-ES" sz="700" kern="1200" dirty="0" err="1"/>
            <a:t>Siling</a:t>
          </a:r>
          <a:r>
            <a:rPr lang="es-ES" sz="700" kern="1200" dirty="0"/>
            <a:t> y Laura</a:t>
          </a:r>
        </a:p>
        <a:p>
          <a:pPr marL="0" lvl="0" indent="0" algn="l" defTabSz="355600">
            <a:lnSpc>
              <a:spcPct val="90000"/>
            </a:lnSpc>
            <a:spcBef>
              <a:spcPct val="0"/>
            </a:spcBef>
            <a:spcAft>
              <a:spcPct val="35000"/>
            </a:spcAft>
            <a:buNone/>
          </a:pPr>
          <a:r>
            <a:rPr lang="es-ES" sz="700" kern="1200" dirty="0"/>
            <a:t>               </a:t>
          </a:r>
          <a:r>
            <a:rPr lang="es-ES" sz="700" kern="1200" dirty="0" err="1"/>
            <a:t>Naive</a:t>
          </a:r>
          <a:r>
            <a:rPr lang="es-ES" sz="700" kern="1200" dirty="0"/>
            <a:t> Bayes – Melissa y </a:t>
          </a:r>
          <a:r>
            <a:rPr lang="es-ES" sz="700" kern="1200" dirty="0" err="1"/>
            <a:t>Wenjia</a:t>
          </a:r>
          <a:endParaRPr lang="es-ES" sz="700" kern="1200" dirty="0"/>
        </a:p>
        <a:p>
          <a:pPr marL="0" lvl="0" indent="0" algn="l" defTabSz="355600">
            <a:lnSpc>
              <a:spcPct val="90000"/>
            </a:lnSpc>
            <a:spcBef>
              <a:spcPct val="0"/>
            </a:spcBef>
            <a:spcAft>
              <a:spcPct val="35000"/>
            </a:spcAft>
            <a:buNone/>
          </a:pPr>
          <a:r>
            <a:rPr lang="es-ES" sz="700" kern="1200" dirty="0"/>
            <a:t>               </a:t>
          </a:r>
          <a:r>
            <a:rPr lang="es-ES" sz="700" kern="1200" dirty="0" err="1"/>
            <a:t>Testing</a:t>
          </a:r>
          <a:r>
            <a:rPr lang="es-ES" sz="700" kern="1200" dirty="0"/>
            <a:t> múltiples configuraciones de variables</a:t>
          </a:r>
          <a:endParaRPr lang="es-ES" sz="800" b="1" kern="1200" dirty="0">
            <a:solidFill>
              <a:srgbClr val="002060"/>
            </a:solidFill>
          </a:endParaRP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A4D826-B1A8-D24F-BF3E-D0DBA84542CC}">
      <dsp:nvSpPr>
        <dsp:cNvPr id="0" name=""/>
        <dsp:cNvSpPr/>
      </dsp:nvSpPr>
      <dsp:spPr>
        <a:xfrm>
          <a:off x="0" y="0"/>
          <a:ext cx="1615465" cy="572700"/>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41339" rIns="41339" bIns="41339" numCol="1" spcCol="1270" anchor="ctr" anchorCtr="0">
          <a:noAutofit/>
        </a:bodyPr>
        <a:lstStyle/>
        <a:p>
          <a:pPr marL="0" lvl="0" indent="0" algn="ctr" defTabSz="1377950">
            <a:lnSpc>
              <a:spcPct val="90000"/>
            </a:lnSpc>
            <a:spcBef>
              <a:spcPct val="0"/>
            </a:spcBef>
            <a:spcAft>
              <a:spcPct val="35000"/>
            </a:spcAft>
            <a:buNone/>
          </a:pPr>
          <a:r>
            <a:rPr lang="es-ES" sz="3100" b="1" i="0" kern="1200" dirty="0"/>
            <a:t>9NN</a:t>
          </a:r>
          <a:endParaRPr lang="en-ES" sz="3100" kern="1200" dirty="0"/>
        </a:p>
      </dsp:txBody>
      <dsp:txXfrm>
        <a:off x="286350" y="0"/>
        <a:ext cx="1042765" cy="572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9A7068-6F6F-9B4D-894D-518C62EBCA00}">
      <dsp:nvSpPr>
        <dsp:cNvPr id="0" name=""/>
        <dsp:cNvSpPr/>
      </dsp:nvSpPr>
      <dsp:spPr>
        <a:xfrm>
          <a:off x="626215" y="327"/>
          <a:ext cx="1822240" cy="530542"/>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s-ES" sz="1900" b="1" i="0" kern="1200" dirty="0" err="1"/>
            <a:t>Naive</a:t>
          </a:r>
          <a:r>
            <a:rPr lang="es-ES" sz="1900" b="1" i="0" kern="1200" dirty="0"/>
            <a:t> bayes</a:t>
          </a:r>
          <a:endParaRPr lang="en-ES" sz="1900" kern="1200" dirty="0"/>
        </a:p>
      </dsp:txBody>
      <dsp:txXfrm>
        <a:off x="891486" y="327"/>
        <a:ext cx="1291698" cy="530542"/>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lProcess3">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vertAlign" val="mid"/>
          <dgm:param type="nodeHorzAlign" val="l"/>
          <dgm:param type="nodeVertAlign" val="t"/>
          <dgm:param type="fallback" val="2D"/>
        </dgm:alg>
      </dgm:if>
      <dgm:else name="Name3">
        <dgm:alg type="lin">
          <dgm:param type="linDir" val="fromT"/>
          <dgm:param type="vertAlign" val="mid"/>
          <dgm:param type="nodeHorzAlign" val="r"/>
          <dgm:param type="nodeVertAlign" val="t"/>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HorzAlign" val="l"/>
              <dgm:param type="nodeVertAlign" val="mid"/>
              <dgm:param type="fallback" val="2D"/>
            </dgm:alg>
          </dgm:if>
          <dgm:else name="Name7">
            <dgm:alg type="lin">
              <dgm:param type="linDir" val="fromR"/>
              <dgm:param type="nodeHorzAlign" val="r"/>
              <dgm:param type="nodeVertAlign" val="mid"/>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rot="180" type="chevron" r:blip="">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rot="180" type="chevron" r:blip="">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59820B26-AA19-A094-D8E3-7F42E68FE30E}"/>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8157F4D-12C7-6B4B-C378-F6CC2A6BF0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E3FE745A-9DB6-8F30-15C1-2A4BF20C3D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39045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E712297-7568-3729-6473-F9FC483D3C0A}"/>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33E3917D-884B-6864-A41F-BA0A081BB7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14A1270-1F1A-8795-C7F7-2B597898F0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19258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1" r:id="rId2"/>
    <p:sldLayoutId id="2147483652" r:id="rId3"/>
    <p:sldLayoutId id="2147483653" r:id="rId4"/>
    <p:sldLayoutId id="2147483654" r:id="rId5"/>
    <p:sldLayoutId id="2147483655" r:id="rId6"/>
    <p:sldLayoutId id="2147483656" r:id="rId7"/>
    <p:sldLayoutId id="2147483657" r:id="rId8"/>
    <p:sldLayoutId id="2147483662"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wen2111/Mineria.git" TargetMode="External"/><Relationship Id="rId3" Type="http://schemas.openxmlformats.org/officeDocument/2006/relationships/hyperlink" Target="mailto:maragonvalderrama@gmail.com" TargetMode="External"/><Relationship Id="rId7" Type="http://schemas.openxmlformats.org/officeDocument/2006/relationships/hyperlink" Target="mailto:wenjia.ye@estudiantat.upc.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melissa.Vargas@estudiantat.upc.edu" TargetMode="External"/><Relationship Id="rId5" Type="http://schemas.openxmlformats.org/officeDocument/2006/relationships/hyperlink" Target="mailto:siling.guo@estudiantat.ub.edu" TargetMode="External"/><Relationship Id="rId10" Type="http://schemas.openxmlformats.org/officeDocument/2006/relationships/image" Target="../media/image2.png"/><Relationship Id="rId4" Type="http://schemas.openxmlformats.org/officeDocument/2006/relationships/hyperlink" Target="mailto:laura.Belmonte@estudiantat.upc.edu"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25.sv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jpeg"/><Relationship Id="rId4" Type="http://schemas.openxmlformats.org/officeDocument/2006/relationships/image" Target="../media/image34.jpeg"/></Relationships>
</file>

<file path=ppt/slides/_rels/slide14.xml.rels><?xml version="1.0" encoding="UTF-8" standalone="yes"?>
<Relationships xmlns="http://schemas.openxmlformats.org/package/2006/relationships"><Relationship Id="rId8" Type="http://schemas.microsoft.com/office/2007/relationships/diagramDrawing" Target="../diagrams/drawing2.xml"/><Relationship Id="rId13" Type="http://schemas.microsoft.com/office/2007/relationships/diagramDrawing" Target="../diagrams/drawing3.xml"/><Relationship Id="rId3" Type="http://schemas.openxmlformats.org/officeDocument/2006/relationships/hyperlink" Target="https://github.com/wen2111/Mineria" TargetMode="External"/><Relationship Id="rId7" Type="http://schemas.openxmlformats.org/officeDocument/2006/relationships/diagramColors" Target="../diagrams/colors2.xml"/><Relationship Id="rId12" Type="http://schemas.openxmlformats.org/officeDocument/2006/relationships/diagramColors" Target="../diagrams/colors3.xm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diagramQuickStyle" Target="../diagrams/quickStyle2.xml"/><Relationship Id="rId11" Type="http://schemas.openxmlformats.org/officeDocument/2006/relationships/diagramQuickStyle" Target="../diagrams/quickStyle3.xml"/><Relationship Id="rId5" Type="http://schemas.openxmlformats.org/officeDocument/2006/relationships/diagramLayout" Target="../diagrams/layout2.xml"/><Relationship Id="rId10" Type="http://schemas.openxmlformats.org/officeDocument/2006/relationships/diagramLayout" Target="../diagrams/layout3.xml"/><Relationship Id="rId4" Type="http://schemas.openxmlformats.org/officeDocument/2006/relationships/diagramData" Target="../diagrams/data2.xml"/><Relationship Id="rId9" Type="http://schemas.openxmlformats.org/officeDocument/2006/relationships/diagramData" Target="../diagrams/data3.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17580" y="203462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a:t>
            </a:r>
            <a:r>
              <a:rPr lang="es-ES" dirty="0">
                <a:solidFill>
                  <a:schemeClr val="tx1"/>
                </a:solidFill>
                <a:hlinkClick r:id="rId3"/>
              </a:rPr>
              <a:t>maragonvalderrama@gmail.com</a:t>
            </a:r>
            <a:r>
              <a:rPr lang="es-ES" dirty="0">
                <a:solidFill>
                  <a:schemeClr val="tx1"/>
                </a:solidFill>
              </a:rPr>
              <a:t>), (G05 </a:t>
            </a:r>
            <a:r>
              <a:rPr lang="es-ES" dirty="0" err="1">
                <a:solidFill>
                  <a:schemeClr val="tx1"/>
                </a:solidFill>
              </a:rPr>
              <a:t>mariovalde</a:t>
            </a:r>
            <a:r>
              <a:rPr lang="es-ES" dirty="0">
                <a:solidFill>
                  <a:schemeClr val="tx1"/>
                </a:solidFill>
              </a:rPr>
              <a:t>)</a:t>
            </a:r>
          </a:p>
          <a:p>
            <a:r>
              <a:rPr lang="es-ES" dirty="0">
                <a:solidFill>
                  <a:schemeClr val="tx1"/>
                </a:solidFill>
              </a:rPr>
              <a:t>- Laura Belmonte (</a:t>
            </a:r>
            <a:r>
              <a:rPr lang="es-ES" dirty="0">
                <a:solidFill>
                  <a:schemeClr val="tx1"/>
                </a:solidFill>
                <a:hlinkClick r:id="rId4"/>
              </a:rPr>
              <a:t>laura.Belmonte@estudiantat.upc.edu</a:t>
            </a:r>
            <a:r>
              <a:rPr lang="es-ES" dirty="0">
                <a:solidFill>
                  <a:schemeClr val="tx1"/>
                </a:solidFill>
              </a:rPr>
              <a:t>), (G05, </a:t>
            </a:r>
            <a:r>
              <a:rPr lang="es-ES" dirty="0" err="1">
                <a:solidFill>
                  <a:schemeClr val="tx1"/>
                </a:solidFill>
              </a:rPr>
              <a:t>laurabelvel</a:t>
            </a:r>
            <a:r>
              <a:rPr lang="es-ES" dirty="0">
                <a:solidFill>
                  <a:schemeClr val="tx1"/>
                </a:solidFill>
              </a:rPr>
              <a:t>)</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a:t>
            </a:r>
            <a:r>
              <a:rPr lang="es-ES" dirty="0">
                <a:solidFill>
                  <a:schemeClr val="tx1"/>
                </a:solidFill>
                <a:hlinkClick r:id="rId5"/>
              </a:rPr>
              <a:t>siling.guo@estudiantat.ub.edu</a:t>
            </a:r>
            <a:r>
              <a:rPr lang="es-ES" dirty="0">
                <a:solidFill>
                  <a:schemeClr val="tx1"/>
                </a:solidFill>
              </a:rPr>
              <a:t>), (G05, </a:t>
            </a:r>
            <a:r>
              <a:rPr lang="es-ES" dirty="0" err="1">
                <a:solidFill>
                  <a:schemeClr val="tx1"/>
                </a:solidFill>
              </a:rPr>
              <a:t>silinguo</a:t>
            </a:r>
            <a:r>
              <a:rPr lang="es-ES" dirty="0">
                <a:solidFill>
                  <a:schemeClr val="tx1"/>
                </a:solidFill>
              </a:rPr>
              <a:t>)</a:t>
            </a:r>
          </a:p>
          <a:p>
            <a:r>
              <a:rPr lang="es-ES" dirty="0">
                <a:solidFill>
                  <a:schemeClr val="tx1"/>
                </a:solidFill>
              </a:rPr>
              <a:t>- Melissa Vargas (</a:t>
            </a:r>
            <a:r>
              <a:rPr lang="es-ES" dirty="0">
                <a:solidFill>
                  <a:schemeClr val="tx1"/>
                </a:solidFill>
                <a:hlinkClick r:id="rId6"/>
              </a:rPr>
              <a:t>melissa.Vargas@estudiantat.upc.edu</a:t>
            </a:r>
            <a:r>
              <a:rPr lang="es-ES" dirty="0">
                <a:solidFill>
                  <a:schemeClr val="tx1"/>
                </a:solidFill>
              </a:rPr>
              <a:t>), (G05, </a:t>
            </a:r>
            <a:r>
              <a:rPr lang="es-ES" dirty="0" err="1">
                <a:solidFill>
                  <a:schemeClr val="tx1"/>
                </a:solidFill>
              </a:rPr>
              <a:t>matildasanchez</a:t>
            </a:r>
            <a:r>
              <a:rPr lang="es-ES" dirty="0">
                <a:solidFill>
                  <a:schemeClr val="tx1"/>
                </a:solidFill>
              </a:rPr>
              <a:t>)</a:t>
            </a:r>
          </a:p>
          <a:p>
            <a:r>
              <a:rPr lang="es-ES" dirty="0">
                <a:solidFill>
                  <a:schemeClr val="tx1"/>
                </a:solidFill>
              </a:rPr>
              <a:t>- </a:t>
            </a:r>
            <a:r>
              <a:rPr lang="es-ES" dirty="0" err="1">
                <a:solidFill>
                  <a:schemeClr val="tx1"/>
                </a:solidFill>
              </a:rPr>
              <a:t>Wenjia</a:t>
            </a:r>
            <a:r>
              <a:rPr lang="es-ES" dirty="0">
                <a:solidFill>
                  <a:schemeClr val="tx1"/>
                </a:solidFill>
              </a:rPr>
              <a:t> Ye (</a:t>
            </a:r>
            <a:r>
              <a:rPr lang="es-ES" dirty="0">
                <a:solidFill>
                  <a:schemeClr val="tx1"/>
                </a:solidFill>
                <a:hlinkClick r:id="rId7"/>
              </a:rPr>
              <a:t>wenjia.ye@estudiantat.upc.edu</a:t>
            </a:r>
            <a:r>
              <a:rPr lang="es-ES" dirty="0">
                <a:solidFill>
                  <a:schemeClr val="tx1"/>
                </a:solidFill>
              </a:rPr>
              <a:t>), (G05, wenjiaye03)</a:t>
            </a:r>
          </a:p>
          <a:p>
            <a:pPr marL="342900" indent="-342900">
              <a:buFontTx/>
              <a:buChar char="-"/>
            </a:pPr>
            <a:endParaRPr lang="es-ES" dirty="0">
              <a:solidFill>
                <a:schemeClr val="tx1"/>
              </a:solidFill>
            </a:endParaRPr>
          </a:p>
          <a:p>
            <a:r>
              <a:rPr lang="es-ES" dirty="0">
                <a:solidFill>
                  <a:schemeClr val="tx1"/>
                </a:solidFill>
                <a:highlight>
                  <a:srgbClr val="C0C0C0"/>
                </a:highlight>
                <a:hlinkClick r:id="rId8"/>
              </a:rPr>
              <a:t>Enlace </a:t>
            </a:r>
            <a:r>
              <a:rPr lang="es-ES" dirty="0" err="1">
                <a:solidFill>
                  <a:schemeClr val="tx1"/>
                </a:solidFill>
                <a:highlight>
                  <a:srgbClr val="C0C0C0"/>
                </a:highlight>
                <a:hlinkClick r:id="rId8"/>
              </a:rPr>
              <a:t>Github</a:t>
            </a:r>
            <a:endParaRPr lang="es-ES" dirty="0">
              <a:solidFill>
                <a:schemeClr val="tx1"/>
              </a:solidFill>
              <a:highlight>
                <a:srgbClr val="C0C0C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924585" y="3919863"/>
            <a:ext cx="2794142" cy="840571"/>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5924585" y="92108"/>
            <a:ext cx="2254050" cy="307777"/>
          </a:xfrm>
          <a:prstGeom prst="rect">
            <a:avLst/>
          </a:prstGeom>
          <a:noFill/>
        </p:spPr>
        <p:txBody>
          <a:bodyPr wrap="square" rtlCol="0">
            <a:spAutoFit/>
          </a:bodyPr>
          <a:lstStyle/>
          <a:p>
            <a:r>
              <a:rPr lang="es-ES" dirty="0">
                <a:latin typeface="Arial Black" panose="020B0A04020102020204" pitchFamily="34" charset="0"/>
              </a:rPr>
              <a:t>Grado en Estadística</a:t>
            </a:r>
          </a:p>
        </p:txBody>
      </p:sp>
      <p:pic>
        <p:nvPicPr>
          <p:cNvPr id="3" name="Picture 2" descr="Blue text on a white background&#10;&#10;Description automatically generated">
            <a:extLst>
              <a:ext uri="{FF2B5EF4-FFF2-40B4-BE49-F238E27FC236}">
                <a16:creationId xmlns:a16="http://schemas.microsoft.com/office/drawing/2014/main" id="{4190149F-5BE5-2724-2BF0-29C1E8FFDF3D}"/>
              </a:ext>
            </a:extLst>
          </p:cNvPr>
          <p:cNvPicPr>
            <a:picLocks noChangeAspect="1"/>
          </p:cNvPicPr>
          <p:nvPr/>
        </p:nvPicPr>
        <p:blipFill>
          <a:blip r:embed="rId10"/>
          <a:stretch>
            <a:fillRect/>
          </a:stretch>
        </p:blipFill>
        <p:spPr>
          <a:xfrm>
            <a:off x="1189265" y="3988006"/>
            <a:ext cx="2603500" cy="781050"/>
          </a:xfrm>
          <a:prstGeom prst="rect">
            <a:avLst/>
          </a:prstGeom>
        </p:spPr>
      </p:pic>
      <p:sp>
        <p:nvSpPr>
          <p:cNvPr id="7" name="CuadroTexto 5">
            <a:extLst>
              <a:ext uri="{FF2B5EF4-FFF2-40B4-BE49-F238E27FC236}">
                <a16:creationId xmlns:a16="http://schemas.microsoft.com/office/drawing/2014/main" id="{2406FEDD-85BD-5DD4-065C-516FA724A815}"/>
              </a:ext>
            </a:extLst>
          </p:cNvPr>
          <p:cNvSpPr txBox="1"/>
          <p:nvPr/>
        </p:nvSpPr>
        <p:spPr>
          <a:xfrm>
            <a:off x="874163" y="92109"/>
            <a:ext cx="2254050" cy="307777"/>
          </a:xfrm>
          <a:prstGeom prst="rect">
            <a:avLst/>
          </a:prstGeom>
          <a:noFill/>
        </p:spPr>
        <p:txBody>
          <a:bodyPr wrap="square" rtlCol="0">
            <a:spAutoFit/>
          </a:bodyPr>
          <a:lstStyle/>
          <a:p>
            <a:r>
              <a:rPr lang="es-ES" dirty="0">
                <a:latin typeface="Arial Black" panose="020B0A04020102020204" pitchFamily="34" charset="0"/>
              </a:rPr>
              <a:t>Minería de datos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003002" y="25989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graphicFrame>
        <p:nvGraphicFramePr>
          <p:cNvPr id="3" name="Table 2">
            <a:extLst>
              <a:ext uri="{FF2B5EF4-FFF2-40B4-BE49-F238E27FC236}">
                <a16:creationId xmlns:a16="http://schemas.microsoft.com/office/drawing/2014/main" id="{792EB573-F103-5ABA-06F9-E7F7227DCADD}"/>
              </a:ext>
            </a:extLst>
          </p:cNvPr>
          <p:cNvGraphicFramePr>
            <a:graphicFrameLocks noGrp="1"/>
          </p:cNvGraphicFramePr>
          <p:nvPr>
            <p:extLst>
              <p:ext uri="{D42A27DB-BD31-4B8C-83A1-F6EECF244321}">
                <p14:modId xmlns:p14="http://schemas.microsoft.com/office/powerpoint/2010/main" val="2465489480"/>
              </p:ext>
            </p:extLst>
          </p:nvPr>
        </p:nvGraphicFramePr>
        <p:xfrm>
          <a:off x="170035" y="914400"/>
          <a:ext cx="7318978" cy="3682224"/>
        </p:xfrm>
        <a:graphic>
          <a:graphicData uri="http://schemas.openxmlformats.org/drawingml/2006/table">
            <a:tbl>
              <a:tblPr firstRow="1" bandRow="1">
                <a:tableStyleId>{5C22544A-7EE6-4342-B048-85BDC9FD1C3A}</a:tableStyleId>
              </a:tblPr>
              <a:tblGrid>
                <a:gridCol w="2172643">
                  <a:extLst>
                    <a:ext uri="{9D8B030D-6E8A-4147-A177-3AD203B41FA5}">
                      <a16:colId xmlns:a16="http://schemas.microsoft.com/office/drawing/2014/main" val="20000"/>
                    </a:ext>
                  </a:extLst>
                </a:gridCol>
                <a:gridCol w="5146335">
                  <a:extLst>
                    <a:ext uri="{9D8B030D-6E8A-4147-A177-3AD203B41FA5}">
                      <a16:colId xmlns:a16="http://schemas.microsoft.com/office/drawing/2014/main" val="20001"/>
                    </a:ext>
                  </a:extLst>
                </a:gridCol>
              </a:tblGrid>
              <a:tr h="554796">
                <a:tc>
                  <a:txBody>
                    <a:bodyPr/>
                    <a:lstStyle/>
                    <a:p>
                      <a:pPr algn="l">
                        <a:defRPr sz="1400" b="1">
                          <a:solidFill>
                            <a:srgbClr val="00468C"/>
                          </a:solidFill>
                        </a:defRPr>
                      </a:pPr>
                      <a:r>
                        <a:rPr sz="1200" dirty="0" err="1"/>
                        <a:t>Resumen</a:t>
                      </a:r>
                      <a:r>
                        <a:rPr sz="1200" dirty="0"/>
                        <a:t> del </a:t>
                      </a:r>
                      <a:r>
                        <a:rPr sz="1200" dirty="0" err="1"/>
                        <a:t>problema</a:t>
                      </a:r>
                      <a:endParaRPr sz="1200" dirty="0"/>
                    </a:p>
                  </a:txBody>
                  <a:tcPr/>
                </a:tc>
                <a:tc>
                  <a:txBody>
                    <a:bodyPr/>
                    <a:lstStyle/>
                    <a:p>
                      <a:pPr algn="l">
                        <a:defRPr sz="1200"/>
                      </a:pPr>
                      <a:r>
                        <a:rPr lang="en-GB" i="1" dirty="0" err="1">
                          <a:solidFill>
                            <a:schemeClr val="tx1"/>
                          </a:solidFill>
                        </a:rPr>
                        <a:t>Clasificar</a:t>
                      </a:r>
                      <a:r>
                        <a:rPr lang="en-GB" i="1" dirty="0">
                          <a:solidFill>
                            <a:schemeClr val="tx1"/>
                          </a:solidFill>
                        </a:rPr>
                        <a:t> </a:t>
                      </a:r>
                      <a:r>
                        <a:rPr lang="en-GB" i="1" dirty="0" err="1">
                          <a:solidFill>
                            <a:schemeClr val="tx1"/>
                          </a:solidFill>
                        </a:rPr>
                        <a:t>clientes</a:t>
                      </a:r>
                      <a:r>
                        <a:rPr lang="en-GB" i="1" dirty="0">
                          <a:solidFill>
                            <a:schemeClr val="tx1"/>
                          </a:solidFill>
                        </a:rPr>
                        <a:t> </a:t>
                      </a:r>
                      <a:r>
                        <a:rPr lang="en-GB" i="1" dirty="0" err="1">
                          <a:solidFill>
                            <a:schemeClr val="tx1"/>
                          </a:solidFill>
                        </a:rPr>
                        <a:t>bancarios</a:t>
                      </a:r>
                      <a:r>
                        <a:rPr lang="en-GB" i="1" dirty="0">
                          <a:solidFill>
                            <a:schemeClr val="tx1"/>
                          </a:solidFill>
                        </a:rPr>
                        <a:t> </a:t>
                      </a:r>
                      <a:r>
                        <a:rPr lang="en-GB" i="1" dirty="0" err="1">
                          <a:solidFill>
                            <a:schemeClr val="tx1"/>
                          </a:solidFill>
                        </a:rPr>
                        <a:t>según</a:t>
                      </a:r>
                      <a:r>
                        <a:rPr lang="en-GB" i="1" dirty="0">
                          <a:solidFill>
                            <a:schemeClr val="tx1"/>
                          </a:solidFill>
                        </a:rPr>
                        <a:t> </a:t>
                      </a:r>
                      <a:r>
                        <a:rPr lang="en-GB" i="1" dirty="0" err="1">
                          <a:solidFill>
                            <a:schemeClr val="tx1"/>
                          </a:solidFill>
                        </a:rPr>
                        <a:t>riesgo</a:t>
                      </a:r>
                      <a:r>
                        <a:rPr lang="en-GB" i="1" dirty="0">
                          <a:solidFill>
                            <a:schemeClr val="tx1"/>
                          </a:solidFill>
                        </a:rPr>
                        <a:t> de </a:t>
                      </a:r>
                      <a:r>
                        <a:rPr lang="en-GB" i="1" dirty="0" err="1">
                          <a:solidFill>
                            <a:schemeClr val="tx1"/>
                          </a:solidFill>
                        </a:rPr>
                        <a:t>abandono</a:t>
                      </a:r>
                      <a:r>
                        <a:rPr lang="en-GB" i="1" dirty="0">
                          <a:solidFill>
                            <a:schemeClr val="tx1"/>
                          </a:solidFill>
                        </a:rPr>
                        <a:t> </a:t>
                      </a:r>
                      <a:r>
                        <a:rPr lang="en-GB" i="1" dirty="0" err="1">
                          <a:solidFill>
                            <a:schemeClr val="tx1"/>
                          </a:solidFill>
                        </a:rPr>
                        <a:t>mediante</a:t>
                      </a:r>
                      <a:r>
                        <a:rPr lang="en-GB" i="1" dirty="0">
                          <a:solidFill>
                            <a:schemeClr val="tx1"/>
                          </a:solidFill>
                        </a:rPr>
                        <a:t> variables del </a:t>
                      </a:r>
                      <a:r>
                        <a:rPr lang="en-GB" i="1" dirty="0" err="1">
                          <a:solidFill>
                            <a:schemeClr val="tx1"/>
                          </a:solidFill>
                        </a:rPr>
                        <a:t>usuario</a:t>
                      </a:r>
                      <a:r>
                        <a:rPr lang="en-GB" dirty="0">
                          <a:solidFill>
                            <a:schemeClr val="tx1"/>
                          </a:solidFill>
                        </a:rPr>
                        <a:t>.</a:t>
                      </a:r>
                      <a:endParaRPr dirty="0">
                        <a:solidFill>
                          <a:schemeClr val="tx1"/>
                        </a:solidFill>
                      </a:endParaRPr>
                    </a:p>
                  </a:txBody>
                  <a:tcPr/>
                </a:tc>
                <a:extLst>
                  <a:ext uri="{0D108BD9-81ED-4DB2-BD59-A6C34878D82A}">
                    <a16:rowId xmlns:a16="http://schemas.microsoft.com/office/drawing/2014/main" val="10000"/>
                  </a:ext>
                </a:extLst>
              </a:tr>
              <a:tr h="554796">
                <a:tc>
                  <a:txBody>
                    <a:bodyPr/>
                    <a:lstStyle/>
                    <a:p>
                      <a:pPr algn="l">
                        <a:defRPr sz="1400" b="1">
                          <a:solidFill>
                            <a:srgbClr val="00468C"/>
                          </a:solidFill>
                        </a:defRPr>
                      </a:pPr>
                      <a:r>
                        <a:rPr dirty="0" err="1"/>
                        <a:t>Contexto</a:t>
                      </a:r>
                      <a:r>
                        <a:rPr dirty="0"/>
                        <a:t> de </a:t>
                      </a:r>
                      <a:r>
                        <a:rPr dirty="0" err="1"/>
                        <a:t>aplicación</a:t>
                      </a:r>
                      <a:endParaRPr dirty="0"/>
                    </a:p>
                  </a:txBody>
                  <a:tcPr/>
                </a:tc>
                <a:tc>
                  <a:txBody>
                    <a:bodyPr/>
                    <a:lstStyle/>
                    <a:p>
                      <a:pPr algn="l">
                        <a:defRPr sz="1200"/>
                      </a:pPr>
                      <a:r>
                        <a:rPr lang="en-GB" dirty="0"/>
                        <a:t>Identidad </a:t>
                      </a:r>
                      <a:r>
                        <a:rPr lang="en-GB" dirty="0" err="1"/>
                        <a:t>Bancaria</a:t>
                      </a:r>
                      <a:r>
                        <a:rPr lang="en-GB" dirty="0"/>
                        <a:t>           </a:t>
                      </a:r>
                      <a:r>
                        <a:rPr lang="en-GB" dirty="0" err="1"/>
                        <a:t>busca</a:t>
                      </a:r>
                      <a:r>
                        <a:rPr lang="en-GB" dirty="0"/>
                        <a:t> </a:t>
                      </a:r>
                      <a:r>
                        <a:rPr lang="en-GB" dirty="0" err="1"/>
                        <a:t>identificar</a:t>
                      </a:r>
                      <a:r>
                        <a:rPr lang="en-GB" dirty="0"/>
                        <a:t> </a:t>
                      </a:r>
                      <a:r>
                        <a:rPr lang="en-GB" dirty="0" err="1"/>
                        <a:t>causas</a:t>
                      </a:r>
                      <a:r>
                        <a:rPr lang="en-GB" dirty="0"/>
                        <a:t> del </a:t>
                      </a:r>
                      <a:r>
                        <a:rPr lang="en-GB" dirty="0" err="1"/>
                        <a:t>abandono</a:t>
                      </a:r>
                      <a:r>
                        <a:rPr lang="en-GB" dirty="0"/>
                        <a:t> de sus </a:t>
                      </a:r>
                      <a:r>
                        <a:rPr lang="en-GB" dirty="0" err="1"/>
                        <a:t>clientes</a:t>
                      </a:r>
                      <a:endParaRPr dirty="0"/>
                    </a:p>
                  </a:txBody>
                  <a:tcPr/>
                </a:tc>
                <a:extLst>
                  <a:ext uri="{0D108BD9-81ED-4DB2-BD59-A6C34878D82A}">
                    <a16:rowId xmlns:a16="http://schemas.microsoft.com/office/drawing/2014/main" val="10001"/>
                  </a:ext>
                </a:extLst>
              </a:tr>
              <a:tr h="554796">
                <a:tc>
                  <a:txBody>
                    <a:bodyPr/>
                    <a:lstStyle/>
                    <a:p>
                      <a:pPr algn="l">
                        <a:defRPr sz="1400" b="1">
                          <a:solidFill>
                            <a:srgbClr val="00468C"/>
                          </a:solidFill>
                        </a:defRPr>
                      </a:pPr>
                      <a:r>
                        <a:t>Objetivo principal</a:t>
                      </a:r>
                    </a:p>
                  </a:txBody>
                  <a:tcPr/>
                </a:tc>
                <a:tc>
                  <a:txBody>
                    <a:bodyPr/>
                    <a:lstStyle/>
                    <a:p>
                      <a:pPr algn="l">
                        <a:defRPr sz="1200"/>
                      </a:pPr>
                      <a:r>
                        <a:rPr dirty="0" err="1"/>
                        <a:t>Modelizar</a:t>
                      </a:r>
                      <a:r>
                        <a:rPr dirty="0"/>
                        <a:t> la </a:t>
                      </a:r>
                      <a:r>
                        <a:rPr dirty="0" err="1"/>
                        <a:t>pérdida</a:t>
                      </a:r>
                      <a:r>
                        <a:rPr dirty="0"/>
                        <a:t> de </a:t>
                      </a:r>
                      <a:r>
                        <a:rPr dirty="0" err="1"/>
                        <a:t>clientes</a:t>
                      </a:r>
                      <a:r>
                        <a:rPr dirty="0"/>
                        <a:t> (churn) </a:t>
                      </a:r>
                      <a:r>
                        <a:rPr dirty="0" err="1"/>
                        <a:t>en</a:t>
                      </a:r>
                      <a:r>
                        <a:rPr dirty="0"/>
                        <a:t> </a:t>
                      </a:r>
                      <a:r>
                        <a:rPr dirty="0" err="1"/>
                        <a:t>función</a:t>
                      </a:r>
                      <a:r>
                        <a:rPr dirty="0"/>
                        <a:t> de variables del </a:t>
                      </a:r>
                      <a:r>
                        <a:rPr dirty="0" err="1"/>
                        <a:t>usuario</a:t>
                      </a:r>
                      <a:r>
                        <a:rPr dirty="0"/>
                        <a:t>.</a:t>
                      </a:r>
                    </a:p>
                  </a:txBody>
                  <a:tcPr/>
                </a:tc>
                <a:extLst>
                  <a:ext uri="{0D108BD9-81ED-4DB2-BD59-A6C34878D82A}">
                    <a16:rowId xmlns:a16="http://schemas.microsoft.com/office/drawing/2014/main" val="10002"/>
                  </a:ext>
                </a:extLst>
              </a:tr>
              <a:tr h="612776">
                <a:tc>
                  <a:txBody>
                    <a:bodyPr/>
                    <a:lstStyle/>
                    <a:p>
                      <a:pPr algn="l">
                        <a:defRPr sz="1400" b="1">
                          <a:solidFill>
                            <a:srgbClr val="00468C"/>
                          </a:solidFill>
                        </a:defRPr>
                      </a:pPr>
                      <a:r>
                        <a:t>Objetivos secundarios</a:t>
                      </a:r>
                    </a:p>
                  </a:txBody>
                  <a:tcPr/>
                </a:tc>
                <a:tc>
                  <a:txBody>
                    <a:bodyPr/>
                    <a:lstStyle/>
                    <a:p>
                      <a:pPr algn="l">
                        <a:defRPr sz="1200"/>
                      </a:pPr>
                      <a:r>
                        <a:rPr dirty="0"/>
                        <a:t>• </a:t>
                      </a:r>
                      <a:r>
                        <a:rPr dirty="0" err="1"/>
                        <a:t>Analizar</a:t>
                      </a:r>
                      <a:r>
                        <a:rPr dirty="0"/>
                        <a:t> la </a:t>
                      </a:r>
                      <a:r>
                        <a:rPr dirty="0" err="1"/>
                        <a:t>estructura</a:t>
                      </a:r>
                      <a:r>
                        <a:rPr dirty="0"/>
                        <a:t> de </a:t>
                      </a:r>
                      <a:r>
                        <a:rPr dirty="0" err="1"/>
                        <a:t>los</a:t>
                      </a:r>
                      <a:r>
                        <a:rPr dirty="0"/>
                        <a:t> </a:t>
                      </a:r>
                      <a:r>
                        <a:rPr dirty="0" err="1"/>
                        <a:t>datos</a:t>
                      </a:r>
                      <a:r>
                        <a:rPr dirty="0"/>
                        <a:t>.</a:t>
                      </a:r>
                      <a:br>
                        <a:rPr dirty="0"/>
                      </a:br>
                      <a:r>
                        <a:rPr dirty="0"/>
                        <a:t>• </a:t>
                      </a:r>
                      <a:r>
                        <a:rPr dirty="0" err="1"/>
                        <a:t>Identificar</a:t>
                      </a:r>
                      <a:r>
                        <a:rPr dirty="0"/>
                        <a:t> </a:t>
                      </a:r>
                      <a:r>
                        <a:rPr dirty="0" err="1"/>
                        <a:t>relaciones</a:t>
                      </a:r>
                      <a:r>
                        <a:rPr dirty="0"/>
                        <a:t> entre variables.</a:t>
                      </a:r>
                      <a:br>
                        <a:rPr dirty="0"/>
                      </a:br>
                      <a:r>
                        <a:rPr dirty="0"/>
                        <a:t>• </a:t>
                      </a:r>
                      <a:r>
                        <a:rPr dirty="0" err="1"/>
                        <a:t>Evaluar</a:t>
                      </a:r>
                      <a:r>
                        <a:rPr dirty="0"/>
                        <a:t> la </a:t>
                      </a:r>
                      <a:r>
                        <a:rPr dirty="0" err="1"/>
                        <a:t>influencia</a:t>
                      </a:r>
                      <a:r>
                        <a:rPr dirty="0"/>
                        <a:t> de las variables </a:t>
                      </a:r>
                      <a:r>
                        <a:rPr dirty="0" err="1"/>
                        <a:t>en</a:t>
                      </a:r>
                      <a:r>
                        <a:rPr dirty="0"/>
                        <a:t> la </a:t>
                      </a:r>
                      <a:r>
                        <a:rPr dirty="0" err="1"/>
                        <a:t>permanencia</a:t>
                      </a:r>
                      <a:r>
                        <a:rPr dirty="0"/>
                        <a:t> del </a:t>
                      </a:r>
                      <a:r>
                        <a:rPr dirty="0" err="1"/>
                        <a:t>cliente</a:t>
                      </a:r>
                      <a:r>
                        <a:rPr dirty="0"/>
                        <a:t>.</a:t>
                      </a:r>
                    </a:p>
                  </a:txBody>
                  <a:tcPr/>
                </a:tc>
                <a:extLst>
                  <a:ext uri="{0D108BD9-81ED-4DB2-BD59-A6C34878D82A}">
                    <a16:rowId xmlns:a16="http://schemas.microsoft.com/office/drawing/2014/main" val="10003"/>
                  </a:ext>
                </a:extLst>
              </a:tr>
              <a:tr h="787855">
                <a:tc>
                  <a:txBody>
                    <a:bodyPr/>
                    <a:lstStyle/>
                    <a:p>
                      <a:pPr algn="l">
                        <a:defRPr sz="1400" b="1">
                          <a:solidFill>
                            <a:srgbClr val="00468C"/>
                          </a:solidFill>
                        </a:defRPr>
                      </a:pPr>
                      <a:r>
                        <a:t>KPIs de control (modelo)</a:t>
                      </a:r>
                    </a:p>
                  </a:txBody>
                  <a:tcPr/>
                </a:tc>
                <a:tc>
                  <a:txBody>
                    <a:bodyPr/>
                    <a:lstStyle/>
                    <a:p>
                      <a:pPr algn="l">
                        <a:defRPr sz="1200"/>
                      </a:pPr>
                      <a:r>
                        <a:rPr dirty="0"/>
                        <a:t>• Accuracy</a:t>
                      </a:r>
                      <a:br>
                        <a:rPr dirty="0"/>
                      </a:br>
                      <a:r>
                        <a:rPr dirty="0"/>
                        <a:t>• Precision / Recall</a:t>
                      </a:r>
                      <a:br>
                        <a:rPr dirty="0"/>
                      </a:br>
                      <a:r>
                        <a:rPr dirty="0"/>
                        <a:t>• F1-Score</a:t>
                      </a:r>
                      <a:br>
                        <a:rPr dirty="0"/>
                      </a:br>
                      <a:r>
                        <a:rPr dirty="0"/>
                        <a:t>• AUC-ROC</a:t>
                      </a:r>
                    </a:p>
                  </a:txBody>
                  <a:tcPr/>
                </a:tc>
                <a:extLst>
                  <a:ext uri="{0D108BD9-81ED-4DB2-BD59-A6C34878D82A}">
                    <a16:rowId xmlns:a16="http://schemas.microsoft.com/office/drawing/2014/main" val="10004"/>
                  </a:ext>
                </a:extLst>
              </a:tr>
              <a:tr h="554796">
                <a:tc>
                  <a:txBody>
                    <a:bodyPr/>
                    <a:lstStyle/>
                    <a:p>
                      <a:pPr algn="l">
                        <a:defRPr sz="1400" b="1">
                          <a:solidFill>
                            <a:srgbClr val="00468C"/>
                          </a:solidFill>
                        </a:defRPr>
                      </a:pPr>
                      <a:r>
                        <a:t>KPI de negocio</a:t>
                      </a:r>
                    </a:p>
                  </a:txBody>
                  <a:tcPr/>
                </a:tc>
                <a:tc>
                  <a:txBody>
                    <a:bodyPr/>
                    <a:lstStyle/>
                    <a:p>
                      <a:pPr algn="l">
                        <a:defRPr sz="1200"/>
                      </a:pPr>
                      <a:r>
                        <a:rPr dirty="0"/>
                        <a:t>Tasa de </a:t>
                      </a:r>
                      <a:r>
                        <a:rPr dirty="0" err="1"/>
                        <a:t>retención</a:t>
                      </a:r>
                      <a:r>
                        <a:rPr dirty="0"/>
                        <a:t> de </a:t>
                      </a:r>
                      <a:r>
                        <a:rPr dirty="0" err="1"/>
                        <a:t>clientes</a:t>
                      </a:r>
                      <a:r>
                        <a:rPr dirty="0"/>
                        <a:t>.</a:t>
                      </a:r>
                    </a:p>
                  </a:txBody>
                  <a:tcPr/>
                </a:tc>
                <a:extLst>
                  <a:ext uri="{0D108BD9-81ED-4DB2-BD59-A6C34878D82A}">
                    <a16:rowId xmlns:a16="http://schemas.microsoft.com/office/drawing/2014/main" val="10005"/>
                  </a:ext>
                </a:extLst>
              </a:tr>
            </a:tbl>
          </a:graphicData>
        </a:graphic>
      </p:graphicFrame>
      <p:cxnSp>
        <p:nvCxnSpPr>
          <p:cNvPr id="5" name="Straight Arrow Connector 4">
            <a:extLst>
              <a:ext uri="{FF2B5EF4-FFF2-40B4-BE49-F238E27FC236}">
                <a16:creationId xmlns:a16="http://schemas.microsoft.com/office/drawing/2014/main" id="{0F658CDA-9847-DA7E-FDD6-1BC6CE6CDF57}"/>
              </a:ext>
            </a:extLst>
          </p:cNvPr>
          <p:cNvCxnSpPr>
            <a:cxnSpLocks/>
          </p:cNvCxnSpPr>
          <p:nvPr/>
        </p:nvCxnSpPr>
        <p:spPr>
          <a:xfrm>
            <a:off x="3829524" y="1636004"/>
            <a:ext cx="3022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descr="A black and white logo&#10;&#10;AI-generated content may be incorrect.">
            <a:extLst>
              <a:ext uri="{FF2B5EF4-FFF2-40B4-BE49-F238E27FC236}">
                <a16:creationId xmlns:a16="http://schemas.microsoft.com/office/drawing/2014/main" id="{6664B0D6-20C8-9600-1FDB-D0932C2A16BC}"/>
              </a:ext>
            </a:extLst>
          </p:cNvPr>
          <p:cNvPicPr>
            <a:picLocks noChangeAspect="1"/>
          </p:cNvPicPr>
          <p:nvPr/>
        </p:nvPicPr>
        <p:blipFill>
          <a:blip r:embed="rId3"/>
          <a:stretch>
            <a:fillRect/>
          </a:stretch>
        </p:blipFill>
        <p:spPr>
          <a:xfrm>
            <a:off x="7489013" y="332509"/>
            <a:ext cx="1566241" cy="130092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2462213"/>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7581" y="3861995"/>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53099396"/>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12200"/>
            <a:ext cx="3131238" cy="1231106"/>
          </a:xfrm>
          <a:prstGeom prst="rect">
            <a:avLst/>
          </a:prstGeom>
          <a:noFill/>
        </p:spPr>
        <p:txBody>
          <a:bodyPr wrap="square" rtlCol="0">
            <a:spAutoFit/>
          </a:bodyPr>
          <a:lstStyle/>
          <a:p>
            <a:pPr marL="285750" indent="-285750">
              <a:buFont typeface="Arial" panose="020B0604020202020204" pitchFamily="34" charset="0"/>
              <a:buChar char="•"/>
            </a:pPr>
            <a:r>
              <a:rPr lang="en-GB" sz="1200" dirty="0" err="1"/>
              <a:t>Metodología</a:t>
            </a:r>
            <a:r>
              <a:rPr lang="en-GB" sz="1200" dirty="0"/>
              <a:t>: CRISP-DM (Cross Industry Standard Process for Data Mining)</a:t>
            </a:r>
          </a:p>
          <a:p>
            <a:pPr marL="285750" indent="-285750">
              <a:buFont typeface="Arial" panose="020B0604020202020204" pitchFamily="34" charset="0"/>
              <a:buChar char="•"/>
            </a:pPr>
            <a:r>
              <a:rPr lang="en-GB" sz="1200" dirty="0" err="1"/>
              <a:t>Enfoque</a:t>
            </a:r>
            <a:r>
              <a:rPr lang="en-GB" sz="1200" dirty="0"/>
              <a:t>: </a:t>
            </a:r>
            <a:r>
              <a:rPr lang="en-GB" sz="1200" dirty="0" err="1"/>
              <a:t>Trabajo</a:t>
            </a:r>
            <a:r>
              <a:rPr lang="en-GB" sz="1200" dirty="0"/>
              <a:t> </a:t>
            </a:r>
            <a:r>
              <a:rPr lang="en-GB" sz="1200" dirty="0" err="1"/>
              <a:t>colaborativo</a:t>
            </a:r>
            <a:r>
              <a:rPr lang="en-GB" sz="1200" dirty="0"/>
              <a:t> con </a:t>
            </a:r>
            <a:r>
              <a:rPr lang="en-GB" sz="1200" dirty="0" err="1"/>
              <a:t>asignación</a:t>
            </a:r>
            <a:r>
              <a:rPr lang="en-GB" sz="1200" dirty="0"/>
              <a:t> de </a:t>
            </a:r>
            <a:r>
              <a:rPr lang="en-GB" sz="1200" dirty="0" err="1"/>
              <a:t>responsables</a:t>
            </a:r>
            <a:r>
              <a:rPr lang="en-GB" sz="1200" dirty="0"/>
              <a:t> </a:t>
            </a:r>
            <a:r>
              <a:rPr lang="en-GB" sz="1200" dirty="0" err="1"/>
              <a:t>por</a:t>
            </a:r>
            <a:r>
              <a:rPr lang="en-GB" sz="1200" dirty="0"/>
              <a:t> </a:t>
            </a:r>
            <a:r>
              <a:rPr lang="en-GB" sz="1200" dirty="0" err="1"/>
              <a:t>fase</a:t>
            </a:r>
            <a:endParaRPr lang="en-GB" sz="1200" dirty="0"/>
          </a:p>
          <a:p>
            <a:pPr marL="285750" indent="-285750">
              <a:buFont typeface="Arial" panose="020B0604020202020204" pitchFamily="34" charset="0"/>
              <a:buChar char="•"/>
            </a:pP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74437" y="2250295"/>
            <a:ext cx="2750004" cy="2663526"/>
          </a:xfrm>
          <a:prstGeom prst="rect">
            <a:avLst/>
          </a:prstGeom>
          <a:ln>
            <a:solidFill>
              <a:schemeClr val="bg2"/>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a:extLst>
              <a:ext uri="{FF2B5EF4-FFF2-40B4-BE49-F238E27FC236}">
                <a16:creationId xmlns:a16="http://schemas.microsoft.com/office/drawing/2014/main" id="{1D516515-DA42-9655-BB01-518323B33C34}"/>
              </a:ext>
            </a:extLst>
          </p:cNvPr>
          <p:cNvPicPr>
            <a:picLocks noChangeAspect="1"/>
          </p:cNvPicPr>
          <p:nvPr/>
        </p:nvPicPr>
        <p:blipFill>
          <a:blip r:embed="rId3"/>
          <a:stretch>
            <a:fillRect/>
          </a:stretch>
        </p:blipFill>
        <p:spPr>
          <a:xfrm>
            <a:off x="720000" y="1209851"/>
            <a:ext cx="3369761" cy="1745784"/>
          </a:xfrm>
          <a:prstGeom prst="rect">
            <a:avLst/>
          </a:prstGeom>
        </p:spPr>
      </p:pic>
      <p:sp>
        <p:nvSpPr>
          <p:cNvPr id="4" name="CuadroTexto 3">
            <a:extLst>
              <a:ext uri="{FF2B5EF4-FFF2-40B4-BE49-F238E27FC236}">
                <a16:creationId xmlns:a16="http://schemas.microsoft.com/office/drawing/2014/main" id="{3A063028-BC82-FA0D-BF4A-CD1689F34D4C}"/>
              </a:ext>
            </a:extLst>
          </p:cNvPr>
          <p:cNvSpPr txBox="1"/>
          <p:nvPr/>
        </p:nvSpPr>
        <p:spPr>
          <a:xfrm>
            <a:off x="4572000" y="1370384"/>
            <a:ext cx="4227755" cy="1031051"/>
          </a:xfrm>
          <a:prstGeom prst="rect">
            <a:avLst/>
          </a:prstGeom>
          <a:noFill/>
        </p:spPr>
        <p:txBody>
          <a:bodyPr wrap="square" rtlCol="0">
            <a:spAutoFit/>
          </a:bodyPr>
          <a:lstStyle/>
          <a:p>
            <a:r>
              <a:rPr lang="en-GB" sz="1100" dirty="0"/>
              <a:t>Entre las variables </a:t>
            </a:r>
            <a:r>
              <a:rPr lang="en-GB" sz="1100" dirty="0" err="1"/>
              <a:t>numéricas</a:t>
            </a:r>
            <a:r>
              <a:rPr lang="en-GB" sz="1100" dirty="0"/>
              <a:t> se </a:t>
            </a:r>
            <a:r>
              <a:rPr lang="en-GB" sz="1100" dirty="0" err="1"/>
              <a:t>han</a:t>
            </a:r>
            <a:r>
              <a:rPr lang="en-GB" sz="1100" dirty="0"/>
              <a:t> </a:t>
            </a:r>
            <a:r>
              <a:rPr lang="en-GB" sz="1100" dirty="0" err="1"/>
              <a:t>identificado</a:t>
            </a:r>
            <a:r>
              <a:rPr lang="en-GB" sz="1100" dirty="0"/>
              <a:t> </a:t>
            </a:r>
            <a:r>
              <a:rPr lang="en-GB" sz="1100" dirty="0" err="1"/>
              <a:t>correlaciones</a:t>
            </a:r>
            <a:r>
              <a:rPr lang="en-GB" sz="1100" dirty="0"/>
              <a:t> </a:t>
            </a:r>
            <a:r>
              <a:rPr lang="en-GB" sz="1100" dirty="0" err="1"/>
              <a:t>significativas</a:t>
            </a:r>
            <a:r>
              <a:rPr lang="en-GB" sz="1100" dirty="0"/>
              <a:t> entre</a:t>
            </a:r>
          </a:p>
          <a:p>
            <a:endParaRPr lang="en-GB" sz="1100" dirty="0"/>
          </a:p>
          <a:p>
            <a:r>
              <a:rPr lang="es-ES" b="1" dirty="0">
                <a:solidFill>
                  <a:srgbClr val="0070C0"/>
                </a:solidFill>
              </a:rPr>
              <a:t>número de quejas – satisfacción (</a:t>
            </a:r>
            <a:r>
              <a:rPr lang="en-GB" b="1" dirty="0">
                <a:solidFill>
                  <a:srgbClr val="0070C0"/>
                </a:solidFill>
              </a:rPr>
              <a:t>r = -0.31)</a:t>
            </a:r>
            <a:endParaRPr lang="es-ES" b="1" dirty="0">
              <a:solidFill>
                <a:srgbClr val="0070C0"/>
              </a:solidFill>
            </a:endParaRPr>
          </a:p>
          <a:p>
            <a:r>
              <a:rPr lang="es-ES" b="1" dirty="0">
                <a:solidFill>
                  <a:srgbClr val="00B050"/>
                </a:solidFill>
              </a:rPr>
              <a:t>número de productos – balance (r = -0.69)</a:t>
            </a:r>
            <a:endParaRPr lang="es-ES" dirty="0"/>
          </a:p>
        </p:txBody>
      </p:sp>
      <p:pic>
        <p:nvPicPr>
          <p:cNvPr id="6" name="Imagen 5">
            <a:extLst>
              <a:ext uri="{FF2B5EF4-FFF2-40B4-BE49-F238E27FC236}">
                <a16:creationId xmlns:a16="http://schemas.microsoft.com/office/drawing/2014/main" id="{C419C444-B510-41D1-18DA-A0EDA21E4FC5}"/>
              </a:ext>
            </a:extLst>
          </p:cNvPr>
          <p:cNvPicPr>
            <a:picLocks noChangeAspect="1"/>
          </p:cNvPicPr>
          <p:nvPr/>
        </p:nvPicPr>
        <p:blipFill>
          <a:blip r:embed="rId4"/>
          <a:stretch>
            <a:fillRect/>
          </a:stretch>
        </p:blipFill>
        <p:spPr>
          <a:xfrm>
            <a:off x="860608" y="4046709"/>
            <a:ext cx="3496237" cy="1114581"/>
          </a:xfrm>
          <a:prstGeom prst="rect">
            <a:avLst/>
          </a:prstGeom>
        </p:spPr>
      </p:pic>
      <p:pic>
        <p:nvPicPr>
          <p:cNvPr id="8" name="Imagen 7">
            <a:extLst>
              <a:ext uri="{FF2B5EF4-FFF2-40B4-BE49-F238E27FC236}">
                <a16:creationId xmlns:a16="http://schemas.microsoft.com/office/drawing/2014/main" id="{F191712F-AF11-545F-6745-913AE7E68860}"/>
              </a:ext>
            </a:extLst>
          </p:cNvPr>
          <p:cNvPicPr>
            <a:picLocks noChangeAspect="1"/>
          </p:cNvPicPr>
          <p:nvPr/>
        </p:nvPicPr>
        <p:blipFill>
          <a:blip r:embed="rId5"/>
          <a:stretch>
            <a:fillRect/>
          </a:stretch>
        </p:blipFill>
        <p:spPr>
          <a:xfrm>
            <a:off x="913040" y="3122220"/>
            <a:ext cx="1695687" cy="952633"/>
          </a:xfrm>
          <a:prstGeom prst="rect">
            <a:avLst/>
          </a:prstGeom>
        </p:spPr>
      </p:pic>
      <p:sp>
        <p:nvSpPr>
          <p:cNvPr id="9" name="CuadroTexto 8">
            <a:extLst>
              <a:ext uri="{FF2B5EF4-FFF2-40B4-BE49-F238E27FC236}">
                <a16:creationId xmlns:a16="http://schemas.microsoft.com/office/drawing/2014/main" id="{DF775A01-8C66-64FB-3CC2-F9073BE005FF}"/>
              </a:ext>
            </a:extLst>
          </p:cNvPr>
          <p:cNvSpPr txBox="1"/>
          <p:nvPr/>
        </p:nvSpPr>
        <p:spPr>
          <a:xfrm>
            <a:off x="4356845" y="3077091"/>
            <a:ext cx="4628648" cy="2123658"/>
          </a:xfrm>
          <a:prstGeom prst="rect">
            <a:avLst/>
          </a:prstGeom>
          <a:noFill/>
        </p:spPr>
        <p:txBody>
          <a:bodyPr wrap="square" rtlCol="0">
            <a:spAutoFit/>
          </a:bodyPr>
          <a:lstStyle/>
          <a:p>
            <a:r>
              <a:rPr lang="es-ES" sz="1200" b="1" dirty="0"/>
              <a:t>Respecto a un análisis bivariante, (</a:t>
            </a:r>
            <a:r>
              <a:rPr lang="es-ES" sz="1200" b="1" dirty="0" err="1"/>
              <a:t>Exited</a:t>
            </a:r>
            <a:r>
              <a:rPr lang="es-ES" sz="1200" b="1" dirty="0"/>
              <a:t> vs </a:t>
            </a:r>
            <a:r>
              <a:rPr lang="es-ES" sz="1200" b="1" dirty="0" err="1"/>
              <a:t>var.categóricas</a:t>
            </a:r>
            <a:r>
              <a:rPr lang="es-ES" sz="1200" b="1" dirty="0"/>
              <a:t>) </a:t>
            </a:r>
          </a:p>
          <a:p>
            <a:r>
              <a:rPr lang="en-GB" sz="1200" dirty="0"/>
              <a:t>Se </a:t>
            </a:r>
            <a:r>
              <a:rPr lang="en-GB" sz="1200" dirty="0" err="1"/>
              <a:t>han</a:t>
            </a:r>
            <a:r>
              <a:rPr lang="en-GB" sz="1200" dirty="0"/>
              <a:t> </a:t>
            </a:r>
            <a:r>
              <a:rPr lang="en-GB" sz="1200" dirty="0" err="1"/>
              <a:t>detectado</a:t>
            </a:r>
            <a:r>
              <a:rPr lang="en-GB" sz="1200" dirty="0"/>
              <a:t> </a:t>
            </a:r>
            <a:r>
              <a:rPr lang="en-GB" sz="1200" dirty="0" err="1"/>
              <a:t>diferencias</a:t>
            </a:r>
            <a:r>
              <a:rPr lang="en-GB" sz="1200" dirty="0"/>
              <a:t> </a:t>
            </a:r>
            <a:r>
              <a:rPr lang="en-GB" sz="1200" dirty="0" err="1"/>
              <a:t>proporcionales</a:t>
            </a:r>
            <a:r>
              <a:rPr lang="en-GB" sz="1200" dirty="0"/>
              <a:t> </a:t>
            </a:r>
            <a:r>
              <a:rPr lang="en-GB" sz="1200" dirty="0" err="1"/>
              <a:t>significativas</a:t>
            </a:r>
            <a:r>
              <a:rPr lang="en-GB" sz="1200" dirty="0"/>
              <a:t> </a:t>
            </a:r>
            <a:r>
              <a:rPr lang="en-GB" sz="1200" dirty="0" err="1"/>
              <a:t>en</a:t>
            </a:r>
            <a:endParaRPr lang="en-GB" sz="1200" dirty="0"/>
          </a:p>
          <a:p>
            <a:pPr marL="171450" indent="-171450">
              <a:buFont typeface="Arial" panose="020B0604020202020204" pitchFamily="34" charset="0"/>
              <a:buChar char="•"/>
            </a:pPr>
            <a:r>
              <a:rPr lang="en-ES" altLang="en-ES" sz="1200" dirty="0">
                <a:solidFill>
                  <a:schemeClr val="tx1"/>
                </a:solidFill>
                <a:latin typeface="Arial" panose="020B0604020202020204" pitchFamily="34" charset="0"/>
              </a:rPr>
              <a:t>Geography </a:t>
            </a:r>
          </a:p>
          <a:p>
            <a:pPr marL="171450" indent="-171450">
              <a:buFont typeface="Arial" panose="020B0604020202020204" pitchFamily="34" charset="0"/>
              <a:buChar char="•"/>
            </a:pPr>
            <a:r>
              <a:rPr lang="es-ES" sz="1200" dirty="0" err="1"/>
              <a:t>Gender</a:t>
            </a:r>
            <a:endParaRPr lang="es-ES" sz="1200" dirty="0"/>
          </a:p>
          <a:p>
            <a:pPr marL="171450" indent="-171450">
              <a:buFont typeface="Arial" panose="020B0604020202020204" pitchFamily="34" charset="0"/>
              <a:buChar char="•"/>
            </a:pPr>
            <a:r>
              <a:rPr lang="es-ES" sz="1200" dirty="0" err="1"/>
              <a:t>IsActiveMemeber</a:t>
            </a:r>
            <a:endParaRPr lang="es-ES" sz="1200" dirty="0"/>
          </a:p>
          <a:p>
            <a:r>
              <a:rPr lang="es-ES" sz="1200" dirty="0"/>
              <a:t>                </a:t>
            </a:r>
          </a:p>
          <a:p>
            <a:r>
              <a:rPr lang="en-GB" sz="1200" dirty="0"/>
              <a:t>                Tests de </a:t>
            </a:r>
            <a:r>
              <a:rPr lang="en-GB" sz="1200" dirty="0" err="1"/>
              <a:t>independencia</a:t>
            </a:r>
            <a:r>
              <a:rPr lang="en-GB" sz="1200" dirty="0"/>
              <a:t> (Chi-</a:t>
            </a:r>
            <a:r>
              <a:rPr lang="en-GB" sz="1200" dirty="0" err="1"/>
              <a:t>cuadrado</a:t>
            </a:r>
            <a:r>
              <a:rPr lang="en-GB" sz="1200" dirty="0"/>
              <a:t>)</a:t>
            </a:r>
            <a:r>
              <a:rPr lang="es-ES" sz="1200" dirty="0"/>
              <a:t>           </a:t>
            </a:r>
          </a:p>
          <a:p>
            <a:r>
              <a:rPr lang="es-ES" sz="1200" dirty="0"/>
              <a:t> </a:t>
            </a:r>
          </a:p>
          <a:p>
            <a:endParaRPr lang="es-ES" sz="1200" dirty="0"/>
          </a:p>
          <a:p>
            <a:endParaRPr lang="es-ES" sz="1200" dirty="0"/>
          </a:p>
          <a:p>
            <a:endParaRPr lang="es-ES" sz="1200" dirty="0"/>
          </a:p>
        </p:txBody>
      </p:sp>
      <p:pic>
        <p:nvPicPr>
          <p:cNvPr id="11" name="Imagen 10">
            <a:extLst>
              <a:ext uri="{FF2B5EF4-FFF2-40B4-BE49-F238E27FC236}">
                <a16:creationId xmlns:a16="http://schemas.microsoft.com/office/drawing/2014/main" id="{69979F9F-1699-FEEA-4104-C18227B154EA}"/>
              </a:ext>
            </a:extLst>
          </p:cNvPr>
          <p:cNvPicPr>
            <a:picLocks noChangeAspect="1"/>
          </p:cNvPicPr>
          <p:nvPr/>
        </p:nvPicPr>
        <p:blipFill>
          <a:blip r:embed="rId6"/>
          <a:stretch>
            <a:fillRect/>
          </a:stretch>
        </p:blipFill>
        <p:spPr>
          <a:xfrm>
            <a:off x="2545491" y="4046709"/>
            <a:ext cx="1706492" cy="1019914"/>
          </a:xfrm>
          <a:prstGeom prst="rect">
            <a:avLst/>
          </a:prstGeom>
        </p:spPr>
      </p:pic>
      <p:pic>
        <p:nvPicPr>
          <p:cNvPr id="13" name="Imagen 12">
            <a:extLst>
              <a:ext uri="{FF2B5EF4-FFF2-40B4-BE49-F238E27FC236}">
                <a16:creationId xmlns:a16="http://schemas.microsoft.com/office/drawing/2014/main" id="{B57E5F5A-38EB-81A4-5B57-E486F1B32098}"/>
              </a:ext>
            </a:extLst>
          </p:cNvPr>
          <p:cNvPicPr>
            <a:picLocks noChangeAspect="1"/>
          </p:cNvPicPr>
          <p:nvPr/>
        </p:nvPicPr>
        <p:blipFill>
          <a:blip r:embed="rId7"/>
          <a:stretch>
            <a:fillRect/>
          </a:stretch>
        </p:blipFill>
        <p:spPr>
          <a:xfrm>
            <a:off x="2552000" y="3122220"/>
            <a:ext cx="1804845" cy="1017824"/>
          </a:xfrm>
          <a:prstGeom prst="rect">
            <a:avLst/>
          </a:prstGeom>
        </p:spPr>
      </p:pic>
      <p:cxnSp>
        <p:nvCxnSpPr>
          <p:cNvPr id="5" name="Curved Connector 4">
            <a:extLst>
              <a:ext uri="{FF2B5EF4-FFF2-40B4-BE49-F238E27FC236}">
                <a16:creationId xmlns:a16="http://schemas.microsoft.com/office/drawing/2014/main" id="{ACB4AEF4-7734-6E9C-EF8D-E044C2E4D183}"/>
              </a:ext>
            </a:extLst>
          </p:cNvPr>
          <p:cNvCxnSpPr/>
          <p:nvPr/>
        </p:nvCxnSpPr>
        <p:spPr>
          <a:xfrm>
            <a:off x="2750288" y="1885507"/>
            <a:ext cx="1906772" cy="155944"/>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F7245195-70DF-C069-823F-B48FE94A48BB}"/>
              </a:ext>
            </a:extLst>
          </p:cNvPr>
          <p:cNvCxnSpPr/>
          <p:nvPr/>
        </p:nvCxnSpPr>
        <p:spPr>
          <a:xfrm flipV="1">
            <a:off x="3629247" y="2232837"/>
            <a:ext cx="1027813" cy="168598"/>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454349B8-B58B-8548-F0C1-A327E55F2878}"/>
              </a:ext>
            </a:extLst>
          </p:cNvPr>
          <p:cNvSpPr/>
          <p:nvPr/>
        </p:nvSpPr>
        <p:spPr>
          <a:xfrm>
            <a:off x="4572000" y="4225539"/>
            <a:ext cx="482009" cy="1994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r>
              <a:rPr lang="en-GB" dirty="0" err="1"/>
              <a:t>Resultados</a:t>
            </a:r>
            <a:r>
              <a:rPr lang="en-GB" dirty="0"/>
              <a:t> Clave </a:t>
            </a:r>
            <a:r>
              <a:rPr lang="es-ES" dirty="0"/>
              <a:t>(EDA) 2/2</a:t>
            </a:r>
            <a:endParaRPr dirty="0"/>
          </a:p>
        </p:txBody>
      </p:sp>
      <p:pic>
        <p:nvPicPr>
          <p:cNvPr id="3" name="Imagen 2">
            <a:extLst>
              <a:ext uri="{FF2B5EF4-FFF2-40B4-BE49-F238E27FC236}">
                <a16:creationId xmlns:a16="http://schemas.microsoft.com/office/drawing/2014/main" id="{F8B308B3-606D-5693-7118-602F333524E5}"/>
              </a:ext>
            </a:extLst>
          </p:cNvPr>
          <p:cNvPicPr>
            <a:picLocks noChangeAspect="1"/>
          </p:cNvPicPr>
          <p:nvPr/>
        </p:nvPicPr>
        <p:blipFill>
          <a:blip r:embed="rId3"/>
          <a:stretch>
            <a:fillRect/>
          </a:stretch>
        </p:blipFill>
        <p:spPr>
          <a:xfrm>
            <a:off x="364108" y="1380864"/>
            <a:ext cx="2045586" cy="1414690"/>
          </a:xfrm>
          <a:prstGeom prst="rect">
            <a:avLst/>
          </a:prstGeom>
        </p:spPr>
      </p:pic>
      <p:pic>
        <p:nvPicPr>
          <p:cNvPr id="5" name="Imagen 4">
            <a:extLst>
              <a:ext uri="{FF2B5EF4-FFF2-40B4-BE49-F238E27FC236}">
                <a16:creationId xmlns:a16="http://schemas.microsoft.com/office/drawing/2014/main" id="{178624F4-D358-A55A-7284-21B1DCA028A0}"/>
              </a:ext>
            </a:extLst>
          </p:cNvPr>
          <p:cNvPicPr>
            <a:picLocks noChangeAspect="1"/>
          </p:cNvPicPr>
          <p:nvPr/>
        </p:nvPicPr>
        <p:blipFill>
          <a:blip r:embed="rId4"/>
          <a:stretch>
            <a:fillRect/>
          </a:stretch>
        </p:blipFill>
        <p:spPr>
          <a:xfrm>
            <a:off x="3734585" y="1441794"/>
            <a:ext cx="2100969" cy="1414690"/>
          </a:xfrm>
          <a:prstGeom prst="rect">
            <a:avLst/>
          </a:prstGeom>
        </p:spPr>
      </p:pic>
      <p:sp>
        <p:nvSpPr>
          <p:cNvPr id="6" name="CuadroTexto 5">
            <a:extLst>
              <a:ext uri="{FF2B5EF4-FFF2-40B4-BE49-F238E27FC236}">
                <a16:creationId xmlns:a16="http://schemas.microsoft.com/office/drawing/2014/main" id="{BD19327A-FEC8-2546-D5CE-E67AF2C8E686}"/>
              </a:ext>
            </a:extLst>
          </p:cNvPr>
          <p:cNvSpPr txBox="1"/>
          <p:nvPr/>
        </p:nvSpPr>
        <p:spPr>
          <a:xfrm>
            <a:off x="5891456" y="1183710"/>
            <a:ext cx="2689411" cy="2154436"/>
          </a:xfrm>
          <a:prstGeom prst="rect">
            <a:avLst/>
          </a:prstGeom>
          <a:solidFill>
            <a:schemeClr val="lt1"/>
          </a:solidFill>
        </p:spPr>
        <p:txBody>
          <a:bodyPr wrap="square" lIns="90000" rtlCol="0">
            <a:spAutoFit/>
          </a:bodyPr>
          <a:lstStyle/>
          <a:p>
            <a:r>
              <a:rPr lang="es-ES" sz="1000" dirty="0"/>
              <a:t>Variables numéricas significativas </a:t>
            </a:r>
          </a:p>
          <a:p>
            <a:pPr marL="285750" indent="-285750">
              <a:buFontTx/>
              <a:buChar char="-"/>
            </a:pPr>
            <a:r>
              <a:rPr lang="es-ES" sz="1000" dirty="0"/>
              <a:t>Age</a:t>
            </a:r>
          </a:p>
          <a:p>
            <a:pPr marL="285750" indent="-285750">
              <a:buFontTx/>
              <a:buChar char="-"/>
            </a:pPr>
            <a:r>
              <a:rPr lang="es-ES" sz="1000" dirty="0"/>
              <a:t>Balance</a:t>
            </a:r>
          </a:p>
          <a:p>
            <a:endParaRPr lang="en-GB" sz="1000" dirty="0"/>
          </a:p>
          <a:p>
            <a:r>
              <a:rPr lang="en-GB" sz="1000" dirty="0" err="1"/>
              <a:t>Evitar</a:t>
            </a:r>
            <a:r>
              <a:rPr lang="en-GB" sz="1000" dirty="0"/>
              <a:t> </a:t>
            </a:r>
            <a:r>
              <a:rPr lang="en-GB" sz="1000" dirty="0" err="1"/>
              <a:t>multicolinealidad</a:t>
            </a:r>
            <a:endParaRPr lang="en-GB" sz="1000" dirty="0"/>
          </a:p>
          <a:p>
            <a:r>
              <a:rPr lang="en-GB" sz="1000" dirty="0"/>
              <a:t>• </a:t>
            </a:r>
            <a:r>
              <a:rPr lang="en-GB" sz="1000" dirty="0" err="1"/>
              <a:t>Aplicar</a:t>
            </a:r>
            <a:r>
              <a:rPr lang="en-GB" sz="1000" dirty="0"/>
              <a:t> </a:t>
            </a:r>
            <a:r>
              <a:rPr lang="en-GB" sz="1000" dirty="0" err="1"/>
              <a:t>técnicas</a:t>
            </a:r>
            <a:r>
              <a:rPr lang="en-GB" sz="1000" dirty="0"/>
              <a:t> de </a:t>
            </a:r>
            <a:r>
              <a:rPr lang="en-GB" sz="1000" dirty="0" err="1"/>
              <a:t>selección</a:t>
            </a:r>
            <a:r>
              <a:rPr lang="en-GB" sz="1000" dirty="0"/>
              <a:t> de features</a:t>
            </a:r>
          </a:p>
          <a:p>
            <a:r>
              <a:rPr lang="en-GB" sz="1000" dirty="0"/>
              <a:t>• </a:t>
            </a:r>
            <a:r>
              <a:rPr lang="en-GB" sz="1000" dirty="0" err="1"/>
              <a:t>Priorizar</a:t>
            </a:r>
            <a:r>
              <a:rPr lang="en-GB" sz="1000" dirty="0"/>
              <a:t> variables </a:t>
            </a:r>
            <a:r>
              <a:rPr lang="en-GB" sz="1000" dirty="0" err="1"/>
              <a:t>originales</a:t>
            </a:r>
            <a:r>
              <a:rPr lang="en-GB" sz="1000" dirty="0"/>
              <a:t> </a:t>
            </a:r>
            <a:r>
              <a:rPr lang="en-GB" sz="1000" dirty="0" err="1"/>
              <a:t>sobre</a:t>
            </a:r>
            <a:r>
              <a:rPr lang="en-GB" sz="1000" dirty="0"/>
              <a:t> </a:t>
            </a:r>
            <a:r>
              <a:rPr lang="en-GB" sz="1000" dirty="0" err="1"/>
              <a:t>derivadas</a:t>
            </a:r>
            <a:endParaRPr lang="en-GB" sz="1000" dirty="0"/>
          </a:p>
          <a:p>
            <a:endParaRPr lang="en-GB" sz="1000" dirty="0"/>
          </a:p>
          <a:p>
            <a:r>
              <a:rPr lang="en-GB" sz="1000" b="1" dirty="0" err="1"/>
              <a:t>Segmentación</a:t>
            </a:r>
            <a:r>
              <a:rPr lang="en-GB" sz="1000" b="1" dirty="0"/>
              <a:t> </a:t>
            </a:r>
            <a:r>
              <a:rPr lang="en-GB" sz="1000" b="1" dirty="0" err="1"/>
              <a:t>Detectada</a:t>
            </a:r>
            <a:endParaRPr lang="en-GB" sz="1000" b="1" dirty="0"/>
          </a:p>
          <a:p>
            <a:r>
              <a:rPr lang="en-GB" sz="1000" dirty="0"/>
              <a:t>- </a:t>
            </a:r>
            <a:r>
              <a:rPr lang="en-GB" sz="1000" dirty="0" err="1"/>
              <a:t>Muestran</a:t>
            </a:r>
            <a:r>
              <a:rPr lang="en-GB" sz="1000" dirty="0"/>
              <a:t> </a:t>
            </a:r>
            <a:r>
              <a:rPr lang="en-GB" sz="1000" dirty="0" err="1"/>
              <a:t>patrones</a:t>
            </a:r>
            <a:r>
              <a:rPr lang="en-GB" sz="1000" dirty="0"/>
              <a:t> </a:t>
            </a:r>
            <a:r>
              <a:rPr lang="en-GB" sz="1000" dirty="0" err="1"/>
              <a:t>diferenciados</a:t>
            </a:r>
            <a:r>
              <a:rPr lang="en-GB" sz="1000" dirty="0"/>
              <a:t> </a:t>
            </a:r>
            <a:r>
              <a:rPr lang="en-GB" sz="1000" dirty="0" err="1"/>
              <a:t>según</a:t>
            </a:r>
            <a:r>
              <a:rPr lang="en-GB" sz="1000" dirty="0"/>
              <a:t> </a:t>
            </a:r>
            <a:r>
              <a:rPr lang="en-GB" sz="1000" b="1" dirty="0"/>
              <a:t>Exited</a:t>
            </a:r>
            <a:r>
              <a:rPr lang="en-GB" sz="1000" dirty="0"/>
              <a:t> → </a:t>
            </a:r>
            <a:r>
              <a:rPr lang="en-GB" sz="1000" dirty="0" err="1"/>
              <a:t>alta</a:t>
            </a:r>
            <a:r>
              <a:rPr lang="en-GB" sz="1000" dirty="0"/>
              <a:t> </a:t>
            </a:r>
            <a:r>
              <a:rPr lang="en-GB" sz="1000" dirty="0" err="1"/>
              <a:t>capacidad</a:t>
            </a:r>
            <a:r>
              <a:rPr lang="en-GB" sz="1000" dirty="0"/>
              <a:t> </a:t>
            </a:r>
            <a:r>
              <a:rPr lang="en-GB" sz="1000" dirty="0" err="1"/>
              <a:t>predictiva</a:t>
            </a:r>
            <a:endParaRPr lang="en-GB" sz="1000" dirty="0"/>
          </a:p>
          <a:p>
            <a:endParaRPr lang="es-ES" dirty="0"/>
          </a:p>
        </p:txBody>
      </p:sp>
      <p:pic>
        <p:nvPicPr>
          <p:cNvPr id="8" name="Imagen 7">
            <a:extLst>
              <a:ext uri="{FF2B5EF4-FFF2-40B4-BE49-F238E27FC236}">
                <a16:creationId xmlns:a16="http://schemas.microsoft.com/office/drawing/2014/main" id="{9914B39E-79EB-753D-3011-BFAAE635B912}"/>
              </a:ext>
            </a:extLst>
          </p:cNvPr>
          <p:cNvPicPr>
            <a:picLocks noChangeAspect="1"/>
          </p:cNvPicPr>
          <p:nvPr/>
        </p:nvPicPr>
        <p:blipFill>
          <a:blip r:embed="rId5"/>
          <a:stretch>
            <a:fillRect/>
          </a:stretch>
        </p:blipFill>
        <p:spPr>
          <a:xfrm>
            <a:off x="519100" y="3398329"/>
            <a:ext cx="1576073" cy="957106"/>
          </a:xfrm>
          <a:prstGeom prst="rect">
            <a:avLst/>
          </a:prstGeom>
        </p:spPr>
      </p:pic>
      <p:pic>
        <p:nvPicPr>
          <p:cNvPr id="10" name="Imagen 9">
            <a:extLst>
              <a:ext uri="{FF2B5EF4-FFF2-40B4-BE49-F238E27FC236}">
                <a16:creationId xmlns:a16="http://schemas.microsoft.com/office/drawing/2014/main" id="{7ADEFD04-076B-92BF-D182-BF801606BBEF}"/>
              </a:ext>
            </a:extLst>
          </p:cNvPr>
          <p:cNvPicPr>
            <a:picLocks noChangeAspect="1"/>
          </p:cNvPicPr>
          <p:nvPr/>
        </p:nvPicPr>
        <p:blipFill>
          <a:blip r:embed="rId6"/>
          <a:stretch>
            <a:fillRect/>
          </a:stretch>
        </p:blipFill>
        <p:spPr>
          <a:xfrm>
            <a:off x="3958413" y="3398329"/>
            <a:ext cx="1653314" cy="957106"/>
          </a:xfrm>
          <a:prstGeom prst="rect">
            <a:avLst/>
          </a:prstGeom>
        </p:spPr>
      </p:pic>
      <p:sp>
        <p:nvSpPr>
          <p:cNvPr id="11" name="CuadroTexto 10">
            <a:extLst>
              <a:ext uri="{FF2B5EF4-FFF2-40B4-BE49-F238E27FC236}">
                <a16:creationId xmlns:a16="http://schemas.microsoft.com/office/drawing/2014/main" id="{94A685DF-E20C-512D-21F4-4547D83672C6}"/>
              </a:ext>
            </a:extLst>
          </p:cNvPr>
          <p:cNvSpPr txBox="1"/>
          <p:nvPr/>
        </p:nvSpPr>
        <p:spPr>
          <a:xfrm>
            <a:off x="5698820" y="3255768"/>
            <a:ext cx="2926080" cy="1169551"/>
          </a:xfrm>
          <a:prstGeom prst="rect">
            <a:avLst/>
          </a:prstGeom>
          <a:solidFill>
            <a:schemeClr val="accent2"/>
          </a:solidFill>
        </p:spPr>
        <p:txBody>
          <a:bodyPr wrap="square" rtlCol="0">
            <a:spAutoFit/>
          </a:bodyPr>
          <a:lstStyle/>
          <a:p>
            <a:r>
              <a:rPr lang="en-GB" dirty="0" err="1"/>
              <a:t>Algunas</a:t>
            </a:r>
            <a:r>
              <a:rPr lang="en-GB" dirty="0"/>
              <a:t> variables </a:t>
            </a:r>
            <a:r>
              <a:rPr lang="en-GB" dirty="0" err="1"/>
              <a:t>están</a:t>
            </a:r>
            <a:r>
              <a:rPr lang="en-GB" dirty="0"/>
              <a:t> </a:t>
            </a:r>
            <a:r>
              <a:rPr lang="en-GB" dirty="0" err="1"/>
              <a:t>relacionadas</a:t>
            </a:r>
            <a:r>
              <a:rPr lang="en-GB" dirty="0"/>
              <a:t> de forma artificial, </a:t>
            </a:r>
            <a:r>
              <a:rPr lang="en-GB" dirty="0" err="1"/>
              <a:t>ya</a:t>
            </a:r>
            <a:r>
              <a:rPr lang="en-GB" dirty="0"/>
              <a:t> </a:t>
            </a:r>
            <a:r>
              <a:rPr lang="en-GB" dirty="0" err="1"/>
              <a:t>que</a:t>
            </a:r>
            <a:r>
              <a:rPr lang="en-GB" dirty="0"/>
              <a:t> </a:t>
            </a:r>
            <a:r>
              <a:rPr lang="en-GB" dirty="0" err="1"/>
              <a:t>una</a:t>
            </a:r>
            <a:r>
              <a:rPr lang="en-GB" dirty="0"/>
              <a:t> </a:t>
            </a:r>
            <a:r>
              <a:rPr lang="en-GB" dirty="0" err="1"/>
              <a:t>deriva</a:t>
            </a:r>
            <a:r>
              <a:rPr lang="en-GB" dirty="0"/>
              <a:t> de </a:t>
            </a:r>
            <a:r>
              <a:rPr lang="en-GB" dirty="0" err="1"/>
              <a:t>otra</a:t>
            </a:r>
            <a:r>
              <a:rPr lang="en-GB" dirty="0"/>
              <a:t>; </a:t>
            </a:r>
            <a:r>
              <a:rPr lang="en-GB" dirty="0" err="1"/>
              <a:t>por</a:t>
            </a:r>
            <a:r>
              <a:rPr lang="en-GB" dirty="0"/>
              <a:t> </a:t>
            </a:r>
            <a:r>
              <a:rPr lang="en-GB" dirty="0" err="1"/>
              <a:t>ello</a:t>
            </a:r>
            <a:r>
              <a:rPr lang="en-GB" dirty="0"/>
              <a:t>, no </a:t>
            </a:r>
            <a:r>
              <a:rPr lang="en-GB" dirty="0" err="1"/>
              <a:t>pueden</a:t>
            </a:r>
            <a:r>
              <a:rPr lang="en-GB" dirty="0"/>
              <a:t> ser </a:t>
            </a:r>
            <a:r>
              <a:rPr lang="en-GB" dirty="0" err="1"/>
              <a:t>significativas</a:t>
            </a:r>
            <a:r>
              <a:rPr lang="en-GB" dirty="0"/>
              <a:t> al </a:t>
            </a:r>
            <a:r>
              <a:rPr lang="en-GB" dirty="0" err="1"/>
              <a:t>mismo</a:t>
            </a:r>
            <a:r>
              <a:rPr lang="en-GB" dirty="0"/>
              <a:t> </a:t>
            </a:r>
            <a:r>
              <a:rPr lang="en-GB" dirty="0" err="1"/>
              <a:t>tiempo</a:t>
            </a:r>
            <a:r>
              <a:rPr lang="en-GB" dirty="0"/>
              <a:t>.</a:t>
            </a:r>
            <a:endParaRPr lang="es-ES" dirty="0"/>
          </a:p>
        </p:txBody>
      </p:sp>
      <p:pic>
        <p:nvPicPr>
          <p:cNvPr id="13" name="Imagen 12">
            <a:extLst>
              <a:ext uri="{FF2B5EF4-FFF2-40B4-BE49-F238E27FC236}">
                <a16:creationId xmlns:a16="http://schemas.microsoft.com/office/drawing/2014/main" id="{7AA491D9-67AC-2F66-8CF6-52562D3A93F9}"/>
              </a:ext>
            </a:extLst>
          </p:cNvPr>
          <p:cNvPicPr>
            <a:picLocks noChangeAspect="1"/>
          </p:cNvPicPr>
          <p:nvPr/>
        </p:nvPicPr>
        <p:blipFill>
          <a:blip r:embed="rId7"/>
          <a:stretch>
            <a:fillRect/>
          </a:stretch>
        </p:blipFill>
        <p:spPr>
          <a:xfrm>
            <a:off x="2296072" y="3398329"/>
            <a:ext cx="1531433" cy="905696"/>
          </a:xfrm>
          <a:prstGeom prst="rect">
            <a:avLst/>
          </a:prstGeom>
        </p:spPr>
      </p:pic>
      <p:pic>
        <p:nvPicPr>
          <p:cNvPr id="4" name="Picture 3" descr="A black and white balance scale&#10;&#10;AI-generated content may be incorrect.">
            <a:extLst>
              <a:ext uri="{FF2B5EF4-FFF2-40B4-BE49-F238E27FC236}">
                <a16:creationId xmlns:a16="http://schemas.microsoft.com/office/drawing/2014/main" id="{13D621EE-205B-D93E-166E-144881D0EA80}"/>
              </a:ext>
            </a:extLst>
          </p:cNvPr>
          <p:cNvPicPr>
            <a:picLocks noChangeAspect="1"/>
          </p:cNvPicPr>
          <p:nvPr/>
        </p:nvPicPr>
        <p:blipFill>
          <a:blip r:embed="rId8"/>
          <a:stretch>
            <a:fillRect/>
          </a:stretch>
        </p:blipFill>
        <p:spPr>
          <a:xfrm>
            <a:off x="2632832" y="1622382"/>
            <a:ext cx="933999" cy="905696"/>
          </a:xfrm>
          <a:prstGeom prst="rect">
            <a:avLst/>
          </a:prstGeom>
        </p:spPr>
      </p:pic>
      <p:sp>
        <p:nvSpPr>
          <p:cNvPr id="7" name="TextBox 6">
            <a:extLst>
              <a:ext uri="{FF2B5EF4-FFF2-40B4-BE49-F238E27FC236}">
                <a16:creationId xmlns:a16="http://schemas.microsoft.com/office/drawing/2014/main" id="{A655FD26-B982-87C5-DF06-3F532B7F2DC6}"/>
              </a:ext>
            </a:extLst>
          </p:cNvPr>
          <p:cNvSpPr txBox="1"/>
          <p:nvPr/>
        </p:nvSpPr>
        <p:spPr>
          <a:xfrm>
            <a:off x="1907838" y="1138533"/>
            <a:ext cx="2383986" cy="307777"/>
          </a:xfrm>
          <a:prstGeom prst="rect">
            <a:avLst/>
          </a:prstGeom>
          <a:noFill/>
        </p:spPr>
        <p:txBody>
          <a:bodyPr wrap="none" rtlCol="0">
            <a:spAutoFit/>
          </a:bodyPr>
          <a:lstStyle/>
          <a:p>
            <a:r>
              <a:rPr lang="en-GB" dirty="0"/>
              <a:t>S</a:t>
            </a:r>
            <a:r>
              <a:rPr lang="en-ES" dirty="0"/>
              <a:t>eparación clara por Exited</a:t>
            </a:r>
          </a:p>
        </p:txBody>
      </p:sp>
      <p:sp>
        <p:nvSpPr>
          <p:cNvPr id="9" name="TextBox 8">
            <a:extLst>
              <a:ext uri="{FF2B5EF4-FFF2-40B4-BE49-F238E27FC236}">
                <a16:creationId xmlns:a16="http://schemas.microsoft.com/office/drawing/2014/main" id="{735269EF-2EBE-642D-98FA-E563E16D6C06}"/>
              </a:ext>
            </a:extLst>
          </p:cNvPr>
          <p:cNvSpPr txBox="1"/>
          <p:nvPr/>
        </p:nvSpPr>
        <p:spPr>
          <a:xfrm>
            <a:off x="400911" y="4355435"/>
            <a:ext cx="2908168" cy="307777"/>
          </a:xfrm>
          <a:prstGeom prst="rect">
            <a:avLst/>
          </a:prstGeom>
          <a:noFill/>
        </p:spPr>
        <p:txBody>
          <a:bodyPr wrap="none" rtlCol="0">
            <a:spAutoFit/>
          </a:bodyPr>
          <a:lstStyle/>
          <a:p>
            <a:r>
              <a:rPr lang="en-GB" b="1" dirty="0" err="1"/>
              <a:t>MaritalStatus</a:t>
            </a:r>
            <a:r>
              <a:rPr lang="en-GB" b="1" dirty="0"/>
              <a:t> ↔ </a:t>
            </a:r>
            <a:r>
              <a:rPr lang="en-GB" b="1" dirty="0" err="1"/>
              <a:t>EducationLevel</a:t>
            </a:r>
            <a:endParaRPr lang="en-ES" dirty="0"/>
          </a:p>
        </p:txBody>
      </p:sp>
      <p:sp>
        <p:nvSpPr>
          <p:cNvPr id="12" name="TextBox 11">
            <a:extLst>
              <a:ext uri="{FF2B5EF4-FFF2-40B4-BE49-F238E27FC236}">
                <a16:creationId xmlns:a16="http://schemas.microsoft.com/office/drawing/2014/main" id="{F60F9C31-DEE4-81DA-F297-2F845810FE30}"/>
              </a:ext>
            </a:extLst>
          </p:cNvPr>
          <p:cNvSpPr txBox="1"/>
          <p:nvPr/>
        </p:nvSpPr>
        <p:spPr>
          <a:xfrm>
            <a:off x="379179" y="4691981"/>
            <a:ext cx="3355406" cy="307777"/>
          </a:xfrm>
          <a:prstGeom prst="rect">
            <a:avLst/>
          </a:prstGeom>
          <a:noFill/>
        </p:spPr>
        <p:txBody>
          <a:bodyPr wrap="none" rtlCol="0">
            <a:spAutoFit/>
          </a:bodyPr>
          <a:lstStyle/>
          <a:p>
            <a:r>
              <a:rPr lang="en-GB" b="1" dirty="0" err="1"/>
              <a:t>SavingsAccountFlag</a:t>
            </a:r>
            <a:r>
              <a:rPr lang="en-GB" b="1" dirty="0"/>
              <a:t> ↔ </a:t>
            </a:r>
            <a:r>
              <a:rPr lang="en-GB" b="1" dirty="0" err="1"/>
              <a:t>MaritalStatus</a:t>
            </a:r>
            <a:endParaRPr lang="en-ES" dirty="0"/>
          </a:p>
        </p:txBody>
      </p:sp>
      <p:sp>
        <p:nvSpPr>
          <p:cNvPr id="15" name="TextBox 14">
            <a:extLst>
              <a:ext uri="{FF2B5EF4-FFF2-40B4-BE49-F238E27FC236}">
                <a16:creationId xmlns:a16="http://schemas.microsoft.com/office/drawing/2014/main" id="{77B2D105-8F00-228B-B13E-967360E901C0}"/>
              </a:ext>
            </a:extLst>
          </p:cNvPr>
          <p:cNvSpPr txBox="1"/>
          <p:nvPr/>
        </p:nvSpPr>
        <p:spPr>
          <a:xfrm>
            <a:off x="3734585" y="4465408"/>
            <a:ext cx="4572000" cy="307777"/>
          </a:xfrm>
          <a:prstGeom prst="rect">
            <a:avLst/>
          </a:prstGeom>
          <a:noFill/>
        </p:spPr>
        <p:txBody>
          <a:bodyPr wrap="square">
            <a:spAutoFit/>
          </a:bodyPr>
          <a:lstStyle/>
          <a:p>
            <a:r>
              <a:rPr lang="en-GB" b="1" i="0" dirty="0" err="1">
                <a:solidFill>
                  <a:srgbClr val="030712"/>
                </a:solidFill>
                <a:effectLst/>
                <a:latin typeface="ui-sans-serif"/>
              </a:rPr>
              <a:t>MaritalStatus</a:t>
            </a:r>
            <a:r>
              <a:rPr lang="en-GB" b="1" i="0" dirty="0">
                <a:solidFill>
                  <a:srgbClr val="030712"/>
                </a:solidFill>
                <a:effectLst/>
                <a:latin typeface="ui-sans-serif"/>
              </a:rPr>
              <a:t> ↔ </a:t>
            </a:r>
            <a:r>
              <a:rPr lang="en-GB" b="1" i="0" dirty="0" err="1">
                <a:solidFill>
                  <a:srgbClr val="030712"/>
                </a:solidFill>
                <a:effectLst/>
                <a:latin typeface="ui-sans-serif"/>
              </a:rPr>
              <a:t>CustomerSegment</a:t>
            </a:r>
            <a:endParaRPr lang="en-ES" dirty="0"/>
          </a:p>
        </p:txBody>
      </p:sp>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07DF698-F9EC-1757-A445-D83603E11B09}"/>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2899A42E-A5F5-458B-1B04-D602FDAE3254}"/>
              </a:ext>
            </a:extLst>
          </p:cNvPr>
          <p:cNvSpPr txBox="1">
            <a:spLocks noGrp="1"/>
          </p:cNvSpPr>
          <p:nvPr>
            <p:ph type="title"/>
          </p:nvPr>
        </p:nvSpPr>
        <p:spPr>
          <a:xfrm>
            <a:off x="720000" y="227362"/>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Missings</a:t>
            </a:r>
            <a:endParaRPr dirty="0"/>
          </a:p>
        </p:txBody>
      </p:sp>
      <p:pic>
        <p:nvPicPr>
          <p:cNvPr id="6" name="Imagen 5">
            <a:extLst>
              <a:ext uri="{FF2B5EF4-FFF2-40B4-BE49-F238E27FC236}">
                <a16:creationId xmlns:a16="http://schemas.microsoft.com/office/drawing/2014/main" id="{5F92A851-FE02-6BF4-670C-99083B0FEB62}"/>
              </a:ext>
            </a:extLst>
          </p:cNvPr>
          <p:cNvPicPr>
            <a:picLocks noChangeAspect="1"/>
          </p:cNvPicPr>
          <p:nvPr/>
        </p:nvPicPr>
        <p:blipFill>
          <a:blip r:embed="rId3"/>
          <a:stretch>
            <a:fillRect/>
          </a:stretch>
        </p:blipFill>
        <p:spPr>
          <a:xfrm>
            <a:off x="231718" y="704478"/>
            <a:ext cx="3117890" cy="2090109"/>
          </a:xfrm>
          <a:prstGeom prst="rect">
            <a:avLst/>
          </a:prstGeom>
        </p:spPr>
      </p:pic>
      <p:pic>
        <p:nvPicPr>
          <p:cNvPr id="8" name="Imagen 7">
            <a:extLst>
              <a:ext uri="{FF2B5EF4-FFF2-40B4-BE49-F238E27FC236}">
                <a16:creationId xmlns:a16="http://schemas.microsoft.com/office/drawing/2014/main" id="{4A959802-F2AB-6370-7B58-E78D7098AE1B}"/>
              </a:ext>
            </a:extLst>
          </p:cNvPr>
          <p:cNvPicPr>
            <a:picLocks noChangeAspect="1"/>
          </p:cNvPicPr>
          <p:nvPr/>
        </p:nvPicPr>
        <p:blipFill>
          <a:blip r:embed="rId4"/>
          <a:stretch>
            <a:fillRect/>
          </a:stretch>
        </p:blipFill>
        <p:spPr>
          <a:xfrm>
            <a:off x="231718" y="2794587"/>
            <a:ext cx="3251738" cy="2153928"/>
          </a:xfrm>
          <a:prstGeom prst="rect">
            <a:avLst/>
          </a:prstGeom>
        </p:spPr>
      </p:pic>
      <p:sp>
        <p:nvSpPr>
          <p:cNvPr id="3" name="Rounded Rectangle 2">
            <a:extLst>
              <a:ext uri="{FF2B5EF4-FFF2-40B4-BE49-F238E27FC236}">
                <a16:creationId xmlns:a16="http://schemas.microsoft.com/office/drawing/2014/main" id="{80C9A3E0-81F8-A41F-C787-ECE02F73D8C0}"/>
              </a:ext>
            </a:extLst>
          </p:cNvPr>
          <p:cNvSpPr/>
          <p:nvPr/>
        </p:nvSpPr>
        <p:spPr>
          <a:xfrm>
            <a:off x="3909653" y="723259"/>
            <a:ext cx="2282342" cy="248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Detección</a:t>
            </a:r>
          </a:p>
        </p:txBody>
      </p:sp>
      <p:sp>
        <p:nvSpPr>
          <p:cNvPr id="4" name="TextBox 3">
            <a:extLst>
              <a:ext uri="{FF2B5EF4-FFF2-40B4-BE49-F238E27FC236}">
                <a16:creationId xmlns:a16="http://schemas.microsoft.com/office/drawing/2014/main" id="{B09C4AB6-E6F8-2CC6-4731-0E30548E7593}"/>
              </a:ext>
            </a:extLst>
          </p:cNvPr>
          <p:cNvSpPr txBox="1"/>
          <p:nvPr/>
        </p:nvSpPr>
        <p:spPr>
          <a:xfrm>
            <a:off x="3972153" y="1082650"/>
            <a:ext cx="2589581" cy="1384995"/>
          </a:xfrm>
          <a:prstGeom prst="rect">
            <a:avLst/>
          </a:prstGeom>
          <a:noFill/>
        </p:spPr>
        <p:txBody>
          <a:bodyPr wrap="square" rtlCol="0">
            <a:spAutoFit/>
          </a:bodyPr>
          <a:lstStyle/>
          <a:p>
            <a:r>
              <a:rPr lang="en-GB" b="1" dirty="0"/>
              <a:t>30% </a:t>
            </a:r>
            <a:r>
              <a:rPr lang="en-GB" dirty="0" err="1"/>
              <a:t>en</a:t>
            </a:r>
            <a:r>
              <a:rPr lang="en-GB" dirty="0"/>
              <a:t> </a:t>
            </a:r>
            <a:r>
              <a:rPr lang="en-GB" dirty="0" err="1"/>
              <a:t>todas</a:t>
            </a:r>
            <a:r>
              <a:rPr lang="en-GB" dirty="0"/>
              <a:t> las variables (</a:t>
            </a:r>
            <a:r>
              <a:rPr lang="en-GB" dirty="0" err="1"/>
              <a:t>excepto</a:t>
            </a:r>
            <a:r>
              <a:rPr lang="en-GB" dirty="0"/>
              <a:t> ID)</a:t>
            </a:r>
          </a:p>
          <a:p>
            <a:r>
              <a:rPr lang="en-GB" b="1" dirty="0">
                <a:highlight>
                  <a:srgbClr val="FFFF00"/>
                </a:highlight>
              </a:rPr>
              <a:t>Test MCAR</a:t>
            </a:r>
          </a:p>
          <a:p>
            <a:r>
              <a:rPr lang="en-GB" b="1" dirty="0"/>
              <a:t>p-</a:t>
            </a:r>
            <a:r>
              <a:rPr lang="en-GB" b="1" dirty="0" err="1"/>
              <a:t>valor</a:t>
            </a:r>
            <a:r>
              <a:rPr lang="en-GB" b="1" dirty="0"/>
              <a:t> = 0.39</a:t>
            </a:r>
          </a:p>
          <a:p>
            <a:r>
              <a:rPr lang="en-GB" dirty="0"/>
              <a:t>✓ </a:t>
            </a:r>
            <a:r>
              <a:rPr lang="en-GB" dirty="0" err="1"/>
              <a:t>Aleatoriedad</a:t>
            </a:r>
            <a:r>
              <a:rPr lang="en-GB" dirty="0"/>
              <a:t> </a:t>
            </a:r>
            <a:r>
              <a:rPr lang="en-GB" dirty="0" err="1"/>
              <a:t>confirmada</a:t>
            </a:r>
            <a:endParaRPr lang="en-GB" dirty="0"/>
          </a:p>
          <a:p>
            <a:endParaRPr lang="en-ES" dirty="0"/>
          </a:p>
        </p:txBody>
      </p:sp>
      <p:sp>
        <p:nvSpPr>
          <p:cNvPr id="7" name="TextBox 6">
            <a:extLst>
              <a:ext uri="{FF2B5EF4-FFF2-40B4-BE49-F238E27FC236}">
                <a16:creationId xmlns:a16="http://schemas.microsoft.com/office/drawing/2014/main" id="{12786B15-69B6-809E-8275-A012869310C1}"/>
              </a:ext>
            </a:extLst>
          </p:cNvPr>
          <p:cNvSpPr txBox="1"/>
          <p:nvPr/>
        </p:nvSpPr>
        <p:spPr>
          <a:xfrm>
            <a:off x="6456549" y="530782"/>
            <a:ext cx="2622821" cy="2546851"/>
          </a:xfrm>
          <a:prstGeom prst="rect">
            <a:avLst/>
          </a:prstGeom>
          <a:noFill/>
        </p:spPr>
        <p:txBody>
          <a:bodyPr wrap="square">
            <a:spAutoFit/>
          </a:bodyPr>
          <a:lstStyle/>
          <a:p>
            <a:pPr algn="l">
              <a:buNone/>
            </a:pPr>
            <a:br>
              <a:rPr lang="en-GB" b="1" i="0" dirty="0">
                <a:solidFill>
                  <a:srgbClr val="030712"/>
                </a:solidFill>
                <a:effectLst/>
                <a:latin typeface="ui-sans-serif"/>
              </a:rPr>
            </a:br>
            <a:r>
              <a:rPr lang="en-GB" sz="1200" b="1" i="0" dirty="0" err="1">
                <a:solidFill>
                  <a:srgbClr val="030712"/>
                </a:solidFill>
                <a:effectLst/>
                <a:latin typeface="ui-sans-serif"/>
              </a:rPr>
              <a:t>Métodos</a:t>
            </a:r>
            <a:r>
              <a:rPr lang="en-GB" sz="1200" b="1" i="0" dirty="0">
                <a:solidFill>
                  <a:srgbClr val="030712"/>
                </a:solidFill>
                <a:effectLst/>
                <a:latin typeface="ui-sans-serif"/>
              </a:rPr>
              <a:t> </a:t>
            </a:r>
            <a:r>
              <a:rPr lang="en-GB" sz="1200" b="1" i="0" dirty="0" err="1">
                <a:solidFill>
                  <a:srgbClr val="030712"/>
                </a:solidFill>
                <a:effectLst/>
                <a:latin typeface="ui-sans-serif"/>
              </a:rPr>
              <a:t>Probados</a:t>
            </a:r>
            <a:r>
              <a:rPr lang="en-GB" sz="1200" b="1" i="0" dirty="0">
                <a:solidFill>
                  <a:srgbClr val="030712"/>
                </a:solidFill>
                <a:effectLst/>
                <a:latin typeface="ui-sans-serif"/>
              </a:rPr>
              <a:t> </a:t>
            </a:r>
            <a:r>
              <a:rPr lang="en-GB" sz="1200" b="1" i="0" dirty="0" err="1">
                <a:solidFill>
                  <a:srgbClr val="030712"/>
                </a:solidFill>
                <a:effectLst/>
                <a:latin typeface="ui-sans-serif"/>
              </a:rPr>
              <a:t>Implementados</a:t>
            </a:r>
            <a:r>
              <a:rPr lang="en-GB" sz="1200" b="1" i="0" dirty="0">
                <a:solidFill>
                  <a:srgbClr val="030712"/>
                </a:solidFill>
                <a:effectLst/>
                <a:latin typeface="ui-sans-serif"/>
              </a:rPr>
              <a:t> </a:t>
            </a:r>
          </a:p>
          <a:p>
            <a:pPr algn="l">
              <a:buNone/>
            </a:pPr>
            <a:r>
              <a:rPr lang="en-GB" sz="1200" b="1" i="0" dirty="0">
                <a:solidFill>
                  <a:srgbClr val="7F1D1D"/>
                </a:solidFill>
                <a:effectLst/>
                <a:latin typeface="ui-sans-serif"/>
              </a:rPr>
              <a:t>- </a:t>
            </a:r>
            <a:r>
              <a:rPr lang="en-GB" sz="1200" b="1" i="0" dirty="0" err="1">
                <a:solidFill>
                  <a:srgbClr val="7F1D1D"/>
                </a:solidFill>
                <a:effectLst/>
                <a:latin typeface="ui-sans-serif"/>
              </a:rPr>
              <a:t>Imputación</a:t>
            </a:r>
            <a:r>
              <a:rPr lang="en-GB" sz="1200" b="1" i="0" dirty="0">
                <a:solidFill>
                  <a:srgbClr val="7F1D1D"/>
                </a:solidFill>
                <a:effectLst/>
                <a:latin typeface="ui-sans-serif"/>
              </a:rPr>
              <a:t> Simple</a:t>
            </a:r>
          </a:p>
          <a:p>
            <a:pPr algn="l">
              <a:buNone/>
            </a:pPr>
            <a:r>
              <a:rPr lang="en-GB" sz="1200" b="0" i="0" dirty="0">
                <a:solidFill>
                  <a:srgbClr val="4B5563"/>
                </a:solidFill>
                <a:effectLst/>
                <a:latin typeface="ui-sans-serif"/>
              </a:rPr>
              <a:t>Media/</a:t>
            </a:r>
            <a:r>
              <a:rPr lang="en-GB" sz="1200" b="0" i="0" dirty="0" err="1">
                <a:solidFill>
                  <a:srgbClr val="4B5563"/>
                </a:solidFill>
                <a:effectLst/>
                <a:latin typeface="ui-sans-serif"/>
              </a:rPr>
              <a:t>mediana</a:t>
            </a:r>
            <a:r>
              <a:rPr lang="en-GB" sz="1200" b="0" i="0" dirty="0">
                <a:solidFill>
                  <a:srgbClr val="4B5563"/>
                </a:solidFill>
                <a:effectLst/>
                <a:latin typeface="ui-sans-serif"/>
              </a:rPr>
              <a:t>/</a:t>
            </a:r>
            <a:r>
              <a:rPr lang="en-GB" sz="1200" b="0" i="0" dirty="0" err="1">
                <a:solidFill>
                  <a:srgbClr val="4B5563"/>
                </a:solidFill>
                <a:effectLst/>
                <a:latin typeface="ui-sans-serif"/>
              </a:rPr>
              <a:t>moda</a:t>
            </a:r>
            <a:endParaRPr lang="en-GB" sz="1200" b="0" i="0" dirty="0">
              <a:solidFill>
                <a:srgbClr val="4B5563"/>
              </a:solidFill>
              <a:effectLst/>
              <a:latin typeface="ui-sans-serif"/>
            </a:endParaRPr>
          </a:p>
          <a:p>
            <a:pPr algn="l">
              <a:buNone/>
            </a:pPr>
            <a:r>
              <a:rPr lang="en-GB" sz="1200" b="0" i="1" dirty="0" err="1">
                <a:solidFill>
                  <a:srgbClr val="B91C1C"/>
                </a:solidFill>
                <a:effectLst/>
                <a:latin typeface="ui-sans-serif"/>
              </a:rPr>
              <a:t>Distorsiona</a:t>
            </a:r>
            <a:r>
              <a:rPr lang="en-GB" sz="1200" b="0" i="1" dirty="0">
                <a:solidFill>
                  <a:srgbClr val="B91C1C"/>
                </a:solidFill>
                <a:effectLst/>
                <a:latin typeface="ui-sans-serif"/>
              </a:rPr>
              <a:t> </a:t>
            </a:r>
            <a:r>
              <a:rPr lang="en-GB" sz="1200" b="0" i="1" dirty="0" err="1">
                <a:solidFill>
                  <a:srgbClr val="B91C1C"/>
                </a:solidFill>
                <a:effectLst/>
                <a:latin typeface="ui-sans-serif"/>
              </a:rPr>
              <a:t>distribuciones</a:t>
            </a:r>
            <a:endParaRPr lang="en-GB" sz="1200" b="0" i="1" dirty="0">
              <a:solidFill>
                <a:srgbClr val="B91C1C"/>
              </a:solidFill>
              <a:effectLst/>
              <a:latin typeface="ui-sans-serif"/>
            </a:endParaRPr>
          </a:p>
          <a:p>
            <a:pPr marL="171450" indent="-171450" algn="l">
              <a:spcBef>
                <a:spcPts val="900"/>
              </a:spcBef>
              <a:buFontTx/>
              <a:buChar char="-"/>
            </a:pPr>
            <a:r>
              <a:rPr lang="en-GB" sz="1200" b="1" i="0" dirty="0">
                <a:solidFill>
                  <a:srgbClr val="713F12"/>
                </a:solidFill>
                <a:effectLst/>
                <a:latin typeface="ui-sans-serif"/>
              </a:rPr>
              <a:t>KNN </a:t>
            </a:r>
            <a:r>
              <a:rPr lang="en-GB" sz="1200" b="1" i="0" dirty="0" err="1">
                <a:solidFill>
                  <a:srgbClr val="713F12"/>
                </a:solidFill>
                <a:effectLst/>
                <a:latin typeface="ui-sans-serif"/>
              </a:rPr>
              <a:t>Multivariante</a:t>
            </a:r>
            <a:endParaRPr lang="en-GB" sz="1200" b="1" dirty="0">
              <a:solidFill>
                <a:srgbClr val="713F12"/>
              </a:solidFill>
              <a:latin typeface="ui-sans-serif"/>
            </a:endParaRPr>
          </a:p>
          <a:p>
            <a:pPr algn="l">
              <a:spcBef>
                <a:spcPts val="900"/>
              </a:spcBef>
            </a:pPr>
            <a:r>
              <a:rPr lang="en-GB" sz="1200" b="0" i="0" dirty="0">
                <a:solidFill>
                  <a:srgbClr val="4B5563"/>
                </a:solidFill>
                <a:effectLst/>
                <a:latin typeface="ui-sans-serif"/>
              </a:rPr>
              <a:t>Mejor </a:t>
            </a:r>
            <a:r>
              <a:rPr lang="en-GB" sz="1200" b="0" i="0" dirty="0" err="1">
                <a:solidFill>
                  <a:srgbClr val="4B5563"/>
                </a:solidFill>
                <a:effectLst/>
                <a:latin typeface="ui-sans-serif"/>
              </a:rPr>
              <a:t>ajuste</a:t>
            </a:r>
            <a:r>
              <a:rPr lang="en-GB" sz="1200" b="0" i="0" dirty="0">
                <a:solidFill>
                  <a:srgbClr val="4B5563"/>
                </a:solidFill>
                <a:effectLst/>
                <a:latin typeface="ui-sans-serif"/>
              </a:rPr>
              <a:t>, </a:t>
            </a:r>
            <a:r>
              <a:rPr lang="en-GB" sz="1200" b="0" i="0" dirty="0" err="1">
                <a:solidFill>
                  <a:srgbClr val="4B5563"/>
                </a:solidFill>
                <a:effectLst/>
                <a:latin typeface="ui-sans-serif"/>
              </a:rPr>
              <a:t>pero</a:t>
            </a:r>
            <a:r>
              <a:rPr lang="en-GB" sz="1200" b="0" i="0" dirty="0">
                <a:solidFill>
                  <a:srgbClr val="4B5563"/>
                </a:solidFill>
                <a:effectLst/>
                <a:latin typeface="ui-sans-serif"/>
              </a:rPr>
              <a:t> </a:t>
            </a:r>
            <a:r>
              <a:rPr lang="en-GB" sz="1200" b="0" i="0" dirty="0" err="1">
                <a:solidFill>
                  <a:srgbClr val="4B5563"/>
                </a:solidFill>
                <a:effectLst/>
                <a:latin typeface="ui-sans-serif"/>
              </a:rPr>
              <a:t>mejorable</a:t>
            </a:r>
            <a:endParaRPr lang="en-GB" sz="1200" b="0" i="0" dirty="0">
              <a:solidFill>
                <a:srgbClr val="4B5563"/>
              </a:solidFill>
              <a:effectLst/>
              <a:latin typeface="ui-sans-serif"/>
            </a:endParaRPr>
          </a:p>
          <a:p>
            <a:pPr algn="l">
              <a:spcBef>
                <a:spcPts val="900"/>
              </a:spcBef>
              <a:buNone/>
            </a:pPr>
            <a:r>
              <a:rPr lang="en-GB" sz="1200" b="1" i="0" dirty="0">
                <a:solidFill>
                  <a:srgbClr val="14532D"/>
                </a:solidFill>
                <a:effectLst/>
                <a:highlight>
                  <a:srgbClr val="FFFF00"/>
                </a:highlight>
                <a:latin typeface="ui-sans-serif"/>
              </a:rPr>
              <a:t>- MICE (</a:t>
            </a:r>
            <a:r>
              <a:rPr lang="en-GB" sz="1200" b="1" i="0" dirty="0" err="1">
                <a:solidFill>
                  <a:srgbClr val="14532D"/>
                </a:solidFill>
                <a:effectLst/>
                <a:highlight>
                  <a:srgbClr val="FFFF00"/>
                </a:highlight>
                <a:latin typeface="ui-sans-serif"/>
              </a:rPr>
              <a:t>Multivariante</a:t>
            </a:r>
            <a:r>
              <a:rPr lang="en-GB" sz="1200" b="1" i="0" dirty="0">
                <a:solidFill>
                  <a:srgbClr val="14532D"/>
                </a:solidFill>
                <a:effectLst/>
                <a:highlight>
                  <a:srgbClr val="FFFF00"/>
                </a:highlight>
                <a:latin typeface="ui-sans-serif"/>
              </a:rPr>
              <a:t>)</a:t>
            </a:r>
          </a:p>
          <a:p>
            <a:pPr algn="l">
              <a:spcBef>
                <a:spcPts val="900"/>
              </a:spcBef>
              <a:buNone/>
            </a:pPr>
            <a:r>
              <a:rPr lang="en-GB" sz="1200" b="0" i="0" dirty="0" err="1">
                <a:solidFill>
                  <a:srgbClr val="4B5563"/>
                </a:solidFill>
                <a:effectLst/>
                <a:latin typeface="ui-sans-serif"/>
              </a:rPr>
              <a:t>Ajuste</a:t>
            </a:r>
            <a:r>
              <a:rPr lang="en-GB" sz="1200" b="0" i="0" dirty="0">
                <a:solidFill>
                  <a:srgbClr val="4B5563"/>
                </a:solidFill>
                <a:effectLst/>
                <a:latin typeface="ui-sans-serif"/>
              </a:rPr>
              <a:t> perfecto de </a:t>
            </a:r>
            <a:r>
              <a:rPr lang="en-GB" sz="1200" b="0" i="0" dirty="0" err="1">
                <a:solidFill>
                  <a:srgbClr val="4B5563"/>
                </a:solidFill>
                <a:effectLst/>
                <a:latin typeface="ui-sans-serif"/>
              </a:rPr>
              <a:t>distribuciones</a:t>
            </a:r>
            <a:endParaRPr lang="en-GB" sz="1200" b="0" i="0" dirty="0">
              <a:solidFill>
                <a:srgbClr val="4B5563"/>
              </a:solidFill>
              <a:effectLst/>
              <a:latin typeface="ui-sans-serif"/>
            </a:endParaRPr>
          </a:p>
          <a:p>
            <a:pPr algn="l">
              <a:spcBef>
                <a:spcPts val="900"/>
              </a:spcBef>
              <a:buNone/>
            </a:pPr>
            <a:r>
              <a:rPr lang="en-GB" sz="1200" b="1" i="0" dirty="0">
                <a:solidFill>
                  <a:srgbClr val="166534"/>
                </a:solidFill>
                <a:effectLst/>
                <a:latin typeface="ui-sans-serif"/>
              </a:rPr>
              <a:t>✓ MÉTODO SELECCIONADO</a:t>
            </a:r>
          </a:p>
        </p:txBody>
      </p:sp>
      <p:sp>
        <p:nvSpPr>
          <p:cNvPr id="10" name="TextBox 9">
            <a:extLst>
              <a:ext uri="{FF2B5EF4-FFF2-40B4-BE49-F238E27FC236}">
                <a16:creationId xmlns:a16="http://schemas.microsoft.com/office/drawing/2014/main" id="{6B9214DE-8CE4-ADC1-4D89-4FDD571013F0}"/>
              </a:ext>
            </a:extLst>
          </p:cNvPr>
          <p:cNvSpPr txBox="1"/>
          <p:nvPr/>
        </p:nvSpPr>
        <p:spPr>
          <a:xfrm>
            <a:off x="3855856" y="3456052"/>
            <a:ext cx="5169717" cy="1015663"/>
          </a:xfrm>
          <a:prstGeom prst="rect">
            <a:avLst/>
          </a:prstGeom>
          <a:noFill/>
        </p:spPr>
        <p:txBody>
          <a:bodyPr wrap="square" rtlCol="0">
            <a:spAutoFit/>
          </a:bodyPr>
          <a:lstStyle/>
          <a:p>
            <a:pPr algn="just"/>
            <a:r>
              <a:rPr lang="es-ES" sz="1200" i="1" dirty="0"/>
              <a:t>Finalmente, tras aplicar el método </a:t>
            </a:r>
            <a:r>
              <a:rPr lang="es-ES" sz="1200" b="1" i="1" dirty="0"/>
              <a:t>MICE</a:t>
            </a:r>
            <a:r>
              <a:rPr lang="es-ES" sz="1200" i="1" dirty="0"/>
              <a:t> (multivariante), llegamos a unos resultados muy buenos, encontrando un ajuste prácticamente perfecto de las distribuciones. </a:t>
            </a:r>
          </a:p>
          <a:p>
            <a:pPr algn="just"/>
            <a:endParaRPr lang="es-ES" sz="1200" i="1" dirty="0"/>
          </a:p>
          <a:p>
            <a:pPr algn="just"/>
            <a:r>
              <a:rPr lang="es-ES" sz="1200" i="1" dirty="0"/>
              <a:t>Se decidió validar el método y la base de datos imputada por MICE.</a:t>
            </a:r>
          </a:p>
        </p:txBody>
      </p:sp>
    </p:spTree>
    <p:extLst>
      <p:ext uri="{BB962C8B-B14F-4D97-AF65-F5344CB8AC3E}">
        <p14:creationId xmlns:p14="http://schemas.microsoft.com/office/powerpoint/2010/main" val="17941892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A066745-E63D-F2E0-F30F-FE27600A39A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CBC2E359-E539-DBD1-495A-0EE34D687FD3}"/>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3" name="CuadroTexto 2">
            <a:extLst>
              <a:ext uri="{FF2B5EF4-FFF2-40B4-BE49-F238E27FC236}">
                <a16:creationId xmlns:a16="http://schemas.microsoft.com/office/drawing/2014/main" id="{2EEF3947-4909-7EA1-9CA3-22FEB8ED7AAA}"/>
              </a:ext>
            </a:extLst>
          </p:cNvPr>
          <p:cNvSpPr txBox="1"/>
          <p:nvPr/>
        </p:nvSpPr>
        <p:spPr>
          <a:xfrm>
            <a:off x="299922" y="4096818"/>
            <a:ext cx="8306195" cy="93871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sz="1100" dirty="0">
                <a:solidFill>
                  <a:schemeClr val="tx1"/>
                </a:solidFill>
              </a:rPr>
              <a:t>Se realizó un estudio de </a:t>
            </a:r>
            <a:r>
              <a:rPr lang="es-ES" sz="1100" dirty="0" err="1">
                <a:solidFill>
                  <a:schemeClr val="tx1"/>
                </a:solidFill>
              </a:rPr>
              <a:t>outliers</a:t>
            </a:r>
            <a:r>
              <a:rPr lang="es-ES" sz="1100" dirty="0">
                <a:solidFill>
                  <a:schemeClr val="tx1"/>
                </a:solidFill>
              </a:rPr>
              <a:t> previo y posterior a la imputación, obteniendo los mismos resultados tanto a nivel univariante como multivariante.</a:t>
            </a:r>
          </a:p>
          <a:p>
            <a:endParaRPr lang="es-ES" sz="1100" dirty="0">
              <a:solidFill>
                <a:schemeClr val="tx1"/>
              </a:solidFill>
            </a:endParaRPr>
          </a:p>
          <a:p>
            <a:r>
              <a:rPr lang="es-ES" sz="1100" dirty="0">
                <a:solidFill>
                  <a:schemeClr val="tx1"/>
                </a:solidFill>
              </a:rPr>
              <a:t>Se decidió mantenerlos en la base de datos, ya que suponían una proporción que se puede entender como normal (~4-5%) y no se observaron valores extremos </a:t>
            </a:r>
            <a:r>
              <a:rPr lang="es-ES" sz="1100">
                <a:solidFill>
                  <a:schemeClr val="tx1"/>
                </a:solidFill>
              </a:rPr>
              <a:t>o imposibles.</a:t>
            </a:r>
            <a:endParaRPr lang="es-ES" sz="1100" dirty="0">
              <a:solidFill>
                <a:schemeClr val="tx1"/>
              </a:solidFill>
            </a:endParaRPr>
          </a:p>
        </p:txBody>
      </p:sp>
      <p:graphicFrame>
        <p:nvGraphicFramePr>
          <p:cNvPr id="4" name="Table 3">
            <a:extLst>
              <a:ext uri="{FF2B5EF4-FFF2-40B4-BE49-F238E27FC236}">
                <a16:creationId xmlns:a16="http://schemas.microsoft.com/office/drawing/2014/main" id="{2F750F37-B68E-34B0-D8F6-AE79285CB33A}"/>
              </a:ext>
            </a:extLst>
          </p:cNvPr>
          <p:cNvGraphicFramePr>
            <a:graphicFrameLocks noGrp="1"/>
          </p:cNvGraphicFramePr>
          <p:nvPr>
            <p:extLst>
              <p:ext uri="{D42A27DB-BD31-4B8C-83A1-F6EECF244321}">
                <p14:modId xmlns:p14="http://schemas.microsoft.com/office/powerpoint/2010/main" val="454462927"/>
              </p:ext>
            </p:extLst>
          </p:nvPr>
        </p:nvGraphicFramePr>
        <p:xfrm>
          <a:off x="299923" y="1101572"/>
          <a:ext cx="5398617" cy="1630680"/>
        </p:xfrm>
        <a:graphic>
          <a:graphicData uri="http://schemas.openxmlformats.org/drawingml/2006/table">
            <a:tbl>
              <a:tblPr firstRow="1" bandRow="1">
                <a:tableStyleId>{7FD54D1E-A07F-487E-B709-6B33F1453160}</a:tableStyleId>
              </a:tblPr>
              <a:tblGrid>
                <a:gridCol w="1080507">
                  <a:extLst>
                    <a:ext uri="{9D8B030D-6E8A-4147-A177-3AD203B41FA5}">
                      <a16:colId xmlns:a16="http://schemas.microsoft.com/office/drawing/2014/main" val="2719349731"/>
                    </a:ext>
                  </a:extLst>
                </a:gridCol>
                <a:gridCol w="1439370">
                  <a:extLst>
                    <a:ext uri="{9D8B030D-6E8A-4147-A177-3AD203B41FA5}">
                      <a16:colId xmlns:a16="http://schemas.microsoft.com/office/drawing/2014/main" val="756193211"/>
                    </a:ext>
                  </a:extLst>
                </a:gridCol>
                <a:gridCol w="1439370">
                  <a:extLst>
                    <a:ext uri="{9D8B030D-6E8A-4147-A177-3AD203B41FA5}">
                      <a16:colId xmlns:a16="http://schemas.microsoft.com/office/drawing/2014/main" val="2269585124"/>
                    </a:ext>
                  </a:extLst>
                </a:gridCol>
                <a:gridCol w="1439370">
                  <a:extLst>
                    <a:ext uri="{9D8B030D-6E8A-4147-A177-3AD203B41FA5}">
                      <a16:colId xmlns:a16="http://schemas.microsoft.com/office/drawing/2014/main" val="2733211629"/>
                    </a:ext>
                  </a:extLst>
                </a:gridCol>
              </a:tblGrid>
              <a:tr h="251459">
                <a:tc>
                  <a:txBody>
                    <a:bodyPr/>
                    <a:lstStyle/>
                    <a:p>
                      <a:r>
                        <a:rPr lang="en-ES" sz="1100" b="1" dirty="0"/>
                        <a:t>Nivel</a:t>
                      </a:r>
                    </a:p>
                  </a:txBody>
                  <a:tcPr>
                    <a:solidFill>
                      <a:schemeClr val="accent2"/>
                    </a:solidFill>
                  </a:tcPr>
                </a:tc>
                <a:tc>
                  <a:txBody>
                    <a:bodyPr/>
                    <a:lstStyle/>
                    <a:p>
                      <a:r>
                        <a:rPr lang="en-ES" sz="1100" b="1" dirty="0"/>
                        <a:t>Tipo de Variable </a:t>
                      </a:r>
                    </a:p>
                  </a:txBody>
                  <a:tcPr>
                    <a:solidFill>
                      <a:schemeClr val="accent2"/>
                    </a:solidFill>
                  </a:tcPr>
                </a:tc>
                <a:tc>
                  <a:txBody>
                    <a:bodyPr/>
                    <a:lstStyle/>
                    <a:p>
                      <a:r>
                        <a:rPr lang="en-ES" sz="1100" b="1" dirty="0"/>
                        <a:t>Método</a:t>
                      </a:r>
                    </a:p>
                  </a:txBody>
                  <a:tcPr>
                    <a:solidFill>
                      <a:schemeClr val="accent2"/>
                    </a:solidFill>
                  </a:tcPr>
                </a:tc>
                <a:tc>
                  <a:txBody>
                    <a:bodyPr/>
                    <a:lstStyle/>
                    <a:p>
                      <a:r>
                        <a:rPr lang="en-ES" sz="1100" b="1" dirty="0"/>
                        <a:t>Criterio</a:t>
                      </a:r>
                    </a:p>
                  </a:txBody>
                  <a:tcPr>
                    <a:solidFill>
                      <a:schemeClr val="accent2"/>
                    </a:solidFill>
                  </a:tcPr>
                </a:tc>
                <a:extLst>
                  <a:ext uri="{0D108BD9-81ED-4DB2-BD59-A6C34878D82A}">
                    <a16:rowId xmlns:a16="http://schemas.microsoft.com/office/drawing/2014/main" val="2692643317"/>
                  </a:ext>
                </a:extLst>
              </a:tr>
              <a:tr h="251459">
                <a:tc>
                  <a:txBody>
                    <a:bodyPr/>
                    <a:lstStyle/>
                    <a:p>
                      <a:r>
                        <a:rPr lang="en-ES" sz="1100" dirty="0"/>
                        <a:t>Univariante</a:t>
                      </a:r>
                    </a:p>
                  </a:txBody>
                  <a:tcPr/>
                </a:tc>
                <a:tc>
                  <a:txBody>
                    <a:bodyPr/>
                    <a:lstStyle/>
                    <a:p>
                      <a:r>
                        <a:rPr lang="en-GB" sz="1100" dirty="0" err="1"/>
                        <a:t>Simétricas</a:t>
                      </a:r>
                      <a:endParaRPr lang="en-ES" sz="1100" dirty="0"/>
                    </a:p>
                  </a:txBody>
                  <a:tcPr/>
                </a:tc>
                <a:tc>
                  <a:txBody>
                    <a:bodyPr/>
                    <a:lstStyle/>
                    <a:p>
                      <a:r>
                        <a:rPr lang="en-ES" sz="1100" dirty="0"/>
                        <a:t>IQR</a:t>
                      </a:r>
                    </a:p>
                  </a:txBody>
                  <a:tcPr/>
                </a:tc>
                <a:tc>
                  <a:txBody>
                    <a:bodyPr/>
                    <a:lstStyle/>
                    <a:p>
                      <a:r>
                        <a:rPr lang="en-GB" sz="1100" dirty="0"/>
                        <a:t>1.5 × IQR</a:t>
                      </a:r>
                      <a:endParaRPr lang="en-ES" sz="1100" dirty="0"/>
                    </a:p>
                  </a:txBody>
                  <a:tcPr/>
                </a:tc>
                <a:extLst>
                  <a:ext uri="{0D108BD9-81ED-4DB2-BD59-A6C34878D82A}">
                    <a16:rowId xmlns:a16="http://schemas.microsoft.com/office/drawing/2014/main" val="776635213"/>
                  </a:ext>
                </a:extLst>
              </a:tr>
              <a:tr h="251459">
                <a:tc>
                  <a:txBody>
                    <a:bodyPr/>
                    <a:lstStyle/>
                    <a:p>
                      <a:r>
                        <a:rPr lang="en-ES" sz="1100" dirty="0"/>
                        <a:t>Univariante </a:t>
                      </a:r>
                    </a:p>
                  </a:txBody>
                  <a:tcPr/>
                </a:tc>
                <a:tc>
                  <a:txBody>
                    <a:bodyPr/>
                    <a:lstStyle/>
                    <a:p>
                      <a:r>
                        <a:rPr lang="en-GB" sz="1100" dirty="0"/>
                        <a:t>No </a:t>
                      </a:r>
                      <a:r>
                        <a:rPr lang="en-GB" sz="1100" dirty="0" err="1"/>
                        <a:t>simétricas</a:t>
                      </a:r>
                      <a:endParaRPr lang="en-ES" sz="1100" dirty="0"/>
                    </a:p>
                  </a:txBody>
                  <a:tcPr/>
                </a:tc>
                <a:tc>
                  <a:txBody>
                    <a:bodyPr/>
                    <a:lstStyle/>
                    <a:p>
                      <a:r>
                        <a:rPr lang="en-ES" sz="1100" dirty="0"/>
                        <a:t>Hampel</a:t>
                      </a:r>
                    </a:p>
                  </a:txBody>
                  <a:tcPr/>
                </a:tc>
                <a:tc>
                  <a:txBody>
                    <a:bodyPr/>
                    <a:lstStyle/>
                    <a:p>
                      <a:r>
                        <a:rPr lang="en-GB" sz="1100" dirty="0"/>
                        <a:t>Mediana + MAD</a:t>
                      </a:r>
                      <a:endParaRPr lang="en-ES" sz="1100" dirty="0"/>
                    </a:p>
                  </a:txBody>
                  <a:tcPr/>
                </a:tc>
                <a:extLst>
                  <a:ext uri="{0D108BD9-81ED-4DB2-BD59-A6C34878D82A}">
                    <a16:rowId xmlns:a16="http://schemas.microsoft.com/office/drawing/2014/main" val="2493077629"/>
                  </a:ext>
                </a:extLst>
              </a:tr>
              <a:tr h="251459">
                <a:tc>
                  <a:txBody>
                    <a:bodyPr/>
                    <a:lstStyle/>
                    <a:p>
                      <a:r>
                        <a:rPr lang="en-ES" sz="1100" dirty="0"/>
                        <a:t>Univariante </a:t>
                      </a:r>
                    </a:p>
                  </a:txBody>
                  <a:tcPr/>
                </a:tc>
                <a:tc>
                  <a:txBody>
                    <a:bodyPr/>
                    <a:lstStyle/>
                    <a:p>
                      <a:r>
                        <a:rPr lang="en-GB" sz="1100" dirty="0" err="1"/>
                        <a:t>Categóricas</a:t>
                      </a:r>
                      <a:endParaRPr lang="en-ES" sz="1100" dirty="0"/>
                    </a:p>
                  </a:txBody>
                  <a:tcPr/>
                </a:tc>
                <a:tc>
                  <a:txBody>
                    <a:bodyPr/>
                    <a:lstStyle/>
                    <a:p>
                      <a:r>
                        <a:rPr lang="en-GB" sz="1100" dirty="0" err="1"/>
                        <a:t>Frecuencias</a:t>
                      </a:r>
                      <a:r>
                        <a:rPr lang="en-GB" sz="1100" dirty="0"/>
                        <a:t> </a:t>
                      </a:r>
                      <a:r>
                        <a:rPr lang="en-GB" sz="1100" dirty="0" err="1"/>
                        <a:t>relativas</a:t>
                      </a:r>
                      <a:endParaRPr lang="en-ES" sz="1100" dirty="0"/>
                    </a:p>
                  </a:txBody>
                  <a:tcPr/>
                </a:tc>
                <a:tc>
                  <a:txBody>
                    <a:bodyPr/>
                    <a:lstStyle/>
                    <a:p>
                      <a:r>
                        <a:rPr lang="en-GB" sz="1100" dirty="0"/>
                        <a:t>&lt; 5% del total</a:t>
                      </a:r>
                      <a:endParaRPr lang="en-ES" sz="1100" dirty="0"/>
                    </a:p>
                  </a:txBody>
                  <a:tcPr/>
                </a:tc>
                <a:extLst>
                  <a:ext uri="{0D108BD9-81ED-4DB2-BD59-A6C34878D82A}">
                    <a16:rowId xmlns:a16="http://schemas.microsoft.com/office/drawing/2014/main" val="1462096888"/>
                  </a:ext>
                </a:extLst>
              </a:tr>
              <a:tr h="306609">
                <a:tc>
                  <a:txBody>
                    <a:bodyPr/>
                    <a:lstStyle/>
                    <a:p>
                      <a:r>
                        <a:rPr lang="en-ES" sz="1100" dirty="0"/>
                        <a:t>Multivariante</a:t>
                      </a:r>
                    </a:p>
                  </a:txBody>
                  <a:tcPr/>
                </a:tc>
                <a:tc>
                  <a:txBody>
                    <a:bodyPr/>
                    <a:lstStyle/>
                    <a:p>
                      <a:r>
                        <a:rPr lang="en-ES" sz="1100" dirty="0"/>
                        <a:t>Númericas</a:t>
                      </a:r>
                    </a:p>
                  </a:txBody>
                  <a:tcPr/>
                </a:tc>
                <a:tc>
                  <a:txBody>
                    <a:bodyPr/>
                    <a:lstStyle/>
                    <a:p>
                      <a:r>
                        <a:rPr lang="en-GB" sz="1100" dirty="0"/>
                        <a:t>Distancia </a:t>
                      </a:r>
                      <a:r>
                        <a:rPr lang="en-GB" sz="1100" dirty="0" err="1"/>
                        <a:t>Mahalanobis</a:t>
                      </a:r>
                      <a:r>
                        <a:rPr lang="en-GB" sz="1100" dirty="0"/>
                        <a:t> + LOF</a:t>
                      </a:r>
                      <a:endParaRPr lang="en-ES" sz="1100" dirty="0"/>
                    </a:p>
                  </a:txBody>
                  <a:tcPr/>
                </a:tc>
                <a:tc>
                  <a:txBody>
                    <a:bodyPr/>
                    <a:lstStyle/>
                    <a:p>
                      <a:r>
                        <a:rPr lang="en-ES" sz="1100" dirty="0"/>
                        <a:t>Gràficos </a:t>
                      </a:r>
                    </a:p>
                  </a:txBody>
                  <a:tcPr/>
                </a:tc>
                <a:extLst>
                  <a:ext uri="{0D108BD9-81ED-4DB2-BD59-A6C34878D82A}">
                    <a16:rowId xmlns:a16="http://schemas.microsoft.com/office/drawing/2014/main" val="407610777"/>
                  </a:ext>
                </a:extLst>
              </a:tr>
            </a:tbl>
          </a:graphicData>
        </a:graphic>
      </p:graphicFrame>
      <p:sp>
        <p:nvSpPr>
          <p:cNvPr id="5" name="Rounded Rectangle 4">
            <a:extLst>
              <a:ext uri="{FF2B5EF4-FFF2-40B4-BE49-F238E27FC236}">
                <a16:creationId xmlns:a16="http://schemas.microsoft.com/office/drawing/2014/main" id="{D0C42530-4C3A-B629-6B9C-E51BDE83B89A}"/>
              </a:ext>
            </a:extLst>
          </p:cNvPr>
          <p:cNvSpPr/>
          <p:nvPr/>
        </p:nvSpPr>
        <p:spPr>
          <a:xfrm>
            <a:off x="1338682" y="838225"/>
            <a:ext cx="2355494" cy="2005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Métodos</a:t>
            </a:r>
          </a:p>
        </p:txBody>
      </p:sp>
      <p:pic>
        <p:nvPicPr>
          <p:cNvPr id="8" name="Picture 7" descr="A diagram of a graph&#10;&#10;AI-generated content may be incorrect.">
            <a:extLst>
              <a:ext uri="{FF2B5EF4-FFF2-40B4-BE49-F238E27FC236}">
                <a16:creationId xmlns:a16="http://schemas.microsoft.com/office/drawing/2014/main" id="{2ECA8A3C-C7DC-2583-8AF3-B7C2E64F951A}"/>
              </a:ext>
            </a:extLst>
          </p:cNvPr>
          <p:cNvPicPr>
            <a:picLocks noChangeAspect="1"/>
          </p:cNvPicPr>
          <p:nvPr/>
        </p:nvPicPr>
        <p:blipFill>
          <a:blip r:embed="rId3"/>
          <a:stretch>
            <a:fillRect/>
          </a:stretch>
        </p:blipFill>
        <p:spPr>
          <a:xfrm>
            <a:off x="5897580" y="1101572"/>
            <a:ext cx="2895290" cy="1630680"/>
          </a:xfrm>
          <a:prstGeom prst="rect">
            <a:avLst/>
          </a:prstGeom>
        </p:spPr>
      </p:pic>
      <p:graphicFrame>
        <p:nvGraphicFramePr>
          <p:cNvPr id="10" name="Table 9">
            <a:extLst>
              <a:ext uri="{FF2B5EF4-FFF2-40B4-BE49-F238E27FC236}">
                <a16:creationId xmlns:a16="http://schemas.microsoft.com/office/drawing/2014/main" id="{A794FB05-8280-D165-828F-4BBCE7FFCBB7}"/>
              </a:ext>
            </a:extLst>
          </p:cNvPr>
          <p:cNvGraphicFramePr>
            <a:graphicFrameLocks noGrp="1"/>
          </p:cNvGraphicFramePr>
          <p:nvPr>
            <p:extLst>
              <p:ext uri="{D42A27DB-BD31-4B8C-83A1-F6EECF244321}">
                <p14:modId xmlns:p14="http://schemas.microsoft.com/office/powerpoint/2010/main" val="2427930410"/>
              </p:ext>
            </p:extLst>
          </p:nvPr>
        </p:nvGraphicFramePr>
        <p:xfrm>
          <a:off x="204824" y="2795066"/>
          <a:ext cx="8219176" cy="1220012"/>
        </p:xfrm>
        <a:graphic>
          <a:graphicData uri="http://schemas.openxmlformats.org/drawingml/2006/table">
            <a:tbl>
              <a:tblPr firstRow="1" bandRow="1">
                <a:tableStyleId>{7FD54D1E-A07F-487E-B709-6B33F1453160}</a:tableStyleId>
              </a:tblPr>
              <a:tblGrid>
                <a:gridCol w="2054794">
                  <a:extLst>
                    <a:ext uri="{9D8B030D-6E8A-4147-A177-3AD203B41FA5}">
                      <a16:colId xmlns:a16="http://schemas.microsoft.com/office/drawing/2014/main" val="2409669532"/>
                    </a:ext>
                  </a:extLst>
                </a:gridCol>
                <a:gridCol w="2054794">
                  <a:extLst>
                    <a:ext uri="{9D8B030D-6E8A-4147-A177-3AD203B41FA5}">
                      <a16:colId xmlns:a16="http://schemas.microsoft.com/office/drawing/2014/main" val="3249999538"/>
                    </a:ext>
                  </a:extLst>
                </a:gridCol>
                <a:gridCol w="2054794">
                  <a:extLst>
                    <a:ext uri="{9D8B030D-6E8A-4147-A177-3AD203B41FA5}">
                      <a16:colId xmlns:a16="http://schemas.microsoft.com/office/drawing/2014/main" val="3747097040"/>
                    </a:ext>
                  </a:extLst>
                </a:gridCol>
                <a:gridCol w="2054794">
                  <a:extLst>
                    <a:ext uri="{9D8B030D-6E8A-4147-A177-3AD203B41FA5}">
                      <a16:colId xmlns:a16="http://schemas.microsoft.com/office/drawing/2014/main" val="2005427499"/>
                    </a:ext>
                  </a:extLst>
                </a:gridCol>
              </a:tblGrid>
              <a:tr h="305003">
                <a:tc>
                  <a:txBody>
                    <a:bodyPr/>
                    <a:lstStyle/>
                    <a:p>
                      <a:r>
                        <a:rPr lang="en-ES" dirty="0"/>
                        <a:t>Variable </a:t>
                      </a:r>
                    </a:p>
                  </a:txBody>
                  <a:tcPr/>
                </a:tc>
                <a:tc>
                  <a:txBody>
                    <a:bodyPr/>
                    <a:lstStyle/>
                    <a:p>
                      <a:r>
                        <a:rPr lang="en-ES" dirty="0"/>
                        <a:t>Outliers detected</a:t>
                      </a:r>
                    </a:p>
                  </a:txBody>
                  <a:tcPr/>
                </a:tc>
                <a:tc>
                  <a:txBody>
                    <a:bodyPr/>
                    <a:lstStyle/>
                    <a:p>
                      <a:r>
                        <a:rPr lang="en-ES" dirty="0"/>
                        <a:t>Ubicación</a:t>
                      </a:r>
                    </a:p>
                  </a:txBody>
                  <a:tcPr/>
                </a:tc>
                <a:tc>
                  <a:txBody>
                    <a:bodyPr/>
                    <a:lstStyle/>
                    <a:p>
                      <a:r>
                        <a:rPr lang="en-ES" dirty="0"/>
                        <a:t>Características</a:t>
                      </a:r>
                    </a:p>
                  </a:txBody>
                  <a:tcPr/>
                </a:tc>
                <a:extLst>
                  <a:ext uri="{0D108BD9-81ED-4DB2-BD59-A6C34878D82A}">
                    <a16:rowId xmlns:a16="http://schemas.microsoft.com/office/drawing/2014/main" val="402475729"/>
                  </a:ext>
                </a:extLst>
              </a:tr>
              <a:tr h="305003">
                <a:tc>
                  <a:txBody>
                    <a:bodyPr/>
                    <a:lstStyle/>
                    <a:p>
                      <a:r>
                        <a:rPr lang="en-ES" dirty="0"/>
                        <a:t>Age</a:t>
                      </a:r>
                    </a:p>
                  </a:txBody>
                  <a:tcPr/>
                </a:tc>
                <a:tc>
                  <a:txBody>
                    <a:bodyPr/>
                    <a:lstStyle/>
                    <a:p>
                      <a:endParaRPr lang="en-ES" dirty="0"/>
                    </a:p>
                  </a:txBody>
                  <a:tcPr/>
                </a:tc>
                <a:tc>
                  <a:txBody>
                    <a:bodyPr/>
                    <a:lstStyle/>
                    <a:p>
                      <a:r>
                        <a:rPr lang="en-ES" dirty="0"/>
                        <a:t>Cola Derecha</a:t>
                      </a:r>
                    </a:p>
                  </a:txBody>
                  <a:tcPr/>
                </a:tc>
                <a:tc>
                  <a:txBody>
                    <a:bodyPr/>
                    <a:lstStyle/>
                    <a:p>
                      <a:r>
                        <a:rPr lang="en-GB" dirty="0"/>
                        <a:t>Valores </a:t>
                      </a:r>
                      <a:r>
                        <a:rPr lang="en-GB" dirty="0" err="1"/>
                        <a:t>extremos</a:t>
                      </a:r>
                      <a:r>
                        <a:rPr lang="en-GB" dirty="0"/>
                        <a:t> altos</a:t>
                      </a:r>
                      <a:endParaRPr lang="en-ES" dirty="0"/>
                    </a:p>
                  </a:txBody>
                  <a:tcPr/>
                </a:tc>
                <a:extLst>
                  <a:ext uri="{0D108BD9-81ED-4DB2-BD59-A6C34878D82A}">
                    <a16:rowId xmlns:a16="http://schemas.microsoft.com/office/drawing/2014/main" val="565551124"/>
                  </a:ext>
                </a:extLst>
              </a:tr>
              <a:tr h="305003">
                <a:tc>
                  <a:txBody>
                    <a:bodyPr/>
                    <a:lstStyle/>
                    <a:p>
                      <a:r>
                        <a:rPr lang="en-ES" dirty="0"/>
                        <a:t>Estimated Salary</a:t>
                      </a:r>
                    </a:p>
                  </a:txBody>
                  <a:tcPr/>
                </a:tc>
                <a:tc>
                  <a:txBody>
                    <a:bodyPr/>
                    <a:lstStyle/>
                    <a:p>
                      <a:endParaRPr lang="en-ES" dirty="0"/>
                    </a:p>
                  </a:txBody>
                  <a:tcPr/>
                </a:tc>
                <a:tc>
                  <a:txBody>
                    <a:bodyPr/>
                    <a:lstStyle/>
                    <a:p>
                      <a:r>
                        <a:rPr lang="en-ES" dirty="0"/>
                        <a:t>Cola Derecha</a:t>
                      </a:r>
                    </a:p>
                  </a:txBody>
                  <a:tcPr/>
                </a:tc>
                <a:tc>
                  <a:txBody>
                    <a:bodyPr/>
                    <a:lstStyle/>
                    <a:p>
                      <a:r>
                        <a:rPr lang="en-GB" dirty="0" err="1"/>
                        <a:t>Salarios</a:t>
                      </a:r>
                      <a:r>
                        <a:rPr lang="en-GB" dirty="0"/>
                        <a:t> </a:t>
                      </a:r>
                      <a:r>
                        <a:rPr lang="en-GB" dirty="0" err="1"/>
                        <a:t>muy</a:t>
                      </a:r>
                      <a:r>
                        <a:rPr lang="en-GB" dirty="0"/>
                        <a:t> </a:t>
                      </a:r>
                      <a:r>
                        <a:rPr lang="en-GB" dirty="0" err="1"/>
                        <a:t>elevados</a:t>
                      </a:r>
                      <a:endParaRPr lang="en-ES" dirty="0"/>
                    </a:p>
                  </a:txBody>
                  <a:tcPr/>
                </a:tc>
                <a:extLst>
                  <a:ext uri="{0D108BD9-81ED-4DB2-BD59-A6C34878D82A}">
                    <a16:rowId xmlns:a16="http://schemas.microsoft.com/office/drawing/2014/main" val="465873272"/>
                  </a:ext>
                </a:extLst>
              </a:tr>
              <a:tr h="305003">
                <a:tc>
                  <a:txBody>
                    <a:bodyPr/>
                    <a:lstStyle/>
                    <a:p>
                      <a:r>
                        <a:rPr lang="en-ES" dirty="0"/>
                        <a:t>Balance</a:t>
                      </a:r>
                    </a:p>
                  </a:txBody>
                  <a:tcPr/>
                </a:tc>
                <a:tc>
                  <a:txBody>
                    <a:bodyPr/>
                    <a:lstStyle/>
                    <a:p>
                      <a:endParaRPr lang="en-ES" dirty="0"/>
                    </a:p>
                  </a:txBody>
                  <a:tcPr/>
                </a:tc>
                <a:tc>
                  <a:txBody>
                    <a:bodyPr/>
                    <a:lstStyle/>
                    <a:p>
                      <a:r>
                        <a:rPr lang="en-ES" dirty="0"/>
                        <a:t>Cola Derecha</a:t>
                      </a:r>
                    </a:p>
                  </a:txBody>
                  <a:tcPr/>
                </a:tc>
                <a:tc>
                  <a:txBody>
                    <a:bodyPr/>
                    <a:lstStyle/>
                    <a:p>
                      <a:r>
                        <a:rPr lang="en-GB" dirty="0"/>
                        <a:t>Balances </a:t>
                      </a:r>
                      <a:r>
                        <a:rPr lang="en-GB" dirty="0" err="1"/>
                        <a:t>superiores</a:t>
                      </a:r>
                      <a:endParaRPr lang="en-ES" dirty="0"/>
                    </a:p>
                  </a:txBody>
                  <a:tcPr/>
                </a:tc>
                <a:extLst>
                  <a:ext uri="{0D108BD9-81ED-4DB2-BD59-A6C34878D82A}">
                    <a16:rowId xmlns:a16="http://schemas.microsoft.com/office/drawing/2014/main" val="3727610031"/>
                  </a:ext>
                </a:extLst>
              </a:tr>
            </a:tbl>
          </a:graphicData>
        </a:graphic>
      </p:graphicFrame>
      <p:pic>
        <p:nvPicPr>
          <p:cNvPr id="12" name="Graphic 11" descr="Tick with solid fill">
            <a:extLst>
              <a:ext uri="{FF2B5EF4-FFF2-40B4-BE49-F238E27FC236}">
                <a16:creationId xmlns:a16="http://schemas.microsoft.com/office/drawing/2014/main" id="{1506EFA1-1C73-86D2-E716-CAB61E13A04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031540"/>
            <a:ext cx="373532" cy="373532"/>
          </a:xfrm>
          <a:prstGeom prst="rect">
            <a:avLst/>
          </a:prstGeom>
        </p:spPr>
      </p:pic>
      <p:pic>
        <p:nvPicPr>
          <p:cNvPr id="13" name="Graphic 12" descr="Tick with solid fill">
            <a:extLst>
              <a:ext uri="{FF2B5EF4-FFF2-40B4-BE49-F238E27FC236}">
                <a16:creationId xmlns:a16="http://schemas.microsoft.com/office/drawing/2014/main" id="{902C99F7-DF91-E1D0-C61D-1A0AC980FA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377413"/>
            <a:ext cx="373532" cy="373532"/>
          </a:xfrm>
          <a:prstGeom prst="rect">
            <a:avLst/>
          </a:prstGeom>
        </p:spPr>
      </p:pic>
      <p:pic>
        <p:nvPicPr>
          <p:cNvPr id="14" name="Graphic 13" descr="Tick with solid fill">
            <a:extLst>
              <a:ext uri="{FF2B5EF4-FFF2-40B4-BE49-F238E27FC236}">
                <a16:creationId xmlns:a16="http://schemas.microsoft.com/office/drawing/2014/main" id="{5EBBD3C2-A2ED-4479-7E26-B0D004755B3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01112" y="3742158"/>
            <a:ext cx="221132" cy="281707"/>
          </a:xfrm>
          <a:prstGeom prst="rect">
            <a:avLst/>
          </a:prstGeom>
        </p:spPr>
      </p:pic>
    </p:spTree>
    <p:extLst>
      <p:ext uri="{BB962C8B-B14F-4D97-AF65-F5344CB8AC3E}">
        <p14:creationId xmlns:p14="http://schemas.microsoft.com/office/powerpoint/2010/main" val="3535935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600438"/>
          </a:xfrm>
          <a:prstGeom prst="rect">
            <a:avLst/>
          </a:prstGeom>
          <a:noFill/>
        </p:spPr>
        <p:txBody>
          <a:bodyPr wrap="square" rtlCol="0">
            <a:spAutoFit/>
          </a:bodyPr>
          <a:lstStyle/>
          <a:p>
            <a:pPr algn="just"/>
            <a:r>
              <a:rPr lang="es-ES" b="1" dirty="0" err="1"/>
              <a:t>ComplaintsCount</a:t>
            </a:r>
            <a:endParaRPr lang="es-ES" b="1" dirty="0"/>
          </a:p>
          <a:p>
            <a:pPr lvl="0" eaLnBrk="0" fontAlgn="base" hangingPunct="0">
              <a:spcBef>
                <a:spcPct val="0"/>
              </a:spcBef>
              <a:spcAft>
                <a:spcPct val="0"/>
              </a:spcAft>
              <a:buClrTx/>
              <a:buFontTx/>
              <a:buChar char="•"/>
            </a:pPr>
            <a:r>
              <a:rPr lang="en-ES" altLang="en-ES" dirty="0">
                <a:solidFill>
                  <a:schemeClr val="tx1"/>
                </a:solidFill>
                <a:latin typeface="Arial" panose="020B0604020202020204" pitchFamily="34" charset="0"/>
              </a:rPr>
              <a:t>Se decidió </a:t>
            </a:r>
            <a:r>
              <a:rPr lang="en-ES" altLang="en-ES" b="1" dirty="0">
                <a:solidFill>
                  <a:schemeClr val="tx1"/>
                </a:solidFill>
                <a:latin typeface="Arial" panose="020B0604020202020204" pitchFamily="34" charset="0"/>
              </a:rPr>
              <a:t>dummyficar la variable</a:t>
            </a:r>
          </a:p>
          <a:p>
            <a:pPr lvl="0" eaLnBrk="0" fontAlgn="base" hangingPunct="0">
              <a:spcBef>
                <a:spcPct val="0"/>
              </a:spcBef>
              <a:spcAft>
                <a:spcPct val="0"/>
              </a:spcAft>
              <a:buClrTx/>
              <a:buFontTx/>
              <a:buChar char="•"/>
            </a:pPr>
            <a:r>
              <a:rPr lang="en-ES" altLang="en-ES" dirty="0">
                <a:solidFill>
                  <a:schemeClr val="tx1"/>
                </a:solidFill>
                <a:latin typeface="Arial" panose="020B0604020202020204" pitchFamily="34" charset="0"/>
              </a:rPr>
              <a:t>. La información se simplifica para indicar </a:t>
            </a:r>
          </a:p>
          <a:p>
            <a:pPr lvl="0" eaLnBrk="0" fontAlgn="base" hangingPunct="0">
              <a:spcBef>
                <a:spcPct val="0"/>
              </a:spcBef>
              <a:spcAft>
                <a:spcPct val="0"/>
              </a:spcAft>
              <a:buClrTx/>
            </a:pPr>
            <a:r>
              <a:rPr lang="en-ES" altLang="en-ES" b="1" dirty="0">
                <a:solidFill>
                  <a:schemeClr val="tx1"/>
                </a:solidFill>
                <a:latin typeface="Arial" panose="020B0604020202020204" pitchFamily="34" charset="0"/>
              </a:rPr>
              <a:t>si el cliente ha emitido alguna queja o no</a:t>
            </a:r>
          </a:p>
          <a:p>
            <a:pPr marL="285750" lvl="0" indent="-285750" eaLnBrk="0" fontAlgn="base" hangingPunct="0">
              <a:spcBef>
                <a:spcPct val="0"/>
              </a:spcBef>
              <a:spcAft>
                <a:spcPct val="0"/>
              </a:spcAft>
              <a:buClrTx/>
              <a:buFont typeface="Arial" panose="020B0604020202020204" pitchFamily="34" charset="0"/>
              <a:buChar char="•"/>
            </a:pPr>
            <a:r>
              <a:rPr lang="en-ES" altLang="en-ES" dirty="0">
                <a:solidFill>
                  <a:schemeClr val="tx1"/>
                </a:solidFill>
                <a:latin typeface="Arial" panose="020B0604020202020204" pitchFamily="34" charset="0"/>
              </a:rPr>
              <a:t>Variable: Númerica            Factor binario</a:t>
            </a:r>
          </a:p>
          <a:p>
            <a:pPr lvl="0" eaLnBrk="0" fontAlgn="base" hangingPunct="0">
              <a:spcBef>
                <a:spcPct val="0"/>
              </a:spcBef>
              <a:spcAft>
                <a:spcPct val="0"/>
              </a:spcAft>
              <a:buClrTx/>
            </a:pPr>
            <a:endParaRPr lang="es-ES" b="1" dirty="0"/>
          </a:p>
          <a:p>
            <a:pPr marL="285750" indent="-285750" algn="just">
              <a:buFont typeface="Arial" panose="020B0604020202020204" pitchFamily="34" charset="0"/>
              <a:buChar char="•"/>
            </a:pPr>
            <a:endParaRPr lang="es-ES" b="1" dirty="0"/>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64468" y="2467226"/>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615049" y="2364902"/>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marL="285750" indent="-285750" algn="just">
              <a:buFont typeface="Arial" panose="020B0604020202020204" pitchFamily="34" charset="0"/>
              <a:buChar char="•"/>
            </a:pPr>
            <a:r>
              <a:rPr lang="es-ES" dirty="0" err="1"/>
              <a:t>Mayoria</a:t>
            </a:r>
            <a:r>
              <a:rPr lang="es-ES" dirty="0"/>
              <a:t> de clientes tienes </a:t>
            </a:r>
            <a:r>
              <a:rPr lang="es-ES" b="1" dirty="0"/>
              <a:t>1 | 2 productos </a:t>
            </a:r>
          </a:p>
          <a:p>
            <a:pPr marL="285750" indent="-285750" algn="just">
              <a:buFont typeface="Arial" panose="020B0604020202020204" pitchFamily="34" charset="0"/>
              <a:buChar char="•"/>
            </a:pPr>
            <a:r>
              <a:rPr lang="es-ES" b="1" dirty="0" err="1"/>
              <a:t>Minoria</a:t>
            </a:r>
            <a:r>
              <a:rPr lang="es-ES" b="1" dirty="0"/>
              <a:t>         </a:t>
            </a:r>
            <a:r>
              <a:rPr lang="es-ES" dirty="0"/>
              <a:t>3 o más productos</a:t>
            </a:r>
          </a:p>
          <a:p>
            <a:pPr marL="285750" indent="-285750" algn="just">
              <a:buFont typeface="Arial" panose="020B0604020202020204" pitchFamily="34" charset="0"/>
              <a:buChar char="•"/>
            </a:pPr>
            <a:r>
              <a:rPr lang="es-ES" dirty="0"/>
              <a:t>Categorización de la variable (1, 2,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Rectangle 3">
            <a:extLst>
              <a:ext uri="{FF2B5EF4-FFF2-40B4-BE49-F238E27FC236}">
                <a16:creationId xmlns:a16="http://schemas.microsoft.com/office/drawing/2014/main" id="{6F445AD4-12F0-F8AB-40F4-2087EDD7C509}"/>
              </a:ext>
            </a:extLst>
          </p:cNvPr>
          <p:cNvSpPr>
            <a:spLocks noChangeArrowheads="1"/>
          </p:cNvSpPr>
          <p:nvPr/>
        </p:nvSpPr>
        <p:spPr bwMode="auto">
          <a:xfrm>
            <a:off x="0" y="-323165"/>
            <a:ext cx="32893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ES" altLang="en-E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ES" altLang="en-ES" sz="1800" b="0" i="0" u="none" strike="noStrike" cap="none" normalizeH="0" baseline="0" dirty="0">
              <a:ln>
                <a:noFill/>
              </a:ln>
              <a:solidFill>
                <a:schemeClr val="tx1"/>
              </a:solidFill>
              <a:effectLst/>
              <a:latin typeface="Arial" panose="020B0604020202020204" pitchFamily="34" charset="0"/>
            </a:endParaRPr>
          </a:p>
        </p:txBody>
      </p:sp>
      <p:cxnSp>
        <p:nvCxnSpPr>
          <p:cNvPr id="12" name="Straight Arrow Connector 11">
            <a:extLst>
              <a:ext uri="{FF2B5EF4-FFF2-40B4-BE49-F238E27FC236}">
                <a16:creationId xmlns:a16="http://schemas.microsoft.com/office/drawing/2014/main" id="{69F9EE2F-03A1-F5D4-1372-1541834A3778}"/>
              </a:ext>
            </a:extLst>
          </p:cNvPr>
          <p:cNvCxnSpPr/>
          <p:nvPr/>
        </p:nvCxnSpPr>
        <p:spPr>
          <a:xfrm>
            <a:off x="2314507" y="2182859"/>
            <a:ext cx="49342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6B040C3E-0578-A241-E175-FAEC372B7D94}"/>
              </a:ext>
            </a:extLst>
          </p:cNvPr>
          <p:cNvCxnSpPr/>
          <p:nvPr/>
        </p:nvCxnSpPr>
        <p:spPr>
          <a:xfrm>
            <a:off x="6117579" y="1658867"/>
            <a:ext cx="3236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428526"/>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2117102" y="1253058"/>
            <a:ext cx="7702550" cy="1384995"/>
          </a:xfrm>
          <a:prstGeom prst="rect">
            <a:avLst/>
          </a:prstGeom>
          <a:noFill/>
        </p:spPr>
        <p:txBody>
          <a:bodyPr wrap="square" rtlCol="0">
            <a:spAutoFit/>
          </a:bodyPr>
          <a:lstStyle/>
          <a:p>
            <a:endParaRPr lang="es-ES" sz="1200" dirty="0"/>
          </a:p>
          <a:p>
            <a:endParaRPr lang="es-ES" sz="1200" dirty="0"/>
          </a:p>
          <a:p>
            <a:pPr marL="171450" indent="-171450">
              <a:buFont typeface="Arial" panose="020B0604020202020204" pitchFamily="34" charset="0"/>
              <a:buChar char="•"/>
            </a:pPr>
            <a:r>
              <a:rPr lang="es-ES" sz="1200" dirty="0"/>
              <a:t>Variables numéricas: Test de mediana</a:t>
            </a:r>
          </a:p>
          <a:p>
            <a:pPr marL="171450" indent="-171450">
              <a:buFont typeface="Arial" panose="020B0604020202020204" pitchFamily="34" charset="0"/>
              <a:buChar char="•"/>
            </a:pPr>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2119997" y="2510828"/>
            <a:ext cx="4594061" cy="1418710"/>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4046018"/>
            <a:ext cx="8178017" cy="461665"/>
          </a:xfrm>
          <a:prstGeom prst="rect">
            <a:avLst/>
          </a:prstGeom>
          <a:noFill/>
        </p:spPr>
        <p:txBody>
          <a:bodyPr wrap="square" rtlCol="0">
            <a:spAutoFit/>
          </a:bodyPr>
          <a:lstStyle/>
          <a:p>
            <a:pPr marL="171450" indent="-171450">
              <a:buFont typeface="Arial" panose="020B0604020202020204" pitchFamily="34" charset="0"/>
              <a:buChar char="•"/>
              <a:defRPr sz="1600">
                <a:latin typeface="Arial"/>
              </a:defRPr>
            </a:pPr>
            <a:r>
              <a:rPr lang="en-GB" sz="1200" dirty="0"/>
              <a:t>Las variables </a:t>
            </a:r>
            <a:r>
              <a:rPr lang="en-GB" sz="1200" b="1" dirty="0" err="1"/>
              <a:t>EstimatedSalary</a:t>
            </a:r>
            <a:r>
              <a:rPr lang="en-GB" sz="1200" b="1" dirty="0"/>
              <a:t> y </a:t>
            </a:r>
            <a:r>
              <a:rPr lang="en-GB" sz="1200" b="1" dirty="0" err="1"/>
              <a:t>CreditScore</a:t>
            </a:r>
            <a:r>
              <a:rPr lang="en-GB" sz="1200" b="1" dirty="0"/>
              <a:t>         </a:t>
            </a:r>
            <a:r>
              <a:rPr lang="en-GB" sz="1200" dirty="0"/>
              <a:t>p-</a:t>
            </a:r>
            <a:r>
              <a:rPr lang="en-GB" sz="1200" dirty="0" err="1"/>
              <a:t>valores</a:t>
            </a:r>
            <a:r>
              <a:rPr lang="en-GB" sz="1200" dirty="0"/>
              <a:t> </a:t>
            </a:r>
            <a:r>
              <a:rPr lang="en-GB" sz="1200" dirty="0" err="1"/>
              <a:t>cercanos</a:t>
            </a:r>
            <a:r>
              <a:rPr lang="en-GB" sz="1200" dirty="0"/>
              <a:t> a 0.05 antes de la </a:t>
            </a:r>
            <a:r>
              <a:rPr lang="en-GB" sz="1200" dirty="0" err="1"/>
              <a:t>imputación</a:t>
            </a:r>
            <a:r>
              <a:rPr lang="en-GB" sz="1200" dirty="0"/>
              <a:t> de NA.</a:t>
            </a:r>
          </a:p>
          <a:p>
            <a:pPr marL="171450" indent="-171450">
              <a:buFont typeface="Arial" panose="020B0604020202020204" pitchFamily="34" charset="0"/>
              <a:buChar char="•"/>
              <a:defRPr sz="1600">
                <a:latin typeface="Arial"/>
              </a:defRPr>
            </a:pPr>
            <a:r>
              <a:rPr lang="en-GB" sz="1200" dirty="0"/>
              <a:t>Se </a:t>
            </a:r>
            <a:r>
              <a:rPr lang="en-GB" sz="1200" dirty="0" err="1"/>
              <a:t>probará</a:t>
            </a:r>
            <a:r>
              <a:rPr lang="en-GB" sz="1200" dirty="0"/>
              <a:t> </a:t>
            </a:r>
            <a:r>
              <a:rPr lang="en-GB" sz="1200" dirty="0" err="1"/>
              <a:t>el</a:t>
            </a:r>
            <a:r>
              <a:rPr lang="en-GB" sz="1200" dirty="0"/>
              <a:t> </a:t>
            </a:r>
            <a:r>
              <a:rPr lang="en-GB" sz="1200" dirty="0" err="1"/>
              <a:t>modelo</a:t>
            </a:r>
            <a:r>
              <a:rPr lang="en-GB" sz="1200" dirty="0"/>
              <a:t> con y sin </a:t>
            </a:r>
            <a:r>
              <a:rPr lang="en-GB" sz="1200" dirty="0" err="1"/>
              <a:t>estas</a:t>
            </a:r>
            <a:r>
              <a:rPr lang="en-GB" sz="1200" dirty="0"/>
              <a:t> dos variables para </a:t>
            </a:r>
            <a:r>
              <a:rPr lang="en-GB" sz="1200" dirty="0" err="1"/>
              <a:t>verificar</a:t>
            </a:r>
            <a:r>
              <a:rPr lang="en-GB" sz="1200" dirty="0"/>
              <a:t> </a:t>
            </a:r>
            <a:r>
              <a:rPr lang="en-GB" sz="1200" b="1" dirty="0" err="1"/>
              <a:t>diferencias</a:t>
            </a:r>
            <a:r>
              <a:rPr lang="en-GB" sz="1200" b="1" dirty="0"/>
              <a:t> </a:t>
            </a:r>
            <a:r>
              <a:rPr lang="en-GB" sz="1200" b="1" dirty="0" err="1"/>
              <a:t>en</a:t>
            </a:r>
            <a:r>
              <a:rPr lang="en-GB" sz="1200" b="1" dirty="0"/>
              <a:t> </a:t>
            </a:r>
            <a:r>
              <a:rPr lang="en-GB" sz="1200" b="1" dirty="0" err="1"/>
              <a:t>los</a:t>
            </a:r>
            <a:r>
              <a:rPr lang="en-GB" sz="1200" b="1" dirty="0"/>
              <a:t> </a:t>
            </a:r>
            <a:r>
              <a:rPr lang="en-GB" sz="1200" b="1" dirty="0" err="1"/>
              <a:t>resultados</a:t>
            </a:r>
            <a:r>
              <a:rPr lang="en-GB" sz="1200" b="1" dirty="0"/>
              <a:t>.</a:t>
            </a:r>
          </a:p>
        </p:txBody>
      </p:sp>
      <p:sp>
        <p:nvSpPr>
          <p:cNvPr id="4" name="Rounded Rectangle 3">
            <a:extLst>
              <a:ext uri="{FF2B5EF4-FFF2-40B4-BE49-F238E27FC236}">
                <a16:creationId xmlns:a16="http://schemas.microsoft.com/office/drawing/2014/main" id="{03BE575D-59C2-5DAF-AF57-D94F96FCACDD}"/>
              </a:ext>
            </a:extLst>
          </p:cNvPr>
          <p:cNvSpPr/>
          <p:nvPr/>
        </p:nvSpPr>
        <p:spPr>
          <a:xfrm>
            <a:off x="817297" y="964666"/>
            <a:ext cx="7025864" cy="4334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1100" dirty="0"/>
              <a:t>Sobre la base de datos imputada y transformada se realizaron </a:t>
            </a:r>
            <a:r>
              <a:rPr lang="es-ES" sz="1100" dirty="0" err="1"/>
              <a:t>tests</a:t>
            </a:r>
            <a:r>
              <a:rPr lang="es-ES" sz="1100" dirty="0"/>
              <a:t> de significancia para determinar qué variables son importantes para describir el comportamiento de la variable </a:t>
            </a:r>
            <a:r>
              <a:rPr lang="es-ES" sz="1100" dirty="0" err="1"/>
              <a:t>Exited</a:t>
            </a:r>
            <a:endParaRPr lang="en-ES" sz="1100" dirty="0"/>
          </a:p>
        </p:txBody>
      </p:sp>
      <p:cxnSp>
        <p:nvCxnSpPr>
          <p:cNvPr id="6" name="Straight Arrow Connector 5">
            <a:extLst>
              <a:ext uri="{FF2B5EF4-FFF2-40B4-BE49-F238E27FC236}">
                <a16:creationId xmlns:a16="http://schemas.microsoft.com/office/drawing/2014/main" id="{17579261-50D2-BE0C-93D4-173148A6DD48}"/>
              </a:ext>
            </a:extLst>
          </p:cNvPr>
          <p:cNvCxnSpPr/>
          <p:nvPr/>
        </p:nvCxnSpPr>
        <p:spPr>
          <a:xfrm>
            <a:off x="3876085" y="4046018"/>
            <a:ext cx="2103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36128"/>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solidFill>
                  <a:schemeClr val="tx1"/>
                </a:solidFill>
              </a:rPr>
              <a:t>Variables declaradas previamente como significativas concuerdan con las que aparecen en las reglas más informativas: </a:t>
            </a:r>
            <a:r>
              <a:rPr lang="es-ES" sz="1200" b="1" i="1" u="sng" dirty="0">
                <a:solidFill>
                  <a:schemeClr val="tx1"/>
                </a:solidFill>
              </a:rPr>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673945" y="285499"/>
            <a:ext cx="7704000" cy="572700"/>
          </a:xfrm>
          <a:prstGeom prst="rect">
            <a:avLst/>
          </a:prstGeom>
        </p:spPr>
        <p:txBody>
          <a:bodyPr spcFirstLastPara="1" wrap="square" lIns="91425" tIns="91425" rIns="91425" bIns="91425" anchor="t" anchorCtr="0">
            <a:noAutofit/>
          </a:bodyPr>
          <a:lstStyle/>
          <a:p>
            <a:pPr lvl="0"/>
            <a:r>
              <a:rPr lang="es-ES" dirty="0"/>
              <a:t>PREPARACIÓN PARA EL MODELADO</a:t>
            </a:r>
            <a:endParaRPr dirty="0"/>
          </a:p>
        </p:txBody>
      </p:sp>
      <p:pic>
        <p:nvPicPr>
          <p:cNvPr id="1026" name="Picture 2" descr="Handling Imbalanced Dataset In Machine Learning. | by Shivam Chhetry |  Medium">
            <a:extLst>
              <a:ext uri="{FF2B5EF4-FFF2-40B4-BE49-F238E27FC236}">
                <a16:creationId xmlns:a16="http://schemas.microsoft.com/office/drawing/2014/main" id="{C18EA33C-C5E0-87E7-4EF1-8FB48CB1C0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0448" y="1073150"/>
            <a:ext cx="2318042" cy="11557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40EE447-D04F-9B51-31BE-AD39AA4B154C}"/>
              </a:ext>
            </a:extLst>
          </p:cNvPr>
          <p:cNvSpPr txBox="1"/>
          <p:nvPr/>
        </p:nvSpPr>
        <p:spPr>
          <a:xfrm>
            <a:off x="559833" y="748484"/>
            <a:ext cx="2064989" cy="307777"/>
          </a:xfrm>
          <a:prstGeom prst="rect">
            <a:avLst/>
          </a:prstGeom>
          <a:noFill/>
        </p:spPr>
        <p:txBody>
          <a:bodyPr wrap="none" rtlCol="0">
            <a:spAutoFit/>
          </a:bodyPr>
          <a:lstStyle/>
          <a:p>
            <a:r>
              <a:rPr lang="en-ES" dirty="0"/>
              <a:t>Dataset desbalanceado</a:t>
            </a:r>
          </a:p>
        </p:txBody>
      </p:sp>
      <p:sp>
        <p:nvSpPr>
          <p:cNvPr id="5" name="TextBox 4">
            <a:extLst>
              <a:ext uri="{FF2B5EF4-FFF2-40B4-BE49-F238E27FC236}">
                <a16:creationId xmlns:a16="http://schemas.microsoft.com/office/drawing/2014/main" id="{9F3DB66A-05BA-4C22-89CA-05489D147222}"/>
              </a:ext>
            </a:extLst>
          </p:cNvPr>
          <p:cNvSpPr txBox="1"/>
          <p:nvPr/>
        </p:nvSpPr>
        <p:spPr>
          <a:xfrm>
            <a:off x="862078" y="2242522"/>
            <a:ext cx="1460500" cy="430887"/>
          </a:xfrm>
          <a:prstGeom prst="rect">
            <a:avLst/>
          </a:prstGeom>
          <a:noFill/>
        </p:spPr>
        <p:txBody>
          <a:bodyPr wrap="square">
            <a:spAutoFit/>
          </a:bodyPr>
          <a:lstStyle/>
          <a:p>
            <a:pPr algn="ctr"/>
            <a:r>
              <a:rPr lang="en-ES" sz="1100" dirty="0"/>
              <a:t>Clase negativa 80%</a:t>
            </a:r>
            <a:br>
              <a:rPr lang="en-ES" sz="1100" dirty="0"/>
            </a:br>
            <a:r>
              <a:rPr lang="en-ES" sz="1100" dirty="0"/>
              <a:t>Modelo sesgado</a:t>
            </a:r>
          </a:p>
        </p:txBody>
      </p:sp>
      <p:pic>
        <p:nvPicPr>
          <p:cNvPr id="1028" name="Picture 4" descr="71 mil resultados de imágenes, fotos de stock e ilustraciones libres de  regalías para Red x symbol | Shutterstock">
            <a:extLst>
              <a:ext uri="{FF2B5EF4-FFF2-40B4-BE49-F238E27FC236}">
                <a16:creationId xmlns:a16="http://schemas.microsoft.com/office/drawing/2014/main" id="{32F0DB92-EBC3-D1FE-9DEE-DF6E0DCC39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25485" y="2301581"/>
            <a:ext cx="458759" cy="42171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8DC694F7-2C67-8D9A-27D1-39C45A8CC0F3}"/>
              </a:ext>
            </a:extLst>
          </p:cNvPr>
          <p:cNvCxnSpPr>
            <a:cxnSpLocks/>
          </p:cNvCxnSpPr>
          <p:nvPr/>
        </p:nvCxnSpPr>
        <p:spPr>
          <a:xfrm>
            <a:off x="2908300" y="1651000"/>
            <a:ext cx="8442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95446D04-C8F7-A5FC-FF50-762E56ADB010}"/>
              </a:ext>
            </a:extLst>
          </p:cNvPr>
          <p:cNvSpPr txBox="1"/>
          <p:nvPr/>
        </p:nvSpPr>
        <p:spPr>
          <a:xfrm>
            <a:off x="3752551" y="765373"/>
            <a:ext cx="1925527" cy="307777"/>
          </a:xfrm>
          <a:prstGeom prst="rect">
            <a:avLst/>
          </a:prstGeom>
          <a:noFill/>
        </p:spPr>
        <p:txBody>
          <a:bodyPr wrap="none" rtlCol="0">
            <a:spAutoFit/>
          </a:bodyPr>
          <a:lstStyle/>
          <a:p>
            <a:r>
              <a:rPr lang="en-ES" dirty="0"/>
              <a:t>Técnicas de balanceo</a:t>
            </a:r>
          </a:p>
        </p:txBody>
      </p:sp>
      <p:pic>
        <p:nvPicPr>
          <p:cNvPr id="1030" name="Picture 6" descr="Imbalanced Vs Balanced Dataset ...">
            <a:extLst>
              <a:ext uri="{FF2B5EF4-FFF2-40B4-BE49-F238E27FC236}">
                <a16:creationId xmlns:a16="http://schemas.microsoft.com/office/drawing/2014/main" id="{3A229A68-D68A-FD9C-AA26-6D42023187F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7710" y="855762"/>
            <a:ext cx="2318042" cy="159098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64899363-A985-40D2-24C0-98B425C2F013}"/>
              </a:ext>
            </a:extLst>
          </p:cNvPr>
          <p:cNvSpPr txBox="1"/>
          <p:nvPr/>
        </p:nvSpPr>
        <p:spPr>
          <a:xfrm>
            <a:off x="6706863" y="740645"/>
            <a:ext cx="1717137" cy="307777"/>
          </a:xfrm>
          <a:prstGeom prst="rect">
            <a:avLst/>
          </a:prstGeom>
          <a:noFill/>
        </p:spPr>
        <p:txBody>
          <a:bodyPr wrap="none" rtlCol="0">
            <a:spAutoFit/>
          </a:bodyPr>
          <a:lstStyle/>
          <a:p>
            <a:r>
              <a:rPr lang="en-ES" dirty="0"/>
              <a:t>Datos balanceados</a:t>
            </a:r>
          </a:p>
        </p:txBody>
      </p:sp>
      <p:sp>
        <p:nvSpPr>
          <p:cNvPr id="10" name="TextBox 9">
            <a:extLst>
              <a:ext uri="{FF2B5EF4-FFF2-40B4-BE49-F238E27FC236}">
                <a16:creationId xmlns:a16="http://schemas.microsoft.com/office/drawing/2014/main" id="{368A1267-108C-9092-DCDF-ED3139D20009}"/>
              </a:ext>
            </a:extLst>
          </p:cNvPr>
          <p:cNvSpPr txBox="1"/>
          <p:nvPr/>
        </p:nvSpPr>
        <p:spPr>
          <a:xfrm>
            <a:off x="6836802" y="2455328"/>
            <a:ext cx="1313180" cy="261610"/>
          </a:xfrm>
          <a:prstGeom prst="rect">
            <a:avLst/>
          </a:prstGeom>
          <a:noFill/>
        </p:spPr>
        <p:txBody>
          <a:bodyPr wrap="none" rtlCol="0">
            <a:spAutoFit/>
          </a:bodyPr>
          <a:lstStyle/>
          <a:p>
            <a:r>
              <a:rPr lang="en-ES" sz="1100" dirty="0"/>
              <a:t>Mejor rendimiento</a:t>
            </a:r>
          </a:p>
        </p:txBody>
      </p:sp>
      <p:cxnSp>
        <p:nvCxnSpPr>
          <p:cNvPr id="11" name="Straight Arrow Connector 10">
            <a:extLst>
              <a:ext uri="{FF2B5EF4-FFF2-40B4-BE49-F238E27FC236}">
                <a16:creationId xmlns:a16="http://schemas.microsoft.com/office/drawing/2014/main" id="{E6CE2FAF-DF58-8ED6-3D47-E43C5C3B44E8}"/>
              </a:ext>
            </a:extLst>
          </p:cNvPr>
          <p:cNvCxnSpPr>
            <a:cxnSpLocks/>
          </p:cNvCxnSpPr>
          <p:nvPr/>
        </p:nvCxnSpPr>
        <p:spPr>
          <a:xfrm>
            <a:off x="5630353" y="1651000"/>
            <a:ext cx="78062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034" name="Picture 10" descr="30.600+ Tick Verde Fotografías de stock ...">
            <a:extLst>
              <a:ext uri="{FF2B5EF4-FFF2-40B4-BE49-F238E27FC236}">
                <a16:creationId xmlns:a16="http://schemas.microsoft.com/office/drawing/2014/main" id="{6C7ED6AE-C646-6389-21C6-B6852F24C8D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70364" y="2348495"/>
            <a:ext cx="475275" cy="475275"/>
          </a:xfrm>
          <a:prstGeom prst="rect">
            <a:avLst/>
          </a:prstGeom>
          <a:noFill/>
          <a:extLst>
            <a:ext uri="{909E8E84-426E-40DD-AFC4-6F175D3DCCD1}">
              <a14:hiddenFill xmlns:a14="http://schemas.microsoft.com/office/drawing/2010/main">
                <a:solidFill>
                  <a:srgbClr val="FFFFFF"/>
                </a:solidFill>
              </a14:hiddenFill>
            </a:ext>
          </a:extLst>
        </p:spPr>
      </p:pic>
      <p:sp>
        <p:nvSpPr>
          <p:cNvPr id="12" name="Rounded Rectangle 11">
            <a:extLst>
              <a:ext uri="{FF2B5EF4-FFF2-40B4-BE49-F238E27FC236}">
                <a16:creationId xmlns:a16="http://schemas.microsoft.com/office/drawing/2014/main" id="{1ECBF497-13C4-3227-DBB9-BADFB4398B0C}"/>
              </a:ext>
            </a:extLst>
          </p:cNvPr>
          <p:cNvSpPr/>
          <p:nvPr/>
        </p:nvSpPr>
        <p:spPr>
          <a:xfrm>
            <a:off x="3860728" y="1084156"/>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O</a:t>
            </a:r>
            <a:r>
              <a:rPr lang="en-ES" dirty="0">
                <a:solidFill>
                  <a:schemeClr val="tx1"/>
                </a:solidFill>
              </a:rPr>
              <a:t>versampling</a:t>
            </a:r>
          </a:p>
        </p:txBody>
      </p:sp>
      <p:sp>
        <p:nvSpPr>
          <p:cNvPr id="14" name="Rounded Rectangle 13">
            <a:extLst>
              <a:ext uri="{FF2B5EF4-FFF2-40B4-BE49-F238E27FC236}">
                <a16:creationId xmlns:a16="http://schemas.microsoft.com/office/drawing/2014/main" id="{2DB3CF25-6462-D736-FD2E-B8DF75F1FE23}"/>
              </a:ext>
            </a:extLst>
          </p:cNvPr>
          <p:cNvSpPr/>
          <p:nvPr/>
        </p:nvSpPr>
        <p:spPr>
          <a:xfrm>
            <a:off x="3850487" y="1456037"/>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a:solidFill>
                  <a:schemeClr val="tx1"/>
                </a:solidFill>
              </a:rPr>
              <a:t>Undersampling</a:t>
            </a:r>
            <a:endParaRPr lang="en-ES" dirty="0">
              <a:solidFill>
                <a:schemeClr val="tx1"/>
              </a:solidFill>
            </a:endParaRPr>
          </a:p>
        </p:txBody>
      </p:sp>
      <p:sp>
        <p:nvSpPr>
          <p:cNvPr id="15" name="Rounded Rectangle 14">
            <a:extLst>
              <a:ext uri="{FF2B5EF4-FFF2-40B4-BE49-F238E27FC236}">
                <a16:creationId xmlns:a16="http://schemas.microsoft.com/office/drawing/2014/main" id="{971F8AF3-E5C9-9DF4-4D08-5F0BDE9570F3}"/>
              </a:ext>
            </a:extLst>
          </p:cNvPr>
          <p:cNvSpPr/>
          <p:nvPr/>
        </p:nvSpPr>
        <p:spPr>
          <a:xfrm>
            <a:off x="3850486" y="1839743"/>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ROSE</a:t>
            </a:r>
            <a:endParaRPr lang="en-ES" dirty="0">
              <a:solidFill>
                <a:schemeClr val="tx1"/>
              </a:solidFill>
            </a:endParaRPr>
          </a:p>
        </p:txBody>
      </p:sp>
      <p:sp>
        <p:nvSpPr>
          <p:cNvPr id="18" name="TextBox 17">
            <a:extLst>
              <a:ext uri="{FF2B5EF4-FFF2-40B4-BE49-F238E27FC236}">
                <a16:creationId xmlns:a16="http://schemas.microsoft.com/office/drawing/2014/main" id="{3A1457C4-E1D5-D1CA-4D35-ECA933DB1208}"/>
              </a:ext>
            </a:extLst>
          </p:cNvPr>
          <p:cNvSpPr txBox="1"/>
          <p:nvPr/>
        </p:nvSpPr>
        <p:spPr>
          <a:xfrm>
            <a:off x="3330425" y="2439538"/>
            <a:ext cx="2520242" cy="261610"/>
          </a:xfrm>
          <a:prstGeom prst="rect">
            <a:avLst/>
          </a:prstGeom>
          <a:noFill/>
        </p:spPr>
        <p:txBody>
          <a:bodyPr wrap="none" rtlCol="0">
            <a:spAutoFit/>
          </a:bodyPr>
          <a:lstStyle/>
          <a:p>
            <a:r>
              <a:rPr lang="en-ES" sz="1100" dirty="0"/>
              <a:t>Todas las técnicas mejoran resultado</a:t>
            </a:r>
          </a:p>
        </p:txBody>
      </p:sp>
      <p:pic>
        <p:nvPicPr>
          <p:cNvPr id="19" name="Picture 18">
            <a:extLst>
              <a:ext uri="{FF2B5EF4-FFF2-40B4-BE49-F238E27FC236}">
                <a16:creationId xmlns:a16="http://schemas.microsoft.com/office/drawing/2014/main" id="{5B13B0EB-1477-2655-9B5D-E5EAD987BC31}"/>
              </a:ext>
            </a:extLst>
          </p:cNvPr>
          <p:cNvPicPr>
            <a:picLocks noChangeAspect="1"/>
          </p:cNvPicPr>
          <p:nvPr/>
        </p:nvPicPr>
        <p:blipFill>
          <a:blip r:embed="rId7"/>
          <a:stretch>
            <a:fillRect/>
          </a:stretch>
        </p:blipFill>
        <p:spPr>
          <a:xfrm>
            <a:off x="317403" y="3028784"/>
            <a:ext cx="8609085" cy="2052892"/>
          </a:xfrm>
          <a:prstGeom prst="rect">
            <a:avLst/>
          </a:prstGeom>
        </p:spPr>
      </p:pic>
      <p:sp>
        <p:nvSpPr>
          <p:cNvPr id="3" name="Rounded Rectangle 2">
            <a:extLst>
              <a:ext uri="{FF2B5EF4-FFF2-40B4-BE49-F238E27FC236}">
                <a16:creationId xmlns:a16="http://schemas.microsoft.com/office/drawing/2014/main" id="{91C9788D-1559-6736-E45E-93CB72D82824}"/>
              </a:ext>
            </a:extLst>
          </p:cNvPr>
          <p:cNvSpPr/>
          <p:nvPr/>
        </p:nvSpPr>
        <p:spPr>
          <a:xfrm>
            <a:off x="3860726" y="2163638"/>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SMOTE</a:t>
            </a:r>
            <a:endParaRPr lang="en-ES" dirty="0">
              <a:solidFill>
                <a:schemeClr val="tx1"/>
              </a:solidFill>
            </a:endParaRPr>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a:t>
            </a:r>
            <a:endParaRPr dirty="0"/>
          </a:p>
        </p:txBody>
      </p:sp>
      <p:graphicFrame>
        <p:nvGraphicFramePr>
          <p:cNvPr id="4" name="Tabla 3"/>
          <p:cNvGraphicFramePr>
            <a:graphicFrameLocks noGrp="1"/>
          </p:cNvGraphicFramePr>
          <p:nvPr>
            <p:extLst>
              <p:ext uri="{D42A27DB-BD31-4B8C-83A1-F6EECF244321}">
                <p14:modId xmlns:p14="http://schemas.microsoft.com/office/powerpoint/2010/main" val="50387516"/>
              </p:ext>
            </p:extLst>
          </p:nvPr>
        </p:nvGraphicFramePr>
        <p:xfrm>
          <a:off x="2462406" y="2051066"/>
          <a:ext cx="4374692" cy="520684"/>
        </p:xfrm>
        <a:graphic>
          <a:graphicData uri="http://schemas.openxmlformats.org/drawingml/2006/table">
            <a:tbl>
              <a:tblPr>
                <a:tableStyleId>{7FD54D1E-A07F-487E-B709-6B33F1453160}</a:tableStyleId>
              </a:tblPr>
              <a:tblGrid>
                <a:gridCol w="611319">
                  <a:extLst>
                    <a:ext uri="{9D8B030D-6E8A-4147-A177-3AD203B41FA5}">
                      <a16:colId xmlns:a16="http://schemas.microsoft.com/office/drawing/2014/main" val="20001"/>
                    </a:ext>
                  </a:extLst>
                </a:gridCol>
                <a:gridCol w="736805">
                  <a:extLst>
                    <a:ext uri="{9D8B030D-6E8A-4147-A177-3AD203B41FA5}">
                      <a16:colId xmlns:a16="http://schemas.microsoft.com/office/drawing/2014/main" val="20002"/>
                    </a:ext>
                  </a:extLst>
                </a:gridCol>
                <a:gridCol w="736805">
                  <a:extLst>
                    <a:ext uri="{9D8B030D-6E8A-4147-A177-3AD203B41FA5}">
                      <a16:colId xmlns:a16="http://schemas.microsoft.com/office/drawing/2014/main" val="20003"/>
                    </a:ext>
                  </a:extLst>
                </a:gridCol>
                <a:gridCol w="816153">
                  <a:extLst>
                    <a:ext uri="{9D8B030D-6E8A-4147-A177-3AD203B41FA5}">
                      <a16:colId xmlns:a16="http://schemas.microsoft.com/office/drawing/2014/main" val="20004"/>
                    </a:ext>
                  </a:extLst>
                </a:gridCol>
                <a:gridCol w="736805">
                  <a:extLst>
                    <a:ext uri="{9D8B030D-6E8A-4147-A177-3AD203B41FA5}">
                      <a16:colId xmlns:a16="http://schemas.microsoft.com/office/drawing/2014/main" val="20005"/>
                    </a:ext>
                  </a:extLst>
                </a:gridCol>
                <a:gridCol w="736805">
                  <a:extLst>
                    <a:ext uri="{9D8B030D-6E8A-4147-A177-3AD203B41FA5}">
                      <a16:colId xmlns:a16="http://schemas.microsoft.com/office/drawing/2014/main" val="20006"/>
                    </a:ext>
                  </a:extLst>
                </a:gridCol>
              </a:tblGrid>
              <a:tr h="260342">
                <a:tc>
                  <a:txBody>
                    <a:bodyPr/>
                    <a:lstStyle/>
                    <a:p>
                      <a:pPr algn="l" fontAlgn="ctr">
                        <a:buNone/>
                      </a:pPr>
                      <a:r>
                        <a:rPr lang="es-ES" sz="1100" b="1" i="0" u="none" strike="noStrike" dirty="0">
                          <a:solidFill>
                            <a:srgbClr val="000000"/>
                          </a:solidFill>
                          <a:effectLst/>
                          <a:latin typeface="+mj-lt"/>
                        </a:rPr>
                        <a:t>TRAIN</a:t>
                      </a:r>
                    </a:p>
                  </a:txBody>
                  <a:tcPr marL="7620" marR="7620" marT="7620" marB="0" anchor="ctr"/>
                </a:tc>
                <a:tc>
                  <a:txBody>
                    <a:bodyPr/>
                    <a:lstStyle/>
                    <a:p>
                      <a:pPr algn="l" fontAlgn="ctr">
                        <a:buNone/>
                      </a:pPr>
                      <a:r>
                        <a:rPr lang="es-ES" sz="1100" b="1" u="none" strike="noStrike" dirty="0">
                          <a:effectLst/>
                          <a:latin typeface="+mj-lt"/>
                        </a:rPr>
                        <a:t>0.7477551</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0.4010743</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a:effectLst/>
                          <a:latin typeface="+mj-lt"/>
                        </a:rPr>
                        <a:t>0.4413793</a:t>
                      </a:r>
                      <a:endParaRPr lang="es-ES" sz="1100" b="1" i="0" u="none" strike="noStrike">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0.8277992</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0.4202627</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1"/>
                  </a:ext>
                </a:extLst>
              </a:tr>
              <a:tr h="260342">
                <a:tc>
                  <a:txBody>
                    <a:bodyPr/>
                    <a:lstStyle/>
                    <a:p>
                      <a:pPr algn="l" fontAlgn="ctr">
                        <a:buNone/>
                      </a:pPr>
                      <a:r>
                        <a:rPr lang="es-ES" sz="1100" b="1" i="0" u="none" strike="noStrike" dirty="0">
                          <a:solidFill>
                            <a:srgbClr val="000000"/>
                          </a:solidFill>
                          <a:effectLst/>
                          <a:latin typeface="+mj-lt"/>
                        </a:rPr>
                        <a:t>TEST</a:t>
                      </a:r>
                    </a:p>
                  </a:txBody>
                  <a:tcPr marL="7620" marR="7620" marT="7620" marB="0" anchor="ctr"/>
                </a:tc>
                <a:tc>
                  <a:txBody>
                    <a:bodyPr/>
                    <a:lstStyle/>
                    <a:p>
                      <a:pPr algn="l" fontAlgn="ctr">
                        <a:buNone/>
                      </a:pPr>
                      <a:r>
                        <a:rPr lang="es-ES" sz="1100" b="1" u="none" strike="noStrike" dirty="0">
                          <a:effectLst/>
                          <a:latin typeface="+mj-lt"/>
                        </a:rPr>
                        <a:t>0.7595238</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0.4264706</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0.4666667</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0.8360360</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0.4456641</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2"/>
                  </a:ext>
                </a:extLst>
              </a:tr>
            </a:tbl>
          </a:graphicData>
        </a:graphic>
      </p:graphicFrame>
      <p:graphicFrame>
        <p:nvGraphicFramePr>
          <p:cNvPr id="5" name="Tabla 4"/>
          <p:cNvGraphicFramePr>
            <a:graphicFrameLocks noGrp="1"/>
          </p:cNvGraphicFramePr>
          <p:nvPr>
            <p:extLst>
              <p:ext uri="{D42A27DB-BD31-4B8C-83A1-F6EECF244321}">
                <p14:modId xmlns:p14="http://schemas.microsoft.com/office/powerpoint/2010/main" val="1754887632"/>
              </p:ext>
            </p:extLst>
          </p:nvPr>
        </p:nvGraphicFramePr>
        <p:xfrm>
          <a:off x="2455224" y="1148854"/>
          <a:ext cx="4381876" cy="778842"/>
        </p:xfrm>
        <a:graphic>
          <a:graphicData uri="http://schemas.openxmlformats.org/drawingml/2006/table">
            <a:tbl>
              <a:tblPr>
                <a:tableStyleId>{7FD54D1E-A07F-487E-B709-6B33F1453160}</a:tableStyleId>
              </a:tblPr>
              <a:tblGrid>
                <a:gridCol w="641276">
                  <a:extLst>
                    <a:ext uri="{9D8B030D-6E8A-4147-A177-3AD203B41FA5}">
                      <a16:colId xmlns:a16="http://schemas.microsoft.com/office/drawing/2014/main" val="20001"/>
                    </a:ext>
                  </a:extLst>
                </a:gridCol>
                <a:gridCol w="709607">
                  <a:extLst>
                    <a:ext uri="{9D8B030D-6E8A-4147-A177-3AD203B41FA5}">
                      <a16:colId xmlns:a16="http://schemas.microsoft.com/office/drawing/2014/main" val="20002"/>
                    </a:ext>
                  </a:extLst>
                </a:gridCol>
                <a:gridCol w="730054">
                  <a:extLst>
                    <a:ext uri="{9D8B030D-6E8A-4147-A177-3AD203B41FA5}">
                      <a16:colId xmlns:a16="http://schemas.microsoft.com/office/drawing/2014/main" val="20003"/>
                    </a:ext>
                  </a:extLst>
                </a:gridCol>
                <a:gridCol w="839275">
                  <a:extLst>
                    <a:ext uri="{9D8B030D-6E8A-4147-A177-3AD203B41FA5}">
                      <a16:colId xmlns:a16="http://schemas.microsoft.com/office/drawing/2014/main" val="20004"/>
                    </a:ext>
                  </a:extLst>
                </a:gridCol>
                <a:gridCol w="713544">
                  <a:extLst>
                    <a:ext uri="{9D8B030D-6E8A-4147-A177-3AD203B41FA5}">
                      <a16:colId xmlns:a16="http://schemas.microsoft.com/office/drawing/2014/main" val="20005"/>
                    </a:ext>
                  </a:extLst>
                </a:gridCol>
                <a:gridCol w="748120">
                  <a:extLst>
                    <a:ext uri="{9D8B030D-6E8A-4147-A177-3AD203B41FA5}">
                      <a16:colId xmlns:a16="http://schemas.microsoft.com/office/drawing/2014/main" val="20006"/>
                    </a:ext>
                  </a:extLst>
                </a:gridCol>
              </a:tblGrid>
              <a:tr h="329827">
                <a:tc>
                  <a:txBody>
                    <a:bodyPr/>
                    <a:lstStyle/>
                    <a:p>
                      <a:pPr algn="l" fontAlgn="ctr">
                        <a:buNone/>
                      </a:pPr>
                      <a:r>
                        <a:rPr lang="en-US" altLang="es-ES" sz="1100" b="1" i="0" u="none" strike="noStrike" dirty="0">
                          <a:solidFill>
                            <a:srgbClr val="7030A0"/>
                          </a:solidFill>
                          <a:effectLst/>
                          <a:latin typeface="+mj-lt"/>
                        </a:rPr>
                        <a:t>Split</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Accuracy</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zh-CN" sz="1100" b="1" i="0" u="none" strike="noStrike" dirty="0">
                          <a:solidFill>
                            <a:srgbClr val="7030A0"/>
                          </a:solidFill>
                          <a:effectLst/>
                          <a:latin typeface="+mj-lt"/>
                        </a:rPr>
                        <a:t>Precision</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Recall</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Specificity</a:t>
                      </a: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F1-Score</a:t>
                      </a:r>
                    </a:p>
                  </a:txBody>
                  <a:tcPr marL="7620" marR="7620" marT="7620" marB="0" anchor="ctr"/>
                </a:tc>
                <a:extLst>
                  <a:ext uri="{0D108BD9-81ED-4DB2-BD59-A6C34878D82A}">
                    <a16:rowId xmlns:a16="http://schemas.microsoft.com/office/drawing/2014/main" val="3840787724"/>
                  </a:ext>
                </a:extLst>
              </a:tr>
              <a:tr h="244469">
                <a:tc>
                  <a:txBody>
                    <a:bodyPr/>
                    <a:lstStyle/>
                    <a:p>
                      <a:pPr algn="l" fontAlgn="ctr">
                        <a:buNone/>
                      </a:pPr>
                      <a:r>
                        <a:rPr lang="es-ES" sz="1100" b="1" i="0" u="none" strike="noStrike" dirty="0">
                          <a:solidFill>
                            <a:srgbClr val="000000"/>
                          </a:solidFill>
                          <a:effectLst/>
                        </a:rPr>
                        <a:t>TRAIN</a:t>
                      </a:r>
                    </a:p>
                  </a:txBody>
                  <a:tcPr marL="7620" marR="7620" marT="7620" marB="0" anchor="ctr"/>
                </a:tc>
                <a:tc>
                  <a:txBody>
                    <a:bodyPr/>
                    <a:lstStyle/>
                    <a:p>
                      <a:pPr algn="l" fontAlgn="ctr"/>
                      <a:r>
                        <a:rPr lang="es-ES" sz="1100" b="1" i="0" dirty="0">
                          <a:solidFill>
                            <a:srgbClr val="000000"/>
                          </a:solidFill>
                          <a:effectLst/>
                        </a:rPr>
                        <a:t>0.7708163</a:t>
                      </a:r>
                    </a:p>
                  </a:txBody>
                  <a:tcPr marL="9842" marR="9842" marT="9842" marB="0" anchor="ctr"/>
                </a:tc>
                <a:tc>
                  <a:txBody>
                    <a:bodyPr/>
                    <a:lstStyle/>
                    <a:p>
                      <a:pPr algn="l" fontAlgn="ctr">
                        <a:buNone/>
                      </a:pPr>
                      <a:r>
                        <a:rPr lang="es-ES" sz="1100" b="1" u="none" strike="noStrike" dirty="0">
                          <a:effectLst/>
                        </a:rPr>
                        <a:t>0.4686241</a:t>
                      </a:r>
                    </a:p>
                  </a:txBody>
                  <a:tcPr marL="7620" marR="7620" marT="7620" marB="0" anchor="ctr"/>
                </a:tc>
                <a:tc>
                  <a:txBody>
                    <a:bodyPr/>
                    <a:lstStyle/>
                    <a:p>
                      <a:pPr algn="l" fontAlgn="ctr"/>
                      <a:r>
                        <a:rPr lang="es-ES" sz="1100" b="1" i="0" dirty="0">
                          <a:solidFill>
                            <a:srgbClr val="000000"/>
                          </a:solidFill>
                          <a:effectLst/>
                        </a:rPr>
                        <a:t>0.8027613</a:t>
                      </a:r>
                    </a:p>
                  </a:txBody>
                  <a:tcPr marL="9842" marR="9842" marT="9842" marB="0" anchor="ctr"/>
                </a:tc>
                <a:tc>
                  <a:txBody>
                    <a:bodyPr/>
                    <a:lstStyle/>
                    <a:p>
                      <a:pPr algn="l" fontAlgn="ctr"/>
                      <a:r>
                        <a:rPr lang="es-ES" sz="1100" b="1" i="0" dirty="0">
                          <a:solidFill>
                            <a:srgbClr val="000000"/>
                          </a:solidFill>
                          <a:effectLst/>
                        </a:rPr>
                        <a:t>0.7624807</a:t>
                      </a:r>
                    </a:p>
                  </a:txBody>
                  <a:tcPr marL="9842" marR="9842" marT="9842" marB="0" anchor="ctr"/>
                </a:tc>
                <a:tc>
                  <a:txBody>
                    <a:bodyPr/>
                    <a:lstStyle/>
                    <a:p>
                      <a:pPr algn="l" fontAlgn="ctr"/>
                      <a:r>
                        <a:rPr lang="es-ES" sz="1100" b="1" i="0" dirty="0">
                          <a:solidFill>
                            <a:srgbClr val="000000"/>
                          </a:solidFill>
                          <a:effectLst/>
                        </a:rPr>
                        <a:t>0.5917848</a:t>
                      </a:r>
                    </a:p>
                  </a:txBody>
                  <a:tcPr marL="9842" marR="9842" marT="9842" marB="0" anchor="ctr"/>
                </a:tc>
                <a:extLst>
                  <a:ext uri="{0D108BD9-81ED-4DB2-BD59-A6C34878D82A}">
                    <a16:rowId xmlns:a16="http://schemas.microsoft.com/office/drawing/2014/main" val="10000"/>
                  </a:ext>
                </a:extLst>
              </a:tr>
              <a:tr h="204546">
                <a:tc>
                  <a:txBody>
                    <a:bodyPr/>
                    <a:lstStyle/>
                    <a:p>
                      <a:pPr algn="l" fontAlgn="ctr">
                        <a:buNone/>
                      </a:pPr>
                      <a:r>
                        <a:rPr lang="es-ES" sz="1100" b="1" i="0" u="none" strike="noStrike" dirty="0">
                          <a:solidFill>
                            <a:srgbClr val="000000"/>
                          </a:solidFill>
                          <a:effectLst/>
                        </a:rPr>
                        <a:t>TEST</a:t>
                      </a:r>
                    </a:p>
                  </a:txBody>
                  <a:tcPr marL="7620" marR="7620" marT="7620" marB="0" anchor="ctr"/>
                </a:tc>
                <a:tc>
                  <a:txBody>
                    <a:bodyPr/>
                    <a:lstStyle/>
                    <a:p>
                      <a:pPr algn="l" fontAlgn="b"/>
                      <a:r>
                        <a:rPr lang="es-ES" sz="1100" b="1" i="0" dirty="0">
                          <a:solidFill>
                            <a:srgbClr val="000000"/>
                          </a:solidFill>
                          <a:effectLst/>
                        </a:rPr>
                        <a:t>0.6790476</a:t>
                      </a:r>
                    </a:p>
                  </a:txBody>
                  <a:tcPr marL="9842" marR="9842" marT="9842" marB="0" anchor="b"/>
                </a:tc>
                <a:tc>
                  <a:txBody>
                    <a:bodyPr/>
                    <a:lstStyle/>
                    <a:p>
                      <a:pPr algn="l" fontAlgn="b"/>
                      <a:r>
                        <a:rPr lang="es-ES" sz="1100" b="1" i="0" dirty="0">
                          <a:solidFill>
                            <a:srgbClr val="000000"/>
                          </a:solidFill>
                          <a:effectLst/>
                        </a:rPr>
                        <a:t>0.3342618</a:t>
                      </a:r>
                    </a:p>
                  </a:txBody>
                  <a:tcPr marL="9842" marR="9842" marT="9842" marB="0" anchor="b"/>
                </a:tc>
                <a:tc>
                  <a:txBody>
                    <a:bodyPr/>
                    <a:lstStyle/>
                    <a:p>
                      <a:pPr algn="l" fontAlgn="b"/>
                      <a:r>
                        <a:rPr lang="es-ES" sz="1100" b="1" i="0" dirty="0">
                          <a:solidFill>
                            <a:srgbClr val="000000"/>
                          </a:solidFill>
                          <a:effectLst/>
                        </a:rPr>
                        <a:t>0.5504587</a:t>
                      </a:r>
                    </a:p>
                  </a:txBody>
                  <a:tcPr marL="9842" marR="9842" marT="9842" marB="0" anchor="b"/>
                </a:tc>
                <a:tc>
                  <a:txBody>
                    <a:bodyPr/>
                    <a:lstStyle/>
                    <a:p>
                      <a:pPr algn="l" fontAlgn="b"/>
                      <a:r>
                        <a:rPr lang="es-ES" sz="1100" b="1" i="0" dirty="0">
                          <a:solidFill>
                            <a:srgbClr val="000000"/>
                          </a:solidFill>
                          <a:effectLst/>
                        </a:rPr>
                        <a:t>0.7127404</a:t>
                      </a:r>
                    </a:p>
                  </a:txBody>
                  <a:tcPr marL="9842" marR="9842" marT="9842" marB="0" anchor="b"/>
                </a:tc>
                <a:tc>
                  <a:txBody>
                    <a:bodyPr/>
                    <a:lstStyle/>
                    <a:p>
                      <a:pPr algn="l" fontAlgn="b"/>
                      <a:r>
                        <a:rPr lang="es-ES" sz="1100" b="1" i="0" dirty="0">
                          <a:solidFill>
                            <a:srgbClr val="000000"/>
                          </a:solidFill>
                          <a:effectLst/>
                        </a:rPr>
                        <a:t>0.4159445</a:t>
                      </a:r>
                    </a:p>
                  </a:txBody>
                  <a:tcPr marL="9842" marR="9842" marT="9842" marB="0" anchor="b"/>
                </a:tc>
                <a:extLst>
                  <a:ext uri="{0D108BD9-81ED-4DB2-BD59-A6C34878D82A}">
                    <a16:rowId xmlns:a16="http://schemas.microsoft.com/office/drawing/2014/main" val="10001"/>
                  </a:ext>
                </a:extLst>
              </a:tr>
            </a:tbl>
          </a:graphicData>
        </a:graphic>
      </p:graphicFrame>
      <p:sp>
        <p:nvSpPr>
          <p:cNvPr id="7" name="CuadroTexto 6"/>
          <p:cNvSpPr txBox="1"/>
          <p:nvPr/>
        </p:nvSpPr>
        <p:spPr>
          <a:xfrm>
            <a:off x="782760" y="2842962"/>
            <a:ext cx="7726804" cy="1569660"/>
          </a:xfrm>
          <a:prstGeom prst="rect">
            <a:avLst/>
          </a:prstGeom>
          <a:noFill/>
        </p:spPr>
        <p:txBody>
          <a:bodyPr wrap="square">
            <a:spAutoFit/>
          </a:bodyPr>
          <a:lstStyle/>
          <a:p>
            <a:pPr>
              <a:buFont typeface="Arial" panose="020B0604020202020204" pitchFamily="34" charset="0"/>
              <a:buChar char="•"/>
            </a:pPr>
            <a:r>
              <a:rPr lang="en-GB" b="1" dirty="0"/>
              <a:t>Naive Bayes:</a:t>
            </a:r>
            <a:r>
              <a:rPr lang="en-GB" dirty="0"/>
              <a:t> se </a:t>
            </a:r>
            <a:r>
              <a:rPr lang="en-GB" dirty="0" err="1"/>
              <a:t>aplicó</a:t>
            </a:r>
            <a:r>
              <a:rPr lang="en-GB" dirty="0"/>
              <a:t> </a:t>
            </a:r>
            <a:r>
              <a:rPr lang="en-GB" b="1" dirty="0" err="1"/>
              <a:t>balanceo</a:t>
            </a:r>
            <a:r>
              <a:rPr lang="en-GB" dirty="0"/>
              <a:t>, </a:t>
            </a:r>
            <a:r>
              <a:rPr lang="en-GB" dirty="0" err="1"/>
              <a:t>obteniendo</a:t>
            </a:r>
            <a:r>
              <a:rPr lang="en-GB" dirty="0"/>
              <a:t> </a:t>
            </a:r>
            <a:r>
              <a:rPr lang="en-GB" dirty="0" err="1"/>
              <a:t>una</a:t>
            </a:r>
            <a:r>
              <a:rPr lang="en-GB" dirty="0"/>
              <a:t> </a:t>
            </a:r>
            <a:r>
              <a:rPr lang="en-GB" dirty="0" err="1"/>
              <a:t>leve</a:t>
            </a:r>
            <a:r>
              <a:rPr lang="en-GB" dirty="0"/>
              <a:t> </a:t>
            </a:r>
            <a:r>
              <a:rPr lang="en-GB" dirty="0" err="1"/>
              <a:t>mejora</a:t>
            </a:r>
            <a:r>
              <a:rPr lang="en-GB" dirty="0"/>
              <a:t> </a:t>
            </a:r>
            <a:r>
              <a:rPr lang="en-GB" dirty="0" err="1"/>
              <a:t>en</a:t>
            </a:r>
            <a:r>
              <a:rPr lang="en-GB" dirty="0"/>
              <a:t> las </a:t>
            </a:r>
            <a:r>
              <a:rPr lang="en-GB" dirty="0" err="1"/>
              <a:t>métricas</a:t>
            </a:r>
            <a:r>
              <a:rPr lang="en-GB" dirty="0"/>
              <a:t>.</a:t>
            </a:r>
          </a:p>
          <a:p>
            <a:pPr>
              <a:buFont typeface="Arial" panose="020B0604020202020204" pitchFamily="34" charset="0"/>
              <a:buChar char="•"/>
            </a:pPr>
            <a:r>
              <a:rPr lang="en-GB" b="1" dirty="0"/>
              <a:t>KNN (9NN):</a:t>
            </a:r>
            <a:r>
              <a:rPr lang="en-GB" dirty="0"/>
              <a:t> se </a:t>
            </a:r>
            <a:r>
              <a:rPr lang="en-GB" dirty="0" err="1"/>
              <a:t>entrenó</a:t>
            </a:r>
            <a:r>
              <a:rPr lang="en-GB" dirty="0"/>
              <a:t> con </a:t>
            </a:r>
            <a:r>
              <a:rPr lang="en-GB" b="1" dirty="0"/>
              <a:t>datasets </a:t>
            </a:r>
            <a:r>
              <a:rPr lang="en-GB" b="1" dirty="0" err="1"/>
              <a:t>balanceados</a:t>
            </a:r>
            <a:r>
              <a:rPr lang="en-GB" dirty="0"/>
              <a:t> (Over-sampling, Under-sampling, SMOTE, ROSE) y </a:t>
            </a:r>
            <a:r>
              <a:rPr lang="en-GB" b="1" dirty="0"/>
              <a:t>FAMD</a:t>
            </a:r>
            <a:r>
              <a:rPr lang="en-GB" dirty="0"/>
              <a:t>.</a:t>
            </a:r>
          </a:p>
          <a:p>
            <a:pPr marL="742950" lvl="1" indent="-285750">
              <a:buFont typeface="Arial" panose="020B0604020202020204" pitchFamily="34" charset="0"/>
              <a:buChar char="•"/>
            </a:pPr>
            <a:r>
              <a:rPr lang="en-GB" b="1" dirty="0"/>
              <a:t>SMOTE</a:t>
            </a:r>
            <a:r>
              <a:rPr lang="en-GB" dirty="0"/>
              <a:t> </a:t>
            </a:r>
            <a:r>
              <a:rPr lang="en-GB" dirty="0" err="1"/>
              <a:t>ofreció</a:t>
            </a:r>
            <a:r>
              <a:rPr lang="en-GB" dirty="0"/>
              <a:t> </a:t>
            </a:r>
            <a:r>
              <a:rPr lang="en-GB" dirty="0" err="1"/>
              <a:t>los</a:t>
            </a:r>
            <a:r>
              <a:rPr lang="en-GB" dirty="0"/>
              <a:t> </a:t>
            </a:r>
            <a:r>
              <a:rPr lang="en-GB" dirty="0" err="1"/>
              <a:t>mejores</a:t>
            </a:r>
            <a:r>
              <a:rPr lang="en-GB" dirty="0"/>
              <a:t> </a:t>
            </a:r>
            <a:r>
              <a:rPr lang="en-GB" dirty="0" err="1"/>
              <a:t>resultados</a:t>
            </a:r>
            <a:r>
              <a:rPr lang="en-GB" dirty="0"/>
              <a:t>.</a:t>
            </a:r>
          </a:p>
          <a:p>
            <a:pPr marL="742950" lvl="1" indent="-285750">
              <a:buFont typeface="Arial" panose="020B0604020202020204" pitchFamily="34" charset="0"/>
              <a:buChar char="•"/>
            </a:pPr>
            <a:r>
              <a:rPr lang="en-GB" dirty="0"/>
              <a:t>Se </a:t>
            </a:r>
            <a:r>
              <a:rPr lang="en-GB" dirty="0" err="1"/>
              <a:t>detectó</a:t>
            </a:r>
            <a:r>
              <a:rPr lang="en-GB" dirty="0"/>
              <a:t> </a:t>
            </a:r>
            <a:r>
              <a:rPr lang="en-GB" b="1" dirty="0" err="1"/>
              <a:t>ligero</a:t>
            </a:r>
            <a:r>
              <a:rPr lang="en-GB" b="1" dirty="0"/>
              <a:t> </a:t>
            </a:r>
            <a:r>
              <a:rPr lang="en-GB" b="1" dirty="0" err="1"/>
              <a:t>sobreajuste</a:t>
            </a:r>
            <a:r>
              <a:rPr lang="en-GB" dirty="0"/>
              <a:t>.</a:t>
            </a:r>
            <a:br>
              <a:rPr lang="en-GB" dirty="0"/>
            </a:br>
            <a:endParaRPr lang="en-GB" dirty="0"/>
          </a:p>
          <a:p>
            <a:r>
              <a:rPr lang="es-ES" sz="1200" i="1" dirty="0"/>
              <a:t>(Ver “Registros </a:t>
            </a:r>
            <a:r>
              <a:rPr lang="es-ES" sz="1200" i="1" dirty="0" err="1"/>
              <a:t>modelos.xlsx</a:t>
            </a:r>
            <a:r>
              <a:rPr lang="es-ES" sz="1200" i="1" dirty="0"/>
              <a:t>” evaluados en </a:t>
            </a:r>
            <a:r>
              <a:rPr lang="es-ES" sz="1200" i="1" dirty="0" err="1">
                <a:hlinkClick r:id="rId3"/>
              </a:rPr>
              <a:t>Github</a:t>
            </a:r>
            <a:r>
              <a:rPr lang="es-ES" sz="1200" i="1" dirty="0"/>
              <a:t>)</a:t>
            </a:r>
            <a:endParaRPr lang="ca-ES" sz="1200" i="1" dirty="0"/>
          </a:p>
        </p:txBody>
      </p:sp>
      <p:sp>
        <p:nvSpPr>
          <p:cNvPr id="10" name="Flecha: hacia la izquierda 9"/>
          <p:cNvSpPr/>
          <p:nvPr/>
        </p:nvSpPr>
        <p:spPr>
          <a:xfrm rot="1074322">
            <a:off x="6834155" y="2446835"/>
            <a:ext cx="1861339" cy="607846"/>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1200" dirty="0" err="1">
                <a:solidFill>
                  <a:srgbClr val="FF0000"/>
                </a:solidFill>
              </a:rPr>
              <a:t>Insufficient</a:t>
            </a:r>
            <a:r>
              <a:rPr lang="ca-ES" sz="1200" dirty="0">
                <a:solidFill>
                  <a:srgbClr val="FF0000"/>
                </a:solidFill>
              </a:rPr>
              <a:t> </a:t>
            </a:r>
            <a:r>
              <a:rPr lang="ca-ES" sz="1200" dirty="0" err="1">
                <a:solidFill>
                  <a:srgbClr val="FF0000"/>
                </a:solidFill>
              </a:rPr>
              <a:t>results</a:t>
            </a:r>
            <a:r>
              <a:rPr lang="ca-ES" sz="1200" dirty="0">
                <a:solidFill>
                  <a:srgbClr val="FF0000"/>
                </a:solidFill>
              </a:rPr>
              <a:t> F1&lt;0,5</a:t>
            </a:r>
          </a:p>
        </p:txBody>
      </p:sp>
      <p:sp>
        <p:nvSpPr>
          <p:cNvPr id="18" name="Flecha: hacia la izquierda 8"/>
          <p:cNvSpPr/>
          <p:nvPr/>
        </p:nvSpPr>
        <p:spPr>
          <a:xfrm rot="21098126">
            <a:off x="6953929" y="1317800"/>
            <a:ext cx="1411605" cy="401695"/>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ca-ES" sz="1200" dirty="0">
                <a:solidFill>
                  <a:schemeClr val="tx1"/>
                </a:solidFill>
              </a:rPr>
              <a:t>O</a:t>
            </a:r>
            <a:r>
              <a:rPr lang="ca-ES" sz="1200" dirty="0" err="1">
                <a:solidFill>
                  <a:schemeClr val="tx1"/>
                </a:solidFill>
              </a:rPr>
              <a:t>v</a:t>
            </a:r>
            <a:r>
              <a:rPr lang="en-US" altLang="ca-ES" sz="1200" dirty="0" err="1">
                <a:solidFill>
                  <a:schemeClr val="tx1"/>
                </a:solidFill>
              </a:rPr>
              <a:t>e</a:t>
            </a:r>
            <a:r>
              <a:rPr lang="ca-ES" sz="1200" dirty="0" err="1">
                <a:solidFill>
                  <a:schemeClr val="tx1"/>
                </a:solidFill>
              </a:rPr>
              <a:t>rfitting</a:t>
            </a:r>
          </a:p>
        </p:txBody>
      </p:sp>
      <p:graphicFrame>
        <p:nvGraphicFramePr>
          <p:cNvPr id="15" name="Diagram 14">
            <a:extLst>
              <a:ext uri="{FF2B5EF4-FFF2-40B4-BE49-F238E27FC236}">
                <a16:creationId xmlns:a16="http://schemas.microsoft.com/office/drawing/2014/main" id="{3C87FC02-D443-B500-1F46-D6A556E0E738}"/>
              </a:ext>
            </a:extLst>
          </p:cNvPr>
          <p:cNvGraphicFramePr/>
          <p:nvPr>
            <p:extLst>
              <p:ext uri="{D42A27DB-BD31-4B8C-83A1-F6EECF244321}">
                <p14:modId xmlns:p14="http://schemas.microsoft.com/office/powerpoint/2010/main" val="3846858244"/>
              </p:ext>
            </p:extLst>
          </p:nvPr>
        </p:nvGraphicFramePr>
        <p:xfrm>
          <a:off x="782760" y="1353106"/>
          <a:ext cx="1617045" cy="5727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16" name="Diagram 15">
            <a:extLst>
              <a:ext uri="{FF2B5EF4-FFF2-40B4-BE49-F238E27FC236}">
                <a16:creationId xmlns:a16="http://schemas.microsoft.com/office/drawing/2014/main" id="{FAAF9AA9-2E60-FD7F-66A3-2CAAAD442921}"/>
              </a:ext>
            </a:extLst>
          </p:cNvPr>
          <p:cNvGraphicFramePr/>
          <p:nvPr>
            <p:extLst>
              <p:ext uri="{D42A27DB-BD31-4B8C-83A1-F6EECF244321}">
                <p14:modId xmlns:p14="http://schemas.microsoft.com/office/powerpoint/2010/main" val="4176453887"/>
              </p:ext>
            </p:extLst>
          </p:nvPr>
        </p:nvGraphicFramePr>
        <p:xfrm>
          <a:off x="-51798" y="2004664"/>
          <a:ext cx="2451603" cy="53087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2" name="Left Arrow 1">
            <a:extLst>
              <a:ext uri="{FF2B5EF4-FFF2-40B4-BE49-F238E27FC236}">
                <a16:creationId xmlns:a16="http://schemas.microsoft.com/office/drawing/2014/main" id="{55941FCE-A230-D01C-1E66-60A61B21C5A3}"/>
              </a:ext>
            </a:extLst>
          </p:cNvPr>
          <p:cNvSpPr/>
          <p:nvPr/>
        </p:nvSpPr>
        <p:spPr>
          <a:xfrm>
            <a:off x="7098798" y="1771793"/>
            <a:ext cx="1916610" cy="45382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Cross Validation</a:t>
            </a:r>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642998" y="421824"/>
            <a:ext cx="7704000" cy="572700"/>
          </a:xfrm>
          <a:prstGeom prst="rect">
            <a:avLst/>
          </a:prstGeom>
        </p:spPr>
        <p:txBody>
          <a:bodyPr spcFirstLastPara="1" wrap="square" lIns="91425" tIns="91425" rIns="91425" bIns="91425" anchor="t" anchorCtr="0">
            <a:noAutofit/>
          </a:bodyPr>
          <a:lstStyle/>
          <a:p>
            <a:pPr lvl="0"/>
            <a:r>
              <a:rPr lang="es-ES" dirty="0"/>
              <a:t>CONCLUSIONES &amp; PRÓXIMOS PASOS</a:t>
            </a:r>
            <a:endParaRPr dirty="0"/>
          </a:p>
        </p:txBody>
      </p:sp>
      <p:pic>
        <p:nvPicPr>
          <p:cNvPr id="2" name="Picture 1">
            <a:extLst>
              <a:ext uri="{FF2B5EF4-FFF2-40B4-BE49-F238E27FC236}">
                <a16:creationId xmlns:a16="http://schemas.microsoft.com/office/drawing/2014/main" id="{633856C8-457E-85C9-545D-9133F826B174}"/>
              </a:ext>
            </a:extLst>
          </p:cNvPr>
          <p:cNvPicPr>
            <a:picLocks noChangeAspect="1"/>
          </p:cNvPicPr>
          <p:nvPr/>
        </p:nvPicPr>
        <p:blipFill>
          <a:blip r:embed="rId3"/>
          <a:stretch>
            <a:fillRect/>
          </a:stretch>
        </p:blipFill>
        <p:spPr>
          <a:xfrm>
            <a:off x="1625700" y="1115036"/>
            <a:ext cx="5562600" cy="2356013"/>
          </a:xfrm>
          <a:prstGeom prst="rect">
            <a:avLst/>
          </a:prstGeom>
        </p:spPr>
      </p:pic>
      <p:sp>
        <p:nvSpPr>
          <p:cNvPr id="3" name="TextBox 2">
            <a:extLst>
              <a:ext uri="{FF2B5EF4-FFF2-40B4-BE49-F238E27FC236}">
                <a16:creationId xmlns:a16="http://schemas.microsoft.com/office/drawing/2014/main" id="{CBB543AC-28C6-CB87-2130-192D13526D85}"/>
              </a:ext>
            </a:extLst>
          </p:cNvPr>
          <p:cNvSpPr txBox="1"/>
          <p:nvPr/>
        </p:nvSpPr>
        <p:spPr>
          <a:xfrm>
            <a:off x="2687220" y="1150060"/>
            <a:ext cx="564578" cy="307777"/>
          </a:xfrm>
          <a:prstGeom prst="rect">
            <a:avLst/>
          </a:prstGeom>
          <a:noFill/>
        </p:spPr>
        <p:txBody>
          <a:bodyPr wrap="none" rtlCol="0">
            <a:spAutoFit/>
          </a:bodyPr>
          <a:lstStyle/>
          <a:p>
            <a:r>
              <a:rPr lang="en-ES" dirty="0"/>
              <a:t>KNN</a:t>
            </a:r>
          </a:p>
        </p:txBody>
      </p:sp>
      <p:sp>
        <p:nvSpPr>
          <p:cNvPr id="5" name="TextBox 4">
            <a:extLst>
              <a:ext uri="{FF2B5EF4-FFF2-40B4-BE49-F238E27FC236}">
                <a16:creationId xmlns:a16="http://schemas.microsoft.com/office/drawing/2014/main" id="{1B72F570-8C4E-D03D-19B6-735E5B05BD2C}"/>
              </a:ext>
            </a:extLst>
          </p:cNvPr>
          <p:cNvSpPr txBox="1"/>
          <p:nvPr/>
        </p:nvSpPr>
        <p:spPr>
          <a:xfrm>
            <a:off x="5291719" y="1111741"/>
            <a:ext cx="1200970" cy="307777"/>
          </a:xfrm>
          <a:prstGeom prst="rect">
            <a:avLst/>
          </a:prstGeom>
          <a:noFill/>
        </p:spPr>
        <p:txBody>
          <a:bodyPr wrap="none" rtlCol="0">
            <a:spAutoFit/>
          </a:bodyPr>
          <a:lstStyle/>
          <a:p>
            <a:r>
              <a:rPr lang="en-ES" dirty="0"/>
              <a:t>Na</a:t>
            </a:r>
            <a:r>
              <a:rPr lang="en-GB" dirty="0" err="1"/>
              <a:t>ï</a:t>
            </a:r>
            <a:r>
              <a:rPr lang="en-ES" dirty="0"/>
              <a:t>ve Bayes</a:t>
            </a:r>
          </a:p>
        </p:txBody>
      </p:sp>
      <p:sp>
        <p:nvSpPr>
          <p:cNvPr id="7" name="TextBox 6">
            <a:extLst>
              <a:ext uri="{FF2B5EF4-FFF2-40B4-BE49-F238E27FC236}">
                <a16:creationId xmlns:a16="http://schemas.microsoft.com/office/drawing/2014/main" id="{DD0C6F00-4574-F599-71F8-148D1AC02A0D}"/>
              </a:ext>
            </a:extLst>
          </p:cNvPr>
          <p:cNvSpPr txBox="1"/>
          <p:nvPr/>
        </p:nvSpPr>
        <p:spPr>
          <a:xfrm>
            <a:off x="2410265" y="3474344"/>
            <a:ext cx="3538148" cy="307777"/>
          </a:xfrm>
          <a:prstGeom prst="rect">
            <a:avLst/>
          </a:prstGeom>
          <a:noFill/>
        </p:spPr>
        <p:txBody>
          <a:bodyPr wrap="none" rtlCol="0">
            <a:spAutoFit/>
          </a:bodyPr>
          <a:lstStyle/>
          <a:p>
            <a:r>
              <a:rPr lang="en-ES" dirty="0">
                <a:solidFill>
                  <a:srgbClr val="00B050"/>
                </a:solidFill>
              </a:rPr>
              <a:t>¡NECESITAMOS UN NUEVO ENFOQUE!</a:t>
            </a:r>
          </a:p>
        </p:txBody>
      </p:sp>
      <p:sp>
        <p:nvSpPr>
          <p:cNvPr id="4" name="TextBox 3">
            <a:extLst>
              <a:ext uri="{FF2B5EF4-FFF2-40B4-BE49-F238E27FC236}">
                <a16:creationId xmlns:a16="http://schemas.microsoft.com/office/drawing/2014/main" id="{CE81DE5E-6259-79DC-5572-F796569C1956}"/>
              </a:ext>
            </a:extLst>
          </p:cNvPr>
          <p:cNvSpPr txBox="1"/>
          <p:nvPr/>
        </p:nvSpPr>
        <p:spPr>
          <a:xfrm>
            <a:off x="80300" y="3782121"/>
            <a:ext cx="9063700" cy="1154162"/>
          </a:xfrm>
          <a:prstGeom prst="rect">
            <a:avLst/>
          </a:prstGeom>
          <a:noFill/>
        </p:spPr>
        <p:txBody>
          <a:bodyPr wrap="none" rtlCol="0">
            <a:spAutoFit/>
          </a:bodyPr>
          <a:lstStyle/>
          <a:p>
            <a:pPr marL="171450" indent="-171450">
              <a:buFont typeface="Arial" panose="020B0604020202020204" pitchFamily="34" charset="0"/>
              <a:buChar char="•"/>
            </a:pPr>
            <a:r>
              <a:rPr lang="en-GB" sz="1100" dirty="0"/>
              <a:t>Los </a:t>
            </a:r>
            <a:r>
              <a:rPr lang="en-GB" sz="1100" dirty="0" err="1"/>
              <a:t>modelos</a:t>
            </a:r>
            <a:r>
              <a:rPr lang="en-GB" sz="1100" dirty="0"/>
              <a:t> </a:t>
            </a:r>
            <a:r>
              <a:rPr lang="en-GB" sz="1100" dirty="0" err="1"/>
              <a:t>iniciales</a:t>
            </a:r>
            <a:r>
              <a:rPr lang="en-GB" sz="1100" dirty="0"/>
              <a:t> (</a:t>
            </a:r>
            <a:r>
              <a:rPr lang="en-GB" sz="1100" b="1" dirty="0"/>
              <a:t>KNN</a:t>
            </a:r>
            <a:r>
              <a:rPr lang="en-GB" sz="1100" dirty="0"/>
              <a:t> y </a:t>
            </a:r>
            <a:r>
              <a:rPr lang="en-GB" sz="1100" b="1" dirty="0"/>
              <a:t>Naive Bayes</a:t>
            </a:r>
            <a:r>
              <a:rPr lang="en-GB" sz="1100" dirty="0"/>
              <a:t>) </a:t>
            </a:r>
            <a:r>
              <a:rPr lang="en-GB" sz="1100" dirty="0" err="1"/>
              <a:t>mostraron</a:t>
            </a:r>
            <a:r>
              <a:rPr lang="en-GB" sz="1100" dirty="0"/>
              <a:t> </a:t>
            </a:r>
            <a:r>
              <a:rPr lang="en-GB" sz="1100" b="1" dirty="0"/>
              <a:t>bajo </a:t>
            </a:r>
            <a:r>
              <a:rPr lang="en-GB" sz="1100" b="1" dirty="0" err="1"/>
              <a:t>desempeño</a:t>
            </a:r>
            <a:r>
              <a:rPr lang="en-GB" sz="1100" b="1" dirty="0"/>
              <a:t> </a:t>
            </a:r>
            <a:r>
              <a:rPr lang="en-GB" sz="1100" b="1" dirty="0" err="1"/>
              <a:t>predictivo</a:t>
            </a:r>
            <a:r>
              <a:rPr lang="en-GB" sz="1100" dirty="0"/>
              <a:t> </a:t>
            </a:r>
            <a:r>
              <a:rPr lang="en-GB" sz="1100" dirty="0" err="1"/>
              <a:t>en</a:t>
            </a:r>
            <a:r>
              <a:rPr lang="en-GB" sz="1100" dirty="0"/>
              <a:t> la </a:t>
            </a:r>
            <a:r>
              <a:rPr lang="en-GB" sz="1100" dirty="0" err="1"/>
              <a:t>detección</a:t>
            </a:r>
            <a:r>
              <a:rPr lang="en-GB" sz="1100" dirty="0"/>
              <a:t> de </a:t>
            </a:r>
            <a:r>
              <a:rPr lang="en-GB" sz="1100" dirty="0" err="1"/>
              <a:t>clientes</a:t>
            </a:r>
            <a:r>
              <a:rPr lang="en-GB" sz="1100" dirty="0"/>
              <a:t> con </a:t>
            </a:r>
            <a:r>
              <a:rPr lang="en-GB" sz="1100" dirty="0" err="1"/>
              <a:t>riesgo</a:t>
            </a:r>
            <a:r>
              <a:rPr lang="en-GB" sz="1100" dirty="0"/>
              <a:t> de </a:t>
            </a:r>
            <a:r>
              <a:rPr lang="en-GB" sz="1100" i="1" dirty="0"/>
              <a:t>churn</a:t>
            </a:r>
            <a:r>
              <a:rPr lang="en-GB" sz="1100" dirty="0"/>
              <a:t>.</a:t>
            </a:r>
          </a:p>
          <a:p>
            <a:pPr marL="171450" indent="-171450">
              <a:buFont typeface="Arial" panose="020B0604020202020204" pitchFamily="34" charset="0"/>
              <a:buChar char="•"/>
            </a:pPr>
            <a:r>
              <a:rPr lang="en-GB" sz="1100" dirty="0"/>
              <a:t>Se </a:t>
            </a:r>
            <a:r>
              <a:rPr lang="en-GB" sz="1100" dirty="0" err="1"/>
              <a:t>concluye</a:t>
            </a:r>
            <a:r>
              <a:rPr lang="en-GB" sz="1100" dirty="0"/>
              <a:t> que </a:t>
            </a:r>
            <a:r>
              <a:rPr lang="en-GB" sz="1100" b="1" dirty="0" err="1"/>
              <a:t>estas</a:t>
            </a:r>
            <a:r>
              <a:rPr lang="en-GB" sz="1100" b="1" dirty="0"/>
              <a:t> </a:t>
            </a:r>
            <a:r>
              <a:rPr lang="en-GB" sz="1100" b="1" dirty="0" err="1"/>
              <a:t>técnicas</a:t>
            </a:r>
            <a:r>
              <a:rPr lang="en-GB" sz="1100" b="1" dirty="0"/>
              <a:t> no son las </a:t>
            </a:r>
            <a:r>
              <a:rPr lang="en-GB" sz="1100" b="1" dirty="0" err="1"/>
              <a:t>más</a:t>
            </a:r>
            <a:r>
              <a:rPr lang="en-GB" sz="1100" b="1" dirty="0"/>
              <a:t> </a:t>
            </a:r>
            <a:r>
              <a:rPr lang="en-GB" sz="1100" b="1" dirty="0" err="1"/>
              <a:t>adecuadas</a:t>
            </a:r>
            <a:r>
              <a:rPr lang="en-GB" sz="1100" dirty="0"/>
              <a:t> para </a:t>
            </a:r>
            <a:r>
              <a:rPr lang="en-GB" sz="1100" dirty="0" err="1"/>
              <a:t>capturar</a:t>
            </a:r>
            <a:r>
              <a:rPr lang="en-GB" sz="1100" dirty="0"/>
              <a:t> </a:t>
            </a:r>
            <a:r>
              <a:rPr lang="en-GB" sz="1100" dirty="0" err="1"/>
              <a:t>los</a:t>
            </a:r>
            <a:r>
              <a:rPr lang="en-GB" sz="1100" dirty="0"/>
              <a:t> </a:t>
            </a:r>
            <a:r>
              <a:rPr lang="en-GB" sz="1100" dirty="0" err="1"/>
              <a:t>patrones</a:t>
            </a:r>
            <a:r>
              <a:rPr lang="en-GB" sz="1100" dirty="0"/>
              <a:t> de </a:t>
            </a:r>
            <a:r>
              <a:rPr lang="en-GB" sz="1100" dirty="0" err="1"/>
              <a:t>abandono</a:t>
            </a:r>
            <a:r>
              <a:rPr lang="en-GB" sz="1100" dirty="0"/>
              <a:t> </a:t>
            </a:r>
            <a:r>
              <a:rPr lang="en-GB" sz="1100" dirty="0" err="1"/>
              <a:t>en</a:t>
            </a:r>
            <a:r>
              <a:rPr lang="en-GB" sz="1100" dirty="0"/>
              <a:t> </a:t>
            </a:r>
            <a:r>
              <a:rPr lang="en-GB" sz="1100" dirty="0" err="1"/>
              <a:t>los</a:t>
            </a:r>
            <a:r>
              <a:rPr lang="en-GB" sz="1100" dirty="0"/>
              <a:t> </a:t>
            </a:r>
            <a:r>
              <a:rPr lang="en-GB" sz="1100" dirty="0" err="1"/>
              <a:t>datos</a:t>
            </a:r>
            <a:r>
              <a:rPr lang="en-GB" sz="1100" dirty="0"/>
              <a:t>.</a:t>
            </a:r>
          </a:p>
          <a:p>
            <a:pPr marL="171450" indent="-171450">
              <a:buFont typeface="Arial" panose="020B0604020202020204" pitchFamily="34" charset="0"/>
              <a:buChar char="•"/>
            </a:pPr>
            <a:r>
              <a:rPr lang="en-GB" sz="1100" dirty="0"/>
              <a:t>Como </a:t>
            </a:r>
            <a:r>
              <a:rPr lang="en-GB" sz="1100" dirty="0" err="1"/>
              <a:t>siguiente</a:t>
            </a:r>
            <a:r>
              <a:rPr lang="en-GB" sz="1100" dirty="0"/>
              <a:t> paso, se </a:t>
            </a:r>
            <a:r>
              <a:rPr lang="en-GB" sz="1100" dirty="0" err="1"/>
              <a:t>propone</a:t>
            </a:r>
            <a:r>
              <a:rPr lang="en-GB" sz="1100" dirty="0"/>
              <a:t> </a:t>
            </a:r>
            <a:r>
              <a:rPr lang="en-GB" sz="1100" dirty="0" err="1"/>
              <a:t>implementar</a:t>
            </a:r>
            <a:r>
              <a:rPr lang="en-GB" sz="1100" dirty="0"/>
              <a:t> un </a:t>
            </a:r>
            <a:r>
              <a:rPr lang="en-GB" sz="1100" b="1" dirty="0"/>
              <a:t>árbol de </a:t>
            </a:r>
            <a:r>
              <a:rPr lang="en-GB" sz="1100" b="1" dirty="0" err="1"/>
              <a:t>decisión</a:t>
            </a:r>
            <a:r>
              <a:rPr lang="en-GB" sz="1100" dirty="0"/>
              <a:t> y </a:t>
            </a:r>
            <a:r>
              <a:rPr lang="en-GB" sz="1100" dirty="0" err="1"/>
              <a:t>evaluar</a:t>
            </a:r>
            <a:r>
              <a:rPr lang="en-GB" sz="1100" dirty="0"/>
              <a:t> </a:t>
            </a:r>
            <a:r>
              <a:rPr lang="en-GB" sz="1100" b="1" dirty="0" err="1"/>
              <a:t>otros</a:t>
            </a:r>
            <a:r>
              <a:rPr lang="en-GB" sz="1100" b="1" dirty="0"/>
              <a:t> </a:t>
            </a:r>
            <a:r>
              <a:rPr lang="en-GB" sz="1100" b="1" dirty="0" err="1"/>
              <a:t>algoritmos</a:t>
            </a:r>
            <a:r>
              <a:rPr lang="en-GB" sz="1100" b="1" dirty="0"/>
              <a:t> alternativos</a:t>
            </a:r>
            <a:r>
              <a:rPr lang="en-GB" sz="1100" dirty="0"/>
              <a:t> para </a:t>
            </a:r>
            <a:r>
              <a:rPr lang="en-GB" sz="1100" dirty="0" err="1"/>
              <a:t>optimizar</a:t>
            </a:r>
            <a:r>
              <a:rPr lang="en-GB" sz="1100" dirty="0"/>
              <a:t> la </a:t>
            </a:r>
            <a:r>
              <a:rPr lang="en-GB" sz="1100" dirty="0" err="1"/>
              <a:t>predicción</a:t>
            </a:r>
            <a:r>
              <a:rPr lang="en-GB" sz="1100" dirty="0"/>
              <a:t>.</a:t>
            </a:r>
          </a:p>
          <a:p>
            <a:pPr marL="171450" indent="-171450">
              <a:buFont typeface="Arial" panose="020B0604020202020204" pitchFamily="34" charset="0"/>
              <a:buChar char="•"/>
            </a:pPr>
            <a:r>
              <a:rPr lang="en-GB" sz="1100" b="1" dirty="0" err="1"/>
              <a:t>Mensaje</a:t>
            </a:r>
            <a:r>
              <a:rPr lang="en-GB" sz="1100" b="1" dirty="0"/>
              <a:t> para </a:t>
            </a:r>
            <a:r>
              <a:rPr lang="en-GB" sz="1100" b="1" dirty="0" err="1"/>
              <a:t>los</a:t>
            </a:r>
            <a:r>
              <a:rPr lang="en-GB" sz="1100" b="1" dirty="0"/>
              <a:t> stakeholders:</a:t>
            </a:r>
            <a:r>
              <a:rPr lang="en-GB" sz="1100" dirty="0"/>
              <a:t> </a:t>
            </a:r>
            <a:r>
              <a:rPr lang="en-GB" sz="1100" dirty="0" err="1"/>
              <a:t>mejorar</a:t>
            </a:r>
            <a:r>
              <a:rPr lang="en-GB" sz="1100" dirty="0"/>
              <a:t> la </a:t>
            </a:r>
            <a:r>
              <a:rPr lang="en-GB" sz="1100" dirty="0" err="1"/>
              <a:t>capacidad</a:t>
            </a:r>
            <a:r>
              <a:rPr lang="en-GB" sz="1100" dirty="0"/>
              <a:t> </a:t>
            </a:r>
            <a:r>
              <a:rPr lang="en-GB" sz="1100" dirty="0" err="1"/>
              <a:t>predictiva</a:t>
            </a:r>
            <a:r>
              <a:rPr lang="en-GB" sz="1100" dirty="0"/>
              <a:t> </a:t>
            </a:r>
            <a:r>
              <a:rPr lang="en-GB" sz="1100" dirty="0" err="1"/>
              <a:t>permitirá</a:t>
            </a:r>
            <a:r>
              <a:rPr lang="en-GB" sz="1100" dirty="0"/>
              <a:t> </a:t>
            </a:r>
            <a:r>
              <a:rPr lang="en-GB" sz="1100" b="1" dirty="0" err="1"/>
              <a:t>anticipar</a:t>
            </a:r>
            <a:r>
              <a:rPr lang="en-GB" sz="1100" b="1" dirty="0"/>
              <a:t> </a:t>
            </a:r>
            <a:r>
              <a:rPr lang="en-GB" sz="1100" b="1" dirty="0" err="1"/>
              <a:t>el</a:t>
            </a:r>
            <a:r>
              <a:rPr lang="en-GB" sz="1100" b="1" dirty="0"/>
              <a:t> </a:t>
            </a:r>
            <a:r>
              <a:rPr lang="en-GB" sz="1100" b="1" dirty="0" err="1"/>
              <a:t>abandono</a:t>
            </a:r>
            <a:r>
              <a:rPr lang="en-GB" sz="1100" b="1" dirty="0"/>
              <a:t> de </a:t>
            </a:r>
            <a:r>
              <a:rPr lang="en-GB" sz="1100" b="1" dirty="0" err="1"/>
              <a:t>clientes</a:t>
            </a:r>
            <a:r>
              <a:rPr lang="en-GB" sz="1100" dirty="0"/>
              <a:t> y </a:t>
            </a:r>
            <a:r>
              <a:rPr lang="en-GB" sz="1100" b="1" dirty="0" err="1"/>
              <a:t>diseñar</a:t>
            </a:r>
            <a:endParaRPr lang="en-GB" sz="1100" b="1" dirty="0"/>
          </a:p>
          <a:p>
            <a:r>
              <a:rPr lang="en-GB" sz="1100" b="1" dirty="0"/>
              <a:t>     </a:t>
            </a:r>
            <a:r>
              <a:rPr lang="en-GB" sz="1100" b="1" dirty="0" err="1"/>
              <a:t>estrategias</a:t>
            </a:r>
            <a:r>
              <a:rPr lang="en-GB" sz="1100" b="1" dirty="0"/>
              <a:t> </a:t>
            </a:r>
            <a:r>
              <a:rPr lang="en-GB" sz="1100" b="1" dirty="0" err="1"/>
              <a:t>proactivas</a:t>
            </a:r>
            <a:r>
              <a:rPr lang="en-GB" sz="1100" b="1" dirty="0"/>
              <a:t> de </a:t>
            </a:r>
            <a:r>
              <a:rPr lang="en-GB" sz="1100" b="1" dirty="0" err="1"/>
              <a:t>retención</a:t>
            </a:r>
            <a:r>
              <a:rPr lang="en-GB" sz="1100" dirty="0"/>
              <a:t>.</a:t>
            </a:r>
          </a:p>
          <a:p>
            <a:endParaRPr lang="en-ES" dirty="0"/>
          </a:p>
        </p:txBody>
      </p:sp>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Parcel</Template>
  <TotalTime>826</TotalTime>
  <Words>1545</Words>
  <Application>Microsoft Office PowerPoint</Application>
  <PresentationFormat>Presentación en pantalla (16:9)</PresentationFormat>
  <Paragraphs>241</Paragraphs>
  <Slides>15</Slides>
  <Notes>15</Notes>
  <HiddenSlides>1</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15</vt:i4>
      </vt:variant>
    </vt:vector>
  </HeadingPairs>
  <TitlesOfParts>
    <vt:vector size="25" baseType="lpstr">
      <vt:lpstr>ui-sans-serif</vt:lpstr>
      <vt:lpstr>Didact Gothic</vt:lpstr>
      <vt:lpstr>Raleway</vt:lpstr>
      <vt:lpstr>Wingdings</vt:lpstr>
      <vt:lpstr>Arial</vt:lpstr>
      <vt:lpstr>Libre Franklin</vt:lpstr>
      <vt:lpstr>Arial Black</vt:lpstr>
      <vt:lpstr>Poppins</vt:lpstr>
      <vt:lpstr>Arial Rounded MT Bold</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Resultados Clave (EDA) 2/2</vt:lpstr>
      <vt:lpstr>Tratamiento de Missings</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vt:lpstr>
      <vt:lpstr>CONCLUSIONES &amp;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Mario Aragón Valderrama</cp:lastModifiedBy>
  <cp:revision>15</cp:revision>
  <dcterms:modified xsi:type="dcterms:W3CDTF">2025-11-10T11:24:54Z</dcterms:modified>
</cp:coreProperties>
</file>