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7"/>
  </p:notesMasterIdLst>
  <p:sldIdLst>
    <p:sldId id="285" r:id="rId2"/>
    <p:sldId id="270" r:id="rId3"/>
    <p:sldId id="271" r:id="rId4"/>
    <p:sldId id="272" r:id="rId5"/>
    <p:sldId id="273" r:id="rId6"/>
    <p:sldId id="274" r:id="rId7"/>
    <p:sldId id="290" r:id="rId8"/>
    <p:sldId id="291" r:id="rId9"/>
    <p:sldId id="277" r:id="rId10"/>
    <p:sldId id="278" r:id="rId11"/>
    <p:sldId id="279" r:id="rId12"/>
    <p:sldId id="280" r:id="rId13"/>
    <p:sldId id="281" r:id="rId14"/>
    <p:sldId id="292" r:id="rId15"/>
    <p:sldId id="284" r:id="rId16"/>
  </p:sldIdLst>
  <p:sldSz cx="9144000" cy="5143500" type="screen16x9"/>
  <p:notesSz cx="6858000" cy="9144000"/>
  <p:embeddedFontLst>
    <p:embeddedFont>
      <p:font typeface="Arial Black" panose="020B0604020202020204" pitchFamily="34" charset="0"/>
      <p:bold r:id="rId18"/>
    </p:embeddedFont>
    <p:embeddedFont>
      <p:font typeface="Arial Rounded MT Bold" panose="020F0704030504030204" pitchFamily="34" charset="77"/>
      <p:regular r:id="rId19"/>
    </p:embeddedFont>
    <p:embeddedFont>
      <p:font typeface="Didact Gothic" pitchFamily="2" charset="0"/>
      <p:regular r:id="rId20"/>
    </p:embeddedFont>
    <p:embeddedFont>
      <p:font typeface="Libre Franklin" pitchFamily="2" charset="77"/>
      <p:regular r:id="rId21"/>
      <p:bold r:id="rId22"/>
      <p:italic r:id="rId23"/>
      <p:boldItalic r:id="rId24"/>
    </p:embeddedFont>
    <p:embeddedFont>
      <p:font typeface="Poppins" pitchFamily="2" charset="77"/>
      <p:regular r:id="rId25"/>
      <p:bold r:id="rId26"/>
      <p:italic r:id="rId27"/>
      <p:boldItalic r:id="rId28"/>
    </p:embeddedFont>
    <p:embeddedFont>
      <p:font typeface="Raleway" pitchFamily="2" charset="77"/>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85"/>
    <p:restoredTop sz="94638"/>
  </p:normalViewPr>
  <p:slideViewPr>
    <p:cSldViewPr snapToGrid="0">
      <p:cViewPr varScale="1">
        <p:scale>
          <a:sx n="167" d="100"/>
          <a:sy n="167" d="100"/>
        </p:scale>
        <p:origin x="168"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21" Type="http://schemas.openxmlformats.org/officeDocument/2006/relationships/font" Target="fonts/font4.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a:t>
          </a:r>
          <a:endParaRPr lang="es-ES" sz="800" b="1" dirty="0">
            <a:solidFill>
              <a:srgbClr val="002060"/>
            </a:solidFill>
          </a:endParaRPr>
        </a:p>
        <a:p>
          <a:r>
            <a:rPr lang="es-ES" sz="700" dirty="0"/>
            <a:t>	      KNN – </a:t>
          </a:r>
          <a:r>
            <a:rPr lang="es-ES" sz="700" dirty="0" err="1"/>
            <a:t>Siling</a:t>
          </a:r>
          <a:r>
            <a:rPr lang="es-ES" sz="700" dirty="0"/>
            <a:t> y Laura</a:t>
          </a:r>
        </a:p>
        <a:p>
          <a:r>
            <a:rPr lang="es-ES" sz="700" dirty="0"/>
            <a:t>                    </a:t>
          </a:r>
          <a:r>
            <a:rPr lang="es-ES" sz="700" dirty="0" err="1"/>
            <a:t>Naive</a:t>
          </a:r>
          <a:r>
            <a:rPr lang="es-ES" sz="700" dirty="0"/>
            <a:t> Bayes – Melissa y </a:t>
          </a:r>
          <a:r>
            <a:rPr lang="es-ES" sz="700" dirty="0" err="1"/>
            <a:t>Wenjia</a:t>
          </a:r>
          <a:endParaRPr lang="es-ES" sz="700" dirty="0"/>
        </a:p>
        <a:p>
          <a:r>
            <a:rPr lang="es-ES" sz="700" dirty="0"/>
            <a:t>                    </a:t>
          </a:r>
          <a:r>
            <a:rPr lang="es-ES" sz="700" dirty="0" err="1"/>
            <a:t>Testing</a:t>
          </a:r>
          <a:r>
            <a:rPr lang="es-ES" sz="700" dirty="0"/>
            <a:t> múltiples configuraciones de variables</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 qsCatId="simple" csTypeId="urn:microsoft.com/office/officeart/2005/8/colors/accent1_2" csCatId="accent1" phldr="1"/>
      <dgm:spPr/>
      <dgm:t>
        <a:bodyPr/>
        <a:lstStyle/>
        <a:p>
          <a:endParaRPr lang="en-GB"/>
        </a:p>
      </dgm:t>
    </dgm:pt>
    <dgm:pt modelId="{4B7548F0-E499-254C-9C9F-E02382EEB5E9}">
      <dgm:prSet/>
      <dgm:spPr/>
      <dgm:t>
        <a:bodyPr/>
        <a:lstStyle/>
        <a:p>
          <a:r>
            <a:rPr lang="es-ES" b="1" i="0" dirty="0"/>
            <a:t>9NN</a:t>
          </a:r>
          <a:endParaRPr lang="en-E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 loCatId="process" qsTypeId="urn:microsoft.com/office/officeart/2005/8/quickstyle/simple1" qsCatId="simple" csTypeId="urn:microsoft.com/office/officeart/2005/8/colors/accent1_2"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E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2410" custLinFactNeighborY="44"/>
      <dgm:spPr/>
    </dgm:pt>
  </dgm:ptLst>
  <dgm:cxnLst>
    <dgm:cxn modelId="{5CCA5F2A-4954-FF43-8687-2DC8E689D82F}" type="presOf" srcId="{06A8F40A-6895-D54A-891B-0666CD46C550}" destId="{801AE17F-C31F-CA43-BC84-69CE827808FD}" srcOrd="0" destOrd="0" presId="urn:microsoft.com/office/officeart/2005/8/layout/lProcess3"/>
    <dgm:cxn modelId="{556D64A5-CEA6-3040-B2B1-568B85FB8AA7}" type="presOf" srcId="{C1C1743D-B186-F748-A62C-FD5A8898EAD1}" destId="{259A7068-6F6F-9B4D-894D-518C62EBCA00}" srcOrd="0" destOrd="0" presId="urn:microsoft.com/office/officeart/2005/8/layout/lProcess3"/>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
    <dgm:cxn modelId="{FB235A8D-837A-A841-8A54-20EA48662ADC}" type="presParOf" srcId="{06EE72E4-7873-9447-9BF1-5DC88BD79E5B}" destId="{259A7068-6F6F-9B4D-894D-518C62EBCA00}" srcOrd="0" destOrd="0" presId="urn:microsoft.com/office/officeart/2005/8/layout/lProcess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y Laura</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y </a:t>
          </a:r>
          <a:r>
            <a:rPr lang="es-ES" sz="700" kern="1200" dirty="0" err="1"/>
            <a:t>Wenjia</a:t>
          </a:r>
          <a:endParaRPr lang="es-ES" sz="700" kern="1200" dirty="0"/>
        </a:p>
        <a:p>
          <a:pPr marL="0" lvl="0" indent="0" algn="l" defTabSz="355600">
            <a:lnSpc>
              <a:spcPct val="90000"/>
            </a:lnSpc>
            <a:spcBef>
              <a:spcPct val="0"/>
            </a:spcBef>
            <a:spcAft>
              <a:spcPct val="35000"/>
            </a:spcAft>
            <a:buNone/>
          </a:pPr>
          <a:r>
            <a:rPr lang="es-ES" sz="700" kern="1200" dirty="0"/>
            <a:t>                    </a:t>
          </a:r>
          <a:r>
            <a:rPr lang="es-ES" sz="700" kern="1200" dirty="0" err="1"/>
            <a:t>Testing</a:t>
          </a:r>
          <a:r>
            <a:rPr lang="es-ES" sz="700" kern="1200" dirty="0"/>
            <a:t> múltiples configuraciones de variables</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a:xfrm>
          <a:off x="0" y="0"/>
          <a:ext cx="161546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41339" rIns="41339" bIns="41339" numCol="1" spcCol="1270" anchor="ctr" anchorCtr="0">
          <a:noAutofit/>
        </a:bodyPr>
        <a:lstStyle/>
        <a:p>
          <a:pPr marL="0" lvl="0" indent="0" algn="ctr" defTabSz="1377950">
            <a:lnSpc>
              <a:spcPct val="90000"/>
            </a:lnSpc>
            <a:spcBef>
              <a:spcPct val="0"/>
            </a:spcBef>
            <a:spcAft>
              <a:spcPct val="35000"/>
            </a:spcAft>
            <a:buNone/>
          </a:pPr>
          <a:r>
            <a:rPr lang="es-ES" sz="3100" b="1" i="0" kern="1200" dirty="0"/>
            <a:t>9NN</a:t>
          </a:r>
          <a:endParaRPr lang="en-ES" sz="3100" kern="1200" dirty="0"/>
        </a:p>
      </dsp:txBody>
      <dsp:txXfrm>
        <a:off x="286350" y="0"/>
        <a:ext cx="104276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a:xfrm>
          <a:off x="593782" y="701"/>
          <a:ext cx="1820148" cy="529933"/>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s-ES" sz="1900" b="1" i="0" kern="1200" dirty="0" err="1"/>
            <a:t>Naive</a:t>
          </a:r>
          <a:r>
            <a:rPr lang="es-ES" sz="1900" b="1" i="0" kern="1200" dirty="0"/>
            <a:t> bayes</a:t>
          </a:r>
          <a:endParaRPr lang="en-ES" sz="1900" kern="1200" dirty="0"/>
        </a:p>
      </dsp:txBody>
      <dsp:txXfrm>
        <a:off x="858749" y="701"/>
        <a:ext cx="1290215" cy="529933"/>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59820B26-AA19-A094-D8E3-7F42E68FE30E}"/>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8157F4D-12C7-6B4B-C378-F6CC2A6BF07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E3FE745A-9DB6-8F30-15C1-2A4BF20C3D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239045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E712297-7568-3729-6473-F9FC483D3C0A}"/>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33E3917D-884B-6864-A41F-BA0A081BB7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14A1270-1F1A-8795-C7F7-2B597898F0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19258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62"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5.sv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jpeg"/><Relationship Id="rId4" Type="http://schemas.openxmlformats.org/officeDocument/2006/relationships/image" Target="../media/image34.jpeg"/></Relationships>
</file>

<file path=ppt/slides/_rels/slide14.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a:extLst>
              <a:ext uri="{FF2B5EF4-FFF2-40B4-BE49-F238E27FC236}">
                <a16:creationId xmlns:a16="http://schemas.microsoft.com/office/drawing/2014/main" id="{4190149F-5BE5-2724-2BF0-29C1E8FFDF3D}"/>
              </a:ext>
            </a:extLst>
          </p:cNvPr>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a:extLst>
              <a:ext uri="{FF2B5EF4-FFF2-40B4-BE49-F238E27FC236}">
                <a16:creationId xmlns:a16="http://schemas.microsoft.com/office/drawing/2014/main" id="{2406FEDD-85BD-5DD4-065C-516FA724A815}"/>
              </a:ext>
            </a:extLst>
          </p:cNvPr>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a:extLst>
              <a:ext uri="{FF2B5EF4-FFF2-40B4-BE49-F238E27FC236}">
                <a16:creationId xmlns:a16="http://schemas.microsoft.com/office/drawing/2014/main" id="{792EB573-F103-5ABA-06F9-E7F7227DCADD}"/>
              </a:ext>
            </a:extLst>
          </p:cNvPr>
          <p:cNvGraphicFramePr>
            <a:graphicFrameLocks noGrp="1"/>
          </p:cNvGraphicFramePr>
          <p:nvPr>
            <p:extLst>
              <p:ext uri="{D42A27DB-BD31-4B8C-83A1-F6EECF244321}">
                <p14:modId xmlns:p14="http://schemas.microsoft.com/office/powerpoint/2010/main" val="246548948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 / Recall</a:t>
                      </a:r>
                      <a:br>
                        <a:rPr dirty="0"/>
                      </a:br>
                      <a:r>
                        <a:rPr dirty="0"/>
                        <a:t>• 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a:extLst>
              <a:ext uri="{FF2B5EF4-FFF2-40B4-BE49-F238E27FC236}">
                <a16:creationId xmlns:a16="http://schemas.microsoft.com/office/drawing/2014/main" id="{0F658CDA-9847-DA7E-FDD6-1BC6CE6CDF57}"/>
              </a:ext>
            </a:extLst>
          </p:cNvPr>
          <p:cNvCxnSpPr>
            <a:cxnSpLocks/>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a:extLst>
              <a:ext uri="{FF2B5EF4-FFF2-40B4-BE49-F238E27FC236}">
                <a16:creationId xmlns:a16="http://schemas.microsoft.com/office/drawing/2014/main" id="{6664B0D6-20C8-9600-1FDB-D0932C2A16BC}"/>
              </a:ext>
            </a:extLst>
          </p:cNvPr>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2616305180"/>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720000" y="1209851"/>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1031051"/>
          </a:xfrm>
          <a:prstGeom prst="rect">
            <a:avLst/>
          </a:prstGeom>
          <a:noFill/>
        </p:spPr>
        <p:txBody>
          <a:bodyPr wrap="square" rtlCol="0">
            <a:spAutoFit/>
          </a:bodyPr>
          <a:lstStyle/>
          <a:p>
            <a:r>
              <a:rPr lang="en-GB" sz="1100" dirty="0"/>
              <a:t>Entre las variables </a:t>
            </a:r>
            <a:r>
              <a:rPr lang="en-GB" sz="1100" dirty="0" err="1"/>
              <a:t>numéricas</a:t>
            </a:r>
            <a:r>
              <a:rPr lang="en-GB" sz="1100" dirty="0"/>
              <a:t> se </a:t>
            </a:r>
            <a:r>
              <a:rPr lang="en-GB" sz="1100" dirty="0" err="1"/>
              <a:t>han</a:t>
            </a:r>
            <a:r>
              <a:rPr lang="en-GB" sz="1100" dirty="0"/>
              <a:t> </a:t>
            </a:r>
            <a:r>
              <a:rPr lang="en-GB" sz="1100" dirty="0" err="1"/>
              <a:t>identificado</a:t>
            </a:r>
            <a:r>
              <a:rPr lang="en-GB" sz="1100" dirty="0"/>
              <a:t> </a:t>
            </a:r>
            <a:r>
              <a:rPr lang="en-GB" sz="1100" dirty="0" err="1"/>
              <a:t>correlaciones</a:t>
            </a:r>
            <a:r>
              <a:rPr lang="en-GB" sz="1100" dirty="0"/>
              <a:t> </a:t>
            </a:r>
            <a:r>
              <a:rPr lang="en-GB" sz="1100" dirty="0" err="1"/>
              <a:t>significativas</a:t>
            </a:r>
            <a:r>
              <a:rPr lang="en-GB" sz="1100" dirty="0"/>
              <a:t> entre</a:t>
            </a:r>
          </a:p>
          <a:p>
            <a:endParaRPr lang="en-GB" sz="1100" dirty="0"/>
          </a:p>
          <a:p>
            <a:r>
              <a:rPr lang="es-ES" b="1" dirty="0">
                <a:solidFill>
                  <a:srgbClr val="0070C0"/>
                </a:solidFill>
              </a:rPr>
              <a:t>número de quejas – satisfacción (</a:t>
            </a:r>
            <a:r>
              <a:rPr lang="en-GB" b="1" dirty="0">
                <a:solidFill>
                  <a:srgbClr val="0070C0"/>
                </a:solidFill>
              </a:rPr>
              <a:t>r = -0.31)</a:t>
            </a:r>
            <a:endParaRPr lang="es-ES" b="1" dirty="0">
              <a:solidFill>
                <a:srgbClr val="0070C0"/>
              </a:solidFill>
            </a:endParaRPr>
          </a:p>
          <a:p>
            <a:r>
              <a:rPr lang="es-ES" b="1" dirty="0">
                <a:solidFill>
                  <a:srgbClr val="00B050"/>
                </a:solidFill>
              </a:rPr>
              <a:t>número de productos – balance (r = -0.69)</a:t>
            </a:r>
            <a:endParaRPr lang="es-ES" dirty="0"/>
          </a:p>
        </p:txBody>
      </p:sp>
      <p:pic>
        <p:nvPicPr>
          <p:cNvPr id="6" name="Imagen 5">
            <a:extLst>
              <a:ext uri="{FF2B5EF4-FFF2-40B4-BE49-F238E27FC236}">
                <a16:creationId xmlns:a16="http://schemas.microsoft.com/office/drawing/2014/main" id="{C419C444-B510-41D1-18DA-A0EDA21E4FC5}"/>
              </a:ext>
            </a:extLst>
          </p:cNvPr>
          <p:cNvPicPr>
            <a:picLocks noChangeAspect="1"/>
          </p:cNvPicPr>
          <p:nvPr/>
        </p:nvPicPr>
        <p:blipFill>
          <a:blip r:embed="rId4"/>
          <a:stretch>
            <a:fillRect/>
          </a:stretch>
        </p:blipFill>
        <p:spPr>
          <a:xfrm>
            <a:off x="860608" y="4046709"/>
            <a:ext cx="3496237" cy="1114581"/>
          </a:xfrm>
          <a:prstGeom prst="rect">
            <a:avLst/>
          </a:prstGeom>
        </p:spPr>
      </p:pic>
      <p:pic>
        <p:nvPicPr>
          <p:cNvPr id="8" name="Imagen 7">
            <a:extLst>
              <a:ext uri="{FF2B5EF4-FFF2-40B4-BE49-F238E27FC236}">
                <a16:creationId xmlns:a16="http://schemas.microsoft.com/office/drawing/2014/main" id="{F191712F-AF11-545F-6745-913AE7E68860}"/>
              </a:ext>
            </a:extLst>
          </p:cNvPr>
          <p:cNvPicPr>
            <a:picLocks noChangeAspect="1"/>
          </p:cNvPicPr>
          <p:nvPr/>
        </p:nvPicPr>
        <p:blipFill>
          <a:blip r:embed="rId5"/>
          <a:stretch>
            <a:fillRect/>
          </a:stretch>
        </p:blipFill>
        <p:spPr>
          <a:xfrm>
            <a:off x="913040" y="3122220"/>
            <a:ext cx="1695687" cy="952633"/>
          </a:xfrm>
          <a:prstGeom prst="rect">
            <a:avLst/>
          </a:prstGeom>
        </p:spPr>
      </p:pic>
      <p:sp>
        <p:nvSpPr>
          <p:cNvPr id="9" name="CuadroTexto 8">
            <a:extLst>
              <a:ext uri="{FF2B5EF4-FFF2-40B4-BE49-F238E27FC236}">
                <a16:creationId xmlns:a16="http://schemas.microsoft.com/office/drawing/2014/main" id="{DF775A01-8C66-64FB-3CC2-F9073BE005FF}"/>
              </a:ext>
            </a:extLst>
          </p:cNvPr>
          <p:cNvSpPr txBox="1"/>
          <p:nvPr/>
        </p:nvSpPr>
        <p:spPr>
          <a:xfrm>
            <a:off x="4356845" y="3077091"/>
            <a:ext cx="4628648" cy="2123658"/>
          </a:xfrm>
          <a:prstGeom prst="rect">
            <a:avLst/>
          </a:prstGeom>
          <a:noFill/>
        </p:spPr>
        <p:txBody>
          <a:bodyPr wrap="square" rtlCol="0">
            <a:spAutoFit/>
          </a:bodyPr>
          <a:lstStyle/>
          <a:p>
            <a:r>
              <a:rPr lang="es-ES" sz="1200" b="1" dirty="0"/>
              <a:t>Respecto a un análisis bivariante, (</a:t>
            </a:r>
            <a:r>
              <a:rPr lang="es-ES" sz="1200" b="1" dirty="0" err="1"/>
              <a:t>Exited</a:t>
            </a:r>
            <a:r>
              <a:rPr lang="es-ES" sz="1200" b="1" dirty="0"/>
              <a:t> vs </a:t>
            </a:r>
            <a:r>
              <a:rPr lang="es-ES" sz="1200" b="1" dirty="0" err="1"/>
              <a:t>var.categóricas</a:t>
            </a:r>
            <a:r>
              <a:rPr lang="es-ES" sz="1200" b="1" dirty="0"/>
              <a:t>) </a:t>
            </a:r>
          </a:p>
          <a:p>
            <a:r>
              <a:rPr lang="en-GB" sz="1200" dirty="0"/>
              <a:t>Se </a:t>
            </a:r>
            <a:r>
              <a:rPr lang="en-GB" sz="1200" dirty="0" err="1"/>
              <a:t>han</a:t>
            </a:r>
            <a:r>
              <a:rPr lang="en-GB" sz="1200" dirty="0"/>
              <a:t> </a:t>
            </a:r>
            <a:r>
              <a:rPr lang="en-GB" sz="1200" dirty="0" err="1"/>
              <a:t>detectado</a:t>
            </a:r>
            <a:r>
              <a:rPr lang="en-GB" sz="1200" dirty="0"/>
              <a:t> </a:t>
            </a:r>
            <a:r>
              <a:rPr lang="en-GB" sz="1200" dirty="0" err="1"/>
              <a:t>diferencias</a:t>
            </a:r>
            <a:r>
              <a:rPr lang="en-GB" sz="1200" dirty="0"/>
              <a:t> </a:t>
            </a:r>
            <a:r>
              <a:rPr lang="en-GB" sz="1200" dirty="0" err="1"/>
              <a:t>proporcionales</a:t>
            </a:r>
            <a:r>
              <a:rPr lang="en-GB" sz="1200" dirty="0"/>
              <a:t> </a:t>
            </a:r>
            <a:r>
              <a:rPr lang="en-GB" sz="1200" dirty="0" err="1"/>
              <a:t>significativas</a:t>
            </a:r>
            <a:r>
              <a:rPr lang="en-GB" sz="1200" dirty="0"/>
              <a:t> </a:t>
            </a:r>
            <a:r>
              <a:rPr lang="en-GB" sz="1200" dirty="0" err="1"/>
              <a:t>en</a:t>
            </a:r>
            <a:endParaRPr lang="en-GB" sz="1200" dirty="0"/>
          </a:p>
          <a:p>
            <a:pPr marL="171450" indent="-171450">
              <a:buFont typeface="Arial" panose="020B0604020202020204" pitchFamily="34" charset="0"/>
              <a:buChar char="•"/>
            </a:pPr>
            <a:r>
              <a:rPr lang="en-ES" altLang="en-ES" sz="1200" dirty="0">
                <a:solidFill>
                  <a:schemeClr val="tx1"/>
                </a:solidFill>
                <a:latin typeface="Arial" panose="020B0604020202020204" pitchFamily="34" charset="0"/>
              </a:rPr>
              <a:t>Geography </a:t>
            </a:r>
          </a:p>
          <a:p>
            <a:pPr marL="171450" indent="-171450">
              <a:buFont typeface="Arial" panose="020B0604020202020204" pitchFamily="34" charset="0"/>
              <a:buChar char="•"/>
            </a:pPr>
            <a:r>
              <a:rPr lang="es-ES" sz="1200" dirty="0" err="1"/>
              <a:t>Gender</a:t>
            </a:r>
            <a:endParaRPr lang="es-ES" sz="1200" dirty="0"/>
          </a:p>
          <a:p>
            <a:pPr marL="171450" indent="-171450">
              <a:buFont typeface="Arial" panose="020B0604020202020204" pitchFamily="34" charset="0"/>
              <a:buChar char="•"/>
            </a:pPr>
            <a:r>
              <a:rPr lang="es-ES" sz="1200" dirty="0" err="1"/>
              <a:t>IsActiveMemeber</a:t>
            </a:r>
            <a:endParaRPr lang="es-ES" sz="1200" dirty="0"/>
          </a:p>
          <a:p>
            <a:r>
              <a:rPr lang="es-ES" sz="1200" dirty="0"/>
              <a:t>                </a:t>
            </a:r>
          </a:p>
          <a:p>
            <a:r>
              <a:rPr lang="en-GB" sz="1200" dirty="0"/>
              <a:t>                Tests de </a:t>
            </a:r>
            <a:r>
              <a:rPr lang="en-GB" sz="1200" dirty="0" err="1"/>
              <a:t>independencia</a:t>
            </a:r>
            <a:r>
              <a:rPr lang="en-GB" sz="1200" dirty="0"/>
              <a:t> (Chi-</a:t>
            </a:r>
            <a:r>
              <a:rPr lang="en-GB" sz="1200" dirty="0" err="1"/>
              <a:t>cuadrado</a:t>
            </a:r>
            <a:r>
              <a:rPr lang="en-GB" sz="1200" dirty="0"/>
              <a:t>)</a:t>
            </a:r>
            <a:r>
              <a:rPr lang="es-ES" sz="1200" dirty="0"/>
              <a:t>           </a:t>
            </a:r>
          </a:p>
          <a:p>
            <a:r>
              <a:rPr lang="es-ES" sz="1200" dirty="0"/>
              <a:t> </a:t>
            </a:r>
          </a:p>
          <a:p>
            <a:endParaRPr lang="es-ES" sz="1200" dirty="0"/>
          </a:p>
          <a:p>
            <a:endParaRPr lang="es-ES" sz="1200" dirty="0"/>
          </a:p>
          <a:p>
            <a:endParaRPr lang="es-ES" sz="1200" dirty="0"/>
          </a:p>
        </p:txBody>
      </p:sp>
      <p:pic>
        <p:nvPicPr>
          <p:cNvPr id="11" name="Imagen 10">
            <a:extLst>
              <a:ext uri="{FF2B5EF4-FFF2-40B4-BE49-F238E27FC236}">
                <a16:creationId xmlns:a16="http://schemas.microsoft.com/office/drawing/2014/main" id="{69979F9F-1699-FEEA-4104-C18227B154EA}"/>
              </a:ext>
            </a:extLst>
          </p:cNvPr>
          <p:cNvPicPr>
            <a:picLocks noChangeAspect="1"/>
          </p:cNvPicPr>
          <p:nvPr/>
        </p:nvPicPr>
        <p:blipFill>
          <a:blip r:embed="rId6"/>
          <a:stretch>
            <a:fillRect/>
          </a:stretch>
        </p:blipFill>
        <p:spPr>
          <a:xfrm>
            <a:off x="2545491" y="4046709"/>
            <a:ext cx="1706492" cy="1019914"/>
          </a:xfrm>
          <a:prstGeom prst="rect">
            <a:avLst/>
          </a:prstGeom>
        </p:spPr>
      </p:pic>
      <p:pic>
        <p:nvPicPr>
          <p:cNvPr id="13" name="Imagen 12">
            <a:extLst>
              <a:ext uri="{FF2B5EF4-FFF2-40B4-BE49-F238E27FC236}">
                <a16:creationId xmlns:a16="http://schemas.microsoft.com/office/drawing/2014/main" id="{B57E5F5A-38EB-81A4-5B57-E486F1B32098}"/>
              </a:ext>
            </a:extLst>
          </p:cNvPr>
          <p:cNvPicPr>
            <a:picLocks noChangeAspect="1"/>
          </p:cNvPicPr>
          <p:nvPr/>
        </p:nvPicPr>
        <p:blipFill>
          <a:blip r:embed="rId7"/>
          <a:stretch>
            <a:fillRect/>
          </a:stretch>
        </p:blipFill>
        <p:spPr>
          <a:xfrm>
            <a:off x="2552000" y="3122220"/>
            <a:ext cx="1804845" cy="1017824"/>
          </a:xfrm>
          <a:prstGeom prst="rect">
            <a:avLst/>
          </a:prstGeom>
        </p:spPr>
      </p:pic>
      <p:cxnSp>
        <p:nvCxnSpPr>
          <p:cNvPr id="5" name="Curved Connector 4">
            <a:extLst>
              <a:ext uri="{FF2B5EF4-FFF2-40B4-BE49-F238E27FC236}">
                <a16:creationId xmlns:a16="http://schemas.microsoft.com/office/drawing/2014/main" id="{ACB4AEF4-7734-6E9C-EF8D-E044C2E4D183}"/>
              </a:ext>
            </a:extLst>
          </p:cNvPr>
          <p:cNvCxnSpPr/>
          <p:nvPr/>
        </p:nvCxnSpPr>
        <p:spPr>
          <a:xfrm>
            <a:off x="2750288" y="1885507"/>
            <a:ext cx="1906772" cy="155944"/>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F7245195-70DF-C069-823F-B48FE94A48BB}"/>
              </a:ext>
            </a:extLst>
          </p:cNvPr>
          <p:cNvCxnSpPr/>
          <p:nvPr/>
        </p:nvCxnSpPr>
        <p:spPr>
          <a:xfrm flipV="1">
            <a:off x="3629247" y="2232837"/>
            <a:ext cx="1027813" cy="168598"/>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454349B8-B58B-8548-F0C1-A327E55F2878}"/>
              </a:ext>
            </a:extLst>
          </p:cNvPr>
          <p:cNvSpPr/>
          <p:nvPr/>
        </p:nvSpPr>
        <p:spPr>
          <a:xfrm>
            <a:off x="4572000" y="4225539"/>
            <a:ext cx="482009" cy="1994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r>
              <a:rPr lang="en-GB" dirty="0" err="1"/>
              <a:t>Resultados</a:t>
            </a:r>
            <a:r>
              <a:rPr lang="en-GB" dirty="0"/>
              <a:t> Clave </a:t>
            </a:r>
            <a:r>
              <a:rPr lang="es-ES" dirty="0"/>
              <a:t>(EDA)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364108" y="1380864"/>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734585" y="1441794"/>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5891456" y="1183710"/>
            <a:ext cx="2689411" cy="2000548"/>
          </a:xfrm>
          <a:prstGeom prst="rect">
            <a:avLst/>
          </a:prstGeom>
          <a:solidFill>
            <a:schemeClr val="lt1"/>
          </a:solidFill>
        </p:spPr>
        <p:txBody>
          <a:bodyPr wrap="square" lIns="90000" rtlCol="0">
            <a:spAutoFit/>
          </a:bodyPr>
          <a:lstStyle/>
          <a:p>
            <a:r>
              <a:rPr lang="es-ES" sz="1000" dirty="0"/>
              <a:t>Variables numéricas significativas </a:t>
            </a:r>
          </a:p>
          <a:p>
            <a:pPr marL="285750" indent="-285750">
              <a:buFontTx/>
              <a:buChar char="-"/>
            </a:pPr>
            <a:r>
              <a:rPr lang="es-ES" sz="1000" dirty="0"/>
              <a:t>Age</a:t>
            </a:r>
          </a:p>
          <a:p>
            <a:pPr marL="285750" indent="-285750">
              <a:buFontTx/>
              <a:buChar char="-"/>
            </a:pPr>
            <a:r>
              <a:rPr lang="es-ES" sz="1000" dirty="0"/>
              <a:t>Balance</a:t>
            </a:r>
          </a:p>
          <a:p>
            <a:endParaRPr lang="en-GB" sz="1000" dirty="0"/>
          </a:p>
          <a:p>
            <a:r>
              <a:rPr lang="en-GB" sz="1000" dirty="0" err="1"/>
              <a:t>Evitar</a:t>
            </a:r>
            <a:r>
              <a:rPr lang="en-GB" sz="1000" dirty="0"/>
              <a:t> </a:t>
            </a:r>
            <a:r>
              <a:rPr lang="en-GB" sz="1000" dirty="0" err="1"/>
              <a:t>multicolinealidad</a:t>
            </a:r>
            <a:endParaRPr lang="en-GB" sz="1000" dirty="0"/>
          </a:p>
          <a:p>
            <a:r>
              <a:rPr lang="en-GB" sz="1000" dirty="0"/>
              <a:t>• </a:t>
            </a:r>
            <a:r>
              <a:rPr lang="en-GB" sz="1000" dirty="0" err="1"/>
              <a:t>Aplicar</a:t>
            </a:r>
            <a:r>
              <a:rPr lang="en-GB" sz="1000" dirty="0"/>
              <a:t> </a:t>
            </a:r>
            <a:r>
              <a:rPr lang="en-GB" sz="1000" dirty="0" err="1"/>
              <a:t>técnicas</a:t>
            </a:r>
            <a:r>
              <a:rPr lang="en-GB" sz="1000" dirty="0"/>
              <a:t> de </a:t>
            </a:r>
            <a:r>
              <a:rPr lang="en-GB" sz="1000" dirty="0" err="1"/>
              <a:t>selección</a:t>
            </a:r>
            <a:r>
              <a:rPr lang="en-GB" sz="1000" dirty="0"/>
              <a:t> de features</a:t>
            </a:r>
          </a:p>
          <a:p>
            <a:r>
              <a:rPr lang="en-GB" sz="1000" dirty="0"/>
              <a:t>• </a:t>
            </a:r>
            <a:r>
              <a:rPr lang="en-GB" sz="1000" dirty="0" err="1"/>
              <a:t>Priorizar</a:t>
            </a:r>
            <a:r>
              <a:rPr lang="en-GB" sz="1000" dirty="0"/>
              <a:t> variables </a:t>
            </a:r>
            <a:r>
              <a:rPr lang="en-GB" sz="1000" dirty="0" err="1"/>
              <a:t>originales</a:t>
            </a:r>
            <a:r>
              <a:rPr lang="en-GB" sz="1000" dirty="0"/>
              <a:t> </a:t>
            </a:r>
            <a:r>
              <a:rPr lang="en-GB" sz="1000" dirty="0" err="1"/>
              <a:t>sobre</a:t>
            </a:r>
            <a:r>
              <a:rPr lang="en-GB" sz="1000" dirty="0"/>
              <a:t> </a:t>
            </a:r>
            <a:r>
              <a:rPr lang="en-GB" sz="1000" dirty="0" err="1"/>
              <a:t>derivadas</a:t>
            </a:r>
            <a:endParaRPr lang="en-GB" sz="1000" dirty="0"/>
          </a:p>
          <a:p>
            <a:r>
              <a:rPr lang="en-GB" sz="1000" b="1" dirty="0" err="1"/>
              <a:t>Segmentación</a:t>
            </a:r>
            <a:r>
              <a:rPr lang="en-GB" sz="1000" b="1" dirty="0"/>
              <a:t> </a:t>
            </a:r>
            <a:r>
              <a:rPr lang="en-GB" sz="1000" b="1" dirty="0" err="1"/>
              <a:t>Detectada</a:t>
            </a:r>
            <a:endParaRPr lang="en-GB" sz="1000" b="1" dirty="0"/>
          </a:p>
          <a:p>
            <a:r>
              <a:rPr lang="en-GB" sz="1000" dirty="0"/>
              <a:t>- </a:t>
            </a:r>
            <a:r>
              <a:rPr lang="en-GB" sz="1000" dirty="0" err="1"/>
              <a:t>Muestran</a:t>
            </a:r>
            <a:r>
              <a:rPr lang="en-GB" sz="1000" dirty="0"/>
              <a:t> </a:t>
            </a:r>
            <a:r>
              <a:rPr lang="en-GB" sz="1000" dirty="0" err="1"/>
              <a:t>patrones</a:t>
            </a:r>
            <a:r>
              <a:rPr lang="en-GB" sz="1000" dirty="0"/>
              <a:t> </a:t>
            </a:r>
            <a:r>
              <a:rPr lang="en-GB" sz="1000" dirty="0" err="1"/>
              <a:t>diferenciados</a:t>
            </a:r>
            <a:r>
              <a:rPr lang="en-GB" sz="1000" dirty="0"/>
              <a:t> </a:t>
            </a:r>
            <a:r>
              <a:rPr lang="en-GB" sz="1000" dirty="0" err="1"/>
              <a:t>según</a:t>
            </a:r>
            <a:r>
              <a:rPr lang="en-GB" sz="1000" dirty="0"/>
              <a:t> </a:t>
            </a:r>
            <a:r>
              <a:rPr lang="en-GB" sz="1000" b="1" dirty="0"/>
              <a:t>Exited</a:t>
            </a:r>
            <a:r>
              <a:rPr lang="en-GB" sz="1000" dirty="0"/>
              <a:t> → </a:t>
            </a:r>
            <a:r>
              <a:rPr lang="en-GB" sz="1000" dirty="0" err="1"/>
              <a:t>alta</a:t>
            </a:r>
            <a:r>
              <a:rPr lang="en-GB" sz="1000" dirty="0"/>
              <a:t> </a:t>
            </a:r>
            <a:r>
              <a:rPr lang="en-GB" sz="1000" dirty="0" err="1"/>
              <a:t>capacidad</a:t>
            </a:r>
            <a:r>
              <a:rPr lang="en-GB" sz="1000" dirty="0"/>
              <a:t> </a:t>
            </a:r>
            <a:r>
              <a:rPr lang="en-GB" sz="1000" dirty="0" err="1"/>
              <a:t>predictiva</a:t>
            </a:r>
            <a:endParaRPr lang="en-GB" sz="1000" dirty="0"/>
          </a:p>
          <a:p>
            <a:endParaRPr lang="es-ES" dirty="0"/>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5698820" y="3255768"/>
            <a:ext cx="2926080" cy="1169551"/>
          </a:xfrm>
          <a:prstGeom prst="rect">
            <a:avLst/>
          </a:prstGeom>
          <a:solidFill>
            <a:schemeClr val="accent2"/>
          </a:solidFill>
        </p:spPr>
        <p:txBody>
          <a:bodyPr wrap="square" rtlCol="0">
            <a:spAutoFit/>
          </a:bodyPr>
          <a:lstStyle/>
          <a:p>
            <a:r>
              <a:rPr lang="en-GB" dirty="0" err="1"/>
              <a:t>Algunas</a:t>
            </a:r>
            <a:r>
              <a:rPr lang="en-GB" dirty="0"/>
              <a:t> variables </a:t>
            </a:r>
            <a:r>
              <a:rPr lang="en-GB" dirty="0" err="1"/>
              <a:t>están</a:t>
            </a:r>
            <a:r>
              <a:rPr lang="en-GB" dirty="0"/>
              <a:t> </a:t>
            </a:r>
            <a:r>
              <a:rPr lang="en-GB" dirty="0" err="1"/>
              <a:t>relacionadas</a:t>
            </a:r>
            <a:r>
              <a:rPr lang="en-GB" dirty="0"/>
              <a:t> de forma artificial, </a:t>
            </a:r>
            <a:r>
              <a:rPr lang="en-GB" dirty="0" err="1"/>
              <a:t>ya</a:t>
            </a:r>
            <a:r>
              <a:rPr lang="en-GB" dirty="0"/>
              <a:t> </a:t>
            </a:r>
            <a:r>
              <a:rPr lang="en-GB" dirty="0" err="1"/>
              <a:t>que</a:t>
            </a:r>
            <a:r>
              <a:rPr lang="en-GB" dirty="0"/>
              <a:t> </a:t>
            </a:r>
            <a:r>
              <a:rPr lang="en-GB" dirty="0" err="1"/>
              <a:t>una</a:t>
            </a:r>
            <a:r>
              <a:rPr lang="en-GB" dirty="0"/>
              <a:t> </a:t>
            </a:r>
            <a:r>
              <a:rPr lang="en-GB" dirty="0" err="1"/>
              <a:t>deriva</a:t>
            </a:r>
            <a:r>
              <a:rPr lang="en-GB" dirty="0"/>
              <a:t> de </a:t>
            </a:r>
            <a:r>
              <a:rPr lang="en-GB" dirty="0" err="1"/>
              <a:t>otra</a:t>
            </a:r>
            <a:r>
              <a:rPr lang="en-GB" dirty="0"/>
              <a:t>; </a:t>
            </a:r>
            <a:r>
              <a:rPr lang="en-GB" dirty="0" err="1"/>
              <a:t>por</a:t>
            </a:r>
            <a:r>
              <a:rPr lang="en-GB" dirty="0"/>
              <a:t> </a:t>
            </a:r>
            <a:r>
              <a:rPr lang="en-GB" dirty="0" err="1"/>
              <a:t>ello</a:t>
            </a:r>
            <a:r>
              <a:rPr lang="en-GB" dirty="0"/>
              <a:t>, no </a:t>
            </a:r>
            <a:r>
              <a:rPr lang="en-GB" dirty="0" err="1"/>
              <a:t>pueden</a:t>
            </a:r>
            <a:r>
              <a:rPr lang="en-GB" dirty="0"/>
              <a:t> ser </a:t>
            </a:r>
            <a:r>
              <a:rPr lang="en-GB" dirty="0" err="1"/>
              <a:t>significativas</a:t>
            </a:r>
            <a:r>
              <a:rPr lang="en-GB" dirty="0"/>
              <a:t> al </a:t>
            </a:r>
            <a:r>
              <a:rPr lang="en-GB" dirty="0" err="1"/>
              <a:t>mismo</a:t>
            </a:r>
            <a:r>
              <a:rPr lang="en-GB" dirty="0"/>
              <a:t> </a:t>
            </a:r>
            <a:r>
              <a:rPr lang="en-GB" dirty="0" err="1"/>
              <a:t>tiempo</a:t>
            </a:r>
            <a:r>
              <a:rPr lang="en-GB" dirty="0"/>
              <a:t>.</a:t>
            </a:r>
            <a:endParaRPr lang="es-ES" dirty="0"/>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pic>
        <p:nvPicPr>
          <p:cNvPr id="4" name="Picture 3" descr="A black and white balance scale&#10;&#10;AI-generated content may be incorrect.">
            <a:extLst>
              <a:ext uri="{FF2B5EF4-FFF2-40B4-BE49-F238E27FC236}">
                <a16:creationId xmlns:a16="http://schemas.microsoft.com/office/drawing/2014/main" id="{13D621EE-205B-D93E-166E-144881D0EA80}"/>
              </a:ext>
            </a:extLst>
          </p:cNvPr>
          <p:cNvPicPr>
            <a:picLocks noChangeAspect="1"/>
          </p:cNvPicPr>
          <p:nvPr/>
        </p:nvPicPr>
        <p:blipFill>
          <a:blip r:embed="rId8"/>
          <a:stretch>
            <a:fillRect/>
          </a:stretch>
        </p:blipFill>
        <p:spPr>
          <a:xfrm>
            <a:off x="2632832" y="1622382"/>
            <a:ext cx="933999" cy="905696"/>
          </a:xfrm>
          <a:prstGeom prst="rect">
            <a:avLst/>
          </a:prstGeom>
        </p:spPr>
      </p:pic>
      <p:sp>
        <p:nvSpPr>
          <p:cNvPr id="7" name="TextBox 6">
            <a:extLst>
              <a:ext uri="{FF2B5EF4-FFF2-40B4-BE49-F238E27FC236}">
                <a16:creationId xmlns:a16="http://schemas.microsoft.com/office/drawing/2014/main" id="{A655FD26-B982-87C5-DF06-3F532B7F2DC6}"/>
              </a:ext>
            </a:extLst>
          </p:cNvPr>
          <p:cNvSpPr txBox="1"/>
          <p:nvPr/>
        </p:nvSpPr>
        <p:spPr>
          <a:xfrm>
            <a:off x="1907838" y="1138533"/>
            <a:ext cx="2383986" cy="307777"/>
          </a:xfrm>
          <a:prstGeom prst="rect">
            <a:avLst/>
          </a:prstGeom>
          <a:noFill/>
        </p:spPr>
        <p:txBody>
          <a:bodyPr wrap="none" rtlCol="0">
            <a:spAutoFit/>
          </a:bodyPr>
          <a:lstStyle/>
          <a:p>
            <a:r>
              <a:rPr lang="en-GB" dirty="0"/>
              <a:t>S</a:t>
            </a:r>
            <a:r>
              <a:rPr lang="en-ES" dirty="0"/>
              <a:t>eparación clara por Exited</a:t>
            </a:r>
          </a:p>
        </p:txBody>
      </p:sp>
      <p:sp>
        <p:nvSpPr>
          <p:cNvPr id="9" name="TextBox 8">
            <a:extLst>
              <a:ext uri="{FF2B5EF4-FFF2-40B4-BE49-F238E27FC236}">
                <a16:creationId xmlns:a16="http://schemas.microsoft.com/office/drawing/2014/main" id="{735269EF-2EBE-642D-98FA-E563E16D6C06}"/>
              </a:ext>
            </a:extLst>
          </p:cNvPr>
          <p:cNvSpPr txBox="1"/>
          <p:nvPr/>
        </p:nvSpPr>
        <p:spPr>
          <a:xfrm>
            <a:off x="400911" y="4355435"/>
            <a:ext cx="2908168" cy="307777"/>
          </a:xfrm>
          <a:prstGeom prst="rect">
            <a:avLst/>
          </a:prstGeom>
          <a:noFill/>
        </p:spPr>
        <p:txBody>
          <a:bodyPr wrap="none" rtlCol="0">
            <a:spAutoFit/>
          </a:bodyPr>
          <a:lstStyle/>
          <a:p>
            <a:r>
              <a:rPr lang="en-GB" b="1" dirty="0" err="1"/>
              <a:t>MaritalStatus</a:t>
            </a:r>
            <a:r>
              <a:rPr lang="en-GB" b="1" dirty="0"/>
              <a:t> ↔ </a:t>
            </a:r>
            <a:r>
              <a:rPr lang="en-GB" b="1" dirty="0" err="1"/>
              <a:t>EducationLevel</a:t>
            </a:r>
            <a:endParaRPr lang="en-ES" dirty="0"/>
          </a:p>
        </p:txBody>
      </p:sp>
      <p:sp>
        <p:nvSpPr>
          <p:cNvPr id="12" name="TextBox 11">
            <a:extLst>
              <a:ext uri="{FF2B5EF4-FFF2-40B4-BE49-F238E27FC236}">
                <a16:creationId xmlns:a16="http://schemas.microsoft.com/office/drawing/2014/main" id="{F60F9C31-DEE4-81DA-F297-2F845810FE30}"/>
              </a:ext>
            </a:extLst>
          </p:cNvPr>
          <p:cNvSpPr txBox="1"/>
          <p:nvPr/>
        </p:nvSpPr>
        <p:spPr>
          <a:xfrm>
            <a:off x="379179" y="4691981"/>
            <a:ext cx="3355406" cy="307777"/>
          </a:xfrm>
          <a:prstGeom prst="rect">
            <a:avLst/>
          </a:prstGeom>
          <a:noFill/>
        </p:spPr>
        <p:txBody>
          <a:bodyPr wrap="none" rtlCol="0">
            <a:spAutoFit/>
          </a:bodyPr>
          <a:lstStyle/>
          <a:p>
            <a:r>
              <a:rPr lang="en-GB" b="1" dirty="0" err="1"/>
              <a:t>SavingsAccountFlag</a:t>
            </a:r>
            <a:r>
              <a:rPr lang="en-GB" b="1" dirty="0"/>
              <a:t> ↔ </a:t>
            </a:r>
            <a:r>
              <a:rPr lang="en-GB" b="1" dirty="0" err="1"/>
              <a:t>MaritalStatus</a:t>
            </a:r>
            <a:endParaRPr lang="en-ES" dirty="0"/>
          </a:p>
        </p:txBody>
      </p:sp>
      <p:sp>
        <p:nvSpPr>
          <p:cNvPr id="15" name="TextBox 14">
            <a:extLst>
              <a:ext uri="{FF2B5EF4-FFF2-40B4-BE49-F238E27FC236}">
                <a16:creationId xmlns:a16="http://schemas.microsoft.com/office/drawing/2014/main" id="{77B2D105-8F00-228B-B13E-967360E901C0}"/>
              </a:ext>
            </a:extLst>
          </p:cNvPr>
          <p:cNvSpPr txBox="1"/>
          <p:nvPr/>
        </p:nvSpPr>
        <p:spPr>
          <a:xfrm>
            <a:off x="3734585" y="4465408"/>
            <a:ext cx="4572000" cy="307777"/>
          </a:xfrm>
          <a:prstGeom prst="rect">
            <a:avLst/>
          </a:prstGeom>
          <a:noFill/>
        </p:spPr>
        <p:txBody>
          <a:bodyPr wrap="square">
            <a:spAutoFit/>
          </a:bodyPr>
          <a:lstStyle/>
          <a:p>
            <a:r>
              <a:rPr lang="en-GB" b="1" i="0" dirty="0" err="1">
                <a:solidFill>
                  <a:srgbClr val="030712"/>
                </a:solidFill>
                <a:effectLst/>
                <a:latin typeface="ui-sans-serif"/>
              </a:rPr>
              <a:t>MaritalStatus</a:t>
            </a:r>
            <a:r>
              <a:rPr lang="en-GB" b="1" i="0" dirty="0">
                <a:solidFill>
                  <a:srgbClr val="030712"/>
                </a:solidFill>
                <a:effectLst/>
                <a:latin typeface="ui-sans-serif"/>
              </a:rPr>
              <a:t> ↔ </a:t>
            </a:r>
            <a:r>
              <a:rPr lang="en-GB" b="1" i="0" dirty="0" err="1">
                <a:solidFill>
                  <a:srgbClr val="030712"/>
                </a:solidFill>
                <a:effectLst/>
                <a:latin typeface="ui-sans-serif"/>
              </a:rPr>
              <a:t>CustomerSegment</a:t>
            </a:r>
            <a:endParaRPr lang="en-ES" dirty="0"/>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07DF698-F9EC-1757-A445-D83603E11B09}"/>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2899A42E-A5F5-458B-1B04-D602FDAE3254}"/>
              </a:ext>
            </a:extLst>
          </p:cNvPr>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Missings</a:t>
            </a:r>
            <a:endParaRPr dirty="0"/>
          </a:p>
        </p:txBody>
      </p:sp>
      <p:pic>
        <p:nvPicPr>
          <p:cNvPr id="6" name="Imagen 5">
            <a:extLst>
              <a:ext uri="{FF2B5EF4-FFF2-40B4-BE49-F238E27FC236}">
                <a16:creationId xmlns:a16="http://schemas.microsoft.com/office/drawing/2014/main" id="{5F92A851-FE02-6BF4-670C-99083B0FEB62}"/>
              </a:ext>
            </a:extLst>
          </p:cNvPr>
          <p:cNvPicPr>
            <a:picLocks noChangeAspect="1"/>
          </p:cNvPicPr>
          <p:nvPr/>
        </p:nvPicPr>
        <p:blipFill>
          <a:blip r:embed="rId3"/>
          <a:stretch>
            <a:fillRect/>
          </a:stretch>
        </p:blipFill>
        <p:spPr>
          <a:xfrm>
            <a:off x="231718" y="704478"/>
            <a:ext cx="3117890" cy="2090109"/>
          </a:xfrm>
          <a:prstGeom prst="rect">
            <a:avLst/>
          </a:prstGeom>
        </p:spPr>
      </p:pic>
      <p:pic>
        <p:nvPicPr>
          <p:cNvPr id="8" name="Imagen 7">
            <a:extLst>
              <a:ext uri="{FF2B5EF4-FFF2-40B4-BE49-F238E27FC236}">
                <a16:creationId xmlns:a16="http://schemas.microsoft.com/office/drawing/2014/main" id="{4A959802-F2AB-6370-7B58-E78D7098AE1B}"/>
              </a:ext>
            </a:extLst>
          </p:cNvPr>
          <p:cNvPicPr>
            <a:picLocks noChangeAspect="1"/>
          </p:cNvPicPr>
          <p:nvPr/>
        </p:nvPicPr>
        <p:blipFill>
          <a:blip r:embed="rId4"/>
          <a:stretch>
            <a:fillRect/>
          </a:stretch>
        </p:blipFill>
        <p:spPr>
          <a:xfrm>
            <a:off x="231718" y="2794587"/>
            <a:ext cx="3251738" cy="2153928"/>
          </a:xfrm>
          <a:prstGeom prst="rect">
            <a:avLst/>
          </a:prstGeom>
        </p:spPr>
      </p:pic>
      <p:sp>
        <p:nvSpPr>
          <p:cNvPr id="3" name="Rounded Rectangle 2">
            <a:extLst>
              <a:ext uri="{FF2B5EF4-FFF2-40B4-BE49-F238E27FC236}">
                <a16:creationId xmlns:a16="http://schemas.microsoft.com/office/drawing/2014/main" id="{80C9A3E0-81F8-A41F-C787-ECE02F73D8C0}"/>
              </a:ext>
            </a:extLst>
          </p:cNvPr>
          <p:cNvSpPr/>
          <p:nvPr/>
        </p:nvSpPr>
        <p:spPr>
          <a:xfrm>
            <a:off x="3909653" y="723259"/>
            <a:ext cx="2282342"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Detección</a:t>
            </a:r>
          </a:p>
        </p:txBody>
      </p:sp>
      <p:sp>
        <p:nvSpPr>
          <p:cNvPr id="4" name="TextBox 3">
            <a:extLst>
              <a:ext uri="{FF2B5EF4-FFF2-40B4-BE49-F238E27FC236}">
                <a16:creationId xmlns:a16="http://schemas.microsoft.com/office/drawing/2014/main" id="{B09C4AB6-E6F8-2CC6-4731-0E30548E7593}"/>
              </a:ext>
            </a:extLst>
          </p:cNvPr>
          <p:cNvSpPr txBox="1"/>
          <p:nvPr/>
        </p:nvSpPr>
        <p:spPr>
          <a:xfrm>
            <a:off x="3972153" y="1082650"/>
            <a:ext cx="2589581" cy="1384995"/>
          </a:xfrm>
          <a:prstGeom prst="rect">
            <a:avLst/>
          </a:prstGeom>
          <a:noFill/>
        </p:spPr>
        <p:txBody>
          <a:bodyPr wrap="square" rtlCol="0">
            <a:spAutoFit/>
          </a:bodyPr>
          <a:lstStyle/>
          <a:p>
            <a:r>
              <a:rPr lang="en-GB" b="1" dirty="0"/>
              <a:t>30% </a:t>
            </a:r>
            <a:r>
              <a:rPr lang="en-GB" dirty="0" err="1"/>
              <a:t>en</a:t>
            </a:r>
            <a:r>
              <a:rPr lang="en-GB" dirty="0"/>
              <a:t> </a:t>
            </a:r>
            <a:r>
              <a:rPr lang="en-GB" dirty="0" err="1"/>
              <a:t>todas</a:t>
            </a:r>
            <a:r>
              <a:rPr lang="en-GB" dirty="0"/>
              <a:t> las variables (</a:t>
            </a:r>
            <a:r>
              <a:rPr lang="en-GB" dirty="0" err="1"/>
              <a:t>excepto</a:t>
            </a:r>
            <a:r>
              <a:rPr lang="en-GB" dirty="0"/>
              <a:t> ID)</a:t>
            </a:r>
          </a:p>
          <a:p>
            <a:r>
              <a:rPr lang="en-GB" b="1" dirty="0">
                <a:highlight>
                  <a:srgbClr val="FFFF00"/>
                </a:highlight>
              </a:rPr>
              <a:t>Test MCAR</a:t>
            </a:r>
          </a:p>
          <a:p>
            <a:r>
              <a:rPr lang="en-GB" b="1" dirty="0"/>
              <a:t>p-</a:t>
            </a:r>
            <a:r>
              <a:rPr lang="en-GB" b="1" dirty="0" err="1"/>
              <a:t>valor</a:t>
            </a:r>
            <a:r>
              <a:rPr lang="en-GB" b="1" dirty="0"/>
              <a:t> = 0.39</a:t>
            </a:r>
          </a:p>
          <a:p>
            <a:r>
              <a:rPr lang="en-GB" dirty="0"/>
              <a:t>✓ </a:t>
            </a:r>
            <a:r>
              <a:rPr lang="en-GB" dirty="0" err="1"/>
              <a:t>Aleatoriedad</a:t>
            </a:r>
            <a:r>
              <a:rPr lang="en-GB" dirty="0"/>
              <a:t> </a:t>
            </a:r>
            <a:r>
              <a:rPr lang="en-GB" dirty="0" err="1"/>
              <a:t>confirmada</a:t>
            </a:r>
            <a:endParaRPr lang="en-GB" dirty="0"/>
          </a:p>
          <a:p>
            <a:endParaRPr lang="en-ES" dirty="0"/>
          </a:p>
        </p:txBody>
      </p:sp>
      <p:sp>
        <p:nvSpPr>
          <p:cNvPr id="7" name="TextBox 6">
            <a:extLst>
              <a:ext uri="{FF2B5EF4-FFF2-40B4-BE49-F238E27FC236}">
                <a16:creationId xmlns:a16="http://schemas.microsoft.com/office/drawing/2014/main" id="{12786B15-69B6-809E-8275-A012869310C1}"/>
              </a:ext>
            </a:extLst>
          </p:cNvPr>
          <p:cNvSpPr txBox="1"/>
          <p:nvPr/>
        </p:nvSpPr>
        <p:spPr>
          <a:xfrm>
            <a:off x="6456549" y="530782"/>
            <a:ext cx="2622821" cy="2546851"/>
          </a:xfrm>
          <a:prstGeom prst="rect">
            <a:avLst/>
          </a:prstGeom>
          <a:noFill/>
        </p:spPr>
        <p:txBody>
          <a:bodyPr wrap="square">
            <a:spAutoFit/>
          </a:bodyPr>
          <a:lstStyle/>
          <a:p>
            <a:pPr algn="l">
              <a:buNone/>
            </a:pPr>
            <a:br>
              <a:rPr lang="en-GB" b="1" i="0" dirty="0">
                <a:solidFill>
                  <a:srgbClr val="030712"/>
                </a:solidFill>
                <a:effectLst/>
                <a:latin typeface="ui-sans-serif"/>
              </a:rPr>
            </a:br>
            <a:r>
              <a:rPr lang="en-GB" sz="1200" b="1" i="0" dirty="0" err="1">
                <a:solidFill>
                  <a:srgbClr val="030712"/>
                </a:solidFill>
                <a:effectLst/>
                <a:latin typeface="ui-sans-serif"/>
              </a:rPr>
              <a:t>Métodos</a:t>
            </a:r>
            <a:r>
              <a:rPr lang="en-GB" sz="1200" b="1" i="0" dirty="0">
                <a:solidFill>
                  <a:srgbClr val="030712"/>
                </a:solidFill>
                <a:effectLst/>
                <a:latin typeface="ui-sans-serif"/>
              </a:rPr>
              <a:t> </a:t>
            </a:r>
            <a:r>
              <a:rPr lang="en-GB" sz="1200" b="1" i="0" dirty="0" err="1">
                <a:solidFill>
                  <a:srgbClr val="030712"/>
                </a:solidFill>
                <a:effectLst/>
                <a:latin typeface="ui-sans-serif"/>
              </a:rPr>
              <a:t>Probados</a:t>
            </a:r>
            <a:r>
              <a:rPr lang="en-GB" sz="1200" b="1" i="0" dirty="0">
                <a:solidFill>
                  <a:srgbClr val="030712"/>
                </a:solidFill>
                <a:effectLst/>
                <a:latin typeface="ui-sans-serif"/>
              </a:rPr>
              <a:t> </a:t>
            </a:r>
            <a:r>
              <a:rPr lang="en-GB" sz="1200" b="1" i="0" dirty="0" err="1">
                <a:solidFill>
                  <a:srgbClr val="030712"/>
                </a:solidFill>
                <a:effectLst/>
                <a:latin typeface="ui-sans-serif"/>
              </a:rPr>
              <a:t>Implementados</a:t>
            </a:r>
            <a:r>
              <a:rPr lang="en-GB" sz="1200" b="1" i="0" dirty="0">
                <a:solidFill>
                  <a:srgbClr val="030712"/>
                </a:solidFill>
                <a:effectLst/>
                <a:latin typeface="ui-sans-serif"/>
              </a:rPr>
              <a:t> </a:t>
            </a:r>
          </a:p>
          <a:p>
            <a:pPr algn="l">
              <a:buNone/>
            </a:pPr>
            <a:r>
              <a:rPr lang="en-GB" sz="1200" b="1" i="0" dirty="0">
                <a:solidFill>
                  <a:srgbClr val="7F1D1D"/>
                </a:solidFill>
                <a:effectLst/>
                <a:latin typeface="ui-sans-serif"/>
              </a:rPr>
              <a:t>- </a:t>
            </a:r>
            <a:r>
              <a:rPr lang="en-GB" sz="1200" b="1" i="0" dirty="0" err="1">
                <a:solidFill>
                  <a:srgbClr val="7F1D1D"/>
                </a:solidFill>
                <a:effectLst/>
                <a:latin typeface="ui-sans-serif"/>
              </a:rPr>
              <a:t>Imputación</a:t>
            </a:r>
            <a:r>
              <a:rPr lang="en-GB" sz="1200" b="1" i="0" dirty="0">
                <a:solidFill>
                  <a:srgbClr val="7F1D1D"/>
                </a:solidFill>
                <a:effectLst/>
                <a:latin typeface="ui-sans-serif"/>
              </a:rPr>
              <a:t> Simple</a:t>
            </a:r>
          </a:p>
          <a:p>
            <a:pPr algn="l">
              <a:buNone/>
            </a:pPr>
            <a:r>
              <a:rPr lang="en-GB" sz="1200" b="0" i="0" dirty="0">
                <a:solidFill>
                  <a:srgbClr val="4B5563"/>
                </a:solidFill>
                <a:effectLst/>
                <a:latin typeface="ui-sans-serif"/>
              </a:rPr>
              <a:t>Media/</a:t>
            </a:r>
            <a:r>
              <a:rPr lang="en-GB" sz="1200" b="0" i="0" dirty="0" err="1">
                <a:solidFill>
                  <a:srgbClr val="4B5563"/>
                </a:solidFill>
                <a:effectLst/>
                <a:latin typeface="ui-sans-serif"/>
              </a:rPr>
              <a:t>mediana</a:t>
            </a:r>
            <a:r>
              <a:rPr lang="en-GB" sz="1200" b="0" i="0" dirty="0">
                <a:solidFill>
                  <a:srgbClr val="4B5563"/>
                </a:solidFill>
                <a:effectLst/>
                <a:latin typeface="ui-sans-serif"/>
              </a:rPr>
              <a:t>/</a:t>
            </a:r>
            <a:r>
              <a:rPr lang="en-GB" sz="1200" b="0" i="0" dirty="0" err="1">
                <a:solidFill>
                  <a:srgbClr val="4B5563"/>
                </a:solidFill>
                <a:effectLst/>
                <a:latin typeface="ui-sans-serif"/>
              </a:rPr>
              <a:t>moda</a:t>
            </a:r>
            <a:endParaRPr lang="en-GB" sz="1200" b="0" i="0" dirty="0">
              <a:solidFill>
                <a:srgbClr val="4B5563"/>
              </a:solidFill>
              <a:effectLst/>
              <a:latin typeface="ui-sans-serif"/>
            </a:endParaRPr>
          </a:p>
          <a:p>
            <a:pPr algn="l">
              <a:buNone/>
            </a:pPr>
            <a:r>
              <a:rPr lang="en-GB" sz="1200" b="0" i="1" dirty="0" err="1">
                <a:solidFill>
                  <a:srgbClr val="B91C1C"/>
                </a:solidFill>
                <a:effectLst/>
                <a:latin typeface="ui-sans-serif"/>
              </a:rPr>
              <a:t>Distorsiona</a:t>
            </a:r>
            <a:r>
              <a:rPr lang="en-GB" sz="1200" b="0" i="1" dirty="0">
                <a:solidFill>
                  <a:srgbClr val="B91C1C"/>
                </a:solidFill>
                <a:effectLst/>
                <a:latin typeface="ui-sans-serif"/>
              </a:rPr>
              <a:t> </a:t>
            </a:r>
            <a:r>
              <a:rPr lang="en-GB" sz="1200" b="0" i="1" dirty="0" err="1">
                <a:solidFill>
                  <a:srgbClr val="B91C1C"/>
                </a:solidFill>
                <a:effectLst/>
                <a:latin typeface="ui-sans-serif"/>
              </a:rPr>
              <a:t>distribuciones</a:t>
            </a:r>
            <a:endParaRPr lang="en-GB" sz="1200" b="0" i="1" dirty="0">
              <a:solidFill>
                <a:srgbClr val="B91C1C"/>
              </a:solidFill>
              <a:effectLst/>
              <a:latin typeface="ui-sans-serif"/>
            </a:endParaRPr>
          </a:p>
          <a:p>
            <a:pPr marL="171450" indent="-171450" algn="l">
              <a:spcBef>
                <a:spcPts val="900"/>
              </a:spcBef>
              <a:buFontTx/>
              <a:buChar char="-"/>
            </a:pPr>
            <a:r>
              <a:rPr lang="en-GB" sz="1200" b="1" i="0" dirty="0">
                <a:solidFill>
                  <a:srgbClr val="713F12"/>
                </a:solidFill>
                <a:effectLst/>
                <a:latin typeface="ui-sans-serif"/>
              </a:rPr>
              <a:t>KNN </a:t>
            </a:r>
            <a:r>
              <a:rPr lang="en-GB" sz="1200" b="1" i="0" dirty="0" err="1">
                <a:solidFill>
                  <a:srgbClr val="713F12"/>
                </a:solidFill>
                <a:effectLst/>
                <a:latin typeface="ui-sans-serif"/>
              </a:rPr>
              <a:t>Multivariante</a:t>
            </a:r>
            <a:endParaRPr lang="en-GB" sz="1200" b="1" dirty="0">
              <a:solidFill>
                <a:srgbClr val="713F12"/>
              </a:solidFill>
              <a:latin typeface="ui-sans-serif"/>
            </a:endParaRPr>
          </a:p>
          <a:p>
            <a:pPr algn="l">
              <a:spcBef>
                <a:spcPts val="900"/>
              </a:spcBef>
            </a:pPr>
            <a:r>
              <a:rPr lang="en-GB" sz="1200" b="0" i="0" dirty="0">
                <a:solidFill>
                  <a:srgbClr val="4B5563"/>
                </a:solidFill>
                <a:effectLst/>
                <a:latin typeface="ui-sans-serif"/>
              </a:rPr>
              <a:t>Mejor </a:t>
            </a:r>
            <a:r>
              <a:rPr lang="en-GB" sz="1200" b="0" i="0" dirty="0" err="1">
                <a:solidFill>
                  <a:srgbClr val="4B5563"/>
                </a:solidFill>
                <a:effectLst/>
                <a:latin typeface="ui-sans-serif"/>
              </a:rPr>
              <a:t>ajuste</a:t>
            </a:r>
            <a:r>
              <a:rPr lang="en-GB" sz="1200" b="0" i="0" dirty="0">
                <a:solidFill>
                  <a:srgbClr val="4B5563"/>
                </a:solidFill>
                <a:effectLst/>
                <a:latin typeface="ui-sans-serif"/>
              </a:rPr>
              <a:t>, </a:t>
            </a:r>
            <a:r>
              <a:rPr lang="en-GB" sz="1200" b="0" i="0" dirty="0" err="1">
                <a:solidFill>
                  <a:srgbClr val="4B5563"/>
                </a:solidFill>
                <a:effectLst/>
                <a:latin typeface="ui-sans-serif"/>
              </a:rPr>
              <a:t>pero</a:t>
            </a:r>
            <a:r>
              <a:rPr lang="en-GB" sz="1200" b="0" i="0" dirty="0">
                <a:solidFill>
                  <a:srgbClr val="4B5563"/>
                </a:solidFill>
                <a:effectLst/>
                <a:latin typeface="ui-sans-serif"/>
              </a:rPr>
              <a:t> </a:t>
            </a:r>
            <a:r>
              <a:rPr lang="en-GB" sz="1200" b="0" i="0" dirty="0" err="1">
                <a:solidFill>
                  <a:srgbClr val="4B5563"/>
                </a:solidFill>
                <a:effectLst/>
                <a:latin typeface="ui-sans-serif"/>
              </a:rPr>
              <a:t>mejorable</a:t>
            </a:r>
            <a:endParaRPr lang="en-GB" sz="1200" b="0" i="0" dirty="0">
              <a:solidFill>
                <a:srgbClr val="4B5563"/>
              </a:solidFill>
              <a:effectLst/>
              <a:latin typeface="ui-sans-serif"/>
            </a:endParaRPr>
          </a:p>
          <a:p>
            <a:pPr algn="l">
              <a:spcBef>
                <a:spcPts val="900"/>
              </a:spcBef>
              <a:buNone/>
            </a:pPr>
            <a:r>
              <a:rPr lang="en-GB" sz="1200" b="1" i="0" dirty="0">
                <a:solidFill>
                  <a:srgbClr val="14532D"/>
                </a:solidFill>
                <a:effectLst/>
                <a:highlight>
                  <a:srgbClr val="FFFF00"/>
                </a:highlight>
                <a:latin typeface="ui-sans-serif"/>
              </a:rPr>
              <a:t>- MICE (</a:t>
            </a:r>
            <a:r>
              <a:rPr lang="en-GB" sz="1200" b="1" i="0" dirty="0" err="1">
                <a:solidFill>
                  <a:srgbClr val="14532D"/>
                </a:solidFill>
                <a:effectLst/>
                <a:highlight>
                  <a:srgbClr val="FFFF00"/>
                </a:highlight>
                <a:latin typeface="ui-sans-serif"/>
              </a:rPr>
              <a:t>Multivariante</a:t>
            </a:r>
            <a:r>
              <a:rPr lang="en-GB" sz="1200" b="1" i="0" dirty="0">
                <a:solidFill>
                  <a:srgbClr val="14532D"/>
                </a:solidFill>
                <a:effectLst/>
                <a:highlight>
                  <a:srgbClr val="FFFF00"/>
                </a:highlight>
                <a:latin typeface="ui-sans-serif"/>
              </a:rPr>
              <a:t>)</a:t>
            </a:r>
          </a:p>
          <a:p>
            <a:pPr algn="l">
              <a:spcBef>
                <a:spcPts val="900"/>
              </a:spcBef>
              <a:buNone/>
            </a:pPr>
            <a:r>
              <a:rPr lang="en-GB" sz="1200" b="0" i="0" dirty="0" err="1">
                <a:solidFill>
                  <a:srgbClr val="4B5563"/>
                </a:solidFill>
                <a:effectLst/>
                <a:latin typeface="ui-sans-serif"/>
              </a:rPr>
              <a:t>Ajuste</a:t>
            </a:r>
            <a:r>
              <a:rPr lang="en-GB" sz="1200" b="0" i="0" dirty="0">
                <a:solidFill>
                  <a:srgbClr val="4B5563"/>
                </a:solidFill>
                <a:effectLst/>
                <a:latin typeface="ui-sans-serif"/>
              </a:rPr>
              <a:t> perfecto de </a:t>
            </a:r>
            <a:r>
              <a:rPr lang="en-GB" sz="1200" b="0" i="0" dirty="0" err="1">
                <a:solidFill>
                  <a:srgbClr val="4B5563"/>
                </a:solidFill>
                <a:effectLst/>
                <a:latin typeface="ui-sans-serif"/>
              </a:rPr>
              <a:t>distribuciones</a:t>
            </a:r>
            <a:endParaRPr lang="en-GB" sz="1200" b="0" i="0" dirty="0">
              <a:solidFill>
                <a:srgbClr val="4B5563"/>
              </a:solidFill>
              <a:effectLst/>
              <a:latin typeface="ui-sans-serif"/>
            </a:endParaRPr>
          </a:p>
          <a:p>
            <a:pPr algn="l">
              <a:spcBef>
                <a:spcPts val="900"/>
              </a:spcBef>
              <a:buNone/>
            </a:pPr>
            <a:r>
              <a:rPr lang="en-GB" sz="1200" b="1" i="0" dirty="0">
                <a:solidFill>
                  <a:srgbClr val="166534"/>
                </a:solidFill>
                <a:effectLst/>
                <a:latin typeface="ui-sans-serif"/>
              </a:rPr>
              <a:t>✓ MÉTODO SELECCIONADO</a:t>
            </a:r>
          </a:p>
        </p:txBody>
      </p:sp>
      <p:sp>
        <p:nvSpPr>
          <p:cNvPr id="10" name="TextBox 9">
            <a:extLst>
              <a:ext uri="{FF2B5EF4-FFF2-40B4-BE49-F238E27FC236}">
                <a16:creationId xmlns:a16="http://schemas.microsoft.com/office/drawing/2014/main" id="{6B9214DE-8CE4-ADC1-4D89-4FDD571013F0}"/>
              </a:ext>
            </a:extLst>
          </p:cNvPr>
          <p:cNvSpPr txBox="1"/>
          <p:nvPr/>
        </p:nvSpPr>
        <p:spPr>
          <a:xfrm>
            <a:off x="4193978" y="3188307"/>
            <a:ext cx="2589581" cy="1569660"/>
          </a:xfrm>
          <a:prstGeom prst="rect">
            <a:avLst/>
          </a:prstGeom>
          <a:noFill/>
        </p:spPr>
        <p:txBody>
          <a:bodyPr wrap="square" rtlCol="0">
            <a:spAutoFit/>
          </a:bodyPr>
          <a:lstStyle/>
          <a:p>
            <a:pPr algn="just"/>
            <a:r>
              <a:rPr lang="es-ES" sz="1200" i="1" dirty="0"/>
              <a:t>Finalmente, tras aplicar el método </a:t>
            </a:r>
            <a:r>
              <a:rPr lang="es-ES" sz="1200" b="1" i="1" dirty="0"/>
              <a:t>MICE</a:t>
            </a:r>
            <a:r>
              <a:rPr lang="es-ES" sz="1200" i="1" dirty="0"/>
              <a:t> (multivariante), </a:t>
            </a:r>
          </a:p>
          <a:p>
            <a:pPr algn="just"/>
            <a:r>
              <a:rPr lang="es-ES" sz="1200" i="1" dirty="0"/>
              <a:t>llegamos a unos resultados muy buenos, encontrando </a:t>
            </a:r>
          </a:p>
          <a:p>
            <a:pPr algn="just"/>
            <a:r>
              <a:rPr lang="es-ES" sz="1200" i="1" dirty="0"/>
              <a:t>un ajuste prácticamente perfecto de las distribuciones. </a:t>
            </a:r>
          </a:p>
          <a:p>
            <a:pPr algn="just"/>
            <a:r>
              <a:rPr lang="es-ES" sz="1200" i="1" dirty="0"/>
              <a:t>Se decidió validar el método y la base de datos imputada por MICE.</a:t>
            </a:r>
          </a:p>
        </p:txBody>
      </p:sp>
    </p:spTree>
    <p:extLst>
      <p:ext uri="{BB962C8B-B14F-4D97-AF65-F5344CB8AC3E}">
        <p14:creationId xmlns:p14="http://schemas.microsoft.com/office/powerpoint/2010/main" val="17941892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A066745-E63D-F2E0-F30F-FE27600A39A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CBC2E359-E539-DBD1-495A-0EE34D687FD3}"/>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a:extLst>
              <a:ext uri="{FF2B5EF4-FFF2-40B4-BE49-F238E27FC236}">
                <a16:creationId xmlns:a16="http://schemas.microsoft.com/office/drawing/2014/main" id="{2EEF3947-4909-7EA1-9CA3-22FEB8ED7AAA}"/>
              </a:ext>
            </a:extLst>
          </p:cNvPr>
          <p:cNvSpPr txBox="1"/>
          <p:nvPr/>
        </p:nvSpPr>
        <p:spPr>
          <a:xfrm>
            <a:off x="314554" y="4231644"/>
            <a:ext cx="7642400" cy="430887"/>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 por lo que se decidió no tratar los </a:t>
            </a:r>
            <a:r>
              <a:rPr lang="es-ES" sz="1100" dirty="0" err="1">
                <a:solidFill>
                  <a:schemeClr val="tx1"/>
                </a:solidFill>
              </a:rPr>
              <a:t>outliers</a:t>
            </a:r>
            <a:r>
              <a:rPr lang="es-ES" sz="1100" dirty="0">
                <a:solidFill>
                  <a:schemeClr val="tx1"/>
                </a:solidFill>
              </a:rPr>
              <a:t> y aceptarlos como fruto de la normalidad</a:t>
            </a:r>
          </a:p>
        </p:txBody>
      </p:sp>
      <p:graphicFrame>
        <p:nvGraphicFramePr>
          <p:cNvPr id="4" name="Table 3">
            <a:extLst>
              <a:ext uri="{FF2B5EF4-FFF2-40B4-BE49-F238E27FC236}">
                <a16:creationId xmlns:a16="http://schemas.microsoft.com/office/drawing/2014/main" id="{2F750F37-B68E-34B0-D8F6-AE79285CB33A}"/>
              </a:ext>
            </a:extLst>
          </p:cNvPr>
          <p:cNvGraphicFramePr>
            <a:graphicFrameLocks noGrp="1"/>
          </p:cNvGraphicFramePr>
          <p:nvPr>
            <p:extLst>
              <p:ext uri="{D42A27DB-BD31-4B8C-83A1-F6EECF244321}">
                <p14:modId xmlns:p14="http://schemas.microsoft.com/office/powerpoint/2010/main" val="454462927"/>
              </p:ext>
            </p:extLst>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719349731"/>
                    </a:ext>
                  </a:extLst>
                </a:gridCol>
                <a:gridCol w="1439370">
                  <a:extLst>
                    <a:ext uri="{9D8B030D-6E8A-4147-A177-3AD203B41FA5}">
                      <a16:colId xmlns:a16="http://schemas.microsoft.com/office/drawing/2014/main" val="756193211"/>
                    </a:ext>
                  </a:extLst>
                </a:gridCol>
                <a:gridCol w="1439370">
                  <a:extLst>
                    <a:ext uri="{9D8B030D-6E8A-4147-A177-3AD203B41FA5}">
                      <a16:colId xmlns:a16="http://schemas.microsoft.com/office/drawing/2014/main" val="2269585124"/>
                    </a:ext>
                  </a:extLst>
                </a:gridCol>
                <a:gridCol w="1439370">
                  <a:extLst>
                    <a:ext uri="{9D8B030D-6E8A-4147-A177-3AD203B41FA5}">
                      <a16:colId xmlns:a16="http://schemas.microsoft.com/office/drawing/2014/main" val="2733211629"/>
                    </a:ext>
                  </a:extLst>
                </a:gridCol>
              </a:tblGrid>
              <a:tr h="251459">
                <a:tc>
                  <a:txBody>
                    <a:bodyPr/>
                    <a:lstStyle/>
                    <a:p>
                      <a:r>
                        <a:rPr lang="en-ES" sz="1100" b="1" dirty="0"/>
                        <a:t>Nivel</a:t>
                      </a:r>
                    </a:p>
                  </a:txBody>
                  <a:tcPr>
                    <a:solidFill>
                      <a:schemeClr val="accent2"/>
                    </a:solidFill>
                  </a:tcPr>
                </a:tc>
                <a:tc>
                  <a:txBody>
                    <a:bodyPr/>
                    <a:lstStyle/>
                    <a:p>
                      <a:r>
                        <a:rPr lang="en-ES" sz="1100" b="1" dirty="0"/>
                        <a:t>Tipo de Variable </a:t>
                      </a:r>
                    </a:p>
                  </a:txBody>
                  <a:tcPr>
                    <a:solidFill>
                      <a:schemeClr val="accent2"/>
                    </a:solidFill>
                  </a:tcPr>
                </a:tc>
                <a:tc>
                  <a:txBody>
                    <a:bodyPr/>
                    <a:lstStyle/>
                    <a:p>
                      <a:r>
                        <a:rPr lang="en-ES" sz="1100" b="1" dirty="0"/>
                        <a:t>Método</a:t>
                      </a:r>
                    </a:p>
                  </a:txBody>
                  <a:tcPr>
                    <a:solidFill>
                      <a:schemeClr val="accent2"/>
                    </a:solidFill>
                  </a:tcPr>
                </a:tc>
                <a:tc>
                  <a:txBody>
                    <a:bodyPr/>
                    <a:lstStyle/>
                    <a:p>
                      <a:r>
                        <a:rPr lang="en-ES" sz="1100" b="1" dirty="0"/>
                        <a:t>Criterio</a:t>
                      </a:r>
                    </a:p>
                  </a:txBody>
                  <a:tcPr>
                    <a:solidFill>
                      <a:schemeClr val="accent2"/>
                    </a:solidFill>
                  </a:tcPr>
                </a:tc>
                <a:extLst>
                  <a:ext uri="{0D108BD9-81ED-4DB2-BD59-A6C34878D82A}">
                    <a16:rowId xmlns:a16="http://schemas.microsoft.com/office/drawing/2014/main" val="2692643317"/>
                  </a:ext>
                </a:extLst>
              </a:tr>
              <a:tr h="251459">
                <a:tc>
                  <a:txBody>
                    <a:bodyPr/>
                    <a:lstStyle/>
                    <a:p>
                      <a:r>
                        <a:rPr lang="en-ES" sz="1100" dirty="0"/>
                        <a:t>Univariante</a:t>
                      </a:r>
                    </a:p>
                  </a:txBody>
                  <a:tcPr/>
                </a:tc>
                <a:tc>
                  <a:txBody>
                    <a:bodyPr/>
                    <a:lstStyle/>
                    <a:p>
                      <a:r>
                        <a:rPr lang="en-GB" sz="1100" dirty="0" err="1"/>
                        <a:t>Simétricas</a:t>
                      </a:r>
                      <a:endParaRPr lang="en-ES" sz="1100" dirty="0"/>
                    </a:p>
                  </a:txBody>
                  <a:tcPr/>
                </a:tc>
                <a:tc>
                  <a:txBody>
                    <a:bodyPr/>
                    <a:lstStyle/>
                    <a:p>
                      <a:r>
                        <a:rPr lang="en-ES" sz="1100" dirty="0"/>
                        <a:t>IQR</a:t>
                      </a:r>
                    </a:p>
                  </a:txBody>
                  <a:tcPr/>
                </a:tc>
                <a:tc>
                  <a:txBody>
                    <a:bodyPr/>
                    <a:lstStyle/>
                    <a:p>
                      <a:r>
                        <a:rPr lang="en-GB" sz="1100" dirty="0"/>
                        <a:t>1.5 × IQR</a:t>
                      </a:r>
                      <a:endParaRPr lang="en-ES" sz="1100" dirty="0"/>
                    </a:p>
                  </a:txBody>
                  <a:tcPr/>
                </a:tc>
                <a:extLst>
                  <a:ext uri="{0D108BD9-81ED-4DB2-BD59-A6C34878D82A}">
                    <a16:rowId xmlns:a16="http://schemas.microsoft.com/office/drawing/2014/main" val="776635213"/>
                  </a:ext>
                </a:extLst>
              </a:tr>
              <a:tr h="251459">
                <a:tc>
                  <a:txBody>
                    <a:bodyPr/>
                    <a:lstStyle/>
                    <a:p>
                      <a:r>
                        <a:rPr lang="en-ES" sz="1100" dirty="0"/>
                        <a:t>Univariante </a:t>
                      </a:r>
                    </a:p>
                  </a:txBody>
                  <a:tcPr/>
                </a:tc>
                <a:tc>
                  <a:txBody>
                    <a:bodyPr/>
                    <a:lstStyle/>
                    <a:p>
                      <a:r>
                        <a:rPr lang="en-GB" sz="1100" dirty="0"/>
                        <a:t>No </a:t>
                      </a:r>
                      <a:r>
                        <a:rPr lang="en-GB" sz="1100" dirty="0" err="1"/>
                        <a:t>simétricas</a:t>
                      </a:r>
                      <a:endParaRPr lang="en-ES" sz="1100" dirty="0"/>
                    </a:p>
                  </a:txBody>
                  <a:tcPr/>
                </a:tc>
                <a:tc>
                  <a:txBody>
                    <a:bodyPr/>
                    <a:lstStyle/>
                    <a:p>
                      <a:r>
                        <a:rPr lang="en-ES" sz="1100" dirty="0"/>
                        <a:t>Hampel</a:t>
                      </a:r>
                    </a:p>
                  </a:txBody>
                  <a:tcPr/>
                </a:tc>
                <a:tc>
                  <a:txBody>
                    <a:bodyPr/>
                    <a:lstStyle/>
                    <a:p>
                      <a:r>
                        <a:rPr lang="en-GB" sz="1100" dirty="0"/>
                        <a:t>Mediana + MAD</a:t>
                      </a:r>
                      <a:endParaRPr lang="en-ES" sz="1100" dirty="0"/>
                    </a:p>
                  </a:txBody>
                  <a:tcPr/>
                </a:tc>
                <a:extLst>
                  <a:ext uri="{0D108BD9-81ED-4DB2-BD59-A6C34878D82A}">
                    <a16:rowId xmlns:a16="http://schemas.microsoft.com/office/drawing/2014/main" val="2493077629"/>
                  </a:ext>
                </a:extLst>
              </a:tr>
              <a:tr h="251459">
                <a:tc>
                  <a:txBody>
                    <a:bodyPr/>
                    <a:lstStyle/>
                    <a:p>
                      <a:r>
                        <a:rPr lang="en-ES" sz="1100" dirty="0"/>
                        <a:t>Univariante </a:t>
                      </a:r>
                    </a:p>
                  </a:txBody>
                  <a:tcPr/>
                </a:tc>
                <a:tc>
                  <a:txBody>
                    <a:bodyPr/>
                    <a:lstStyle/>
                    <a:p>
                      <a:r>
                        <a:rPr lang="en-GB" sz="1100" dirty="0" err="1"/>
                        <a:t>Categóricas</a:t>
                      </a:r>
                      <a:endParaRPr lang="en-ES" sz="1100" dirty="0"/>
                    </a:p>
                  </a:txBody>
                  <a:tcPr/>
                </a:tc>
                <a:tc>
                  <a:txBody>
                    <a:bodyPr/>
                    <a:lstStyle/>
                    <a:p>
                      <a:r>
                        <a:rPr lang="en-GB" sz="1100" dirty="0" err="1"/>
                        <a:t>Frecuencias</a:t>
                      </a:r>
                      <a:r>
                        <a:rPr lang="en-GB" sz="1100" dirty="0"/>
                        <a:t> </a:t>
                      </a:r>
                      <a:r>
                        <a:rPr lang="en-GB" sz="1100" dirty="0" err="1"/>
                        <a:t>relativas</a:t>
                      </a:r>
                      <a:endParaRPr lang="en-ES" sz="1100" dirty="0"/>
                    </a:p>
                  </a:txBody>
                  <a:tcPr/>
                </a:tc>
                <a:tc>
                  <a:txBody>
                    <a:bodyPr/>
                    <a:lstStyle/>
                    <a:p>
                      <a:r>
                        <a:rPr lang="en-GB" sz="1100" dirty="0"/>
                        <a:t>&lt; 5% del total</a:t>
                      </a:r>
                      <a:endParaRPr lang="en-ES" sz="1100" dirty="0"/>
                    </a:p>
                  </a:txBody>
                  <a:tcPr/>
                </a:tc>
                <a:extLst>
                  <a:ext uri="{0D108BD9-81ED-4DB2-BD59-A6C34878D82A}">
                    <a16:rowId xmlns:a16="http://schemas.microsoft.com/office/drawing/2014/main" val="1462096888"/>
                  </a:ext>
                </a:extLst>
              </a:tr>
              <a:tr h="306609">
                <a:tc>
                  <a:txBody>
                    <a:bodyPr/>
                    <a:lstStyle/>
                    <a:p>
                      <a:r>
                        <a:rPr lang="en-ES" sz="1100" dirty="0"/>
                        <a:t>Multivariante</a:t>
                      </a:r>
                    </a:p>
                  </a:txBody>
                  <a:tcPr/>
                </a:tc>
                <a:tc>
                  <a:txBody>
                    <a:bodyPr/>
                    <a:lstStyle/>
                    <a:p>
                      <a:r>
                        <a:rPr lang="en-ES" sz="1100" dirty="0"/>
                        <a:t>Númericas</a:t>
                      </a:r>
                    </a:p>
                  </a:txBody>
                  <a:tcPr/>
                </a:tc>
                <a:tc>
                  <a:txBody>
                    <a:bodyPr/>
                    <a:lstStyle/>
                    <a:p>
                      <a:r>
                        <a:rPr lang="en-GB" sz="1100" dirty="0"/>
                        <a:t>Distancia </a:t>
                      </a:r>
                      <a:r>
                        <a:rPr lang="en-GB" sz="1100" dirty="0" err="1"/>
                        <a:t>Mahalanobis</a:t>
                      </a:r>
                      <a:r>
                        <a:rPr lang="en-GB" sz="1100" dirty="0"/>
                        <a:t> + LOF</a:t>
                      </a:r>
                      <a:endParaRPr lang="en-ES" sz="1100" dirty="0"/>
                    </a:p>
                  </a:txBody>
                  <a:tcPr/>
                </a:tc>
                <a:tc>
                  <a:txBody>
                    <a:bodyPr/>
                    <a:lstStyle/>
                    <a:p>
                      <a:r>
                        <a:rPr lang="en-ES" sz="1100" dirty="0"/>
                        <a:t>Gràficos </a:t>
                      </a:r>
                    </a:p>
                  </a:txBody>
                  <a:tcPr/>
                </a:tc>
                <a:extLst>
                  <a:ext uri="{0D108BD9-81ED-4DB2-BD59-A6C34878D82A}">
                    <a16:rowId xmlns:a16="http://schemas.microsoft.com/office/drawing/2014/main" val="407610777"/>
                  </a:ext>
                </a:extLst>
              </a:tr>
            </a:tbl>
          </a:graphicData>
        </a:graphic>
      </p:graphicFrame>
      <p:sp>
        <p:nvSpPr>
          <p:cNvPr id="5" name="Rounded Rectangle 4">
            <a:extLst>
              <a:ext uri="{FF2B5EF4-FFF2-40B4-BE49-F238E27FC236}">
                <a16:creationId xmlns:a16="http://schemas.microsoft.com/office/drawing/2014/main" id="{D0C42530-4C3A-B629-6B9C-E51BDE83B89A}"/>
              </a:ext>
            </a:extLst>
          </p:cNvPr>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Métodos</a:t>
            </a:r>
          </a:p>
        </p:txBody>
      </p:sp>
      <p:pic>
        <p:nvPicPr>
          <p:cNvPr id="8" name="Picture 7" descr="A diagram of a graph&#10;&#10;AI-generated content may be incorrect.">
            <a:extLst>
              <a:ext uri="{FF2B5EF4-FFF2-40B4-BE49-F238E27FC236}">
                <a16:creationId xmlns:a16="http://schemas.microsoft.com/office/drawing/2014/main" id="{2ECA8A3C-C7DC-2583-8AF3-B7C2E64F951A}"/>
              </a:ext>
            </a:extLst>
          </p:cNvPr>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a:extLst>
              <a:ext uri="{FF2B5EF4-FFF2-40B4-BE49-F238E27FC236}">
                <a16:creationId xmlns:a16="http://schemas.microsoft.com/office/drawing/2014/main" id="{A794FB05-8280-D165-828F-4BBCE7FFCBB7}"/>
              </a:ext>
            </a:extLst>
          </p:cNvPr>
          <p:cNvGraphicFramePr>
            <a:graphicFrameLocks noGrp="1"/>
          </p:cNvGraphicFramePr>
          <p:nvPr>
            <p:extLst>
              <p:ext uri="{D42A27DB-BD31-4B8C-83A1-F6EECF244321}">
                <p14:modId xmlns:p14="http://schemas.microsoft.com/office/powerpoint/2010/main" val="2427930410"/>
              </p:ext>
            </p:extLst>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409669532"/>
                    </a:ext>
                  </a:extLst>
                </a:gridCol>
                <a:gridCol w="2054794">
                  <a:extLst>
                    <a:ext uri="{9D8B030D-6E8A-4147-A177-3AD203B41FA5}">
                      <a16:colId xmlns:a16="http://schemas.microsoft.com/office/drawing/2014/main" val="3249999538"/>
                    </a:ext>
                  </a:extLst>
                </a:gridCol>
                <a:gridCol w="2054794">
                  <a:extLst>
                    <a:ext uri="{9D8B030D-6E8A-4147-A177-3AD203B41FA5}">
                      <a16:colId xmlns:a16="http://schemas.microsoft.com/office/drawing/2014/main" val="3747097040"/>
                    </a:ext>
                  </a:extLst>
                </a:gridCol>
                <a:gridCol w="2054794">
                  <a:extLst>
                    <a:ext uri="{9D8B030D-6E8A-4147-A177-3AD203B41FA5}">
                      <a16:colId xmlns:a16="http://schemas.microsoft.com/office/drawing/2014/main" val="2005427499"/>
                    </a:ext>
                  </a:extLst>
                </a:gridCol>
              </a:tblGrid>
              <a:tr h="305003">
                <a:tc>
                  <a:txBody>
                    <a:bodyPr/>
                    <a:lstStyle/>
                    <a:p>
                      <a:r>
                        <a:rPr lang="en-ES" dirty="0"/>
                        <a:t>Variable </a:t>
                      </a:r>
                    </a:p>
                  </a:txBody>
                  <a:tcPr/>
                </a:tc>
                <a:tc>
                  <a:txBody>
                    <a:bodyPr/>
                    <a:lstStyle/>
                    <a:p>
                      <a:r>
                        <a:rPr lang="en-ES" dirty="0"/>
                        <a:t>Outliers detected</a:t>
                      </a:r>
                    </a:p>
                  </a:txBody>
                  <a:tcPr/>
                </a:tc>
                <a:tc>
                  <a:txBody>
                    <a:bodyPr/>
                    <a:lstStyle/>
                    <a:p>
                      <a:r>
                        <a:rPr lang="en-ES" dirty="0"/>
                        <a:t>Ubicación</a:t>
                      </a:r>
                    </a:p>
                  </a:txBody>
                  <a:tcPr/>
                </a:tc>
                <a:tc>
                  <a:txBody>
                    <a:bodyPr/>
                    <a:lstStyle/>
                    <a:p>
                      <a:r>
                        <a:rPr lang="en-ES" dirty="0"/>
                        <a:t>Características</a:t>
                      </a:r>
                    </a:p>
                  </a:txBody>
                  <a:tcPr/>
                </a:tc>
                <a:extLst>
                  <a:ext uri="{0D108BD9-81ED-4DB2-BD59-A6C34878D82A}">
                    <a16:rowId xmlns:a16="http://schemas.microsoft.com/office/drawing/2014/main" val="402475729"/>
                  </a:ext>
                </a:extLst>
              </a:tr>
              <a:tr h="305003">
                <a:tc>
                  <a:txBody>
                    <a:bodyPr/>
                    <a:lstStyle/>
                    <a:p>
                      <a:r>
                        <a:rPr lang="en-ES" dirty="0"/>
                        <a:t>Age</a:t>
                      </a:r>
                    </a:p>
                  </a:txBody>
                  <a:tcPr/>
                </a:tc>
                <a:tc>
                  <a:txBody>
                    <a:bodyPr/>
                    <a:lstStyle/>
                    <a:p>
                      <a:endParaRPr lang="en-ES" dirty="0"/>
                    </a:p>
                  </a:txBody>
                  <a:tcPr/>
                </a:tc>
                <a:tc>
                  <a:txBody>
                    <a:bodyPr/>
                    <a:lstStyle/>
                    <a:p>
                      <a:r>
                        <a:rPr lang="en-ES" dirty="0"/>
                        <a:t>Cola Derecha</a:t>
                      </a:r>
                    </a:p>
                  </a:txBody>
                  <a:tcPr/>
                </a:tc>
                <a:tc>
                  <a:txBody>
                    <a:bodyPr/>
                    <a:lstStyle/>
                    <a:p>
                      <a:r>
                        <a:rPr lang="en-GB" dirty="0"/>
                        <a:t>Valores </a:t>
                      </a:r>
                      <a:r>
                        <a:rPr lang="en-GB" dirty="0" err="1"/>
                        <a:t>extremos</a:t>
                      </a:r>
                      <a:r>
                        <a:rPr lang="en-GB" dirty="0"/>
                        <a:t> altos</a:t>
                      </a:r>
                      <a:endParaRPr lang="en-ES" dirty="0"/>
                    </a:p>
                  </a:txBody>
                  <a:tcPr/>
                </a:tc>
                <a:extLst>
                  <a:ext uri="{0D108BD9-81ED-4DB2-BD59-A6C34878D82A}">
                    <a16:rowId xmlns:a16="http://schemas.microsoft.com/office/drawing/2014/main" val="565551124"/>
                  </a:ext>
                </a:extLst>
              </a:tr>
              <a:tr h="305003">
                <a:tc>
                  <a:txBody>
                    <a:bodyPr/>
                    <a:lstStyle/>
                    <a:p>
                      <a:r>
                        <a:rPr lang="en-ES" dirty="0"/>
                        <a:t>Estimated Salary</a:t>
                      </a:r>
                    </a:p>
                  </a:txBody>
                  <a:tcPr/>
                </a:tc>
                <a:tc>
                  <a:txBody>
                    <a:bodyPr/>
                    <a:lstStyle/>
                    <a:p>
                      <a:endParaRPr lang="en-ES" dirty="0"/>
                    </a:p>
                  </a:txBody>
                  <a:tcPr/>
                </a:tc>
                <a:tc>
                  <a:txBody>
                    <a:bodyPr/>
                    <a:lstStyle/>
                    <a:p>
                      <a:r>
                        <a:rPr lang="en-E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ES" dirty="0"/>
                    </a:p>
                  </a:txBody>
                  <a:tcPr/>
                </a:tc>
                <a:extLst>
                  <a:ext uri="{0D108BD9-81ED-4DB2-BD59-A6C34878D82A}">
                    <a16:rowId xmlns:a16="http://schemas.microsoft.com/office/drawing/2014/main" val="465873272"/>
                  </a:ext>
                </a:extLst>
              </a:tr>
              <a:tr h="305003">
                <a:tc>
                  <a:txBody>
                    <a:bodyPr/>
                    <a:lstStyle/>
                    <a:p>
                      <a:r>
                        <a:rPr lang="en-ES" dirty="0"/>
                        <a:t>Balance</a:t>
                      </a:r>
                    </a:p>
                  </a:txBody>
                  <a:tcPr/>
                </a:tc>
                <a:tc>
                  <a:txBody>
                    <a:bodyPr/>
                    <a:lstStyle/>
                    <a:p>
                      <a:endParaRPr lang="en-ES" dirty="0"/>
                    </a:p>
                  </a:txBody>
                  <a:tcPr/>
                </a:tc>
                <a:tc>
                  <a:txBody>
                    <a:bodyPr/>
                    <a:lstStyle/>
                    <a:p>
                      <a:r>
                        <a:rPr lang="en-ES" dirty="0"/>
                        <a:t>Cola Derecha</a:t>
                      </a:r>
                    </a:p>
                  </a:txBody>
                  <a:tcPr/>
                </a:tc>
                <a:tc>
                  <a:txBody>
                    <a:bodyPr/>
                    <a:lstStyle/>
                    <a:p>
                      <a:r>
                        <a:rPr lang="en-GB" dirty="0"/>
                        <a:t>Balances </a:t>
                      </a:r>
                      <a:r>
                        <a:rPr lang="en-GB" dirty="0" err="1"/>
                        <a:t>superiores</a:t>
                      </a:r>
                      <a:endParaRPr lang="en-ES" dirty="0"/>
                    </a:p>
                  </a:txBody>
                  <a:tcPr/>
                </a:tc>
                <a:extLst>
                  <a:ext uri="{0D108BD9-81ED-4DB2-BD59-A6C34878D82A}">
                    <a16:rowId xmlns:a16="http://schemas.microsoft.com/office/drawing/2014/main" val="3727610031"/>
                  </a:ext>
                </a:extLst>
              </a:tr>
            </a:tbl>
          </a:graphicData>
        </a:graphic>
      </p:graphicFrame>
      <p:pic>
        <p:nvPicPr>
          <p:cNvPr id="12" name="Graphic 11" descr="Tick with solid fill">
            <a:extLst>
              <a:ext uri="{FF2B5EF4-FFF2-40B4-BE49-F238E27FC236}">
                <a16:creationId xmlns:a16="http://schemas.microsoft.com/office/drawing/2014/main" id="{1506EFA1-1C73-86D2-E716-CAB61E13A0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a:extLst>
              <a:ext uri="{FF2B5EF4-FFF2-40B4-BE49-F238E27FC236}">
                <a16:creationId xmlns:a16="http://schemas.microsoft.com/office/drawing/2014/main" id="{902C99F7-DF91-E1D0-C61D-1A0AC980FA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a:extLst>
              <a:ext uri="{FF2B5EF4-FFF2-40B4-BE49-F238E27FC236}">
                <a16:creationId xmlns:a16="http://schemas.microsoft.com/office/drawing/2014/main" id="{5EBBD3C2-A2ED-4479-7E26-B0D004755B3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extLst>
      <p:ext uri="{BB962C8B-B14F-4D97-AF65-F5344CB8AC3E}">
        <p14:creationId xmlns:p14="http://schemas.microsoft.com/office/powerpoint/2010/main" val="3535935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600438"/>
          </a:xfrm>
          <a:prstGeom prst="rect">
            <a:avLst/>
          </a:prstGeom>
          <a:noFill/>
        </p:spPr>
        <p:txBody>
          <a:bodyPr wrap="square" rtlCol="0">
            <a:spAutoFit/>
          </a:bodyPr>
          <a:lstStyle/>
          <a:p>
            <a:pPr algn="just"/>
            <a:r>
              <a:rPr lang="es-ES" b="1" dirty="0" err="1"/>
              <a:t>ComplaintsCount</a:t>
            </a:r>
            <a:endParaRPr lang="es-ES" b="1" dirty="0"/>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Se decidió </a:t>
            </a:r>
            <a:r>
              <a:rPr lang="en-ES" altLang="en-ES" b="1" dirty="0">
                <a:solidFill>
                  <a:schemeClr val="tx1"/>
                </a:solidFill>
                <a:latin typeface="Arial" panose="020B0604020202020204" pitchFamily="34" charset="0"/>
              </a:rPr>
              <a:t>dummyficar la variable</a:t>
            </a:r>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 La información se simplifica para indicar </a:t>
            </a:r>
          </a:p>
          <a:p>
            <a:pPr lvl="0" eaLnBrk="0" fontAlgn="base" hangingPunct="0">
              <a:spcBef>
                <a:spcPct val="0"/>
              </a:spcBef>
              <a:spcAft>
                <a:spcPct val="0"/>
              </a:spcAft>
              <a:buClrTx/>
            </a:pPr>
            <a:r>
              <a:rPr lang="en-ES" altLang="en-ES" b="1" dirty="0">
                <a:solidFill>
                  <a:schemeClr val="tx1"/>
                </a:solidFill>
                <a:latin typeface="Arial" panose="020B0604020202020204" pitchFamily="34" charset="0"/>
              </a:rPr>
              <a:t>si el cliente ha emitido alguna queja o no</a:t>
            </a:r>
          </a:p>
          <a:p>
            <a:pPr marL="285750" lvl="0" indent="-285750" eaLnBrk="0" fontAlgn="base" hangingPunct="0">
              <a:spcBef>
                <a:spcPct val="0"/>
              </a:spcBef>
              <a:spcAft>
                <a:spcPct val="0"/>
              </a:spcAft>
              <a:buClrTx/>
              <a:buFont typeface="Arial" panose="020B0604020202020204" pitchFamily="34" charset="0"/>
              <a:buChar char="•"/>
            </a:pPr>
            <a:r>
              <a:rPr lang="en-ES" altLang="en-ES" dirty="0">
                <a:solidFill>
                  <a:schemeClr val="tx1"/>
                </a:solidFill>
                <a:latin typeface="Arial" panose="020B0604020202020204" pitchFamily="34" charset="0"/>
              </a:rPr>
              <a:t>Variable: Númerica            Factor binario</a:t>
            </a: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64468" y="2467226"/>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615049" y="2364902"/>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marL="285750" indent="-285750" algn="just">
              <a:buFont typeface="Arial" panose="020B0604020202020204" pitchFamily="34" charset="0"/>
              <a:buChar char="•"/>
            </a:pPr>
            <a:r>
              <a:rPr lang="es-ES" dirty="0" err="1"/>
              <a:t>Mayoria</a:t>
            </a:r>
            <a:r>
              <a:rPr lang="es-ES" dirty="0"/>
              <a:t> de clientes tienes </a:t>
            </a:r>
            <a:r>
              <a:rPr lang="es-ES" b="1" dirty="0"/>
              <a:t>1 | 2 productos </a:t>
            </a:r>
          </a:p>
          <a:p>
            <a:pPr marL="285750" indent="-285750" algn="just">
              <a:buFont typeface="Arial" panose="020B0604020202020204" pitchFamily="34" charset="0"/>
              <a:buChar char="•"/>
            </a:pPr>
            <a:r>
              <a:rPr lang="es-ES" b="1" dirty="0" err="1"/>
              <a:t>Minoria</a:t>
            </a:r>
            <a:r>
              <a:rPr lang="es-ES" b="1" dirty="0"/>
              <a:t>         </a:t>
            </a:r>
            <a:r>
              <a:rPr lang="es-ES" dirty="0"/>
              <a:t>3 o más productos</a:t>
            </a:r>
          </a:p>
          <a:p>
            <a:pPr marL="285750" indent="-285750" algn="just">
              <a:buFont typeface="Arial" panose="020B0604020202020204" pitchFamily="34" charset="0"/>
              <a:buChar char="•"/>
            </a:pPr>
            <a:r>
              <a:rPr lang="es-ES" dirty="0"/>
              <a:t>Categorización de la variable (1, 2,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angle 3">
            <a:extLst>
              <a:ext uri="{FF2B5EF4-FFF2-40B4-BE49-F238E27FC236}">
                <a16:creationId xmlns:a16="http://schemas.microsoft.com/office/drawing/2014/main" id="{6F445AD4-12F0-F8AB-40F4-2087EDD7C509}"/>
              </a:ext>
            </a:extLst>
          </p:cNvPr>
          <p:cNvSpPr>
            <a:spLocks noChangeArrowheads="1"/>
          </p:cNvSpPr>
          <p:nvPr/>
        </p:nvSpPr>
        <p:spPr bwMode="auto">
          <a:xfrm>
            <a:off x="0" y="-323165"/>
            <a:ext cx="32893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ES" altLang="en-E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ES" altLang="en-ES" sz="1800" b="0" i="0" u="none" strike="noStrike" cap="none" normalizeH="0" baseline="0" dirty="0">
              <a:ln>
                <a:noFill/>
              </a:ln>
              <a:solidFill>
                <a:schemeClr val="tx1"/>
              </a:solidFill>
              <a:effectLst/>
              <a:latin typeface="Arial" panose="020B0604020202020204" pitchFamily="34" charset="0"/>
            </a:endParaRPr>
          </a:p>
        </p:txBody>
      </p:sp>
      <p:cxnSp>
        <p:nvCxnSpPr>
          <p:cNvPr id="12" name="Straight Arrow Connector 11">
            <a:extLst>
              <a:ext uri="{FF2B5EF4-FFF2-40B4-BE49-F238E27FC236}">
                <a16:creationId xmlns:a16="http://schemas.microsoft.com/office/drawing/2014/main" id="{69F9EE2F-03A1-F5D4-1372-1541834A3778}"/>
              </a:ext>
            </a:extLst>
          </p:cNvPr>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B040C3E-0578-A241-E175-FAEC372B7D94}"/>
              </a:ext>
            </a:extLst>
          </p:cNvPr>
          <p:cNvCxnSpPr/>
          <p:nvPr/>
        </p:nvCxnSpPr>
        <p:spPr>
          <a:xfrm>
            <a:off x="6117579" y="1658867"/>
            <a:ext cx="3236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a:extLst>
              <a:ext uri="{FF2B5EF4-FFF2-40B4-BE49-F238E27FC236}">
                <a16:creationId xmlns:a16="http://schemas.microsoft.com/office/drawing/2014/main" id="{03BE575D-59C2-5DAF-AF57-D94F96FCACDD}"/>
              </a:ext>
            </a:extLst>
          </p:cNvPr>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ES" sz="1100" dirty="0"/>
          </a:p>
        </p:txBody>
      </p:sp>
      <p:cxnSp>
        <p:nvCxnSpPr>
          <p:cNvPr id="6" name="Straight Arrow Connector 5">
            <a:extLst>
              <a:ext uri="{FF2B5EF4-FFF2-40B4-BE49-F238E27FC236}">
                <a16:creationId xmlns:a16="http://schemas.microsoft.com/office/drawing/2014/main" id="{17579261-50D2-BE0C-93D4-173148A6DD48}"/>
              </a:ext>
            </a:extLst>
          </p:cNvPr>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endParaRPr lang="es-ES" dirty="0"/>
          </a:p>
          <a:p>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221949" y="741395"/>
            <a:ext cx="2379842"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57394"/>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649663" y="809266"/>
            <a:ext cx="2379842"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t>Variables declaradas previamente como significativas concuerdan con las que aparecen en las reglas más informativas: </a:t>
            </a:r>
            <a:r>
              <a:rPr lang="es-ES" sz="1200" b="1" i="1" u="sng" dirty="0"/>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a:extLst>
              <a:ext uri="{FF2B5EF4-FFF2-40B4-BE49-F238E27FC236}">
                <a16:creationId xmlns:a16="http://schemas.microsoft.com/office/drawing/2014/main" id="{C18EA33C-C5E0-87E7-4EF1-8FB48CB1C0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0EE447-D04F-9B51-31BE-AD39AA4B154C}"/>
              </a:ext>
            </a:extLst>
          </p:cNvPr>
          <p:cNvSpPr txBox="1"/>
          <p:nvPr/>
        </p:nvSpPr>
        <p:spPr>
          <a:xfrm>
            <a:off x="559833" y="748484"/>
            <a:ext cx="2064989" cy="307777"/>
          </a:xfrm>
          <a:prstGeom prst="rect">
            <a:avLst/>
          </a:prstGeom>
          <a:noFill/>
        </p:spPr>
        <p:txBody>
          <a:bodyPr wrap="none" rtlCol="0">
            <a:spAutoFit/>
          </a:bodyPr>
          <a:lstStyle/>
          <a:p>
            <a:r>
              <a:rPr lang="en-ES" dirty="0"/>
              <a:t>Dataset desbalanceado</a:t>
            </a:r>
          </a:p>
        </p:txBody>
      </p:sp>
      <p:sp>
        <p:nvSpPr>
          <p:cNvPr id="5" name="TextBox 4">
            <a:extLst>
              <a:ext uri="{FF2B5EF4-FFF2-40B4-BE49-F238E27FC236}">
                <a16:creationId xmlns:a16="http://schemas.microsoft.com/office/drawing/2014/main" id="{9F3DB66A-05BA-4C22-89CA-05489D147222}"/>
              </a:ext>
            </a:extLst>
          </p:cNvPr>
          <p:cNvSpPr txBox="1"/>
          <p:nvPr/>
        </p:nvSpPr>
        <p:spPr>
          <a:xfrm>
            <a:off x="862078" y="2242522"/>
            <a:ext cx="1460500" cy="430887"/>
          </a:xfrm>
          <a:prstGeom prst="rect">
            <a:avLst/>
          </a:prstGeom>
          <a:noFill/>
        </p:spPr>
        <p:txBody>
          <a:bodyPr wrap="square">
            <a:spAutoFit/>
          </a:bodyPr>
          <a:lstStyle/>
          <a:p>
            <a:pPr algn="ctr"/>
            <a:r>
              <a:rPr lang="en-ES" sz="1100" dirty="0"/>
              <a:t>Clase negativa 80%</a:t>
            </a:r>
            <a:br>
              <a:rPr lang="en-ES" sz="1100" dirty="0"/>
            </a:br>
            <a:r>
              <a:rPr lang="en-ES" sz="1100" dirty="0"/>
              <a:t>Modelo sesgado</a:t>
            </a:r>
          </a:p>
        </p:txBody>
      </p:sp>
      <p:pic>
        <p:nvPicPr>
          <p:cNvPr id="1028" name="Picture 4" descr="71 mil resultados de imágenes, fotos de stock e ilustraciones libres de  regalías para Red x symbol | Shutterstock">
            <a:extLst>
              <a:ext uri="{FF2B5EF4-FFF2-40B4-BE49-F238E27FC236}">
                <a16:creationId xmlns:a16="http://schemas.microsoft.com/office/drawing/2014/main" id="{32F0DB92-EBC3-D1FE-9DEE-DF6E0DCC39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8DC694F7-2C67-8D9A-27D1-39C45A8CC0F3}"/>
              </a:ext>
            </a:extLst>
          </p:cNvPr>
          <p:cNvCxnSpPr>
            <a:cxnSpLocks/>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5446D04-C8F7-A5FC-FF50-762E56ADB010}"/>
              </a:ext>
            </a:extLst>
          </p:cNvPr>
          <p:cNvSpPr txBox="1"/>
          <p:nvPr/>
        </p:nvSpPr>
        <p:spPr>
          <a:xfrm>
            <a:off x="3752551" y="765373"/>
            <a:ext cx="1925527" cy="307777"/>
          </a:xfrm>
          <a:prstGeom prst="rect">
            <a:avLst/>
          </a:prstGeom>
          <a:noFill/>
        </p:spPr>
        <p:txBody>
          <a:bodyPr wrap="none" rtlCol="0">
            <a:spAutoFit/>
          </a:bodyPr>
          <a:lstStyle/>
          <a:p>
            <a:r>
              <a:rPr lang="en-ES" dirty="0"/>
              <a:t>Técnicas de balanceo</a:t>
            </a:r>
          </a:p>
        </p:txBody>
      </p:sp>
      <p:pic>
        <p:nvPicPr>
          <p:cNvPr id="1030" name="Picture 6" descr="Imbalanced Vs Balanced Dataset ...">
            <a:extLst>
              <a:ext uri="{FF2B5EF4-FFF2-40B4-BE49-F238E27FC236}">
                <a16:creationId xmlns:a16="http://schemas.microsoft.com/office/drawing/2014/main" id="{3A229A68-D68A-FD9C-AA26-6D42023187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4899363-A985-40D2-24C0-98B425C2F013}"/>
              </a:ext>
            </a:extLst>
          </p:cNvPr>
          <p:cNvSpPr txBox="1"/>
          <p:nvPr/>
        </p:nvSpPr>
        <p:spPr>
          <a:xfrm>
            <a:off x="6706863" y="740645"/>
            <a:ext cx="1717137" cy="307777"/>
          </a:xfrm>
          <a:prstGeom prst="rect">
            <a:avLst/>
          </a:prstGeom>
          <a:noFill/>
        </p:spPr>
        <p:txBody>
          <a:bodyPr wrap="none" rtlCol="0">
            <a:spAutoFit/>
          </a:bodyPr>
          <a:lstStyle/>
          <a:p>
            <a:r>
              <a:rPr lang="en-ES" dirty="0"/>
              <a:t>Datos balanceados</a:t>
            </a:r>
          </a:p>
        </p:txBody>
      </p:sp>
      <p:sp>
        <p:nvSpPr>
          <p:cNvPr id="10" name="TextBox 9">
            <a:extLst>
              <a:ext uri="{FF2B5EF4-FFF2-40B4-BE49-F238E27FC236}">
                <a16:creationId xmlns:a16="http://schemas.microsoft.com/office/drawing/2014/main" id="{368A1267-108C-9092-DCDF-ED3139D20009}"/>
              </a:ext>
            </a:extLst>
          </p:cNvPr>
          <p:cNvSpPr txBox="1"/>
          <p:nvPr/>
        </p:nvSpPr>
        <p:spPr>
          <a:xfrm>
            <a:off x="6836802" y="2455328"/>
            <a:ext cx="1313180" cy="261610"/>
          </a:xfrm>
          <a:prstGeom prst="rect">
            <a:avLst/>
          </a:prstGeom>
          <a:noFill/>
        </p:spPr>
        <p:txBody>
          <a:bodyPr wrap="none" rtlCol="0">
            <a:spAutoFit/>
          </a:bodyPr>
          <a:lstStyle/>
          <a:p>
            <a:r>
              <a:rPr lang="en-ES" sz="1100" dirty="0"/>
              <a:t>Mejor rendimiento</a:t>
            </a:r>
          </a:p>
        </p:txBody>
      </p:sp>
      <p:cxnSp>
        <p:nvCxnSpPr>
          <p:cNvPr id="11" name="Straight Arrow Connector 10">
            <a:extLst>
              <a:ext uri="{FF2B5EF4-FFF2-40B4-BE49-F238E27FC236}">
                <a16:creationId xmlns:a16="http://schemas.microsoft.com/office/drawing/2014/main" id="{E6CE2FAF-DF58-8ED6-3D47-E43C5C3B44E8}"/>
              </a:ext>
            </a:extLst>
          </p:cNvPr>
          <p:cNvCxnSpPr>
            <a:cxnSpLocks/>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a:extLst>
              <a:ext uri="{FF2B5EF4-FFF2-40B4-BE49-F238E27FC236}">
                <a16:creationId xmlns:a16="http://schemas.microsoft.com/office/drawing/2014/main" id="{6C7ED6AE-C646-6389-21C6-B6852F24C8D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a:extLst>
              <a:ext uri="{FF2B5EF4-FFF2-40B4-BE49-F238E27FC236}">
                <a16:creationId xmlns:a16="http://schemas.microsoft.com/office/drawing/2014/main" id="{1ECBF497-13C4-3227-DBB9-BADFB4398B0C}"/>
              </a:ext>
            </a:extLst>
          </p:cNvPr>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ES" dirty="0">
                <a:solidFill>
                  <a:schemeClr val="tx1"/>
                </a:solidFill>
              </a:rPr>
              <a:t>versampling</a:t>
            </a:r>
          </a:p>
        </p:txBody>
      </p:sp>
      <p:sp>
        <p:nvSpPr>
          <p:cNvPr id="14" name="Rounded Rectangle 13">
            <a:extLst>
              <a:ext uri="{FF2B5EF4-FFF2-40B4-BE49-F238E27FC236}">
                <a16:creationId xmlns:a16="http://schemas.microsoft.com/office/drawing/2014/main" id="{2DB3CF25-6462-D736-FD2E-B8DF75F1FE23}"/>
              </a:ext>
            </a:extLst>
          </p:cNvPr>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ES" dirty="0">
              <a:solidFill>
                <a:schemeClr val="tx1"/>
              </a:solidFill>
            </a:endParaRPr>
          </a:p>
        </p:txBody>
      </p:sp>
      <p:sp>
        <p:nvSpPr>
          <p:cNvPr id="15" name="Rounded Rectangle 14">
            <a:extLst>
              <a:ext uri="{FF2B5EF4-FFF2-40B4-BE49-F238E27FC236}">
                <a16:creationId xmlns:a16="http://schemas.microsoft.com/office/drawing/2014/main" id="{971F8AF3-E5C9-9DF4-4D08-5F0BDE9570F3}"/>
              </a:ext>
            </a:extLst>
          </p:cNvPr>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ES" dirty="0">
              <a:solidFill>
                <a:schemeClr val="tx1"/>
              </a:solidFill>
            </a:endParaRPr>
          </a:p>
        </p:txBody>
      </p:sp>
      <p:sp>
        <p:nvSpPr>
          <p:cNvPr id="18" name="TextBox 17">
            <a:extLst>
              <a:ext uri="{FF2B5EF4-FFF2-40B4-BE49-F238E27FC236}">
                <a16:creationId xmlns:a16="http://schemas.microsoft.com/office/drawing/2014/main" id="{3A1457C4-E1D5-D1CA-4D35-ECA933DB1208}"/>
              </a:ext>
            </a:extLst>
          </p:cNvPr>
          <p:cNvSpPr txBox="1"/>
          <p:nvPr/>
        </p:nvSpPr>
        <p:spPr>
          <a:xfrm>
            <a:off x="3330425" y="2439538"/>
            <a:ext cx="2520242" cy="261610"/>
          </a:xfrm>
          <a:prstGeom prst="rect">
            <a:avLst/>
          </a:prstGeom>
          <a:noFill/>
        </p:spPr>
        <p:txBody>
          <a:bodyPr wrap="none" rtlCol="0">
            <a:spAutoFit/>
          </a:bodyPr>
          <a:lstStyle/>
          <a:p>
            <a:r>
              <a:rPr lang="en-ES" sz="1100" dirty="0"/>
              <a:t>Todas las técnicas mejoran resultado</a:t>
            </a:r>
          </a:p>
        </p:txBody>
      </p:sp>
      <p:pic>
        <p:nvPicPr>
          <p:cNvPr id="19" name="Picture 18">
            <a:extLst>
              <a:ext uri="{FF2B5EF4-FFF2-40B4-BE49-F238E27FC236}">
                <a16:creationId xmlns:a16="http://schemas.microsoft.com/office/drawing/2014/main" id="{5B13B0EB-1477-2655-9B5D-E5EAD987BC31}"/>
              </a:ext>
            </a:extLst>
          </p:cNvPr>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a:extLst>
              <a:ext uri="{FF2B5EF4-FFF2-40B4-BE49-F238E27FC236}">
                <a16:creationId xmlns:a16="http://schemas.microsoft.com/office/drawing/2014/main" id="{91C9788D-1559-6736-E45E-93CB72D82824}"/>
              </a:ext>
            </a:extLst>
          </p:cNvPr>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ES" dirty="0">
              <a:solidFill>
                <a:schemeClr val="tx1"/>
              </a:solidFill>
            </a:endParaRP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extLst>
              <p:ext uri="{D42A27DB-BD31-4B8C-83A1-F6EECF244321}">
                <p14:modId xmlns:p14="http://schemas.microsoft.com/office/powerpoint/2010/main" val="50387516"/>
              </p:ext>
            </p:extLst>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736805">
                  <a:extLst>
                    <a:ext uri="{9D8B030D-6E8A-4147-A177-3AD203B41FA5}">
                      <a16:colId xmlns:a16="http://schemas.microsoft.com/office/drawing/2014/main" val="20003"/>
                    </a:ext>
                  </a:extLst>
                </a:gridCol>
                <a:gridCol w="816153">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gridCol w="736805">
                  <a:extLst>
                    <a:ext uri="{9D8B030D-6E8A-4147-A177-3AD203B41FA5}">
                      <a16:colId xmlns:a16="http://schemas.microsoft.com/office/drawing/2014/main" val="20006"/>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2"/>
                  </a:ext>
                </a:extLst>
              </a:tr>
            </a:tbl>
          </a:graphicData>
        </a:graphic>
      </p:graphicFrame>
      <p:graphicFrame>
        <p:nvGraphicFramePr>
          <p:cNvPr id="5" name="Tabla 4"/>
          <p:cNvGraphicFramePr>
            <a:graphicFrameLocks noGrp="1"/>
          </p:cNvGraphicFramePr>
          <p:nvPr>
            <p:extLst>
              <p:ext uri="{D42A27DB-BD31-4B8C-83A1-F6EECF244321}">
                <p14:modId xmlns:p14="http://schemas.microsoft.com/office/powerpoint/2010/main" val="1754887632"/>
              </p:ext>
            </p:extLst>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1"/>
                    </a:ext>
                  </a:extLst>
                </a:gridCol>
                <a:gridCol w="709607">
                  <a:extLst>
                    <a:ext uri="{9D8B030D-6E8A-4147-A177-3AD203B41FA5}">
                      <a16:colId xmlns:a16="http://schemas.microsoft.com/office/drawing/2014/main" val="20002"/>
                    </a:ext>
                  </a:extLst>
                </a:gridCol>
                <a:gridCol w="730054">
                  <a:extLst>
                    <a:ext uri="{9D8B030D-6E8A-4147-A177-3AD203B41FA5}">
                      <a16:colId xmlns:a16="http://schemas.microsoft.com/office/drawing/2014/main" val="20003"/>
                    </a:ext>
                  </a:extLst>
                </a:gridCol>
                <a:gridCol w="839275">
                  <a:extLst>
                    <a:ext uri="{9D8B030D-6E8A-4147-A177-3AD203B41FA5}">
                      <a16:colId xmlns:a16="http://schemas.microsoft.com/office/drawing/2014/main" val="20004"/>
                    </a:ext>
                  </a:extLst>
                </a:gridCol>
                <a:gridCol w="713544">
                  <a:extLst>
                    <a:ext uri="{9D8B030D-6E8A-4147-A177-3AD203B41FA5}">
                      <a16:colId xmlns:a16="http://schemas.microsoft.com/office/drawing/2014/main" val="20005"/>
                    </a:ext>
                  </a:extLst>
                </a:gridCol>
                <a:gridCol w="748120">
                  <a:extLst>
                    <a:ext uri="{9D8B030D-6E8A-4147-A177-3AD203B41FA5}">
                      <a16:colId xmlns:a16="http://schemas.microsoft.com/office/drawing/2014/main" val="20006"/>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3840787724"/>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0"/>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1"/>
                  </a:ext>
                </a:extLst>
              </a:tr>
            </a:tbl>
          </a:graphicData>
        </a:graphic>
      </p:graphicFrame>
      <p:sp>
        <p:nvSpPr>
          <p:cNvPr id="7" name="CuadroTexto 6"/>
          <p:cNvSpPr txBox="1"/>
          <p:nvPr/>
        </p:nvSpPr>
        <p:spPr>
          <a:xfrm>
            <a:off x="782760" y="2842962"/>
            <a:ext cx="7726804" cy="1569660"/>
          </a:xfrm>
          <a:prstGeom prst="rect">
            <a:avLst/>
          </a:prstGeom>
          <a:noFill/>
        </p:spPr>
        <p:txBody>
          <a:bodyPr wrap="square">
            <a:spAutoFit/>
          </a:bodyPr>
          <a:lstStyle/>
          <a:p>
            <a:pPr>
              <a:buFont typeface="Arial" panose="020B0604020202020204" pitchFamily="34" charset="0"/>
              <a:buChar char="•"/>
            </a:pPr>
            <a:r>
              <a:rPr lang="en-GB" b="1" dirty="0"/>
              <a:t>Naive Bayes:</a:t>
            </a:r>
            <a:r>
              <a:rPr lang="en-GB" dirty="0"/>
              <a:t> se </a:t>
            </a:r>
            <a:r>
              <a:rPr lang="en-GB" dirty="0" err="1"/>
              <a:t>aplicó</a:t>
            </a:r>
            <a:r>
              <a:rPr lang="en-GB" dirty="0"/>
              <a:t> </a:t>
            </a:r>
            <a:r>
              <a:rPr lang="en-GB" b="1" dirty="0" err="1"/>
              <a:t>balanceo</a:t>
            </a:r>
            <a:r>
              <a:rPr lang="en-GB" dirty="0"/>
              <a:t>, </a:t>
            </a:r>
            <a:r>
              <a:rPr lang="en-GB" dirty="0" err="1"/>
              <a:t>obteniendo</a:t>
            </a:r>
            <a:r>
              <a:rPr lang="en-GB" dirty="0"/>
              <a:t> </a:t>
            </a:r>
            <a:r>
              <a:rPr lang="en-GB" dirty="0" err="1"/>
              <a:t>una</a:t>
            </a:r>
            <a:r>
              <a:rPr lang="en-GB" dirty="0"/>
              <a:t> </a:t>
            </a:r>
            <a:r>
              <a:rPr lang="en-GB" dirty="0" err="1"/>
              <a:t>leve</a:t>
            </a:r>
            <a:r>
              <a:rPr lang="en-GB" dirty="0"/>
              <a:t> </a:t>
            </a:r>
            <a:r>
              <a:rPr lang="en-GB" dirty="0" err="1"/>
              <a:t>mejora</a:t>
            </a:r>
            <a:r>
              <a:rPr lang="en-GB" dirty="0"/>
              <a:t> </a:t>
            </a:r>
            <a:r>
              <a:rPr lang="en-GB" dirty="0" err="1"/>
              <a:t>en</a:t>
            </a:r>
            <a:r>
              <a:rPr lang="en-GB" dirty="0"/>
              <a:t> las </a:t>
            </a:r>
            <a:r>
              <a:rPr lang="en-GB" dirty="0" err="1"/>
              <a:t>métricas</a:t>
            </a:r>
            <a:r>
              <a:rPr lang="en-GB" dirty="0"/>
              <a:t>.</a:t>
            </a:r>
          </a:p>
          <a:p>
            <a:pPr>
              <a:buFont typeface="Arial" panose="020B0604020202020204" pitchFamily="34" charset="0"/>
              <a:buChar char="•"/>
            </a:pPr>
            <a:r>
              <a:rPr lang="en-GB" b="1" dirty="0"/>
              <a:t>KNN (9NN):</a:t>
            </a:r>
            <a:r>
              <a:rPr lang="en-GB" dirty="0"/>
              <a:t> se </a:t>
            </a:r>
            <a:r>
              <a:rPr lang="en-GB" dirty="0" err="1"/>
              <a:t>entrenó</a:t>
            </a:r>
            <a:r>
              <a:rPr lang="en-GB" dirty="0"/>
              <a:t> con </a:t>
            </a:r>
            <a:r>
              <a:rPr lang="en-GB" b="1" dirty="0"/>
              <a:t>datasets </a:t>
            </a:r>
            <a:r>
              <a:rPr lang="en-GB" b="1" dirty="0" err="1"/>
              <a:t>balanceados</a:t>
            </a:r>
            <a:r>
              <a:rPr lang="en-GB" dirty="0"/>
              <a:t> (Over-sampling, Under-sampling, SMOTE, ROSE) y </a:t>
            </a:r>
            <a:r>
              <a:rPr lang="en-GB" b="1" dirty="0"/>
              <a:t>FAMD</a:t>
            </a:r>
            <a:r>
              <a:rPr lang="en-GB" dirty="0"/>
              <a:t>.</a:t>
            </a:r>
          </a:p>
          <a:p>
            <a:pPr marL="742950" lvl="1" indent="-285750">
              <a:buFont typeface="Arial" panose="020B0604020202020204" pitchFamily="34" charset="0"/>
              <a:buChar char="•"/>
            </a:pPr>
            <a:r>
              <a:rPr lang="en-GB" b="1" dirty="0"/>
              <a:t>SMOTE</a:t>
            </a:r>
            <a:r>
              <a:rPr lang="en-GB" dirty="0"/>
              <a:t> </a:t>
            </a:r>
            <a:r>
              <a:rPr lang="en-GB" dirty="0" err="1"/>
              <a:t>ofreció</a:t>
            </a:r>
            <a:r>
              <a:rPr lang="en-GB" dirty="0"/>
              <a:t> </a:t>
            </a:r>
            <a:r>
              <a:rPr lang="en-GB" dirty="0" err="1"/>
              <a:t>los</a:t>
            </a:r>
            <a:r>
              <a:rPr lang="en-GB" dirty="0"/>
              <a:t> </a:t>
            </a:r>
            <a:r>
              <a:rPr lang="en-GB" dirty="0" err="1"/>
              <a:t>mejores</a:t>
            </a:r>
            <a:r>
              <a:rPr lang="en-GB" dirty="0"/>
              <a:t> </a:t>
            </a:r>
            <a:r>
              <a:rPr lang="en-GB" dirty="0" err="1"/>
              <a:t>resultados</a:t>
            </a:r>
            <a:r>
              <a:rPr lang="en-GB" dirty="0"/>
              <a:t>.</a:t>
            </a:r>
          </a:p>
          <a:p>
            <a:pPr marL="742950" lvl="1" indent="-285750">
              <a:buFont typeface="Arial" panose="020B0604020202020204" pitchFamily="34" charset="0"/>
              <a:buChar char="•"/>
            </a:pPr>
            <a:r>
              <a:rPr lang="en-GB" dirty="0"/>
              <a:t>Se </a:t>
            </a:r>
            <a:r>
              <a:rPr lang="en-GB" dirty="0" err="1"/>
              <a:t>detectó</a:t>
            </a:r>
            <a:r>
              <a:rPr lang="en-GB" dirty="0"/>
              <a:t> </a:t>
            </a:r>
            <a:r>
              <a:rPr lang="en-GB" b="1" dirty="0" err="1"/>
              <a:t>ligero</a:t>
            </a:r>
            <a:r>
              <a:rPr lang="en-GB" b="1" dirty="0"/>
              <a:t> </a:t>
            </a:r>
            <a:r>
              <a:rPr lang="en-GB" b="1" dirty="0" err="1"/>
              <a:t>sobreajuste</a:t>
            </a:r>
            <a:r>
              <a:rPr lang="en-GB" dirty="0"/>
              <a:t>.</a:t>
            </a:r>
            <a:br>
              <a:rPr lang="en-GB" dirty="0"/>
            </a:br>
            <a:endParaRPr lang="en-GB" dirty="0"/>
          </a:p>
          <a:p>
            <a:r>
              <a:rPr lang="es-ES" sz="1200" i="1" dirty="0"/>
              <a:t>(Ver “Registros </a:t>
            </a:r>
            <a:r>
              <a:rPr lang="es-ES" sz="1200" i="1" dirty="0" err="1"/>
              <a:t>modelos.xlsx</a:t>
            </a:r>
            <a:r>
              <a:rPr lang="es-ES" sz="1200" i="1" dirty="0"/>
              <a:t>” evaluados en </a:t>
            </a:r>
            <a:r>
              <a:rPr lang="es-ES" sz="1200" i="1" dirty="0" err="1">
                <a:hlinkClick r:id="rId3"/>
              </a:rPr>
              <a:t>Github</a:t>
            </a:r>
            <a:r>
              <a:rPr lang="es-ES" sz="1200" i="1" dirty="0"/>
              <a:t>)</a:t>
            </a:r>
            <a:endParaRPr lang="ca-ES" sz="1200" i="1" dirty="0"/>
          </a:p>
        </p:txBody>
      </p:sp>
      <p:sp>
        <p:nvSpPr>
          <p:cNvPr id="10" name="Flecha: hacia la izquierda 9"/>
          <p:cNvSpPr/>
          <p:nvPr/>
        </p:nvSpPr>
        <p:spPr>
          <a:xfrm rot="1074322">
            <a:off x="6834155" y="2446835"/>
            <a:ext cx="1861339" cy="607846"/>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sp>
        <p:nvSpPr>
          <p:cNvPr id="18" name="Flecha: hacia la izquierda 8"/>
          <p:cNvSpPr/>
          <p:nvPr/>
        </p:nvSpPr>
        <p:spPr>
          <a:xfrm rot="21098126">
            <a:off x="6953929" y="1317800"/>
            <a:ext cx="1411605" cy="401695"/>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ca-ES" sz="1200" dirty="0">
                <a:solidFill>
                  <a:schemeClr val="tx1"/>
                </a:solidFill>
              </a:rPr>
              <a:t>O</a:t>
            </a:r>
            <a:r>
              <a:rPr lang="ca-ES" sz="1200" dirty="0" err="1">
                <a:solidFill>
                  <a:schemeClr val="tx1"/>
                </a:solidFill>
              </a:rPr>
              <a:t>v</a:t>
            </a:r>
            <a:r>
              <a:rPr lang="en-US" altLang="ca-ES" sz="1200" dirty="0" err="1">
                <a:solidFill>
                  <a:schemeClr val="tx1"/>
                </a:solidFill>
              </a:rPr>
              <a:t>e</a:t>
            </a:r>
            <a:r>
              <a:rPr lang="ca-ES" sz="1200" dirty="0" err="1">
                <a:solidFill>
                  <a:schemeClr val="tx1"/>
                </a:solidFill>
              </a:rPr>
              <a:t>rfitting</a:t>
            </a:r>
          </a:p>
        </p:txBody>
      </p:sp>
      <p:graphicFrame>
        <p:nvGraphicFramePr>
          <p:cNvPr id="15" name="Diagram 14">
            <a:extLst>
              <a:ext uri="{FF2B5EF4-FFF2-40B4-BE49-F238E27FC236}">
                <a16:creationId xmlns:a16="http://schemas.microsoft.com/office/drawing/2014/main" id="{3C87FC02-D443-B500-1F46-D6A556E0E738}"/>
              </a:ext>
            </a:extLst>
          </p:cNvPr>
          <p:cNvGraphicFramePr/>
          <p:nvPr>
            <p:extLst>
              <p:ext uri="{D42A27DB-BD31-4B8C-83A1-F6EECF244321}">
                <p14:modId xmlns:p14="http://schemas.microsoft.com/office/powerpoint/2010/main" val="3846858244"/>
              </p:ext>
            </p:extLst>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a:extLst>
              <a:ext uri="{FF2B5EF4-FFF2-40B4-BE49-F238E27FC236}">
                <a16:creationId xmlns:a16="http://schemas.microsoft.com/office/drawing/2014/main" id="{FAAF9AA9-2E60-FD7F-66A3-2CAAAD442921}"/>
              </a:ext>
            </a:extLst>
          </p:cNvPr>
          <p:cNvGraphicFramePr/>
          <p:nvPr>
            <p:extLst>
              <p:ext uri="{D42A27DB-BD31-4B8C-83A1-F6EECF244321}">
                <p14:modId xmlns:p14="http://schemas.microsoft.com/office/powerpoint/2010/main" val="1592414242"/>
              </p:ext>
            </p:extLst>
          </p:nvPr>
        </p:nvGraphicFramePr>
        <p:xfrm>
          <a:off x="-51798" y="2004664"/>
          <a:ext cx="2413931"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a:extLst>
              <a:ext uri="{FF2B5EF4-FFF2-40B4-BE49-F238E27FC236}">
                <a16:creationId xmlns:a16="http://schemas.microsoft.com/office/drawing/2014/main" id="{55941FCE-A230-D01C-1E66-60A61B21C5A3}"/>
              </a:ext>
            </a:extLst>
          </p:cNvPr>
          <p:cNvSpPr/>
          <p:nvPr/>
        </p:nvSpPr>
        <p:spPr>
          <a:xfrm>
            <a:off x="7227390" y="1857521"/>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Cross Validation</a:t>
            </a: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642998" y="421824"/>
            <a:ext cx="7704000" cy="572700"/>
          </a:xfrm>
          <a:prstGeom prst="rect">
            <a:avLst/>
          </a:prstGeom>
        </p:spPr>
        <p:txBody>
          <a:bodyPr spcFirstLastPara="1" wrap="square" lIns="91425" tIns="91425" rIns="91425" bIns="91425" anchor="t" anchorCtr="0">
            <a:noAutofit/>
          </a:bodyPr>
          <a:lstStyle/>
          <a:p>
            <a:pPr lvl="0"/>
            <a:r>
              <a:rPr lang="es-ES" dirty="0"/>
              <a:t>CONCLUSIONES &amp; PRÓXIMOS PASOS</a:t>
            </a:r>
            <a:endParaRPr dirty="0"/>
          </a:p>
        </p:txBody>
      </p:sp>
      <p:pic>
        <p:nvPicPr>
          <p:cNvPr id="2" name="Picture 1">
            <a:extLst>
              <a:ext uri="{FF2B5EF4-FFF2-40B4-BE49-F238E27FC236}">
                <a16:creationId xmlns:a16="http://schemas.microsoft.com/office/drawing/2014/main" id="{633856C8-457E-85C9-545D-9133F826B174}"/>
              </a:ext>
            </a:extLst>
          </p:cNvPr>
          <p:cNvPicPr>
            <a:picLocks noChangeAspect="1"/>
          </p:cNvPicPr>
          <p:nvPr/>
        </p:nvPicPr>
        <p:blipFill>
          <a:blip r:embed="rId3"/>
          <a:stretch>
            <a:fillRect/>
          </a:stretch>
        </p:blipFill>
        <p:spPr>
          <a:xfrm>
            <a:off x="1625700" y="1115036"/>
            <a:ext cx="5562600" cy="2356013"/>
          </a:xfrm>
          <a:prstGeom prst="rect">
            <a:avLst/>
          </a:prstGeom>
        </p:spPr>
      </p:pic>
      <p:sp>
        <p:nvSpPr>
          <p:cNvPr id="3" name="TextBox 2">
            <a:extLst>
              <a:ext uri="{FF2B5EF4-FFF2-40B4-BE49-F238E27FC236}">
                <a16:creationId xmlns:a16="http://schemas.microsoft.com/office/drawing/2014/main" id="{CBB543AC-28C6-CB87-2130-192D13526D85}"/>
              </a:ext>
            </a:extLst>
          </p:cNvPr>
          <p:cNvSpPr txBox="1"/>
          <p:nvPr/>
        </p:nvSpPr>
        <p:spPr>
          <a:xfrm>
            <a:off x="2687220" y="1150060"/>
            <a:ext cx="564578" cy="307777"/>
          </a:xfrm>
          <a:prstGeom prst="rect">
            <a:avLst/>
          </a:prstGeom>
          <a:noFill/>
        </p:spPr>
        <p:txBody>
          <a:bodyPr wrap="none" rtlCol="0">
            <a:spAutoFit/>
          </a:bodyPr>
          <a:lstStyle/>
          <a:p>
            <a:r>
              <a:rPr lang="en-ES" dirty="0"/>
              <a:t>KNN</a:t>
            </a:r>
          </a:p>
        </p:txBody>
      </p:sp>
      <p:sp>
        <p:nvSpPr>
          <p:cNvPr id="5" name="TextBox 4">
            <a:extLst>
              <a:ext uri="{FF2B5EF4-FFF2-40B4-BE49-F238E27FC236}">
                <a16:creationId xmlns:a16="http://schemas.microsoft.com/office/drawing/2014/main" id="{1B72F570-8C4E-D03D-19B6-735E5B05BD2C}"/>
              </a:ext>
            </a:extLst>
          </p:cNvPr>
          <p:cNvSpPr txBox="1"/>
          <p:nvPr/>
        </p:nvSpPr>
        <p:spPr>
          <a:xfrm>
            <a:off x="5291719" y="1111741"/>
            <a:ext cx="1200970" cy="307777"/>
          </a:xfrm>
          <a:prstGeom prst="rect">
            <a:avLst/>
          </a:prstGeom>
          <a:noFill/>
        </p:spPr>
        <p:txBody>
          <a:bodyPr wrap="none" rtlCol="0">
            <a:spAutoFit/>
          </a:bodyPr>
          <a:lstStyle/>
          <a:p>
            <a:r>
              <a:rPr lang="en-ES" dirty="0"/>
              <a:t>Na</a:t>
            </a:r>
            <a:r>
              <a:rPr lang="en-GB" dirty="0" err="1"/>
              <a:t>ï</a:t>
            </a:r>
            <a:r>
              <a:rPr lang="en-ES" dirty="0"/>
              <a:t>ve Bayes</a:t>
            </a:r>
          </a:p>
        </p:txBody>
      </p:sp>
      <p:sp>
        <p:nvSpPr>
          <p:cNvPr id="7" name="TextBox 6">
            <a:extLst>
              <a:ext uri="{FF2B5EF4-FFF2-40B4-BE49-F238E27FC236}">
                <a16:creationId xmlns:a16="http://schemas.microsoft.com/office/drawing/2014/main" id="{DD0C6F00-4574-F599-71F8-148D1AC02A0D}"/>
              </a:ext>
            </a:extLst>
          </p:cNvPr>
          <p:cNvSpPr txBox="1"/>
          <p:nvPr/>
        </p:nvSpPr>
        <p:spPr>
          <a:xfrm>
            <a:off x="2410265" y="3474344"/>
            <a:ext cx="3538148" cy="307777"/>
          </a:xfrm>
          <a:prstGeom prst="rect">
            <a:avLst/>
          </a:prstGeom>
          <a:noFill/>
        </p:spPr>
        <p:txBody>
          <a:bodyPr wrap="none" rtlCol="0">
            <a:spAutoFit/>
          </a:bodyPr>
          <a:lstStyle/>
          <a:p>
            <a:r>
              <a:rPr lang="en-ES" dirty="0">
                <a:solidFill>
                  <a:srgbClr val="00B050"/>
                </a:solidFill>
              </a:rPr>
              <a:t>¡NECESITAMOS UN NUEVO ENFOQUE!</a:t>
            </a:r>
          </a:p>
        </p:txBody>
      </p:sp>
      <p:sp>
        <p:nvSpPr>
          <p:cNvPr id="4" name="TextBox 3">
            <a:extLst>
              <a:ext uri="{FF2B5EF4-FFF2-40B4-BE49-F238E27FC236}">
                <a16:creationId xmlns:a16="http://schemas.microsoft.com/office/drawing/2014/main" id="{CE81DE5E-6259-79DC-5572-F796569C1956}"/>
              </a:ext>
            </a:extLst>
          </p:cNvPr>
          <p:cNvSpPr txBox="1"/>
          <p:nvPr/>
        </p:nvSpPr>
        <p:spPr>
          <a:xfrm>
            <a:off x="80300" y="3782121"/>
            <a:ext cx="9063700" cy="1154162"/>
          </a:xfrm>
          <a:prstGeom prst="rect">
            <a:avLst/>
          </a:prstGeom>
          <a:noFill/>
        </p:spPr>
        <p:txBody>
          <a:bodyPr wrap="none" rtlCol="0">
            <a:spAutoFit/>
          </a:bodyPr>
          <a:lstStyle/>
          <a:p>
            <a:pPr marL="171450" indent="-171450">
              <a:buFont typeface="Arial" panose="020B0604020202020204" pitchFamily="34" charset="0"/>
              <a:buChar char="•"/>
            </a:pPr>
            <a:r>
              <a:rPr lang="en-GB" sz="1100" dirty="0"/>
              <a:t>Los </a:t>
            </a:r>
            <a:r>
              <a:rPr lang="en-GB" sz="1100" dirty="0" err="1"/>
              <a:t>modelos</a:t>
            </a:r>
            <a:r>
              <a:rPr lang="en-GB" sz="1100" dirty="0"/>
              <a:t> </a:t>
            </a:r>
            <a:r>
              <a:rPr lang="en-GB" sz="1100" dirty="0" err="1"/>
              <a:t>iniciales</a:t>
            </a:r>
            <a:r>
              <a:rPr lang="en-GB" sz="1100" dirty="0"/>
              <a:t> (</a:t>
            </a:r>
            <a:r>
              <a:rPr lang="en-GB" sz="1100" b="1" dirty="0"/>
              <a:t>KNN</a:t>
            </a:r>
            <a:r>
              <a:rPr lang="en-GB" sz="1100" dirty="0"/>
              <a:t> y </a:t>
            </a:r>
            <a:r>
              <a:rPr lang="en-GB" sz="1100" b="1" dirty="0"/>
              <a:t>Naive Bayes</a:t>
            </a:r>
            <a:r>
              <a:rPr lang="en-GB" sz="1100" dirty="0"/>
              <a:t>) </a:t>
            </a:r>
            <a:r>
              <a:rPr lang="en-GB" sz="1100" dirty="0" err="1"/>
              <a:t>mostraron</a:t>
            </a:r>
            <a:r>
              <a:rPr lang="en-GB" sz="1100" dirty="0"/>
              <a:t> </a:t>
            </a:r>
            <a:r>
              <a:rPr lang="en-GB" sz="1100" b="1" dirty="0"/>
              <a:t>bajo </a:t>
            </a:r>
            <a:r>
              <a:rPr lang="en-GB" sz="1100" b="1" dirty="0" err="1"/>
              <a:t>desempeño</a:t>
            </a:r>
            <a:r>
              <a:rPr lang="en-GB" sz="1100" b="1" dirty="0"/>
              <a:t> </a:t>
            </a:r>
            <a:r>
              <a:rPr lang="en-GB" sz="1100" b="1" dirty="0" err="1"/>
              <a:t>predictivo</a:t>
            </a:r>
            <a:r>
              <a:rPr lang="en-GB" sz="1100" dirty="0"/>
              <a:t> </a:t>
            </a:r>
            <a:r>
              <a:rPr lang="en-GB" sz="1100" dirty="0" err="1"/>
              <a:t>en</a:t>
            </a:r>
            <a:r>
              <a:rPr lang="en-GB" sz="1100" dirty="0"/>
              <a:t> la </a:t>
            </a:r>
            <a:r>
              <a:rPr lang="en-GB" sz="1100" dirty="0" err="1"/>
              <a:t>detección</a:t>
            </a:r>
            <a:r>
              <a:rPr lang="en-GB" sz="1100" dirty="0"/>
              <a:t> de </a:t>
            </a:r>
            <a:r>
              <a:rPr lang="en-GB" sz="1100" dirty="0" err="1"/>
              <a:t>clientes</a:t>
            </a:r>
            <a:r>
              <a:rPr lang="en-GB" sz="1100" dirty="0"/>
              <a:t> con </a:t>
            </a:r>
            <a:r>
              <a:rPr lang="en-GB" sz="1100" dirty="0" err="1"/>
              <a:t>riesgo</a:t>
            </a:r>
            <a:r>
              <a:rPr lang="en-GB" sz="1100" dirty="0"/>
              <a:t> de </a:t>
            </a:r>
            <a:r>
              <a:rPr lang="en-GB" sz="1100" i="1" dirty="0"/>
              <a:t>churn</a:t>
            </a:r>
            <a:r>
              <a:rPr lang="en-GB" sz="1100" dirty="0"/>
              <a:t>.</a:t>
            </a:r>
          </a:p>
          <a:p>
            <a:pPr marL="171450" indent="-171450">
              <a:buFont typeface="Arial" panose="020B0604020202020204" pitchFamily="34" charset="0"/>
              <a:buChar char="•"/>
            </a:pPr>
            <a:r>
              <a:rPr lang="en-GB" sz="1100" dirty="0"/>
              <a:t>Se </a:t>
            </a:r>
            <a:r>
              <a:rPr lang="en-GB" sz="1100" dirty="0" err="1"/>
              <a:t>concluye</a:t>
            </a:r>
            <a:r>
              <a:rPr lang="en-GB" sz="1100" dirty="0"/>
              <a:t> que </a:t>
            </a:r>
            <a:r>
              <a:rPr lang="en-GB" sz="1100" b="1" dirty="0" err="1"/>
              <a:t>estas</a:t>
            </a:r>
            <a:r>
              <a:rPr lang="en-GB" sz="1100" b="1" dirty="0"/>
              <a:t> </a:t>
            </a:r>
            <a:r>
              <a:rPr lang="en-GB" sz="1100" b="1" dirty="0" err="1"/>
              <a:t>técnicas</a:t>
            </a:r>
            <a:r>
              <a:rPr lang="en-GB" sz="1100" b="1" dirty="0"/>
              <a:t> no son las </a:t>
            </a:r>
            <a:r>
              <a:rPr lang="en-GB" sz="1100" b="1" dirty="0" err="1"/>
              <a:t>más</a:t>
            </a:r>
            <a:r>
              <a:rPr lang="en-GB" sz="1100" b="1" dirty="0"/>
              <a:t> </a:t>
            </a:r>
            <a:r>
              <a:rPr lang="en-GB" sz="1100" b="1" dirty="0" err="1"/>
              <a:t>adecuadas</a:t>
            </a:r>
            <a:r>
              <a:rPr lang="en-GB" sz="1100" dirty="0"/>
              <a:t> para </a:t>
            </a:r>
            <a:r>
              <a:rPr lang="en-GB" sz="1100" dirty="0" err="1"/>
              <a:t>capturar</a:t>
            </a:r>
            <a:r>
              <a:rPr lang="en-GB" sz="1100" dirty="0"/>
              <a:t> </a:t>
            </a:r>
            <a:r>
              <a:rPr lang="en-GB" sz="1100" dirty="0" err="1"/>
              <a:t>los</a:t>
            </a:r>
            <a:r>
              <a:rPr lang="en-GB" sz="1100" dirty="0"/>
              <a:t> </a:t>
            </a:r>
            <a:r>
              <a:rPr lang="en-GB" sz="1100" dirty="0" err="1"/>
              <a:t>patrones</a:t>
            </a:r>
            <a:r>
              <a:rPr lang="en-GB" sz="1100" dirty="0"/>
              <a:t> de </a:t>
            </a:r>
            <a:r>
              <a:rPr lang="en-GB" sz="1100" dirty="0" err="1"/>
              <a:t>abandono</a:t>
            </a:r>
            <a:r>
              <a:rPr lang="en-GB" sz="1100" dirty="0"/>
              <a:t> </a:t>
            </a:r>
            <a:r>
              <a:rPr lang="en-GB" sz="1100" dirty="0" err="1"/>
              <a:t>en</a:t>
            </a:r>
            <a:r>
              <a:rPr lang="en-GB" sz="1100" dirty="0"/>
              <a:t> </a:t>
            </a:r>
            <a:r>
              <a:rPr lang="en-GB" sz="1100" dirty="0" err="1"/>
              <a:t>los</a:t>
            </a:r>
            <a:r>
              <a:rPr lang="en-GB" sz="1100" dirty="0"/>
              <a:t> </a:t>
            </a:r>
            <a:r>
              <a:rPr lang="en-GB" sz="1100" dirty="0" err="1"/>
              <a:t>datos</a:t>
            </a:r>
            <a:r>
              <a:rPr lang="en-GB" sz="1100" dirty="0"/>
              <a:t>.</a:t>
            </a:r>
          </a:p>
          <a:p>
            <a:pPr marL="171450" indent="-171450">
              <a:buFont typeface="Arial" panose="020B0604020202020204" pitchFamily="34" charset="0"/>
              <a:buChar char="•"/>
            </a:pPr>
            <a:r>
              <a:rPr lang="en-GB" sz="1100" dirty="0"/>
              <a:t>Como </a:t>
            </a:r>
            <a:r>
              <a:rPr lang="en-GB" sz="1100" dirty="0" err="1"/>
              <a:t>siguiente</a:t>
            </a:r>
            <a:r>
              <a:rPr lang="en-GB" sz="1100" dirty="0"/>
              <a:t> paso, se </a:t>
            </a:r>
            <a:r>
              <a:rPr lang="en-GB" sz="1100" dirty="0" err="1"/>
              <a:t>propone</a:t>
            </a:r>
            <a:r>
              <a:rPr lang="en-GB" sz="1100" dirty="0"/>
              <a:t> </a:t>
            </a:r>
            <a:r>
              <a:rPr lang="en-GB" sz="1100" dirty="0" err="1"/>
              <a:t>implementar</a:t>
            </a:r>
            <a:r>
              <a:rPr lang="en-GB" sz="1100" dirty="0"/>
              <a:t> un </a:t>
            </a:r>
            <a:r>
              <a:rPr lang="en-GB" sz="1100" b="1" dirty="0"/>
              <a:t>árbol de </a:t>
            </a:r>
            <a:r>
              <a:rPr lang="en-GB" sz="1100" b="1" dirty="0" err="1"/>
              <a:t>decisión</a:t>
            </a:r>
            <a:r>
              <a:rPr lang="en-GB" sz="1100" dirty="0"/>
              <a:t> y </a:t>
            </a:r>
            <a:r>
              <a:rPr lang="en-GB" sz="1100" dirty="0" err="1"/>
              <a:t>evaluar</a:t>
            </a:r>
            <a:r>
              <a:rPr lang="en-GB" sz="1100" dirty="0"/>
              <a:t> </a:t>
            </a:r>
            <a:r>
              <a:rPr lang="en-GB" sz="1100" b="1" dirty="0" err="1"/>
              <a:t>otros</a:t>
            </a:r>
            <a:r>
              <a:rPr lang="en-GB" sz="1100" b="1" dirty="0"/>
              <a:t> </a:t>
            </a:r>
            <a:r>
              <a:rPr lang="en-GB" sz="1100" b="1" dirty="0" err="1"/>
              <a:t>algoritmos</a:t>
            </a:r>
            <a:r>
              <a:rPr lang="en-GB" sz="1100" b="1" dirty="0"/>
              <a:t> alternativos</a:t>
            </a:r>
            <a:r>
              <a:rPr lang="en-GB" sz="1100" dirty="0"/>
              <a:t> para </a:t>
            </a:r>
            <a:r>
              <a:rPr lang="en-GB" sz="1100" dirty="0" err="1"/>
              <a:t>optimizar</a:t>
            </a:r>
            <a:r>
              <a:rPr lang="en-GB" sz="1100" dirty="0"/>
              <a:t> la </a:t>
            </a:r>
            <a:r>
              <a:rPr lang="en-GB" sz="1100" dirty="0" err="1"/>
              <a:t>predicción</a:t>
            </a:r>
            <a:r>
              <a:rPr lang="en-GB" sz="1100" dirty="0"/>
              <a:t>.</a:t>
            </a:r>
          </a:p>
          <a:p>
            <a:pPr marL="171450" indent="-171450">
              <a:buFont typeface="Arial" panose="020B0604020202020204" pitchFamily="34" charset="0"/>
              <a:buChar char="•"/>
            </a:pPr>
            <a:r>
              <a:rPr lang="en-GB" sz="1100" b="1" dirty="0" err="1"/>
              <a:t>Mensaje</a:t>
            </a:r>
            <a:r>
              <a:rPr lang="en-GB" sz="1100" b="1" dirty="0"/>
              <a:t> para </a:t>
            </a:r>
            <a:r>
              <a:rPr lang="en-GB" sz="1100" b="1" dirty="0" err="1"/>
              <a:t>los</a:t>
            </a:r>
            <a:r>
              <a:rPr lang="en-GB" sz="1100" b="1" dirty="0"/>
              <a:t> stakeholders:</a:t>
            </a:r>
            <a:r>
              <a:rPr lang="en-GB" sz="1100" dirty="0"/>
              <a:t> </a:t>
            </a:r>
            <a:r>
              <a:rPr lang="en-GB" sz="1100" dirty="0" err="1"/>
              <a:t>mejorar</a:t>
            </a:r>
            <a:r>
              <a:rPr lang="en-GB" sz="1100" dirty="0"/>
              <a:t> la </a:t>
            </a:r>
            <a:r>
              <a:rPr lang="en-GB" sz="1100" dirty="0" err="1"/>
              <a:t>capacidad</a:t>
            </a:r>
            <a:r>
              <a:rPr lang="en-GB" sz="1100" dirty="0"/>
              <a:t> </a:t>
            </a:r>
            <a:r>
              <a:rPr lang="en-GB" sz="1100" dirty="0" err="1"/>
              <a:t>predictiva</a:t>
            </a:r>
            <a:r>
              <a:rPr lang="en-GB" sz="1100" dirty="0"/>
              <a:t> </a:t>
            </a:r>
            <a:r>
              <a:rPr lang="en-GB" sz="1100" dirty="0" err="1"/>
              <a:t>permitirá</a:t>
            </a:r>
            <a:r>
              <a:rPr lang="en-GB" sz="1100" dirty="0"/>
              <a:t> </a:t>
            </a:r>
            <a:r>
              <a:rPr lang="en-GB" sz="1100" b="1" dirty="0" err="1"/>
              <a:t>anticipar</a:t>
            </a:r>
            <a:r>
              <a:rPr lang="en-GB" sz="1100" b="1" dirty="0"/>
              <a:t> </a:t>
            </a:r>
            <a:r>
              <a:rPr lang="en-GB" sz="1100" b="1" dirty="0" err="1"/>
              <a:t>el</a:t>
            </a:r>
            <a:r>
              <a:rPr lang="en-GB" sz="1100" b="1" dirty="0"/>
              <a:t> </a:t>
            </a:r>
            <a:r>
              <a:rPr lang="en-GB" sz="1100" b="1" dirty="0" err="1"/>
              <a:t>abandono</a:t>
            </a:r>
            <a:r>
              <a:rPr lang="en-GB" sz="1100" b="1" dirty="0"/>
              <a:t> de </a:t>
            </a:r>
            <a:r>
              <a:rPr lang="en-GB" sz="1100" b="1" dirty="0" err="1"/>
              <a:t>clientes</a:t>
            </a:r>
            <a:r>
              <a:rPr lang="en-GB" sz="1100" dirty="0"/>
              <a:t> y </a:t>
            </a:r>
            <a:r>
              <a:rPr lang="en-GB" sz="1100" b="1" dirty="0" err="1"/>
              <a:t>diseñar</a:t>
            </a:r>
            <a:endParaRPr lang="en-GB" sz="1100" b="1" dirty="0"/>
          </a:p>
          <a:p>
            <a:pPr marL="171450" indent="-171450">
              <a:buFont typeface="Arial" panose="020B0604020202020204" pitchFamily="34" charset="0"/>
              <a:buChar char="•"/>
            </a:pPr>
            <a:r>
              <a:rPr lang="en-GB" sz="1100" b="1" dirty="0" err="1"/>
              <a:t>estrategias</a:t>
            </a:r>
            <a:r>
              <a:rPr lang="en-GB" sz="1100" b="1" dirty="0"/>
              <a:t> </a:t>
            </a:r>
            <a:r>
              <a:rPr lang="en-GB" sz="1100" b="1" dirty="0" err="1"/>
              <a:t>proactivas</a:t>
            </a:r>
            <a:r>
              <a:rPr lang="en-GB" sz="1100" b="1" dirty="0"/>
              <a:t> de </a:t>
            </a:r>
            <a:r>
              <a:rPr lang="en-GB" sz="1100" b="1" dirty="0" err="1"/>
              <a:t>retención</a:t>
            </a:r>
            <a:r>
              <a:rPr lang="en-GB" sz="1100" dirty="0"/>
              <a:t>.</a:t>
            </a:r>
          </a:p>
          <a:p>
            <a:endParaRPr lang="en-ES" dirty="0"/>
          </a:p>
        </p:txBody>
      </p:sp>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Parcel</Template>
  <TotalTime>788</TotalTime>
  <Words>1524</Words>
  <Application>Microsoft Macintosh PowerPoint</Application>
  <PresentationFormat>On-screen Show (16:9)</PresentationFormat>
  <Paragraphs>239</Paragraphs>
  <Slides>15</Slides>
  <Notes>15</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Wingdings</vt:lpstr>
      <vt:lpstr>Arial Black</vt:lpstr>
      <vt:lpstr>Didact Gothic</vt:lpstr>
      <vt:lpstr>Arial</vt:lpstr>
      <vt:lpstr>Libre Franklin</vt:lpstr>
      <vt:lpstr>Raleway</vt:lpstr>
      <vt:lpstr>ui-sans-serif</vt:lpstr>
      <vt:lpstr>Poppins</vt:lpstr>
      <vt:lpstr>Arial Rounded MT Bold</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Resultados Clave (EDA) 2/2</vt:lpstr>
      <vt:lpstr>Tratamiento de Missings</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vt:lpstr>
      <vt:lpstr>CONCLUSIONES &amp;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LAURA BELMONTE VELASCO</cp:lastModifiedBy>
  <cp:revision>11</cp:revision>
  <dcterms:modified xsi:type="dcterms:W3CDTF">2025-11-09T17:44:07Z</dcterms:modified>
</cp:coreProperties>
</file>