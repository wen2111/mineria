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5" r:id="rId1"/>
  </p:sldMasterIdLst>
  <p:notesMasterIdLst>
    <p:notesMasterId r:id="rId17"/>
  </p:notesMasterIdLst>
  <p:sldIdLst>
    <p:sldId id="285" r:id="rId2"/>
    <p:sldId id="270" r:id="rId3"/>
    <p:sldId id="271" r:id="rId4"/>
    <p:sldId id="272" r:id="rId5"/>
    <p:sldId id="273" r:id="rId6"/>
    <p:sldId id="274" r:id="rId7"/>
    <p:sldId id="290" r:id="rId8"/>
    <p:sldId id="291" r:id="rId9"/>
    <p:sldId id="277" r:id="rId10"/>
    <p:sldId id="278" r:id="rId11"/>
    <p:sldId id="279" r:id="rId12"/>
    <p:sldId id="280" r:id="rId13"/>
    <p:sldId id="281" r:id="rId14"/>
    <p:sldId id="292" r:id="rId15"/>
    <p:sldId id="284" r:id="rId16"/>
  </p:sldIdLst>
  <p:sldSz cx="9144000" cy="5143500" type="screen16x9"/>
  <p:notesSz cx="6858000" cy="9144000"/>
  <p:embeddedFontLst>
    <p:embeddedFont>
      <p:font typeface="Arial Black" panose="020B0604020202020204" pitchFamily="34" charset="0"/>
      <p:bold r:id="rId18"/>
    </p:embeddedFont>
    <p:embeddedFont>
      <p:font typeface="Arial Rounded MT Bold" panose="020F0704030504030204" pitchFamily="34" charset="77"/>
      <p:regular r:id="rId19"/>
    </p:embeddedFont>
    <p:embeddedFont>
      <p:font typeface="Didact Gothic" pitchFamily="2" charset="0"/>
      <p:regular r:id="rId20"/>
    </p:embeddedFont>
    <p:embeddedFont>
      <p:font typeface="Libre Franklin" pitchFamily="2" charset="77"/>
      <p:regular r:id="rId21"/>
      <p:bold r:id="rId22"/>
      <p:italic r:id="rId23"/>
      <p:boldItalic r:id="rId24"/>
    </p:embeddedFont>
    <p:embeddedFont>
      <p:font typeface="Poppins" pitchFamily="2" charset="77"/>
      <p:regular r:id="rId25"/>
      <p:bold r:id="rId26"/>
      <p:italic r:id="rId27"/>
      <p:boldItalic r:id="rId28"/>
    </p:embeddedFont>
    <p:embeddedFont>
      <p:font typeface="Raleway" pitchFamily="2" charset="77"/>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io Aragón Valderrama" initials="MA" lastIdx="1" clrIdx="0">
    <p:extLst>
      <p:ext uri="{19B8F6BF-5375-455C-9EA6-DF929625EA0E}">
        <p15:presenceInfo xmlns:p15="http://schemas.microsoft.com/office/powerpoint/2012/main" userId="ab42593c9091a3c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FD54D1E-A07F-487E-B709-6B33F1453160}">
  <a:tblStyle styleId="{7FD54D1E-A07F-487E-B709-6B33F145316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3440"/>
    <p:restoredTop sz="94595"/>
  </p:normalViewPr>
  <p:slideViewPr>
    <p:cSldViewPr snapToGrid="0">
      <p:cViewPr>
        <p:scale>
          <a:sx n="90" d="100"/>
          <a:sy n="90" d="100"/>
        </p:scale>
        <p:origin x="-88" y="9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21" Type="http://schemas.openxmlformats.org/officeDocument/2006/relationships/font" Target="fonts/font4.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_rels/data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 Id="rId5" Type="http://schemas.openxmlformats.org/officeDocument/2006/relationships/image" Target="../media/image8.png"/><Relationship Id="rId4" Type="http://schemas.openxmlformats.org/officeDocument/2006/relationships/image" Target="../media/image7.png"/></Relationships>
</file>

<file path=ppt/diagrams/_rels/drawing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 Id="rId5" Type="http://schemas.openxmlformats.org/officeDocument/2006/relationships/image" Target="../media/image8.png"/><Relationship Id="rId4" Type="http://schemas.openxmlformats.org/officeDocument/2006/relationships/image" Target="../media/image7.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DBD592-C900-4D5D-A79A-93A58E8DA172}" type="doc">
      <dgm:prSet loTypeId="urn:microsoft.com/office/officeart/2005/8/layout/vList4" loCatId="list" qsTypeId="urn:microsoft.com/office/officeart/2005/8/quickstyle/simple1" qsCatId="simple" csTypeId="urn:microsoft.com/office/officeart/2005/8/colors/accent1_2" csCatId="accent1" phldr="1"/>
      <dgm:spPr/>
      <dgm:t>
        <a:bodyPr/>
        <a:lstStyle/>
        <a:p>
          <a:endParaRPr lang="es-ES"/>
        </a:p>
      </dgm:t>
    </dgm:pt>
    <dgm:pt modelId="{C9F99139-B66D-4219-861A-3EA127D493C0}">
      <dgm:prSet phldrT="[Texto]" phldr="0" custT="1"/>
      <dgm:spPr/>
      <dgm:t>
        <a:bodyPr/>
        <a:lstStyle/>
        <a:p>
          <a:r>
            <a:rPr lang="es-ES" sz="900" b="1" dirty="0">
              <a:solidFill>
                <a:srgbClr val="002060"/>
              </a:solidFill>
            </a:rPr>
            <a:t>	Business </a:t>
          </a:r>
          <a:r>
            <a:rPr lang="es-ES" sz="900" b="1" dirty="0" err="1">
              <a:solidFill>
                <a:srgbClr val="002060"/>
              </a:solidFill>
            </a:rPr>
            <a:t>understanding</a:t>
          </a:r>
          <a:r>
            <a:rPr lang="es-ES" sz="900" b="1" dirty="0">
              <a:solidFill>
                <a:srgbClr val="002060"/>
              </a:solidFill>
            </a:rPr>
            <a:t> </a:t>
          </a:r>
          <a:r>
            <a:rPr lang="es-ES" sz="900" dirty="0"/>
            <a:t>– Todo el equipo</a:t>
          </a:r>
        </a:p>
      </dgm:t>
    </dgm:pt>
    <dgm:pt modelId="{1C880A37-22BC-4FD9-8955-F47618D81BCC}" type="parTrans" cxnId="{2FF3EB71-C7F5-4619-AB74-5943DE39CC10}">
      <dgm:prSet/>
      <dgm:spPr/>
      <dgm:t>
        <a:bodyPr/>
        <a:lstStyle/>
        <a:p>
          <a:endParaRPr lang="es-ES" sz="2400"/>
        </a:p>
      </dgm:t>
    </dgm:pt>
    <dgm:pt modelId="{2ABCB300-CCE9-44E7-999D-3B03628596E1}" type="sibTrans" cxnId="{2FF3EB71-C7F5-4619-AB74-5943DE39CC10}">
      <dgm:prSet/>
      <dgm:spPr/>
      <dgm:t>
        <a:bodyPr/>
        <a:lstStyle/>
        <a:p>
          <a:endParaRPr lang="es-ES" sz="2400"/>
        </a:p>
      </dgm:t>
    </dgm:pt>
    <dgm:pt modelId="{B0A54B65-E829-4553-8B45-B4EBDAF3C233}">
      <dgm:prSet phldrT="[Texto]" phldr="0" custT="1"/>
      <dgm:spPr/>
      <dgm:t>
        <a:bodyPr/>
        <a:lstStyle/>
        <a:p>
          <a:r>
            <a:rPr lang="es-ES" sz="800" b="1" dirty="0">
              <a:solidFill>
                <a:srgbClr val="002060"/>
              </a:solidFill>
            </a:rPr>
            <a:t>      	Data </a:t>
          </a:r>
          <a:r>
            <a:rPr lang="es-ES" sz="800" b="1" dirty="0" err="1">
              <a:solidFill>
                <a:srgbClr val="002060"/>
              </a:solidFill>
            </a:rPr>
            <a:t>understanding</a:t>
          </a:r>
          <a:r>
            <a:rPr lang="es-ES" sz="800" b="1" dirty="0">
              <a:solidFill>
                <a:srgbClr val="002060"/>
              </a:solidFill>
            </a:rPr>
            <a:t> </a:t>
          </a:r>
          <a:r>
            <a:rPr lang="es-ES" sz="800" b="1" dirty="0"/>
            <a:t>-</a:t>
          </a:r>
          <a:r>
            <a:rPr lang="es-ES" sz="800" dirty="0"/>
            <a:t>  Todo el equipo</a:t>
          </a:r>
        </a:p>
        <a:p>
          <a:r>
            <a:rPr lang="es-ES" sz="800" dirty="0"/>
            <a:t>  	Diseño del </a:t>
          </a:r>
          <a:r>
            <a:rPr lang="es-ES" sz="800" dirty="0" err="1"/>
            <a:t>metadata</a:t>
          </a:r>
          <a:r>
            <a:rPr lang="es-ES" sz="800" dirty="0"/>
            <a:t> – Melissa</a:t>
          </a:r>
        </a:p>
        <a:p>
          <a:r>
            <a:rPr lang="es-ES" sz="800" dirty="0"/>
            <a:t>     	EDA– </a:t>
          </a:r>
          <a:r>
            <a:rPr lang="es-ES" sz="800" dirty="0" err="1"/>
            <a:t>Wenjia</a:t>
          </a:r>
          <a:r>
            <a:rPr lang="es-ES" sz="800" dirty="0"/>
            <a:t> y </a:t>
          </a:r>
          <a:r>
            <a:rPr lang="es-ES" sz="800" dirty="0" err="1"/>
            <a:t>Siling</a:t>
          </a:r>
          <a:endParaRPr lang="es-ES" sz="800" dirty="0"/>
        </a:p>
        <a:p>
          <a:r>
            <a:rPr lang="es-ES" sz="800" dirty="0"/>
            <a:t>     	Análisis de </a:t>
          </a:r>
          <a:r>
            <a:rPr lang="es-ES" sz="800" dirty="0" err="1"/>
            <a:t>outliers</a:t>
          </a:r>
          <a:r>
            <a:rPr lang="es-ES" sz="800" dirty="0"/>
            <a:t> (pre-imputación): Mario, Laura y Melissa</a:t>
          </a:r>
        </a:p>
        <a:p>
          <a:endParaRPr lang="es-ES" sz="800" dirty="0"/>
        </a:p>
      </dgm:t>
    </dgm:pt>
    <dgm:pt modelId="{58D673D6-CE1A-45C9-8DE0-8248CFA91FFF}" type="parTrans" cxnId="{62EFD2D3-AE51-4D7B-AC9A-B557C95CFE85}">
      <dgm:prSet/>
      <dgm:spPr/>
      <dgm:t>
        <a:bodyPr/>
        <a:lstStyle/>
        <a:p>
          <a:endParaRPr lang="es-ES" sz="2400"/>
        </a:p>
      </dgm:t>
    </dgm:pt>
    <dgm:pt modelId="{F068E20D-9182-40E9-81D3-3D2119E9E208}" type="sibTrans" cxnId="{62EFD2D3-AE51-4D7B-AC9A-B557C95CFE85}">
      <dgm:prSet/>
      <dgm:spPr/>
      <dgm:t>
        <a:bodyPr/>
        <a:lstStyle/>
        <a:p>
          <a:endParaRPr lang="es-ES" sz="2400"/>
        </a:p>
      </dgm:t>
    </dgm:pt>
    <dgm:pt modelId="{EBF196C3-A6DB-42DE-B168-0612EDF03693}">
      <dgm:prSet phldrT="[Texto]" phldr="0" custT="1"/>
      <dgm:spPr/>
      <dgm:t>
        <a:bodyPr/>
        <a:lstStyle/>
        <a:p>
          <a:r>
            <a:rPr lang="es-ES" sz="800" b="1" dirty="0">
              <a:solidFill>
                <a:srgbClr val="002060"/>
              </a:solidFill>
            </a:rPr>
            <a:t> 	Data </a:t>
          </a:r>
          <a:r>
            <a:rPr lang="es-ES" sz="800" b="1" dirty="0" err="1">
              <a:solidFill>
                <a:srgbClr val="002060"/>
              </a:solidFill>
            </a:rPr>
            <a:t>preparation</a:t>
          </a:r>
          <a:endParaRPr lang="es-ES" sz="800" b="1" dirty="0">
            <a:solidFill>
              <a:srgbClr val="002060"/>
            </a:solidFill>
          </a:endParaRPr>
        </a:p>
        <a:p>
          <a:r>
            <a:rPr lang="es-ES" sz="800" dirty="0"/>
            <a:t>	Imputación </a:t>
          </a:r>
          <a:r>
            <a:rPr lang="es-ES" sz="800" dirty="0" err="1"/>
            <a:t>missings</a:t>
          </a:r>
          <a:r>
            <a:rPr lang="es-ES" sz="800" dirty="0"/>
            <a:t> – Mario y Laura</a:t>
          </a:r>
        </a:p>
        <a:p>
          <a:r>
            <a:rPr lang="es-ES" sz="800" dirty="0"/>
            <a:t>	</a:t>
          </a:r>
          <a:r>
            <a:rPr lang="es-ES" sz="800" dirty="0" err="1"/>
            <a:t>Tratatamiento</a:t>
          </a:r>
          <a:r>
            <a:rPr lang="es-ES" sz="800" dirty="0"/>
            <a:t> </a:t>
          </a:r>
          <a:r>
            <a:rPr lang="es-ES" sz="800" dirty="0" err="1"/>
            <a:t>Outliers</a:t>
          </a:r>
          <a:r>
            <a:rPr lang="es-ES" sz="800" dirty="0"/>
            <a:t> – Mario, Laura y Melissa</a:t>
          </a:r>
        </a:p>
        <a:p>
          <a:r>
            <a:rPr lang="es-ES" sz="800" dirty="0"/>
            <a:t>	</a:t>
          </a:r>
          <a:r>
            <a:rPr lang="es-ES" sz="800" dirty="0" err="1"/>
            <a:t>Feature</a:t>
          </a:r>
          <a:r>
            <a:rPr lang="es-ES" sz="800" dirty="0"/>
            <a:t> </a:t>
          </a:r>
          <a:r>
            <a:rPr lang="es-ES" sz="800" dirty="0" err="1"/>
            <a:t>Engineering</a:t>
          </a:r>
          <a:r>
            <a:rPr lang="es-ES" sz="800" dirty="0"/>
            <a:t>– </a:t>
          </a:r>
          <a:r>
            <a:rPr lang="es-ES" sz="800" dirty="0" err="1"/>
            <a:t>Wenjia</a:t>
          </a:r>
          <a:r>
            <a:rPr lang="es-ES" sz="800" dirty="0"/>
            <a:t> </a:t>
          </a:r>
        </a:p>
      </dgm:t>
    </dgm:pt>
    <dgm:pt modelId="{9BCB12AF-3FDE-4ECC-9F8F-CED83AED7CCB}" type="parTrans" cxnId="{09CD5CFB-F57C-4EA7-9B86-AED2343EDF67}">
      <dgm:prSet/>
      <dgm:spPr/>
      <dgm:t>
        <a:bodyPr/>
        <a:lstStyle/>
        <a:p>
          <a:endParaRPr lang="es-ES" sz="2400"/>
        </a:p>
      </dgm:t>
    </dgm:pt>
    <dgm:pt modelId="{C16B64A7-40EB-4C86-BE64-8EBACDE653C3}" type="sibTrans" cxnId="{09CD5CFB-F57C-4EA7-9B86-AED2343EDF67}">
      <dgm:prSet/>
      <dgm:spPr/>
      <dgm:t>
        <a:bodyPr/>
        <a:lstStyle/>
        <a:p>
          <a:endParaRPr lang="es-ES" sz="2400"/>
        </a:p>
      </dgm:t>
    </dgm:pt>
    <dgm:pt modelId="{D3DB2985-286F-4E1B-A3EF-B67DCD1C08F6}">
      <dgm:prSet phldrT="[Texto]" phldr="0" custT="1"/>
      <dgm:spPr/>
      <dgm:t>
        <a:bodyPr/>
        <a:lstStyle/>
        <a:p>
          <a:r>
            <a:rPr lang="es-ES" sz="800" b="1" dirty="0">
              <a:solidFill>
                <a:srgbClr val="002060"/>
              </a:solidFill>
            </a:rPr>
            <a:t>            	</a:t>
          </a:r>
          <a:r>
            <a:rPr lang="es-ES" sz="800" b="1" dirty="0" err="1">
              <a:solidFill>
                <a:srgbClr val="002060"/>
              </a:solidFill>
            </a:rPr>
            <a:t>Modeling</a:t>
          </a:r>
          <a:r>
            <a:rPr lang="es-ES" sz="800" b="1" dirty="0">
              <a:solidFill>
                <a:srgbClr val="002060"/>
              </a:solidFill>
            </a:rPr>
            <a:t> &amp; </a:t>
          </a:r>
          <a:r>
            <a:rPr lang="es-ES" sz="800" b="1" dirty="0" err="1">
              <a:solidFill>
                <a:srgbClr val="002060"/>
              </a:solidFill>
            </a:rPr>
            <a:t>Evaluation</a:t>
          </a:r>
          <a:endParaRPr lang="es-ES" sz="800" b="1" dirty="0">
            <a:solidFill>
              <a:srgbClr val="002060"/>
            </a:solidFill>
          </a:endParaRPr>
        </a:p>
        <a:p>
          <a:r>
            <a:rPr lang="es-ES" sz="700" dirty="0"/>
            <a:t>	KNN – </a:t>
          </a:r>
          <a:r>
            <a:rPr lang="es-ES" sz="700" dirty="0" err="1"/>
            <a:t>Siling</a:t>
          </a:r>
          <a:r>
            <a:rPr lang="es-ES" sz="700" dirty="0"/>
            <a:t> y Laura</a:t>
          </a:r>
        </a:p>
        <a:p>
          <a:r>
            <a:rPr lang="es-ES" sz="700" dirty="0"/>
            <a:t>               </a:t>
          </a:r>
          <a:r>
            <a:rPr lang="es-ES" sz="700" dirty="0" err="1"/>
            <a:t>Naive</a:t>
          </a:r>
          <a:r>
            <a:rPr lang="es-ES" sz="700" dirty="0"/>
            <a:t> Bayes – Melissa y </a:t>
          </a:r>
          <a:r>
            <a:rPr lang="es-ES" sz="700" dirty="0" err="1"/>
            <a:t>Wenjia</a:t>
          </a:r>
          <a:endParaRPr lang="es-ES" sz="700" dirty="0"/>
        </a:p>
        <a:p>
          <a:r>
            <a:rPr lang="es-ES" sz="700" dirty="0"/>
            <a:t>               </a:t>
          </a:r>
          <a:r>
            <a:rPr lang="es-ES" sz="700" dirty="0" err="1"/>
            <a:t>Testing</a:t>
          </a:r>
          <a:r>
            <a:rPr lang="es-ES" sz="700" dirty="0"/>
            <a:t> múltiples configuraciones de variables</a:t>
          </a:r>
          <a:endParaRPr lang="es-ES" sz="800" b="1" dirty="0">
            <a:solidFill>
              <a:srgbClr val="002060"/>
            </a:solidFill>
          </a:endParaRPr>
        </a:p>
      </dgm:t>
    </dgm:pt>
    <dgm:pt modelId="{3A914AC6-6594-4B0A-A5A2-C491F53EF95C}" type="parTrans" cxnId="{D2E0ED84-53E3-49A1-A292-3EA003DD3B1F}">
      <dgm:prSet/>
      <dgm:spPr/>
      <dgm:t>
        <a:bodyPr/>
        <a:lstStyle/>
        <a:p>
          <a:endParaRPr lang="es-ES" sz="2400"/>
        </a:p>
      </dgm:t>
    </dgm:pt>
    <dgm:pt modelId="{F982C1E6-BEEF-456A-A8F1-006AD67EDC6F}" type="sibTrans" cxnId="{D2E0ED84-53E3-49A1-A292-3EA003DD3B1F}">
      <dgm:prSet/>
      <dgm:spPr/>
      <dgm:t>
        <a:bodyPr/>
        <a:lstStyle/>
        <a:p>
          <a:endParaRPr lang="es-ES" sz="2400"/>
        </a:p>
      </dgm:t>
    </dgm:pt>
    <dgm:pt modelId="{B9802D42-76B7-4AE8-9963-A689582E6B35}">
      <dgm:prSet phldrT="[Texto]" phldr="0" custT="1"/>
      <dgm:spPr/>
      <dgm:t>
        <a:bodyPr/>
        <a:lstStyle/>
        <a:p>
          <a:r>
            <a:rPr lang="es-ES" sz="800" b="1" dirty="0">
              <a:solidFill>
                <a:srgbClr val="002060"/>
              </a:solidFill>
            </a:rPr>
            <a:t>            	</a:t>
          </a:r>
          <a:r>
            <a:rPr lang="es-ES" sz="800" b="1" dirty="0" err="1">
              <a:solidFill>
                <a:srgbClr val="002060"/>
              </a:solidFill>
            </a:rPr>
            <a:t>Association</a:t>
          </a:r>
          <a:r>
            <a:rPr lang="es-ES" sz="800" b="1" dirty="0">
              <a:solidFill>
                <a:srgbClr val="002060"/>
              </a:solidFill>
            </a:rPr>
            <a:t> Rules </a:t>
          </a:r>
          <a:r>
            <a:rPr lang="es-ES" sz="800" dirty="0"/>
            <a:t>- Mario</a:t>
          </a:r>
        </a:p>
      </dgm:t>
    </dgm:pt>
    <dgm:pt modelId="{5522CECA-745D-4D76-A87A-0DA536D5330D}" type="parTrans" cxnId="{A44658AC-B46F-4B08-B962-B06FFFD99B33}">
      <dgm:prSet/>
      <dgm:spPr/>
      <dgm:t>
        <a:bodyPr/>
        <a:lstStyle/>
        <a:p>
          <a:endParaRPr lang="es-ES" sz="2400"/>
        </a:p>
      </dgm:t>
    </dgm:pt>
    <dgm:pt modelId="{1B62F6DE-B574-43AD-B04F-ABDF9E20E863}" type="sibTrans" cxnId="{A44658AC-B46F-4B08-B962-B06FFFD99B33}">
      <dgm:prSet/>
      <dgm:spPr/>
      <dgm:t>
        <a:bodyPr/>
        <a:lstStyle/>
        <a:p>
          <a:endParaRPr lang="es-ES" sz="2400"/>
        </a:p>
      </dgm:t>
    </dgm:pt>
    <dgm:pt modelId="{2D5738C4-EC9E-4779-B540-31D33BE25B70}" type="pres">
      <dgm:prSet presAssocID="{E0DBD592-C900-4D5D-A79A-93A58E8DA172}" presName="linear" presStyleCnt="0">
        <dgm:presLayoutVars>
          <dgm:dir/>
          <dgm:resizeHandles val="exact"/>
        </dgm:presLayoutVars>
      </dgm:prSet>
      <dgm:spPr/>
    </dgm:pt>
    <dgm:pt modelId="{3495E656-1F14-4307-80DE-ABD969E4FEFA}" type="pres">
      <dgm:prSet presAssocID="{C9F99139-B66D-4219-861A-3EA127D493C0}" presName="comp" presStyleCnt="0"/>
      <dgm:spPr/>
    </dgm:pt>
    <dgm:pt modelId="{DC08CE2B-3BA2-48DB-B768-70EF00B4488D}" type="pres">
      <dgm:prSet presAssocID="{C9F99139-B66D-4219-861A-3EA127D493C0}" presName="box" presStyleLbl="node1" presStyleIdx="0" presStyleCnt="5" custScaleY="71211"/>
      <dgm:spPr/>
    </dgm:pt>
    <dgm:pt modelId="{EF2D8EC3-8FE2-4E7C-B86A-83EDAF07162F}" type="pres">
      <dgm:prSet presAssocID="{C9F99139-B66D-4219-861A-3EA127D493C0}" presName="img" presStyleLbl="fgImgPlace1" presStyleIdx="0" presStyleCnt="5" custScaleY="69563"/>
      <dgm:spPr>
        <a:blipFill>
          <a:blip xmlns:r="http://schemas.openxmlformats.org/officeDocument/2006/relationships" r:embed="rId1"/>
          <a:srcRect/>
          <a:stretch>
            <a:fillRect t="-84000" b="-84000"/>
          </a:stretch>
        </a:blipFill>
      </dgm:spPr>
    </dgm:pt>
    <dgm:pt modelId="{51F715FF-4B49-486A-B461-C35D3C55EEB6}" type="pres">
      <dgm:prSet presAssocID="{C9F99139-B66D-4219-861A-3EA127D493C0}" presName="text" presStyleLbl="node1" presStyleIdx="0" presStyleCnt="5">
        <dgm:presLayoutVars>
          <dgm:bulletEnabled val="1"/>
        </dgm:presLayoutVars>
      </dgm:prSet>
      <dgm:spPr/>
    </dgm:pt>
    <dgm:pt modelId="{A85E9522-9A51-4F9B-825C-5AAE997BCC79}" type="pres">
      <dgm:prSet presAssocID="{2ABCB300-CCE9-44E7-999D-3B03628596E1}" presName="spacer" presStyleCnt="0"/>
      <dgm:spPr/>
    </dgm:pt>
    <dgm:pt modelId="{9C15E9F4-CE56-4E8D-9AC4-025934C7C1D4}" type="pres">
      <dgm:prSet presAssocID="{B0A54B65-E829-4553-8B45-B4EBDAF3C233}" presName="comp" presStyleCnt="0"/>
      <dgm:spPr/>
    </dgm:pt>
    <dgm:pt modelId="{B12AE6C0-B4ED-4A08-98AA-6732B6DC385E}" type="pres">
      <dgm:prSet presAssocID="{B0A54B65-E829-4553-8B45-B4EBDAF3C233}" presName="box" presStyleLbl="node1" presStyleIdx="1" presStyleCnt="5" custScaleY="119178"/>
      <dgm:spPr/>
    </dgm:pt>
    <dgm:pt modelId="{C9E8AD8B-B134-4129-BD9A-C060E9DACAFC}" type="pres">
      <dgm:prSet presAssocID="{B0A54B65-E829-4553-8B45-B4EBDAF3C233}" presName="img" presStyleLbl="fgImgPlace1" presStyleIdx="1" presStyleCnt="5" custScaleY="120572"/>
      <dgm:spPr>
        <a:blipFill>
          <a:blip xmlns:r="http://schemas.openxmlformats.org/officeDocument/2006/relationships" r:embed="rId2"/>
          <a:srcRect/>
          <a:stretch>
            <a:fillRect l="-9000" r="-9000"/>
          </a:stretch>
        </a:blipFill>
      </dgm:spPr>
    </dgm:pt>
    <dgm:pt modelId="{3D1FE89A-8ADF-4C10-94D7-ABA6570F8C42}" type="pres">
      <dgm:prSet presAssocID="{B0A54B65-E829-4553-8B45-B4EBDAF3C233}" presName="text" presStyleLbl="node1" presStyleIdx="1" presStyleCnt="5">
        <dgm:presLayoutVars>
          <dgm:bulletEnabled val="1"/>
        </dgm:presLayoutVars>
      </dgm:prSet>
      <dgm:spPr/>
    </dgm:pt>
    <dgm:pt modelId="{3ADE5778-2B09-4D2C-BFA0-9E09D3AB850F}" type="pres">
      <dgm:prSet presAssocID="{F068E20D-9182-40E9-81D3-3D2119E9E208}" presName="spacer" presStyleCnt="0"/>
      <dgm:spPr/>
    </dgm:pt>
    <dgm:pt modelId="{394CAA2C-B39A-45C2-8692-4F108831F697}" type="pres">
      <dgm:prSet presAssocID="{EBF196C3-A6DB-42DE-B168-0612EDF03693}" presName="comp" presStyleCnt="0"/>
      <dgm:spPr/>
    </dgm:pt>
    <dgm:pt modelId="{C6452C4A-60F5-47BC-8505-428BC48A03CB}" type="pres">
      <dgm:prSet presAssocID="{EBF196C3-A6DB-42DE-B168-0612EDF03693}" presName="box" presStyleLbl="node1" presStyleIdx="2" presStyleCnt="5" custScaleY="130909"/>
      <dgm:spPr/>
    </dgm:pt>
    <dgm:pt modelId="{D306C488-315E-46F7-B989-FFF5212BF6E2}" type="pres">
      <dgm:prSet presAssocID="{EBF196C3-A6DB-42DE-B168-0612EDF03693}" presName="img" presStyleLbl="fgImgPlace1" presStyleIdx="2" presStyleCnt="5" custScaleY="119041"/>
      <dgm:spPr>
        <a:blipFill>
          <a:blip xmlns:r="http://schemas.openxmlformats.org/officeDocument/2006/relationships" r:embed="rId3"/>
          <a:srcRect/>
          <a:stretch>
            <a:fillRect t="-8000" b="-8000"/>
          </a:stretch>
        </a:blipFill>
      </dgm:spPr>
    </dgm:pt>
    <dgm:pt modelId="{E67E17D0-D90F-49C4-814B-C75905BED48F}" type="pres">
      <dgm:prSet presAssocID="{EBF196C3-A6DB-42DE-B168-0612EDF03693}" presName="text" presStyleLbl="node1" presStyleIdx="2" presStyleCnt="5">
        <dgm:presLayoutVars>
          <dgm:bulletEnabled val="1"/>
        </dgm:presLayoutVars>
      </dgm:prSet>
      <dgm:spPr/>
    </dgm:pt>
    <dgm:pt modelId="{A4B9FD97-CD6C-45E6-BB2C-BADD153BE16D}" type="pres">
      <dgm:prSet presAssocID="{C16B64A7-40EB-4C86-BE64-8EBACDE653C3}" presName="spacer" presStyleCnt="0"/>
      <dgm:spPr/>
    </dgm:pt>
    <dgm:pt modelId="{FA11953F-C793-41F3-944C-F9C478C0015E}" type="pres">
      <dgm:prSet presAssocID="{D3DB2985-286F-4E1B-A3EF-B67DCD1C08F6}" presName="comp" presStyleCnt="0"/>
      <dgm:spPr/>
    </dgm:pt>
    <dgm:pt modelId="{9368D843-76C1-42B0-834B-2DA28FCB0771}" type="pres">
      <dgm:prSet presAssocID="{D3DB2985-286F-4E1B-A3EF-B67DCD1C08F6}" presName="box" presStyleLbl="node1" presStyleIdx="3" presStyleCnt="5"/>
      <dgm:spPr/>
    </dgm:pt>
    <dgm:pt modelId="{D58F51A8-C9AC-49A7-BF07-49E56398E46B}" type="pres">
      <dgm:prSet presAssocID="{D3DB2985-286F-4E1B-A3EF-B67DCD1C08F6}" presName="img" presStyleLbl="fgImgPlace1" presStyleIdx="3" presStyleCnt="5"/>
      <dgm:spPr>
        <a:blipFill>
          <a:blip xmlns:r="http://schemas.openxmlformats.org/officeDocument/2006/relationships" r:embed="rId4"/>
          <a:srcRect/>
          <a:stretch>
            <a:fillRect l="-3000" r="-3000"/>
          </a:stretch>
        </a:blipFill>
      </dgm:spPr>
    </dgm:pt>
    <dgm:pt modelId="{CCCE771C-F880-4686-A4B6-89572DC603BC}" type="pres">
      <dgm:prSet presAssocID="{D3DB2985-286F-4E1B-A3EF-B67DCD1C08F6}" presName="text" presStyleLbl="node1" presStyleIdx="3" presStyleCnt="5">
        <dgm:presLayoutVars>
          <dgm:bulletEnabled val="1"/>
        </dgm:presLayoutVars>
      </dgm:prSet>
      <dgm:spPr/>
    </dgm:pt>
    <dgm:pt modelId="{3A49B040-FDA1-4A12-B511-8E073D364A2F}" type="pres">
      <dgm:prSet presAssocID="{F982C1E6-BEEF-456A-A8F1-006AD67EDC6F}" presName="spacer" presStyleCnt="0"/>
      <dgm:spPr/>
    </dgm:pt>
    <dgm:pt modelId="{290DC7B3-86F4-4764-849C-490D39CB5F58}" type="pres">
      <dgm:prSet presAssocID="{B9802D42-76B7-4AE8-9963-A689582E6B35}" presName="comp" presStyleCnt="0"/>
      <dgm:spPr/>
    </dgm:pt>
    <dgm:pt modelId="{34B88185-A619-4D08-836A-F611598437A8}" type="pres">
      <dgm:prSet presAssocID="{B9802D42-76B7-4AE8-9963-A689582E6B35}" presName="box" presStyleLbl="node1" presStyleIdx="4" presStyleCnt="5" custScaleY="71948" custLinFactNeighborX="-6009" custLinFactNeighborY="597"/>
      <dgm:spPr/>
    </dgm:pt>
    <dgm:pt modelId="{F2ED9228-CFBA-4661-8996-A0E7EA7BA1F7}" type="pres">
      <dgm:prSet presAssocID="{B9802D42-76B7-4AE8-9963-A689582E6B35}" presName="img" presStyleLbl="fgImgPlace1" presStyleIdx="4" presStyleCnt="5" custAng="10800000" custFlipVert="1" custScaleY="68307"/>
      <dgm:spPr>
        <a:blipFill>
          <a:blip xmlns:r="http://schemas.openxmlformats.org/officeDocument/2006/relationships" r:embed="rId5"/>
          <a:srcRect/>
          <a:stretch>
            <a:fillRect t="-17000" b="-17000"/>
          </a:stretch>
        </a:blipFill>
      </dgm:spPr>
    </dgm:pt>
    <dgm:pt modelId="{1EA42E4A-7A77-461B-A3EF-ED6EF71F796A}" type="pres">
      <dgm:prSet presAssocID="{B9802D42-76B7-4AE8-9963-A689582E6B35}" presName="text" presStyleLbl="node1" presStyleIdx="4" presStyleCnt="5">
        <dgm:presLayoutVars>
          <dgm:bulletEnabled val="1"/>
        </dgm:presLayoutVars>
      </dgm:prSet>
      <dgm:spPr/>
    </dgm:pt>
  </dgm:ptLst>
  <dgm:cxnLst>
    <dgm:cxn modelId="{D7771514-C386-46C1-946B-E4D34C195D50}" type="presOf" srcId="{E0DBD592-C900-4D5D-A79A-93A58E8DA172}" destId="{2D5738C4-EC9E-4779-B540-31D33BE25B70}" srcOrd="0" destOrd="0" presId="urn:microsoft.com/office/officeart/2005/8/layout/vList4"/>
    <dgm:cxn modelId="{441FA015-EE80-4570-970B-A56A475256EF}" type="presOf" srcId="{C9F99139-B66D-4219-861A-3EA127D493C0}" destId="{DC08CE2B-3BA2-48DB-B768-70EF00B4488D}" srcOrd="0" destOrd="0" presId="urn:microsoft.com/office/officeart/2005/8/layout/vList4"/>
    <dgm:cxn modelId="{DF5B256E-1BCA-468C-AF06-39814118FCEF}" type="presOf" srcId="{B0A54B65-E829-4553-8B45-B4EBDAF3C233}" destId="{B12AE6C0-B4ED-4A08-98AA-6732B6DC385E}" srcOrd="0" destOrd="0" presId="urn:microsoft.com/office/officeart/2005/8/layout/vList4"/>
    <dgm:cxn modelId="{2FF3EB71-C7F5-4619-AB74-5943DE39CC10}" srcId="{E0DBD592-C900-4D5D-A79A-93A58E8DA172}" destId="{C9F99139-B66D-4219-861A-3EA127D493C0}" srcOrd="0" destOrd="0" parTransId="{1C880A37-22BC-4FD9-8955-F47618D81BCC}" sibTransId="{2ABCB300-CCE9-44E7-999D-3B03628596E1}"/>
    <dgm:cxn modelId="{16458B7B-01D5-46EA-95CB-21064FA40DA3}" type="presOf" srcId="{B9802D42-76B7-4AE8-9963-A689582E6B35}" destId="{1EA42E4A-7A77-461B-A3EF-ED6EF71F796A}" srcOrd="1" destOrd="0" presId="urn:microsoft.com/office/officeart/2005/8/layout/vList4"/>
    <dgm:cxn modelId="{D2E0ED84-53E3-49A1-A292-3EA003DD3B1F}" srcId="{E0DBD592-C900-4D5D-A79A-93A58E8DA172}" destId="{D3DB2985-286F-4E1B-A3EF-B67DCD1C08F6}" srcOrd="3" destOrd="0" parTransId="{3A914AC6-6594-4B0A-A5A2-C491F53EF95C}" sibTransId="{F982C1E6-BEEF-456A-A8F1-006AD67EDC6F}"/>
    <dgm:cxn modelId="{712DF1A2-9649-4A26-A0DA-529186D8E53F}" type="presOf" srcId="{D3DB2985-286F-4E1B-A3EF-B67DCD1C08F6}" destId="{9368D843-76C1-42B0-834B-2DA28FCB0771}" srcOrd="0" destOrd="0" presId="urn:microsoft.com/office/officeart/2005/8/layout/vList4"/>
    <dgm:cxn modelId="{A44658AC-B46F-4B08-B962-B06FFFD99B33}" srcId="{E0DBD592-C900-4D5D-A79A-93A58E8DA172}" destId="{B9802D42-76B7-4AE8-9963-A689582E6B35}" srcOrd="4" destOrd="0" parTransId="{5522CECA-745D-4D76-A87A-0DA536D5330D}" sibTransId="{1B62F6DE-B574-43AD-B04F-ABDF9E20E863}"/>
    <dgm:cxn modelId="{CADC53CB-EC25-4D6E-882B-972A19677F10}" type="presOf" srcId="{D3DB2985-286F-4E1B-A3EF-B67DCD1C08F6}" destId="{CCCE771C-F880-4686-A4B6-89572DC603BC}" srcOrd="1" destOrd="0" presId="urn:microsoft.com/office/officeart/2005/8/layout/vList4"/>
    <dgm:cxn modelId="{C6E967D2-333A-4712-830E-A69583B49116}" type="presOf" srcId="{B9802D42-76B7-4AE8-9963-A689582E6B35}" destId="{34B88185-A619-4D08-836A-F611598437A8}" srcOrd="0" destOrd="0" presId="urn:microsoft.com/office/officeart/2005/8/layout/vList4"/>
    <dgm:cxn modelId="{62EFD2D3-AE51-4D7B-AC9A-B557C95CFE85}" srcId="{E0DBD592-C900-4D5D-A79A-93A58E8DA172}" destId="{B0A54B65-E829-4553-8B45-B4EBDAF3C233}" srcOrd="1" destOrd="0" parTransId="{58D673D6-CE1A-45C9-8DE0-8248CFA91FFF}" sibTransId="{F068E20D-9182-40E9-81D3-3D2119E9E208}"/>
    <dgm:cxn modelId="{A4BF16E6-FAE2-49A6-8E9A-22FE4B1019A9}" type="presOf" srcId="{EBF196C3-A6DB-42DE-B168-0612EDF03693}" destId="{C6452C4A-60F5-47BC-8505-428BC48A03CB}" srcOrd="0" destOrd="0" presId="urn:microsoft.com/office/officeart/2005/8/layout/vList4"/>
    <dgm:cxn modelId="{F31FFAE6-B3DF-4875-8480-C0F41B21D4B2}" type="presOf" srcId="{B0A54B65-E829-4553-8B45-B4EBDAF3C233}" destId="{3D1FE89A-8ADF-4C10-94D7-ABA6570F8C42}" srcOrd="1" destOrd="0" presId="urn:microsoft.com/office/officeart/2005/8/layout/vList4"/>
    <dgm:cxn modelId="{983B2CED-E271-4C8A-9468-B16025433270}" type="presOf" srcId="{C9F99139-B66D-4219-861A-3EA127D493C0}" destId="{51F715FF-4B49-486A-B461-C35D3C55EEB6}" srcOrd="1" destOrd="0" presId="urn:microsoft.com/office/officeart/2005/8/layout/vList4"/>
    <dgm:cxn modelId="{09CD5CFB-F57C-4EA7-9B86-AED2343EDF67}" srcId="{E0DBD592-C900-4D5D-A79A-93A58E8DA172}" destId="{EBF196C3-A6DB-42DE-B168-0612EDF03693}" srcOrd="2" destOrd="0" parTransId="{9BCB12AF-3FDE-4ECC-9F8F-CED83AED7CCB}" sibTransId="{C16B64A7-40EB-4C86-BE64-8EBACDE653C3}"/>
    <dgm:cxn modelId="{4D52D9FF-8814-4832-AAFD-6DD4FA592C36}" type="presOf" srcId="{EBF196C3-A6DB-42DE-B168-0612EDF03693}" destId="{E67E17D0-D90F-49C4-814B-C75905BED48F}" srcOrd="1" destOrd="0" presId="urn:microsoft.com/office/officeart/2005/8/layout/vList4"/>
    <dgm:cxn modelId="{EF6542DF-4537-4DC2-B1D9-B78444899BEC}" type="presParOf" srcId="{2D5738C4-EC9E-4779-B540-31D33BE25B70}" destId="{3495E656-1F14-4307-80DE-ABD969E4FEFA}" srcOrd="0" destOrd="0" presId="urn:microsoft.com/office/officeart/2005/8/layout/vList4"/>
    <dgm:cxn modelId="{E754B661-2C85-40F8-9635-1E3B84D8F76E}" type="presParOf" srcId="{3495E656-1F14-4307-80DE-ABD969E4FEFA}" destId="{DC08CE2B-3BA2-48DB-B768-70EF00B4488D}" srcOrd="0" destOrd="0" presId="urn:microsoft.com/office/officeart/2005/8/layout/vList4"/>
    <dgm:cxn modelId="{DDC0104C-69C6-4C22-8DDA-37422DD457EB}" type="presParOf" srcId="{3495E656-1F14-4307-80DE-ABD969E4FEFA}" destId="{EF2D8EC3-8FE2-4E7C-B86A-83EDAF07162F}" srcOrd="1" destOrd="0" presId="urn:microsoft.com/office/officeart/2005/8/layout/vList4"/>
    <dgm:cxn modelId="{712E3B41-46F6-4BB0-8C90-5002339AB84F}" type="presParOf" srcId="{3495E656-1F14-4307-80DE-ABD969E4FEFA}" destId="{51F715FF-4B49-486A-B461-C35D3C55EEB6}" srcOrd="2" destOrd="0" presId="urn:microsoft.com/office/officeart/2005/8/layout/vList4"/>
    <dgm:cxn modelId="{DFC7B6B5-59F6-4A57-A84F-0850103975EA}" type="presParOf" srcId="{2D5738C4-EC9E-4779-B540-31D33BE25B70}" destId="{A85E9522-9A51-4F9B-825C-5AAE997BCC79}" srcOrd="1" destOrd="0" presId="urn:microsoft.com/office/officeart/2005/8/layout/vList4"/>
    <dgm:cxn modelId="{DD6A45F7-31A4-4567-9B0C-DAB37FAA4FDB}" type="presParOf" srcId="{2D5738C4-EC9E-4779-B540-31D33BE25B70}" destId="{9C15E9F4-CE56-4E8D-9AC4-025934C7C1D4}" srcOrd="2" destOrd="0" presId="urn:microsoft.com/office/officeart/2005/8/layout/vList4"/>
    <dgm:cxn modelId="{F8DAF924-F73D-41DC-B2E9-9682829D2561}" type="presParOf" srcId="{9C15E9F4-CE56-4E8D-9AC4-025934C7C1D4}" destId="{B12AE6C0-B4ED-4A08-98AA-6732B6DC385E}" srcOrd="0" destOrd="0" presId="urn:microsoft.com/office/officeart/2005/8/layout/vList4"/>
    <dgm:cxn modelId="{41611BF0-B5B2-4B8C-9E68-B8B35264280D}" type="presParOf" srcId="{9C15E9F4-CE56-4E8D-9AC4-025934C7C1D4}" destId="{C9E8AD8B-B134-4129-BD9A-C060E9DACAFC}" srcOrd="1" destOrd="0" presId="urn:microsoft.com/office/officeart/2005/8/layout/vList4"/>
    <dgm:cxn modelId="{A70DB30D-F7C5-4C01-9738-E0DE48D12509}" type="presParOf" srcId="{9C15E9F4-CE56-4E8D-9AC4-025934C7C1D4}" destId="{3D1FE89A-8ADF-4C10-94D7-ABA6570F8C42}" srcOrd="2" destOrd="0" presId="urn:microsoft.com/office/officeart/2005/8/layout/vList4"/>
    <dgm:cxn modelId="{72A817E0-9F11-4CE9-9F3E-F26DF95F0CBA}" type="presParOf" srcId="{2D5738C4-EC9E-4779-B540-31D33BE25B70}" destId="{3ADE5778-2B09-4D2C-BFA0-9E09D3AB850F}" srcOrd="3" destOrd="0" presId="urn:microsoft.com/office/officeart/2005/8/layout/vList4"/>
    <dgm:cxn modelId="{21D79D85-6A79-4C95-AB05-4B9FBCEEFB38}" type="presParOf" srcId="{2D5738C4-EC9E-4779-B540-31D33BE25B70}" destId="{394CAA2C-B39A-45C2-8692-4F108831F697}" srcOrd="4" destOrd="0" presId="urn:microsoft.com/office/officeart/2005/8/layout/vList4"/>
    <dgm:cxn modelId="{1B5F7425-81F1-4E75-BE49-07209D8A9C92}" type="presParOf" srcId="{394CAA2C-B39A-45C2-8692-4F108831F697}" destId="{C6452C4A-60F5-47BC-8505-428BC48A03CB}" srcOrd="0" destOrd="0" presId="urn:microsoft.com/office/officeart/2005/8/layout/vList4"/>
    <dgm:cxn modelId="{9D32D5E8-902D-4D45-8002-75E51E6E0EAC}" type="presParOf" srcId="{394CAA2C-B39A-45C2-8692-4F108831F697}" destId="{D306C488-315E-46F7-B989-FFF5212BF6E2}" srcOrd="1" destOrd="0" presId="urn:microsoft.com/office/officeart/2005/8/layout/vList4"/>
    <dgm:cxn modelId="{39D6149B-BA07-4DFB-A0E9-B769847AEDE3}" type="presParOf" srcId="{394CAA2C-B39A-45C2-8692-4F108831F697}" destId="{E67E17D0-D90F-49C4-814B-C75905BED48F}" srcOrd="2" destOrd="0" presId="urn:microsoft.com/office/officeart/2005/8/layout/vList4"/>
    <dgm:cxn modelId="{AB430D4A-F663-4F65-90FB-5EBB31C3C10E}" type="presParOf" srcId="{2D5738C4-EC9E-4779-B540-31D33BE25B70}" destId="{A4B9FD97-CD6C-45E6-BB2C-BADD153BE16D}" srcOrd="5" destOrd="0" presId="urn:microsoft.com/office/officeart/2005/8/layout/vList4"/>
    <dgm:cxn modelId="{E0AEF6AC-2CA9-42C1-80DA-C45C252413C0}" type="presParOf" srcId="{2D5738C4-EC9E-4779-B540-31D33BE25B70}" destId="{FA11953F-C793-41F3-944C-F9C478C0015E}" srcOrd="6" destOrd="0" presId="urn:microsoft.com/office/officeart/2005/8/layout/vList4"/>
    <dgm:cxn modelId="{3E3E90B7-E7F4-4098-86CE-456FD145D474}" type="presParOf" srcId="{FA11953F-C793-41F3-944C-F9C478C0015E}" destId="{9368D843-76C1-42B0-834B-2DA28FCB0771}" srcOrd="0" destOrd="0" presId="urn:microsoft.com/office/officeart/2005/8/layout/vList4"/>
    <dgm:cxn modelId="{4583DEA2-C6B9-4321-9D84-F35A1237B997}" type="presParOf" srcId="{FA11953F-C793-41F3-944C-F9C478C0015E}" destId="{D58F51A8-C9AC-49A7-BF07-49E56398E46B}" srcOrd="1" destOrd="0" presId="urn:microsoft.com/office/officeart/2005/8/layout/vList4"/>
    <dgm:cxn modelId="{A3F62817-40C2-4A24-9118-2F626F64F4D0}" type="presParOf" srcId="{FA11953F-C793-41F3-944C-F9C478C0015E}" destId="{CCCE771C-F880-4686-A4B6-89572DC603BC}" srcOrd="2" destOrd="0" presId="urn:microsoft.com/office/officeart/2005/8/layout/vList4"/>
    <dgm:cxn modelId="{1F65D5CB-4A82-448E-9FF8-BD87C2EB4A5C}" type="presParOf" srcId="{2D5738C4-EC9E-4779-B540-31D33BE25B70}" destId="{3A49B040-FDA1-4A12-B511-8E073D364A2F}" srcOrd="7" destOrd="0" presId="urn:microsoft.com/office/officeart/2005/8/layout/vList4"/>
    <dgm:cxn modelId="{FD1E39F0-3AAF-49C8-B9CA-33029DD7BC49}" type="presParOf" srcId="{2D5738C4-EC9E-4779-B540-31D33BE25B70}" destId="{290DC7B3-86F4-4764-849C-490D39CB5F58}" srcOrd="8" destOrd="0" presId="urn:microsoft.com/office/officeart/2005/8/layout/vList4"/>
    <dgm:cxn modelId="{93E65382-6E82-4214-B1F8-0D80A1BAE75B}" type="presParOf" srcId="{290DC7B3-86F4-4764-849C-490D39CB5F58}" destId="{34B88185-A619-4D08-836A-F611598437A8}" srcOrd="0" destOrd="0" presId="urn:microsoft.com/office/officeart/2005/8/layout/vList4"/>
    <dgm:cxn modelId="{9535B602-BF4C-4731-BA5D-CD132A921303}" type="presParOf" srcId="{290DC7B3-86F4-4764-849C-490D39CB5F58}" destId="{F2ED9228-CFBA-4661-8996-A0E7EA7BA1F7}" srcOrd="1" destOrd="0" presId="urn:microsoft.com/office/officeart/2005/8/layout/vList4"/>
    <dgm:cxn modelId="{68ECDDD6-AA1A-465B-A746-7234866EC438}" type="presParOf" srcId="{290DC7B3-86F4-4764-849C-490D39CB5F58}" destId="{1EA42E4A-7A77-461B-A3EF-ED6EF71F796A}"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DF0F9E5-841B-FF4D-9CB5-2F1286FB0B81}" type="doc">
      <dgm:prSet loTypeId="urn:microsoft.com/office/officeart/2005/8/layout/chevron1" loCatId="list" qsTypeId="urn:microsoft.com/office/officeart/2005/8/quickstyle/simple1" qsCatId="simple" csTypeId="urn:microsoft.com/office/officeart/2005/8/colors/accent1_2" csCatId="accent1" phldr="1"/>
      <dgm:spPr/>
      <dgm:t>
        <a:bodyPr/>
        <a:lstStyle/>
        <a:p>
          <a:endParaRPr lang="en-GB"/>
        </a:p>
      </dgm:t>
    </dgm:pt>
    <dgm:pt modelId="{4B7548F0-E499-254C-9C9F-E02382EEB5E9}">
      <dgm:prSet/>
      <dgm:spPr/>
      <dgm:t>
        <a:bodyPr/>
        <a:lstStyle/>
        <a:p>
          <a:r>
            <a:rPr lang="es-ES" b="1" i="0" dirty="0"/>
            <a:t>9NN</a:t>
          </a:r>
          <a:endParaRPr lang="en-ES" dirty="0"/>
        </a:p>
      </dgm:t>
    </dgm:pt>
    <dgm:pt modelId="{C262CEBB-7006-A242-ADD3-B9235EF8735C}" type="parTrans" cxnId="{702EFC95-8543-6E42-8059-09D9E582B607}">
      <dgm:prSet/>
      <dgm:spPr/>
      <dgm:t>
        <a:bodyPr/>
        <a:lstStyle/>
        <a:p>
          <a:endParaRPr lang="en-GB"/>
        </a:p>
      </dgm:t>
    </dgm:pt>
    <dgm:pt modelId="{82304106-D479-C64E-9799-69BDAE43ED77}" type="sibTrans" cxnId="{702EFC95-8543-6E42-8059-09D9E582B607}">
      <dgm:prSet/>
      <dgm:spPr/>
      <dgm:t>
        <a:bodyPr/>
        <a:lstStyle/>
        <a:p>
          <a:endParaRPr lang="en-GB"/>
        </a:p>
      </dgm:t>
    </dgm:pt>
    <dgm:pt modelId="{67E4A056-504D-AF46-98B0-70C35D9DA4E2}" type="pres">
      <dgm:prSet presAssocID="{9DF0F9E5-841B-FF4D-9CB5-2F1286FB0B81}" presName="Name0" presStyleCnt="0">
        <dgm:presLayoutVars>
          <dgm:dir/>
          <dgm:animLvl val="lvl"/>
          <dgm:resizeHandles val="exact"/>
        </dgm:presLayoutVars>
      </dgm:prSet>
      <dgm:spPr/>
    </dgm:pt>
    <dgm:pt modelId="{73A4D826-B1A8-D24F-BF3E-D0DBA84542CC}" type="pres">
      <dgm:prSet presAssocID="{4B7548F0-E499-254C-9C9F-E02382EEB5E9}" presName="parTxOnly" presStyleLbl="node1" presStyleIdx="0" presStyleCnt="1" custScaleY="100359" custLinFactY="20531" custLinFactNeighborX="-24777" custLinFactNeighborY="100000">
        <dgm:presLayoutVars>
          <dgm:chMax val="0"/>
          <dgm:chPref val="0"/>
          <dgm:bulletEnabled val="1"/>
        </dgm:presLayoutVars>
      </dgm:prSet>
      <dgm:spPr/>
    </dgm:pt>
  </dgm:ptLst>
  <dgm:cxnLst>
    <dgm:cxn modelId="{1002DE02-5ED3-4342-BDE1-FA3F312D68AD}" type="presOf" srcId="{4B7548F0-E499-254C-9C9F-E02382EEB5E9}" destId="{73A4D826-B1A8-D24F-BF3E-D0DBA84542CC}" srcOrd="0" destOrd="0" presId="urn:microsoft.com/office/officeart/2005/8/layout/chevron1"/>
    <dgm:cxn modelId="{F9CE3E5F-7A8A-9343-B18D-8C94EFA95159}" type="presOf" srcId="{9DF0F9E5-841B-FF4D-9CB5-2F1286FB0B81}" destId="{67E4A056-504D-AF46-98B0-70C35D9DA4E2}" srcOrd="0" destOrd="0" presId="urn:microsoft.com/office/officeart/2005/8/layout/chevron1"/>
    <dgm:cxn modelId="{702EFC95-8543-6E42-8059-09D9E582B607}" srcId="{9DF0F9E5-841B-FF4D-9CB5-2F1286FB0B81}" destId="{4B7548F0-E499-254C-9C9F-E02382EEB5E9}" srcOrd="0" destOrd="0" parTransId="{C262CEBB-7006-A242-ADD3-B9235EF8735C}" sibTransId="{82304106-D479-C64E-9799-69BDAE43ED77}"/>
    <dgm:cxn modelId="{69D04B74-A752-5042-9CF7-6117575B75E6}" type="presParOf" srcId="{67E4A056-504D-AF46-98B0-70C35D9DA4E2}" destId="{73A4D826-B1A8-D24F-BF3E-D0DBA84542CC}" srcOrd="0"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6A8F40A-6895-D54A-891B-0666CD46C550}" type="doc">
      <dgm:prSet loTypeId="urn:microsoft.com/office/officeart/2005/8/layout/lProcess3" loCatId="process" qsTypeId="urn:microsoft.com/office/officeart/2005/8/quickstyle/simple1" qsCatId="simple" csTypeId="urn:microsoft.com/office/officeart/2005/8/colors/accent1_2" csCatId="accent1" phldr="1"/>
      <dgm:spPr/>
      <dgm:t>
        <a:bodyPr/>
        <a:lstStyle/>
        <a:p>
          <a:endParaRPr lang="en-GB"/>
        </a:p>
      </dgm:t>
    </dgm:pt>
    <dgm:pt modelId="{C1C1743D-B186-F748-A62C-FD5A8898EAD1}">
      <dgm:prSet/>
      <dgm:spPr/>
      <dgm:t>
        <a:bodyPr/>
        <a:lstStyle/>
        <a:p>
          <a:r>
            <a:rPr lang="es-ES" b="1" i="0" dirty="0" err="1"/>
            <a:t>Naive</a:t>
          </a:r>
          <a:r>
            <a:rPr lang="es-ES" b="1" i="0" dirty="0"/>
            <a:t> bayes</a:t>
          </a:r>
          <a:endParaRPr lang="en-ES" dirty="0"/>
        </a:p>
      </dgm:t>
    </dgm:pt>
    <dgm:pt modelId="{BFDED490-0320-3A44-AD14-229EFAEF53D6}" type="parTrans" cxnId="{67CFEEEF-B575-2949-97D0-9FE1107E538B}">
      <dgm:prSet/>
      <dgm:spPr/>
      <dgm:t>
        <a:bodyPr/>
        <a:lstStyle/>
        <a:p>
          <a:endParaRPr lang="en-GB"/>
        </a:p>
      </dgm:t>
    </dgm:pt>
    <dgm:pt modelId="{4D310E4D-EC3C-4D47-A9BB-A0B136EAB064}" type="sibTrans" cxnId="{67CFEEEF-B575-2949-97D0-9FE1107E538B}">
      <dgm:prSet/>
      <dgm:spPr/>
      <dgm:t>
        <a:bodyPr/>
        <a:lstStyle/>
        <a:p>
          <a:endParaRPr lang="en-GB"/>
        </a:p>
      </dgm:t>
    </dgm:pt>
    <dgm:pt modelId="{801AE17F-C31F-CA43-BC84-69CE827808FD}" type="pres">
      <dgm:prSet presAssocID="{06A8F40A-6895-D54A-891B-0666CD46C550}" presName="Name0" presStyleCnt="0">
        <dgm:presLayoutVars>
          <dgm:chPref val="3"/>
          <dgm:dir/>
          <dgm:animLvl val="lvl"/>
          <dgm:resizeHandles/>
        </dgm:presLayoutVars>
      </dgm:prSet>
      <dgm:spPr/>
    </dgm:pt>
    <dgm:pt modelId="{06EE72E4-7873-9447-9BF1-5DC88BD79E5B}" type="pres">
      <dgm:prSet presAssocID="{C1C1743D-B186-F748-A62C-FD5A8898EAD1}" presName="horFlow" presStyleCnt="0"/>
      <dgm:spPr/>
    </dgm:pt>
    <dgm:pt modelId="{259A7068-6F6F-9B4D-894D-518C62EBCA00}" type="pres">
      <dgm:prSet presAssocID="{C1C1743D-B186-F748-A62C-FD5A8898EAD1}" presName="bigChev" presStyleLbl="node1" presStyleIdx="0" presStyleCnt="1" custAng="0" custScaleX="137387" custLinFactNeighborX="23488" custLinFactNeighborY="44"/>
      <dgm:spPr/>
    </dgm:pt>
  </dgm:ptLst>
  <dgm:cxnLst>
    <dgm:cxn modelId="{5CCA5F2A-4954-FF43-8687-2DC8E689D82F}" type="presOf" srcId="{06A8F40A-6895-D54A-891B-0666CD46C550}" destId="{801AE17F-C31F-CA43-BC84-69CE827808FD}" srcOrd="0" destOrd="0" presId="urn:microsoft.com/office/officeart/2005/8/layout/lProcess3"/>
    <dgm:cxn modelId="{556D64A5-CEA6-3040-B2B1-568B85FB8AA7}" type="presOf" srcId="{C1C1743D-B186-F748-A62C-FD5A8898EAD1}" destId="{259A7068-6F6F-9B4D-894D-518C62EBCA00}" srcOrd="0" destOrd="0" presId="urn:microsoft.com/office/officeart/2005/8/layout/lProcess3"/>
    <dgm:cxn modelId="{67CFEEEF-B575-2949-97D0-9FE1107E538B}" srcId="{06A8F40A-6895-D54A-891B-0666CD46C550}" destId="{C1C1743D-B186-F748-A62C-FD5A8898EAD1}" srcOrd="0" destOrd="0" parTransId="{BFDED490-0320-3A44-AD14-229EFAEF53D6}" sibTransId="{4D310E4D-EC3C-4D47-A9BB-A0B136EAB064}"/>
    <dgm:cxn modelId="{FB2D6210-190A-204E-B71F-517859FDEE68}" type="presParOf" srcId="{801AE17F-C31F-CA43-BC84-69CE827808FD}" destId="{06EE72E4-7873-9447-9BF1-5DC88BD79E5B}" srcOrd="0" destOrd="0" presId="urn:microsoft.com/office/officeart/2005/8/layout/lProcess3"/>
    <dgm:cxn modelId="{FB235A8D-837A-A841-8A54-20EA48662ADC}" type="presParOf" srcId="{06EE72E4-7873-9447-9BF1-5DC88BD79E5B}" destId="{259A7068-6F6F-9B4D-894D-518C62EBCA00}" srcOrd="0" destOrd="0" presId="urn:microsoft.com/office/officeart/2005/8/layout/lProcess3"/>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08CE2B-3BA2-48DB-B768-70EF00B4488D}">
      <dsp:nvSpPr>
        <dsp:cNvPr id="0" name=""/>
        <dsp:cNvSpPr/>
      </dsp:nvSpPr>
      <dsp:spPr>
        <a:xfrm>
          <a:off x="0" y="0"/>
          <a:ext cx="5013062" cy="49211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s-ES" sz="900" b="1" kern="1200" dirty="0">
              <a:solidFill>
                <a:srgbClr val="002060"/>
              </a:solidFill>
            </a:rPr>
            <a:t>	Business </a:t>
          </a:r>
          <a:r>
            <a:rPr lang="es-ES" sz="900" b="1" kern="1200" dirty="0" err="1">
              <a:solidFill>
                <a:srgbClr val="002060"/>
              </a:solidFill>
            </a:rPr>
            <a:t>understanding</a:t>
          </a:r>
          <a:r>
            <a:rPr lang="es-ES" sz="900" b="1" kern="1200" dirty="0">
              <a:solidFill>
                <a:srgbClr val="002060"/>
              </a:solidFill>
            </a:rPr>
            <a:t> </a:t>
          </a:r>
          <a:r>
            <a:rPr lang="es-ES" sz="900" kern="1200" dirty="0"/>
            <a:t>– Todo el equipo</a:t>
          </a:r>
        </a:p>
      </dsp:txBody>
      <dsp:txXfrm>
        <a:off x="1071719" y="0"/>
        <a:ext cx="3941343" cy="492118"/>
      </dsp:txXfrm>
    </dsp:sp>
    <dsp:sp modelId="{EF2D8EC3-8FE2-4E7C-B86A-83EDAF07162F}">
      <dsp:nvSpPr>
        <dsp:cNvPr id="0" name=""/>
        <dsp:cNvSpPr/>
      </dsp:nvSpPr>
      <dsp:spPr>
        <a:xfrm>
          <a:off x="69107" y="53767"/>
          <a:ext cx="1002612" cy="384583"/>
        </a:xfrm>
        <a:prstGeom prst="roundRect">
          <a:avLst>
            <a:gd name="adj" fmla="val 10000"/>
          </a:avLst>
        </a:prstGeom>
        <a:blipFill>
          <a:blip xmlns:r="http://schemas.openxmlformats.org/officeDocument/2006/relationships" r:embed="rId1"/>
          <a:srcRect/>
          <a:stretch>
            <a:fillRect t="-84000" b="-84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12AE6C0-B4ED-4A08-98AA-6732B6DC385E}">
      <dsp:nvSpPr>
        <dsp:cNvPr id="0" name=""/>
        <dsp:cNvSpPr/>
      </dsp:nvSpPr>
      <dsp:spPr>
        <a:xfrm>
          <a:off x="0" y="561225"/>
          <a:ext cx="5013062" cy="82360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s-ES" sz="800" b="1" kern="1200" dirty="0">
              <a:solidFill>
                <a:srgbClr val="002060"/>
              </a:solidFill>
            </a:rPr>
            <a:t>      	Data </a:t>
          </a:r>
          <a:r>
            <a:rPr lang="es-ES" sz="800" b="1" kern="1200" dirty="0" err="1">
              <a:solidFill>
                <a:srgbClr val="002060"/>
              </a:solidFill>
            </a:rPr>
            <a:t>understanding</a:t>
          </a:r>
          <a:r>
            <a:rPr lang="es-ES" sz="800" b="1" kern="1200" dirty="0">
              <a:solidFill>
                <a:srgbClr val="002060"/>
              </a:solidFill>
            </a:rPr>
            <a:t> </a:t>
          </a:r>
          <a:r>
            <a:rPr lang="es-ES" sz="800" b="1" kern="1200" dirty="0"/>
            <a:t>-</a:t>
          </a:r>
          <a:r>
            <a:rPr lang="es-ES" sz="800" kern="1200" dirty="0"/>
            <a:t>  Todo el equipo</a:t>
          </a:r>
        </a:p>
        <a:p>
          <a:pPr marL="0" lvl="0" indent="0" algn="l" defTabSz="355600">
            <a:lnSpc>
              <a:spcPct val="90000"/>
            </a:lnSpc>
            <a:spcBef>
              <a:spcPct val="0"/>
            </a:spcBef>
            <a:spcAft>
              <a:spcPct val="35000"/>
            </a:spcAft>
            <a:buNone/>
          </a:pPr>
          <a:r>
            <a:rPr lang="es-ES" sz="800" kern="1200" dirty="0"/>
            <a:t>  	Diseño del </a:t>
          </a:r>
          <a:r>
            <a:rPr lang="es-ES" sz="800" kern="1200" dirty="0" err="1"/>
            <a:t>metadata</a:t>
          </a:r>
          <a:r>
            <a:rPr lang="es-ES" sz="800" kern="1200" dirty="0"/>
            <a:t> – Melissa</a:t>
          </a:r>
        </a:p>
        <a:p>
          <a:pPr marL="0" lvl="0" indent="0" algn="l" defTabSz="355600">
            <a:lnSpc>
              <a:spcPct val="90000"/>
            </a:lnSpc>
            <a:spcBef>
              <a:spcPct val="0"/>
            </a:spcBef>
            <a:spcAft>
              <a:spcPct val="35000"/>
            </a:spcAft>
            <a:buNone/>
          </a:pPr>
          <a:r>
            <a:rPr lang="es-ES" sz="800" kern="1200" dirty="0"/>
            <a:t>     	EDA– </a:t>
          </a:r>
          <a:r>
            <a:rPr lang="es-ES" sz="800" kern="1200" dirty="0" err="1"/>
            <a:t>Wenjia</a:t>
          </a:r>
          <a:r>
            <a:rPr lang="es-ES" sz="800" kern="1200" dirty="0"/>
            <a:t> y </a:t>
          </a:r>
          <a:r>
            <a:rPr lang="es-ES" sz="800" kern="1200" dirty="0" err="1"/>
            <a:t>Siling</a:t>
          </a:r>
          <a:endParaRPr lang="es-ES" sz="800" kern="1200" dirty="0"/>
        </a:p>
        <a:p>
          <a:pPr marL="0" lvl="0" indent="0" algn="l" defTabSz="355600">
            <a:lnSpc>
              <a:spcPct val="90000"/>
            </a:lnSpc>
            <a:spcBef>
              <a:spcPct val="0"/>
            </a:spcBef>
            <a:spcAft>
              <a:spcPct val="35000"/>
            </a:spcAft>
            <a:buNone/>
          </a:pPr>
          <a:r>
            <a:rPr lang="es-ES" sz="800" kern="1200" dirty="0"/>
            <a:t>     	Análisis de </a:t>
          </a:r>
          <a:r>
            <a:rPr lang="es-ES" sz="800" kern="1200" dirty="0" err="1"/>
            <a:t>outliers</a:t>
          </a:r>
          <a:r>
            <a:rPr lang="es-ES" sz="800" kern="1200" dirty="0"/>
            <a:t> (pre-imputación): Mario, Laura y Melissa</a:t>
          </a:r>
        </a:p>
        <a:p>
          <a:pPr marL="0" lvl="0" indent="0" algn="l" defTabSz="355600">
            <a:lnSpc>
              <a:spcPct val="90000"/>
            </a:lnSpc>
            <a:spcBef>
              <a:spcPct val="0"/>
            </a:spcBef>
            <a:spcAft>
              <a:spcPct val="35000"/>
            </a:spcAft>
            <a:buNone/>
          </a:pPr>
          <a:endParaRPr lang="es-ES" sz="800" kern="1200" dirty="0"/>
        </a:p>
      </dsp:txBody>
      <dsp:txXfrm>
        <a:off x="1071719" y="561225"/>
        <a:ext cx="3941343" cy="823604"/>
      </dsp:txXfrm>
    </dsp:sp>
    <dsp:sp modelId="{C9E8AD8B-B134-4129-BD9A-C060E9DACAFC}">
      <dsp:nvSpPr>
        <dsp:cNvPr id="0" name=""/>
        <dsp:cNvSpPr/>
      </dsp:nvSpPr>
      <dsp:spPr>
        <a:xfrm>
          <a:off x="69107" y="639732"/>
          <a:ext cx="1002612" cy="666590"/>
        </a:xfrm>
        <a:prstGeom prst="roundRect">
          <a:avLst>
            <a:gd name="adj" fmla="val 10000"/>
          </a:avLst>
        </a:prstGeom>
        <a:blipFill>
          <a:blip xmlns:r="http://schemas.openxmlformats.org/officeDocument/2006/relationships" r:embed="rId2"/>
          <a:srcRect/>
          <a:stretch>
            <a:fillRect l="-9000" r="-9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6452C4A-60F5-47BC-8505-428BC48A03CB}">
      <dsp:nvSpPr>
        <dsp:cNvPr id="0" name=""/>
        <dsp:cNvSpPr/>
      </dsp:nvSpPr>
      <dsp:spPr>
        <a:xfrm>
          <a:off x="0" y="1453936"/>
          <a:ext cx="5013062" cy="90467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s-ES" sz="800" b="1" kern="1200" dirty="0">
              <a:solidFill>
                <a:srgbClr val="002060"/>
              </a:solidFill>
            </a:rPr>
            <a:t> 	Data </a:t>
          </a:r>
          <a:r>
            <a:rPr lang="es-ES" sz="800" b="1" kern="1200" dirty="0" err="1">
              <a:solidFill>
                <a:srgbClr val="002060"/>
              </a:solidFill>
            </a:rPr>
            <a:t>preparation</a:t>
          </a:r>
          <a:endParaRPr lang="es-ES" sz="800" b="1" kern="1200" dirty="0">
            <a:solidFill>
              <a:srgbClr val="002060"/>
            </a:solidFill>
          </a:endParaRPr>
        </a:p>
        <a:p>
          <a:pPr marL="0" lvl="0" indent="0" algn="l" defTabSz="355600">
            <a:lnSpc>
              <a:spcPct val="90000"/>
            </a:lnSpc>
            <a:spcBef>
              <a:spcPct val="0"/>
            </a:spcBef>
            <a:spcAft>
              <a:spcPct val="35000"/>
            </a:spcAft>
            <a:buNone/>
          </a:pPr>
          <a:r>
            <a:rPr lang="es-ES" sz="800" kern="1200" dirty="0"/>
            <a:t>	Imputación </a:t>
          </a:r>
          <a:r>
            <a:rPr lang="es-ES" sz="800" kern="1200" dirty="0" err="1"/>
            <a:t>missings</a:t>
          </a:r>
          <a:r>
            <a:rPr lang="es-ES" sz="800" kern="1200" dirty="0"/>
            <a:t> – Mario y Laura</a:t>
          </a:r>
        </a:p>
        <a:p>
          <a:pPr marL="0" lvl="0" indent="0" algn="l" defTabSz="355600">
            <a:lnSpc>
              <a:spcPct val="90000"/>
            </a:lnSpc>
            <a:spcBef>
              <a:spcPct val="0"/>
            </a:spcBef>
            <a:spcAft>
              <a:spcPct val="35000"/>
            </a:spcAft>
            <a:buNone/>
          </a:pPr>
          <a:r>
            <a:rPr lang="es-ES" sz="800" kern="1200" dirty="0"/>
            <a:t>	</a:t>
          </a:r>
          <a:r>
            <a:rPr lang="es-ES" sz="800" kern="1200" dirty="0" err="1"/>
            <a:t>Tratatamiento</a:t>
          </a:r>
          <a:r>
            <a:rPr lang="es-ES" sz="800" kern="1200" dirty="0"/>
            <a:t> </a:t>
          </a:r>
          <a:r>
            <a:rPr lang="es-ES" sz="800" kern="1200" dirty="0" err="1"/>
            <a:t>Outliers</a:t>
          </a:r>
          <a:r>
            <a:rPr lang="es-ES" sz="800" kern="1200" dirty="0"/>
            <a:t> – Mario, Laura y Melissa</a:t>
          </a:r>
        </a:p>
        <a:p>
          <a:pPr marL="0" lvl="0" indent="0" algn="l" defTabSz="355600">
            <a:lnSpc>
              <a:spcPct val="90000"/>
            </a:lnSpc>
            <a:spcBef>
              <a:spcPct val="0"/>
            </a:spcBef>
            <a:spcAft>
              <a:spcPct val="35000"/>
            </a:spcAft>
            <a:buNone/>
          </a:pPr>
          <a:r>
            <a:rPr lang="es-ES" sz="800" kern="1200" dirty="0"/>
            <a:t>	</a:t>
          </a:r>
          <a:r>
            <a:rPr lang="es-ES" sz="800" kern="1200" dirty="0" err="1"/>
            <a:t>Feature</a:t>
          </a:r>
          <a:r>
            <a:rPr lang="es-ES" sz="800" kern="1200" dirty="0"/>
            <a:t> </a:t>
          </a:r>
          <a:r>
            <a:rPr lang="es-ES" sz="800" kern="1200" dirty="0" err="1"/>
            <a:t>Engineering</a:t>
          </a:r>
          <a:r>
            <a:rPr lang="es-ES" sz="800" kern="1200" dirty="0"/>
            <a:t>– </a:t>
          </a:r>
          <a:r>
            <a:rPr lang="es-ES" sz="800" kern="1200" dirty="0" err="1"/>
            <a:t>Wenjia</a:t>
          </a:r>
          <a:r>
            <a:rPr lang="es-ES" sz="800" kern="1200" dirty="0"/>
            <a:t> </a:t>
          </a:r>
        </a:p>
      </dsp:txBody>
      <dsp:txXfrm>
        <a:off x="1071719" y="1453936"/>
        <a:ext cx="3941343" cy="904673"/>
      </dsp:txXfrm>
    </dsp:sp>
    <dsp:sp modelId="{D306C488-315E-46F7-B989-FFF5212BF6E2}">
      <dsp:nvSpPr>
        <dsp:cNvPr id="0" name=""/>
        <dsp:cNvSpPr/>
      </dsp:nvSpPr>
      <dsp:spPr>
        <a:xfrm>
          <a:off x="69107" y="1577210"/>
          <a:ext cx="1002612" cy="658125"/>
        </a:xfrm>
        <a:prstGeom prst="roundRect">
          <a:avLst>
            <a:gd name="adj" fmla="val 10000"/>
          </a:avLst>
        </a:prstGeom>
        <a:blipFill>
          <a:blip xmlns:r="http://schemas.openxmlformats.org/officeDocument/2006/relationships" r:embed="rId3"/>
          <a:srcRect/>
          <a:stretch>
            <a:fillRect t="-8000" b="-8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368D843-76C1-42B0-834B-2DA28FCB0771}">
      <dsp:nvSpPr>
        <dsp:cNvPr id="0" name=""/>
        <dsp:cNvSpPr/>
      </dsp:nvSpPr>
      <dsp:spPr>
        <a:xfrm>
          <a:off x="0" y="2427717"/>
          <a:ext cx="5013062" cy="69107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s-ES" sz="800" b="1" kern="1200" dirty="0">
              <a:solidFill>
                <a:srgbClr val="002060"/>
              </a:solidFill>
            </a:rPr>
            <a:t>            	</a:t>
          </a:r>
          <a:r>
            <a:rPr lang="es-ES" sz="800" b="1" kern="1200" dirty="0" err="1">
              <a:solidFill>
                <a:srgbClr val="002060"/>
              </a:solidFill>
            </a:rPr>
            <a:t>Modeling</a:t>
          </a:r>
          <a:r>
            <a:rPr lang="es-ES" sz="800" b="1" kern="1200" dirty="0">
              <a:solidFill>
                <a:srgbClr val="002060"/>
              </a:solidFill>
            </a:rPr>
            <a:t> &amp; </a:t>
          </a:r>
          <a:r>
            <a:rPr lang="es-ES" sz="800" b="1" kern="1200" dirty="0" err="1">
              <a:solidFill>
                <a:srgbClr val="002060"/>
              </a:solidFill>
            </a:rPr>
            <a:t>Evaluation</a:t>
          </a:r>
          <a:endParaRPr lang="es-ES" sz="800" b="1" kern="1200" dirty="0">
            <a:solidFill>
              <a:srgbClr val="002060"/>
            </a:solidFill>
          </a:endParaRPr>
        </a:p>
        <a:p>
          <a:pPr marL="0" lvl="0" indent="0" algn="l" defTabSz="355600">
            <a:lnSpc>
              <a:spcPct val="90000"/>
            </a:lnSpc>
            <a:spcBef>
              <a:spcPct val="0"/>
            </a:spcBef>
            <a:spcAft>
              <a:spcPct val="35000"/>
            </a:spcAft>
            <a:buNone/>
          </a:pPr>
          <a:r>
            <a:rPr lang="es-ES" sz="700" kern="1200" dirty="0"/>
            <a:t>	KNN – </a:t>
          </a:r>
          <a:r>
            <a:rPr lang="es-ES" sz="700" kern="1200" dirty="0" err="1"/>
            <a:t>Siling</a:t>
          </a:r>
          <a:r>
            <a:rPr lang="es-ES" sz="700" kern="1200" dirty="0"/>
            <a:t> y Laura</a:t>
          </a:r>
        </a:p>
        <a:p>
          <a:pPr marL="0" lvl="0" indent="0" algn="l" defTabSz="355600">
            <a:lnSpc>
              <a:spcPct val="90000"/>
            </a:lnSpc>
            <a:spcBef>
              <a:spcPct val="0"/>
            </a:spcBef>
            <a:spcAft>
              <a:spcPct val="35000"/>
            </a:spcAft>
            <a:buNone/>
          </a:pPr>
          <a:r>
            <a:rPr lang="es-ES" sz="700" kern="1200" dirty="0"/>
            <a:t>               </a:t>
          </a:r>
          <a:r>
            <a:rPr lang="es-ES" sz="700" kern="1200" dirty="0" err="1"/>
            <a:t>Naive</a:t>
          </a:r>
          <a:r>
            <a:rPr lang="es-ES" sz="700" kern="1200" dirty="0"/>
            <a:t> Bayes – Melissa y </a:t>
          </a:r>
          <a:r>
            <a:rPr lang="es-ES" sz="700" kern="1200" dirty="0" err="1"/>
            <a:t>Wenjia</a:t>
          </a:r>
          <a:endParaRPr lang="es-ES" sz="700" kern="1200" dirty="0"/>
        </a:p>
        <a:p>
          <a:pPr marL="0" lvl="0" indent="0" algn="l" defTabSz="355600">
            <a:lnSpc>
              <a:spcPct val="90000"/>
            </a:lnSpc>
            <a:spcBef>
              <a:spcPct val="0"/>
            </a:spcBef>
            <a:spcAft>
              <a:spcPct val="35000"/>
            </a:spcAft>
            <a:buNone/>
          </a:pPr>
          <a:r>
            <a:rPr lang="es-ES" sz="700" kern="1200" dirty="0"/>
            <a:t>               </a:t>
          </a:r>
          <a:r>
            <a:rPr lang="es-ES" sz="700" kern="1200" dirty="0" err="1"/>
            <a:t>Testing</a:t>
          </a:r>
          <a:r>
            <a:rPr lang="es-ES" sz="700" kern="1200" dirty="0"/>
            <a:t> múltiples configuraciones de variables</a:t>
          </a:r>
          <a:endParaRPr lang="es-ES" sz="800" b="1" kern="1200" dirty="0">
            <a:solidFill>
              <a:srgbClr val="002060"/>
            </a:solidFill>
          </a:endParaRPr>
        </a:p>
      </dsp:txBody>
      <dsp:txXfrm>
        <a:off x="1071719" y="2427717"/>
        <a:ext cx="3941343" cy="691070"/>
      </dsp:txXfrm>
    </dsp:sp>
    <dsp:sp modelId="{D58F51A8-C9AC-49A7-BF07-49E56398E46B}">
      <dsp:nvSpPr>
        <dsp:cNvPr id="0" name=""/>
        <dsp:cNvSpPr/>
      </dsp:nvSpPr>
      <dsp:spPr>
        <a:xfrm>
          <a:off x="69107" y="2496824"/>
          <a:ext cx="1002612" cy="552856"/>
        </a:xfrm>
        <a:prstGeom prst="roundRect">
          <a:avLst>
            <a:gd name="adj" fmla="val 10000"/>
          </a:avLst>
        </a:prstGeom>
        <a:blipFill>
          <a:blip xmlns:r="http://schemas.openxmlformats.org/officeDocument/2006/relationships" r:embed="rId4"/>
          <a:srcRect/>
          <a:stretch>
            <a:fillRect l="-3000" r="-3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4B88185-A619-4D08-836A-F611598437A8}">
      <dsp:nvSpPr>
        <dsp:cNvPr id="0" name=""/>
        <dsp:cNvSpPr/>
      </dsp:nvSpPr>
      <dsp:spPr>
        <a:xfrm>
          <a:off x="0" y="3188498"/>
          <a:ext cx="5013062" cy="4972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s-ES" sz="800" b="1" kern="1200" dirty="0">
              <a:solidFill>
                <a:srgbClr val="002060"/>
              </a:solidFill>
            </a:rPr>
            <a:t>            	</a:t>
          </a:r>
          <a:r>
            <a:rPr lang="es-ES" sz="800" b="1" kern="1200" dirty="0" err="1">
              <a:solidFill>
                <a:srgbClr val="002060"/>
              </a:solidFill>
            </a:rPr>
            <a:t>Association</a:t>
          </a:r>
          <a:r>
            <a:rPr lang="es-ES" sz="800" b="1" kern="1200" dirty="0">
              <a:solidFill>
                <a:srgbClr val="002060"/>
              </a:solidFill>
            </a:rPr>
            <a:t> Rules </a:t>
          </a:r>
          <a:r>
            <a:rPr lang="es-ES" sz="800" kern="1200" dirty="0"/>
            <a:t>- Mario</a:t>
          </a:r>
        </a:p>
      </dsp:txBody>
      <dsp:txXfrm>
        <a:off x="1071719" y="3188498"/>
        <a:ext cx="3941343" cy="497211"/>
      </dsp:txXfrm>
    </dsp:sp>
    <dsp:sp modelId="{F2ED9228-CFBA-4661-8996-A0E7EA7BA1F7}">
      <dsp:nvSpPr>
        <dsp:cNvPr id="0" name=""/>
        <dsp:cNvSpPr/>
      </dsp:nvSpPr>
      <dsp:spPr>
        <a:xfrm rot="10800000" flipV="1">
          <a:off x="69107" y="3247680"/>
          <a:ext cx="1002612" cy="377639"/>
        </a:xfrm>
        <a:prstGeom prst="roundRect">
          <a:avLst>
            <a:gd name="adj" fmla="val 10000"/>
          </a:avLst>
        </a:prstGeom>
        <a:blipFill>
          <a:blip xmlns:r="http://schemas.openxmlformats.org/officeDocument/2006/relationships" r:embed="rId5"/>
          <a:srcRect/>
          <a:stretch>
            <a:fillRect t="-17000" b="-17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A4D826-B1A8-D24F-BF3E-D0DBA84542CC}">
      <dsp:nvSpPr>
        <dsp:cNvPr id="0" name=""/>
        <dsp:cNvSpPr/>
      </dsp:nvSpPr>
      <dsp:spPr>
        <a:xfrm>
          <a:off x="0" y="0"/>
          <a:ext cx="1615465" cy="572700"/>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4016" tIns="41339" rIns="41339" bIns="41339" numCol="1" spcCol="1270" anchor="ctr" anchorCtr="0">
          <a:noAutofit/>
        </a:bodyPr>
        <a:lstStyle/>
        <a:p>
          <a:pPr marL="0" lvl="0" indent="0" algn="ctr" defTabSz="1377950">
            <a:lnSpc>
              <a:spcPct val="90000"/>
            </a:lnSpc>
            <a:spcBef>
              <a:spcPct val="0"/>
            </a:spcBef>
            <a:spcAft>
              <a:spcPct val="35000"/>
            </a:spcAft>
            <a:buNone/>
          </a:pPr>
          <a:r>
            <a:rPr lang="es-ES" sz="3100" b="1" i="0" kern="1200" dirty="0"/>
            <a:t>9NN</a:t>
          </a:r>
          <a:endParaRPr lang="en-ES" sz="3100" kern="1200" dirty="0"/>
        </a:p>
      </dsp:txBody>
      <dsp:txXfrm>
        <a:off x="286350" y="0"/>
        <a:ext cx="1042765" cy="5727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9A7068-6F6F-9B4D-894D-518C62EBCA00}">
      <dsp:nvSpPr>
        <dsp:cNvPr id="0" name=""/>
        <dsp:cNvSpPr/>
      </dsp:nvSpPr>
      <dsp:spPr>
        <a:xfrm>
          <a:off x="626215" y="327"/>
          <a:ext cx="1822240" cy="53054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s-ES" sz="1900" b="1" i="0" kern="1200" dirty="0" err="1"/>
            <a:t>Naive</a:t>
          </a:r>
          <a:r>
            <a:rPr lang="es-ES" sz="1900" b="1" i="0" kern="1200" dirty="0"/>
            <a:t> bayes</a:t>
          </a:r>
          <a:endParaRPr lang="en-ES" sz="1900" kern="1200" dirty="0"/>
        </a:p>
      </dsp:txBody>
      <dsp:txXfrm>
        <a:off x="891486" y="327"/>
        <a:ext cx="1291698" cy="530542"/>
      </dsp:txXfrm>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g2b1022eedc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A8028E81-57C6-1593-64D2-2F9447AD23EC}"/>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8C822796-AAF9-416D-5813-7287F66C1E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F7386DF6-5036-A24C-2C47-0359D52DBA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81394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AFAE2499-CEA9-C50F-7E2C-06B6B87A96CF}"/>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6381296F-49E2-EE6C-3B09-49888440DA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D2C2C34E-F03D-18C8-1847-DE6DBC220B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18362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98B8C9B7-18DD-2BF4-511B-900F390F3255}"/>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F9B241DD-A987-248E-17DC-E7330DC68E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2D2273CD-E9BA-18FA-CB69-57EED9CB8A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863675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EB3F05F5-AFD5-4819-92DF-C01A028C6B4D}"/>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973B723A-2D58-5398-7EF2-65EBE7AED1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B2654BD5-B16D-A160-4C56-0DFAE8F6A3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108254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59820B26-AA19-A094-D8E3-7F42E68FE30E}"/>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28157F4D-12C7-6B4B-C378-F6CC2A6BF0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E3FE745A-9DB6-8F30-15C1-2A4BF20C3D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3904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AE712297-7568-3729-6473-F9FC483D3C0A}"/>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33E3917D-884B-6864-A41F-BA0A081BB7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B14A1270-1F1A-8795-C7F7-2B597898F0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619258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F9D095C8-0226-BB72-3FBD-4A88C0CA70E0}"/>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F3697108-8F75-1B30-720A-F59CA12EB9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87F9B2AB-71BC-76D2-6C4F-C7B524AF46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535024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A68FCBE4-F2E5-AA70-0ABE-AD515DDC4075}"/>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ECD27E3D-0CCC-0820-F83E-254D8F8AE7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52FFA0AC-1456-5561-8CB2-12B73D497E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68741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4B1B9DB9-1E0B-BE5D-FEDC-94181AFC7BB5}"/>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B35E1531-89BA-8AA5-4E7C-7B1F2496C6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9D6D8473-DDC8-333E-DE7B-CB6A9A883C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467325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9BAAC2AE-CB48-76B4-F98C-D7A460C3A079}"/>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B6113192-CD14-8B92-B9EC-FB04141643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C5F33D6C-291A-B078-5F59-57BC628881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55398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7FB33C63-1A5C-C0F6-91D7-501B73FFFBD1}"/>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A048CA35-E7A9-3E8B-3DEF-5D6CAA6BF1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93F1EFDE-20CB-955A-9875-81497B1F09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70292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g2b1022eedc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8BE759C5-4FE1-D61C-0652-7568C91FD2AF}"/>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22B7CF05-6148-D979-4E69-7B9B5FD306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C069D085-9D1B-631D-B0C1-611F2F5091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562214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355125" y="814525"/>
            <a:ext cx="6350100" cy="26079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4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1355125" y="3745850"/>
            <a:ext cx="45288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8400" y="0"/>
            <a:ext cx="728475" cy="5163250"/>
            <a:chOff x="-8400" y="0"/>
            <a:chExt cx="728475" cy="5163250"/>
          </a:xfrm>
        </p:grpSpPr>
        <p:sp>
          <p:nvSpPr>
            <p:cNvPr id="12" name="Google Shape;12;p2"/>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13" name="Google Shape;13;p2"/>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6" name="Google Shape;26;p5"/>
          <p:cNvSpPr txBox="1">
            <a:spLocks noGrp="1"/>
          </p:cNvSpPr>
          <p:nvPr>
            <p:ph type="subTitle" idx="1"/>
          </p:nvPr>
        </p:nvSpPr>
        <p:spPr>
          <a:xfrm>
            <a:off x="5056151" y="2574154"/>
            <a:ext cx="2769000" cy="175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7" name="Google Shape;27;p5"/>
          <p:cNvSpPr txBox="1">
            <a:spLocks noGrp="1"/>
          </p:cNvSpPr>
          <p:nvPr>
            <p:ph type="subTitle" idx="2"/>
          </p:nvPr>
        </p:nvSpPr>
        <p:spPr>
          <a:xfrm>
            <a:off x="1318850" y="2574154"/>
            <a:ext cx="2769000" cy="175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8" name="Google Shape;28;p5"/>
          <p:cNvSpPr txBox="1">
            <a:spLocks noGrp="1"/>
          </p:cNvSpPr>
          <p:nvPr>
            <p:ph type="subTitle" idx="3"/>
          </p:nvPr>
        </p:nvSpPr>
        <p:spPr>
          <a:xfrm>
            <a:off x="1318850" y="1771900"/>
            <a:ext cx="2769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9" name="Google Shape;29;p5"/>
          <p:cNvSpPr txBox="1">
            <a:spLocks noGrp="1"/>
          </p:cNvSpPr>
          <p:nvPr>
            <p:ph type="subTitle" idx="4"/>
          </p:nvPr>
        </p:nvSpPr>
        <p:spPr>
          <a:xfrm>
            <a:off x="5056153" y="1771900"/>
            <a:ext cx="2769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30" name="Google Shape;30;p5"/>
          <p:cNvGrpSpPr/>
          <p:nvPr/>
        </p:nvGrpSpPr>
        <p:grpSpPr>
          <a:xfrm>
            <a:off x="0" y="0"/>
            <a:ext cx="9144000" cy="312600"/>
            <a:chOff x="0" y="0"/>
            <a:chExt cx="9144000" cy="312600"/>
          </a:xfrm>
        </p:grpSpPr>
        <p:sp>
          <p:nvSpPr>
            <p:cNvPr id="31" name="Google Shape;31;p5"/>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2" name="Google Shape;32;p5"/>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2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35" name="Google Shape;35;p6"/>
          <p:cNvGrpSpPr/>
          <p:nvPr/>
        </p:nvGrpSpPr>
        <p:grpSpPr>
          <a:xfrm>
            <a:off x="0" y="0"/>
            <a:ext cx="9144000" cy="312600"/>
            <a:chOff x="0" y="0"/>
            <a:chExt cx="9144000" cy="312600"/>
          </a:xfrm>
        </p:grpSpPr>
        <p:sp>
          <p:nvSpPr>
            <p:cNvPr id="36" name="Google Shape;36;p6"/>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7" name="Google Shape;37;p6"/>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subTitle" idx="1"/>
          </p:nvPr>
        </p:nvSpPr>
        <p:spPr>
          <a:xfrm>
            <a:off x="811975" y="2001200"/>
            <a:ext cx="4294800" cy="22950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40" name="Google Shape;40;p7"/>
          <p:cNvSpPr txBox="1">
            <a:spLocks noGrp="1"/>
          </p:cNvSpPr>
          <p:nvPr>
            <p:ph type="title"/>
          </p:nvPr>
        </p:nvSpPr>
        <p:spPr>
          <a:xfrm>
            <a:off x="811975" y="1017225"/>
            <a:ext cx="4294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1" name="Google Shape;41;p7"/>
          <p:cNvSpPr>
            <a:spLocks noGrp="1"/>
          </p:cNvSpPr>
          <p:nvPr>
            <p:ph type="pic" idx="2"/>
          </p:nvPr>
        </p:nvSpPr>
        <p:spPr>
          <a:xfrm>
            <a:off x="5643775" y="539500"/>
            <a:ext cx="2787000" cy="4064400"/>
          </a:xfrm>
          <a:prstGeom prst="rect">
            <a:avLst/>
          </a:prstGeom>
          <a:noFill/>
          <a:ln>
            <a:noFill/>
          </a:ln>
        </p:spPr>
      </p:sp>
      <p:grpSp>
        <p:nvGrpSpPr>
          <p:cNvPr id="42" name="Google Shape;42;p7"/>
          <p:cNvGrpSpPr/>
          <p:nvPr/>
        </p:nvGrpSpPr>
        <p:grpSpPr>
          <a:xfrm>
            <a:off x="0" y="0"/>
            <a:ext cx="9144000" cy="312600"/>
            <a:chOff x="0" y="0"/>
            <a:chExt cx="9144000" cy="312600"/>
          </a:xfrm>
        </p:grpSpPr>
        <p:sp>
          <p:nvSpPr>
            <p:cNvPr id="43" name="Google Shape;43;p7"/>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44" name="Google Shape;44;p7"/>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47" name="Google Shape;47;p8"/>
          <p:cNvGrpSpPr/>
          <p:nvPr/>
        </p:nvGrpSpPr>
        <p:grpSpPr>
          <a:xfrm>
            <a:off x="-8400" y="0"/>
            <a:ext cx="728475" cy="5163250"/>
            <a:chOff x="-8400" y="0"/>
            <a:chExt cx="728475" cy="5163250"/>
          </a:xfrm>
        </p:grpSpPr>
        <p:sp>
          <p:nvSpPr>
            <p:cNvPr id="48" name="Google Shape;48;p8"/>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49" name="Google Shape;49;p8"/>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0"/>
        <p:cNvGrpSpPr/>
        <p:nvPr/>
      </p:nvGrpSpPr>
      <p:grpSpPr>
        <a:xfrm>
          <a:off x="0" y="0"/>
          <a:ext cx="0" cy="0"/>
          <a:chOff x="0" y="0"/>
          <a:chExt cx="0" cy="0"/>
        </a:xfrm>
      </p:grpSpPr>
      <p:sp>
        <p:nvSpPr>
          <p:cNvPr id="51" name="Google Shape;51;p9"/>
          <p:cNvSpPr txBox="1">
            <a:spLocks noGrp="1"/>
          </p:cNvSpPr>
          <p:nvPr>
            <p:ph type="title"/>
          </p:nvPr>
        </p:nvSpPr>
        <p:spPr>
          <a:xfrm>
            <a:off x="2135550" y="1189100"/>
            <a:ext cx="4872900" cy="1964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52" name="Google Shape;52;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53" name="Google Shape;53;p9"/>
          <p:cNvGrpSpPr/>
          <p:nvPr/>
        </p:nvGrpSpPr>
        <p:grpSpPr>
          <a:xfrm>
            <a:off x="-8400" y="0"/>
            <a:ext cx="728475" cy="5163250"/>
            <a:chOff x="-8400" y="0"/>
            <a:chExt cx="728475" cy="5163250"/>
          </a:xfrm>
        </p:grpSpPr>
        <p:sp>
          <p:nvSpPr>
            <p:cNvPr id="54" name="Google Shape;54;p9"/>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55" name="Google Shape;55;p9"/>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6"/>
        <p:cNvGrpSpPr/>
        <p:nvPr/>
      </p:nvGrpSpPr>
      <p:grpSpPr>
        <a:xfrm>
          <a:off x="0" y="0"/>
          <a:ext cx="0" cy="0"/>
          <a:chOff x="0" y="0"/>
          <a:chExt cx="0" cy="0"/>
        </a:xfrm>
      </p:grpSpPr>
      <p:sp>
        <p:nvSpPr>
          <p:cNvPr id="57" name="Google Shape;57;p10"/>
          <p:cNvSpPr>
            <a:spLocks noGrp="1"/>
          </p:cNvSpPr>
          <p:nvPr>
            <p:ph type="pic" idx="2"/>
          </p:nvPr>
        </p:nvSpPr>
        <p:spPr>
          <a:xfrm>
            <a:off x="0" y="0"/>
            <a:ext cx="9144000" cy="5143500"/>
          </a:xfrm>
          <a:prstGeom prst="rect">
            <a:avLst/>
          </a:prstGeom>
          <a:noFill/>
          <a:ln>
            <a:noFill/>
          </a:ln>
        </p:spPr>
      </p:sp>
      <p:sp>
        <p:nvSpPr>
          <p:cNvPr id="58" name="Google Shape;58;p10"/>
          <p:cNvSpPr txBox="1">
            <a:spLocks noGrp="1"/>
          </p:cNvSpPr>
          <p:nvPr>
            <p:ph type="title"/>
          </p:nvPr>
        </p:nvSpPr>
        <p:spPr>
          <a:xfrm>
            <a:off x="720000" y="4014450"/>
            <a:ext cx="7704000" cy="572700"/>
          </a:xfrm>
          <a:prstGeom prst="rect">
            <a:avLst/>
          </a:prstGeom>
          <a:solidFill>
            <a:schemeClr val="lt1"/>
          </a:solidFill>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9"/>
        <p:cNvGrpSpPr/>
        <p:nvPr/>
      </p:nvGrpSpPr>
      <p:grpSpPr>
        <a:xfrm>
          <a:off x="0" y="0"/>
          <a:ext cx="0" cy="0"/>
          <a:chOff x="0" y="0"/>
          <a:chExt cx="0" cy="0"/>
        </a:xfrm>
      </p:grpSpPr>
      <p:sp>
        <p:nvSpPr>
          <p:cNvPr id="60" name="Google Shape;60;p11"/>
          <p:cNvSpPr txBox="1">
            <a:spLocks noGrp="1"/>
          </p:cNvSpPr>
          <p:nvPr>
            <p:ph type="title" hasCustomPrompt="1"/>
          </p:nvPr>
        </p:nvSpPr>
        <p:spPr>
          <a:xfrm>
            <a:off x="1284000" y="1303775"/>
            <a:ext cx="6576000" cy="16542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1" name="Google Shape;61;p11"/>
          <p:cNvSpPr txBox="1">
            <a:spLocks noGrp="1"/>
          </p:cNvSpPr>
          <p:nvPr>
            <p:ph type="subTitle" idx="1"/>
          </p:nvPr>
        </p:nvSpPr>
        <p:spPr>
          <a:xfrm>
            <a:off x="1284000" y="3259075"/>
            <a:ext cx="65760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62" name="Google Shape;62;p11"/>
          <p:cNvGrpSpPr/>
          <p:nvPr/>
        </p:nvGrpSpPr>
        <p:grpSpPr>
          <a:xfrm>
            <a:off x="-8400" y="0"/>
            <a:ext cx="728475" cy="5163250"/>
            <a:chOff x="-8400" y="0"/>
            <a:chExt cx="728475" cy="5163250"/>
          </a:xfrm>
        </p:grpSpPr>
        <p:sp>
          <p:nvSpPr>
            <p:cNvPr id="63" name="Google Shape;63;p11"/>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64" name="Google Shape;64;p11"/>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94"/>
        <p:cNvGrpSpPr/>
        <p:nvPr/>
      </p:nvGrpSpPr>
      <p:grpSpPr>
        <a:xfrm>
          <a:off x="0" y="0"/>
          <a:ext cx="0" cy="0"/>
          <a:chOff x="0" y="0"/>
          <a:chExt cx="0" cy="0"/>
        </a:xfrm>
      </p:grpSpPr>
      <p:grpSp>
        <p:nvGrpSpPr>
          <p:cNvPr id="95" name="Google Shape;95;p16"/>
          <p:cNvGrpSpPr/>
          <p:nvPr/>
        </p:nvGrpSpPr>
        <p:grpSpPr>
          <a:xfrm rot="10800000">
            <a:off x="0" y="4830900"/>
            <a:ext cx="9144000" cy="312600"/>
            <a:chOff x="0" y="0"/>
            <a:chExt cx="9144000" cy="312600"/>
          </a:xfrm>
        </p:grpSpPr>
        <p:sp>
          <p:nvSpPr>
            <p:cNvPr id="96" name="Google Shape;96;p16"/>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97" name="Google Shape;97;p16"/>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1pPr>
            <a:lvl2pPr lvl="1"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2pPr>
            <a:lvl3pPr lvl="2"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3pPr>
            <a:lvl4pPr lvl="3"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4pPr>
            <a:lvl5pPr lvl="4"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5pPr>
            <a:lvl6pPr lvl="5"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6pPr>
            <a:lvl7pPr lvl="6"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7pPr>
            <a:lvl8pPr lvl="7"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8pPr>
            <a:lvl9pPr lvl="8"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1pPr>
            <a:lvl2pPr marL="914400" lvl="1"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2pPr>
            <a:lvl3pPr marL="1371600" lvl="2"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3pPr>
            <a:lvl4pPr marL="1828800" lvl="3"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4pPr>
            <a:lvl5pPr marL="2286000" lvl="4"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5pPr>
            <a:lvl6pPr marL="2743200" lvl="5"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6pPr>
            <a:lvl7pPr marL="3200400" lvl="6"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7pPr>
            <a:lvl8pPr marL="3657600" lvl="7"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8pPr>
            <a:lvl9pPr marL="4114800" lvl="8"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4" r:id="rId5"/>
    <p:sldLayoutId id="2147483655" r:id="rId6"/>
    <p:sldLayoutId id="2147483656" r:id="rId7"/>
    <p:sldLayoutId id="2147483657" r:id="rId8"/>
    <p:sldLayoutId id="2147483662"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github.com/wen2111/Mineria.git" TargetMode="External"/><Relationship Id="rId3" Type="http://schemas.openxmlformats.org/officeDocument/2006/relationships/hyperlink" Target="mailto:maragonvalderrama@gmail.com" TargetMode="External"/><Relationship Id="rId7" Type="http://schemas.openxmlformats.org/officeDocument/2006/relationships/hyperlink" Target="mailto:wenjia.ye@estudiantat.upc.ed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mailto:melissa.Vargas@estudiantat.upc.edu" TargetMode="External"/><Relationship Id="rId5" Type="http://schemas.openxmlformats.org/officeDocument/2006/relationships/hyperlink" Target="mailto:siling.guo@estudiantat.ub.edu" TargetMode="External"/><Relationship Id="rId10" Type="http://schemas.openxmlformats.org/officeDocument/2006/relationships/image" Target="../media/image2.png"/><Relationship Id="rId4" Type="http://schemas.openxmlformats.org/officeDocument/2006/relationships/hyperlink" Target="mailto:laura.Belmonte@estudiantat.upc.edu" TargetMode="External"/><Relationship Id="rId9"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docs.google.com/spreadsheets/d/18gkdJarOZ79z3jslKR75xZv-rDIFEC87KTDdDdfIytM/edit?usp=sharing"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25.sv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36.png"/><Relationship Id="rId5" Type="http://schemas.openxmlformats.org/officeDocument/2006/relationships/image" Target="../media/image35.jpeg"/><Relationship Id="rId4" Type="http://schemas.openxmlformats.org/officeDocument/2006/relationships/image" Target="../media/image34.jpeg"/></Relationships>
</file>

<file path=ppt/slides/_rels/slide14.xml.rels><?xml version="1.0" encoding="UTF-8" standalone="yes"?>
<Relationships xmlns="http://schemas.openxmlformats.org/package/2006/relationships"><Relationship Id="rId8" Type="http://schemas.microsoft.com/office/2007/relationships/diagramDrawing" Target="../diagrams/drawing2.xml"/><Relationship Id="rId13" Type="http://schemas.microsoft.com/office/2007/relationships/diagramDrawing" Target="../diagrams/drawing3.xml"/><Relationship Id="rId3" Type="http://schemas.openxmlformats.org/officeDocument/2006/relationships/hyperlink" Target="https://github.com/wen2111/Mineria" TargetMode="External"/><Relationship Id="rId7" Type="http://schemas.openxmlformats.org/officeDocument/2006/relationships/diagramColors" Target="../diagrams/colors2.xml"/><Relationship Id="rId12" Type="http://schemas.openxmlformats.org/officeDocument/2006/relationships/diagramColors" Target="../diagrams/colors3.xml"/><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diagramQuickStyle" Target="../diagrams/quickStyle2.xml"/><Relationship Id="rId11" Type="http://schemas.openxmlformats.org/officeDocument/2006/relationships/diagramQuickStyle" Target="../diagrams/quickStyle3.xml"/><Relationship Id="rId5" Type="http://schemas.openxmlformats.org/officeDocument/2006/relationships/diagramLayout" Target="../diagrams/layout2.xml"/><Relationship Id="rId10" Type="http://schemas.openxmlformats.org/officeDocument/2006/relationships/diagramLayout" Target="../diagrams/layout3.xml"/><Relationship Id="rId4" Type="http://schemas.openxmlformats.org/officeDocument/2006/relationships/diagramData" Target="../diagrams/data2.xml"/><Relationship Id="rId9" Type="http://schemas.openxmlformats.org/officeDocument/2006/relationships/diagramData" Target="../diagrams/data3.xml"/></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0"/>
          <p:cNvSpPr txBox="1">
            <a:spLocks noGrp="1"/>
          </p:cNvSpPr>
          <p:nvPr>
            <p:ph type="ctrTitle"/>
          </p:nvPr>
        </p:nvSpPr>
        <p:spPr>
          <a:xfrm>
            <a:off x="817580" y="-573274"/>
            <a:ext cx="8509299" cy="2607900"/>
          </a:xfrm>
          <a:prstGeom prst="rect">
            <a:avLst/>
          </a:prstGeom>
        </p:spPr>
        <p:txBody>
          <a:bodyPr spcFirstLastPara="1" wrap="square" lIns="91425" tIns="91425" rIns="91425" bIns="91425" anchor="b" anchorCtr="0">
            <a:noAutofit/>
          </a:bodyPr>
          <a:lstStyle/>
          <a:p>
            <a:pPr lvl="0"/>
            <a:r>
              <a:rPr lang="es-ES" sz="4800" dirty="0"/>
              <a:t>Modelo de clasificación  GRUPO 5</a:t>
            </a:r>
            <a:endParaRPr sz="4800" b="0" dirty="0"/>
          </a:p>
        </p:txBody>
      </p:sp>
      <p:sp>
        <p:nvSpPr>
          <p:cNvPr id="4" name="Subtítulo 2">
            <a:extLst>
              <a:ext uri="{FF2B5EF4-FFF2-40B4-BE49-F238E27FC236}">
                <a16:creationId xmlns:a16="http://schemas.microsoft.com/office/drawing/2014/main" id="{4AA276FC-05B9-D88D-F05D-EE88303AD2E8}"/>
              </a:ext>
            </a:extLst>
          </p:cNvPr>
          <p:cNvSpPr txBox="1">
            <a:spLocks/>
          </p:cNvSpPr>
          <p:nvPr/>
        </p:nvSpPr>
        <p:spPr>
          <a:xfrm>
            <a:off x="817580" y="2034626"/>
            <a:ext cx="8116888" cy="33909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Didact Gothic"/>
              <a:buNone/>
              <a:defRPr sz="1600" b="0" i="0" u="none" strike="noStrike" cap="none">
                <a:solidFill>
                  <a:schemeClr val="dk1"/>
                </a:solidFill>
                <a:latin typeface="Didact Gothic"/>
                <a:ea typeface="Didact Gothic"/>
                <a:cs typeface="Didact Gothic"/>
                <a:sym typeface="Didact Gothic"/>
              </a:defRPr>
            </a:lvl1pPr>
            <a:lvl2pPr marL="914400" marR="0" lvl="1"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2pPr>
            <a:lvl3pPr marL="1371600" marR="0" lvl="2"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3pPr>
            <a:lvl4pPr marL="1828800" marR="0" lvl="3"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4pPr>
            <a:lvl5pPr marL="2286000" marR="0" lvl="4"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5pPr>
            <a:lvl6pPr marL="2743200" marR="0" lvl="5"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6pPr>
            <a:lvl7pPr marL="3200400" marR="0" lvl="6"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7pPr>
            <a:lvl8pPr marL="3657600" marR="0" lvl="7"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8pPr>
            <a:lvl9pPr marL="4114800" marR="0" lvl="8"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9pPr>
          </a:lstStyle>
          <a:p>
            <a:r>
              <a:rPr lang="es-ES" dirty="0">
                <a:solidFill>
                  <a:schemeClr val="tx1"/>
                </a:solidFill>
              </a:rPr>
              <a:t>- Mario Aragón (</a:t>
            </a:r>
            <a:r>
              <a:rPr lang="es-ES" dirty="0">
                <a:solidFill>
                  <a:schemeClr val="tx1"/>
                </a:solidFill>
                <a:hlinkClick r:id="rId3"/>
              </a:rPr>
              <a:t>maragonvalderrama@gmail.com</a:t>
            </a:r>
            <a:r>
              <a:rPr lang="es-ES" dirty="0">
                <a:solidFill>
                  <a:schemeClr val="tx1"/>
                </a:solidFill>
              </a:rPr>
              <a:t>), (G05 </a:t>
            </a:r>
            <a:r>
              <a:rPr lang="es-ES" dirty="0" err="1">
                <a:solidFill>
                  <a:schemeClr val="tx1"/>
                </a:solidFill>
              </a:rPr>
              <a:t>mariovalde</a:t>
            </a:r>
            <a:r>
              <a:rPr lang="es-ES" dirty="0">
                <a:solidFill>
                  <a:schemeClr val="tx1"/>
                </a:solidFill>
              </a:rPr>
              <a:t>)</a:t>
            </a:r>
          </a:p>
          <a:p>
            <a:r>
              <a:rPr lang="es-ES" dirty="0">
                <a:solidFill>
                  <a:schemeClr val="tx1"/>
                </a:solidFill>
              </a:rPr>
              <a:t>- Laura Belmonte (</a:t>
            </a:r>
            <a:r>
              <a:rPr lang="es-ES" dirty="0">
                <a:solidFill>
                  <a:schemeClr val="tx1"/>
                </a:solidFill>
                <a:hlinkClick r:id="rId4"/>
              </a:rPr>
              <a:t>laura.Belmonte@estudiantat.upc.edu</a:t>
            </a:r>
            <a:r>
              <a:rPr lang="es-ES" dirty="0">
                <a:solidFill>
                  <a:schemeClr val="tx1"/>
                </a:solidFill>
              </a:rPr>
              <a:t>), (G05, </a:t>
            </a:r>
            <a:r>
              <a:rPr lang="es-ES" dirty="0" err="1">
                <a:solidFill>
                  <a:schemeClr val="tx1"/>
                </a:solidFill>
              </a:rPr>
              <a:t>laurabelvel</a:t>
            </a:r>
            <a:r>
              <a:rPr lang="es-ES" dirty="0">
                <a:solidFill>
                  <a:schemeClr val="tx1"/>
                </a:solidFill>
              </a:rPr>
              <a:t>)</a:t>
            </a:r>
          </a:p>
          <a:p>
            <a:r>
              <a:rPr lang="es-ES" dirty="0">
                <a:solidFill>
                  <a:schemeClr val="tx1"/>
                </a:solidFill>
              </a:rPr>
              <a:t>- </a:t>
            </a:r>
            <a:r>
              <a:rPr lang="es-ES" dirty="0" err="1">
                <a:solidFill>
                  <a:schemeClr val="tx1"/>
                </a:solidFill>
              </a:rPr>
              <a:t>Siling</a:t>
            </a:r>
            <a:r>
              <a:rPr lang="es-ES" dirty="0">
                <a:solidFill>
                  <a:schemeClr val="tx1"/>
                </a:solidFill>
              </a:rPr>
              <a:t> </a:t>
            </a:r>
            <a:r>
              <a:rPr lang="es-ES" dirty="0" err="1">
                <a:solidFill>
                  <a:schemeClr val="tx1"/>
                </a:solidFill>
              </a:rPr>
              <a:t>Guo</a:t>
            </a:r>
            <a:r>
              <a:rPr lang="es-ES" dirty="0">
                <a:solidFill>
                  <a:schemeClr val="tx1"/>
                </a:solidFill>
              </a:rPr>
              <a:t> (</a:t>
            </a:r>
            <a:r>
              <a:rPr lang="es-ES" dirty="0">
                <a:solidFill>
                  <a:schemeClr val="tx1"/>
                </a:solidFill>
                <a:hlinkClick r:id="rId5"/>
              </a:rPr>
              <a:t>siling.guo@estudiantat.ub.edu</a:t>
            </a:r>
            <a:r>
              <a:rPr lang="es-ES" dirty="0">
                <a:solidFill>
                  <a:schemeClr val="tx1"/>
                </a:solidFill>
              </a:rPr>
              <a:t>), (G05, </a:t>
            </a:r>
            <a:r>
              <a:rPr lang="es-ES" dirty="0" err="1">
                <a:solidFill>
                  <a:schemeClr val="tx1"/>
                </a:solidFill>
              </a:rPr>
              <a:t>silinguo</a:t>
            </a:r>
            <a:r>
              <a:rPr lang="es-ES" dirty="0">
                <a:solidFill>
                  <a:schemeClr val="tx1"/>
                </a:solidFill>
              </a:rPr>
              <a:t>)</a:t>
            </a:r>
          </a:p>
          <a:p>
            <a:r>
              <a:rPr lang="es-ES" dirty="0">
                <a:solidFill>
                  <a:schemeClr val="tx1"/>
                </a:solidFill>
              </a:rPr>
              <a:t>- Melissa Vargas (</a:t>
            </a:r>
            <a:r>
              <a:rPr lang="es-ES" dirty="0">
                <a:solidFill>
                  <a:schemeClr val="tx1"/>
                </a:solidFill>
                <a:hlinkClick r:id="rId6"/>
              </a:rPr>
              <a:t>melissa.Vargas@estudiantat.upc.edu</a:t>
            </a:r>
            <a:r>
              <a:rPr lang="es-ES" dirty="0">
                <a:solidFill>
                  <a:schemeClr val="tx1"/>
                </a:solidFill>
              </a:rPr>
              <a:t>), (G05, </a:t>
            </a:r>
            <a:r>
              <a:rPr lang="es-ES" dirty="0" err="1">
                <a:solidFill>
                  <a:schemeClr val="tx1"/>
                </a:solidFill>
              </a:rPr>
              <a:t>matildasanchez</a:t>
            </a:r>
            <a:r>
              <a:rPr lang="es-ES" dirty="0">
                <a:solidFill>
                  <a:schemeClr val="tx1"/>
                </a:solidFill>
              </a:rPr>
              <a:t>)</a:t>
            </a:r>
          </a:p>
          <a:p>
            <a:r>
              <a:rPr lang="es-ES" dirty="0">
                <a:solidFill>
                  <a:schemeClr val="tx1"/>
                </a:solidFill>
              </a:rPr>
              <a:t>- </a:t>
            </a:r>
            <a:r>
              <a:rPr lang="es-ES" dirty="0" err="1">
                <a:solidFill>
                  <a:schemeClr val="tx1"/>
                </a:solidFill>
              </a:rPr>
              <a:t>Wenjia</a:t>
            </a:r>
            <a:r>
              <a:rPr lang="es-ES" dirty="0">
                <a:solidFill>
                  <a:schemeClr val="tx1"/>
                </a:solidFill>
              </a:rPr>
              <a:t> Ye (</a:t>
            </a:r>
            <a:r>
              <a:rPr lang="es-ES" dirty="0">
                <a:solidFill>
                  <a:schemeClr val="tx1"/>
                </a:solidFill>
                <a:hlinkClick r:id="rId7"/>
              </a:rPr>
              <a:t>wenjia.ye@estudiantat.upc.edu</a:t>
            </a:r>
            <a:r>
              <a:rPr lang="es-ES" dirty="0">
                <a:solidFill>
                  <a:schemeClr val="tx1"/>
                </a:solidFill>
              </a:rPr>
              <a:t>), (G05, wenjiaye03)</a:t>
            </a:r>
          </a:p>
          <a:p>
            <a:pPr marL="342900" indent="-342900">
              <a:buFontTx/>
              <a:buChar char="-"/>
            </a:pPr>
            <a:endParaRPr lang="es-ES" dirty="0">
              <a:solidFill>
                <a:schemeClr val="tx1"/>
              </a:solidFill>
            </a:endParaRPr>
          </a:p>
          <a:p>
            <a:r>
              <a:rPr lang="es-ES" dirty="0">
                <a:solidFill>
                  <a:schemeClr val="tx1"/>
                </a:solidFill>
                <a:highlight>
                  <a:srgbClr val="C0C0C0"/>
                </a:highlight>
                <a:hlinkClick r:id="rId8"/>
              </a:rPr>
              <a:t>Enlace </a:t>
            </a:r>
            <a:r>
              <a:rPr lang="es-ES" dirty="0" err="1">
                <a:solidFill>
                  <a:schemeClr val="tx1"/>
                </a:solidFill>
                <a:highlight>
                  <a:srgbClr val="C0C0C0"/>
                </a:highlight>
                <a:hlinkClick r:id="rId8"/>
              </a:rPr>
              <a:t>Github</a:t>
            </a:r>
            <a:endParaRPr lang="es-ES" dirty="0">
              <a:solidFill>
                <a:schemeClr val="tx1"/>
              </a:solidFill>
              <a:highlight>
                <a:srgbClr val="C0C0C0"/>
              </a:highlight>
            </a:endParaRPr>
          </a:p>
          <a:p>
            <a:endParaRPr lang="es-ES" dirty="0">
              <a:solidFill>
                <a:schemeClr val="tx1"/>
              </a:solidFill>
            </a:endParaRPr>
          </a:p>
        </p:txBody>
      </p:sp>
      <p:pic>
        <p:nvPicPr>
          <p:cNvPr id="5" name="Picture 2">
            <a:extLst>
              <a:ext uri="{FF2B5EF4-FFF2-40B4-BE49-F238E27FC236}">
                <a16:creationId xmlns:a16="http://schemas.microsoft.com/office/drawing/2014/main" id="{DAEF8B93-ACE2-20E9-0CD8-1E1CD9551B3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24585" y="3919863"/>
            <a:ext cx="2794142" cy="840571"/>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B5544264-51CF-5110-A0FC-FF649F66C6A8}"/>
              </a:ext>
            </a:extLst>
          </p:cNvPr>
          <p:cNvSpPr txBox="1"/>
          <p:nvPr/>
        </p:nvSpPr>
        <p:spPr>
          <a:xfrm>
            <a:off x="5924585" y="92108"/>
            <a:ext cx="2254050" cy="307777"/>
          </a:xfrm>
          <a:prstGeom prst="rect">
            <a:avLst/>
          </a:prstGeom>
          <a:noFill/>
        </p:spPr>
        <p:txBody>
          <a:bodyPr wrap="square" rtlCol="0">
            <a:spAutoFit/>
          </a:bodyPr>
          <a:lstStyle/>
          <a:p>
            <a:r>
              <a:rPr lang="es-ES" dirty="0">
                <a:latin typeface="Arial Black" panose="020B0A04020102020204" pitchFamily="34" charset="0"/>
              </a:rPr>
              <a:t>Grado en Estadística</a:t>
            </a:r>
          </a:p>
        </p:txBody>
      </p:sp>
      <p:pic>
        <p:nvPicPr>
          <p:cNvPr id="3" name="Picture 2" descr="Blue text on a white background&#10;&#10;Description automatically generated">
            <a:extLst>
              <a:ext uri="{FF2B5EF4-FFF2-40B4-BE49-F238E27FC236}">
                <a16:creationId xmlns:a16="http://schemas.microsoft.com/office/drawing/2014/main" id="{4190149F-5BE5-2724-2BF0-29C1E8FFDF3D}"/>
              </a:ext>
            </a:extLst>
          </p:cNvPr>
          <p:cNvPicPr>
            <a:picLocks noChangeAspect="1"/>
          </p:cNvPicPr>
          <p:nvPr/>
        </p:nvPicPr>
        <p:blipFill>
          <a:blip r:embed="rId10"/>
          <a:stretch>
            <a:fillRect/>
          </a:stretch>
        </p:blipFill>
        <p:spPr>
          <a:xfrm>
            <a:off x="1189265" y="3988006"/>
            <a:ext cx="2603500" cy="781050"/>
          </a:xfrm>
          <a:prstGeom prst="rect">
            <a:avLst/>
          </a:prstGeom>
        </p:spPr>
      </p:pic>
      <p:sp>
        <p:nvSpPr>
          <p:cNvPr id="7" name="CuadroTexto 5">
            <a:extLst>
              <a:ext uri="{FF2B5EF4-FFF2-40B4-BE49-F238E27FC236}">
                <a16:creationId xmlns:a16="http://schemas.microsoft.com/office/drawing/2014/main" id="{2406FEDD-85BD-5DD4-065C-516FA724A815}"/>
              </a:ext>
            </a:extLst>
          </p:cNvPr>
          <p:cNvSpPr txBox="1"/>
          <p:nvPr/>
        </p:nvSpPr>
        <p:spPr>
          <a:xfrm>
            <a:off x="874163" y="92109"/>
            <a:ext cx="2254050" cy="307777"/>
          </a:xfrm>
          <a:prstGeom prst="rect">
            <a:avLst/>
          </a:prstGeom>
          <a:noFill/>
        </p:spPr>
        <p:txBody>
          <a:bodyPr wrap="square" rtlCol="0">
            <a:spAutoFit/>
          </a:bodyPr>
          <a:lstStyle/>
          <a:p>
            <a:r>
              <a:rPr lang="es-ES" dirty="0">
                <a:latin typeface="Arial Black" panose="020B0A04020102020204" pitchFamily="34" charset="0"/>
              </a:rPr>
              <a:t>Minería de datos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33" name="Google Shape;633;p34"/>
          <p:cNvSpPr txBox="1">
            <a:spLocks noGrp="1"/>
          </p:cNvSpPr>
          <p:nvPr>
            <p:ph type="title"/>
          </p:nvPr>
        </p:nvSpPr>
        <p:spPr>
          <a:xfrm>
            <a:off x="-1003002" y="259890"/>
            <a:ext cx="7704000" cy="572700"/>
          </a:xfrm>
          <a:prstGeom prst="rect">
            <a:avLst/>
          </a:prstGeom>
        </p:spPr>
        <p:txBody>
          <a:bodyPr spcFirstLastPara="1" wrap="square" lIns="91425" tIns="91425" rIns="91425" bIns="91425" anchor="t" anchorCtr="0">
            <a:noAutofit/>
          </a:bodyPr>
          <a:lstStyle/>
          <a:p>
            <a:pPr lvl="0"/>
            <a:r>
              <a:rPr lang="es-ES" dirty="0"/>
              <a:t>ENTENDIMIENTO DE NEGOCIO</a:t>
            </a:r>
            <a:endParaRPr dirty="0"/>
          </a:p>
        </p:txBody>
      </p:sp>
      <p:graphicFrame>
        <p:nvGraphicFramePr>
          <p:cNvPr id="3" name="Table 2">
            <a:extLst>
              <a:ext uri="{FF2B5EF4-FFF2-40B4-BE49-F238E27FC236}">
                <a16:creationId xmlns:a16="http://schemas.microsoft.com/office/drawing/2014/main" id="{792EB573-F103-5ABA-06F9-E7F7227DCADD}"/>
              </a:ext>
            </a:extLst>
          </p:cNvPr>
          <p:cNvGraphicFramePr>
            <a:graphicFrameLocks noGrp="1"/>
          </p:cNvGraphicFramePr>
          <p:nvPr>
            <p:extLst>
              <p:ext uri="{D42A27DB-BD31-4B8C-83A1-F6EECF244321}">
                <p14:modId xmlns:p14="http://schemas.microsoft.com/office/powerpoint/2010/main" val="2465489480"/>
              </p:ext>
            </p:extLst>
          </p:nvPr>
        </p:nvGraphicFramePr>
        <p:xfrm>
          <a:off x="170035" y="914400"/>
          <a:ext cx="7318978" cy="3682224"/>
        </p:xfrm>
        <a:graphic>
          <a:graphicData uri="http://schemas.openxmlformats.org/drawingml/2006/table">
            <a:tbl>
              <a:tblPr firstRow="1" bandRow="1">
                <a:tableStyleId>{5C22544A-7EE6-4342-B048-85BDC9FD1C3A}</a:tableStyleId>
              </a:tblPr>
              <a:tblGrid>
                <a:gridCol w="2172643">
                  <a:extLst>
                    <a:ext uri="{9D8B030D-6E8A-4147-A177-3AD203B41FA5}">
                      <a16:colId xmlns:a16="http://schemas.microsoft.com/office/drawing/2014/main" val="20000"/>
                    </a:ext>
                  </a:extLst>
                </a:gridCol>
                <a:gridCol w="5146335">
                  <a:extLst>
                    <a:ext uri="{9D8B030D-6E8A-4147-A177-3AD203B41FA5}">
                      <a16:colId xmlns:a16="http://schemas.microsoft.com/office/drawing/2014/main" val="20001"/>
                    </a:ext>
                  </a:extLst>
                </a:gridCol>
              </a:tblGrid>
              <a:tr h="554796">
                <a:tc>
                  <a:txBody>
                    <a:bodyPr/>
                    <a:lstStyle/>
                    <a:p>
                      <a:pPr algn="l">
                        <a:defRPr sz="1400" b="1">
                          <a:solidFill>
                            <a:srgbClr val="00468C"/>
                          </a:solidFill>
                        </a:defRPr>
                      </a:pPr>
                      <a:r>
                        <a:rPr sz="1200" dirty="0" err="1"/>
                        <a:t>Resumen</a:t>
                      </a:r>
                      <a:r>
                        <a:rPr sz="1200" dirty="0"/>
                        <a:t> del </a:t>
                      </a:r>
                      <a:r>
                        <a:rPr sz="1200" dirty="0" err="1"/>
                        <a:t>problema</a:t>
                      </a:r>
                      <a:endParaRPr sz="1200" dirty="0"/>
                    </a:p>
                  </a:txBody>
                  <a:tcPr/>
                </a:tc>
                <a:tc>
                  <a:txBody>
                    <a:bodyPr/>
                    <a:lstStyle/>
                    <a:p>
                      <a:pPr algn="l">
                        <a:defRPr sz="1200"/>
                      </a:pPr>
                      <a:r>
                        <a:rPr lang="en-GB" i="1" dirty="0" err="1">
                          <a:solidFill>
                            <a:schemeClr val="tx1"/>
                          </a:solidFill>
                        </a:rPr>
                        <a:t>Clasificar</a:t>
                      </a:r>
                      <a:r>
                        <a:rPr lang="en-GB" i="1" dirty="0">
                          <a:solidFill>
                            <a:schemeClr val="tx1"/>
                          </a:solidFill>
                        </a:rPr>
                        <a:t> </a:t>
                      </a:r>
                      <a:r>
                        <a:rPr lang="en-GB" i="1" dirty="0" err="1">
                          <a:solidFill>
                            <a:schemeClr val="tx1"/>
                          </a:solidFill>
                        </a:rPr>
                        <a:t>clientes</a:t>
                      </a:r>
                      <a:r>
                        <a:rPr lang="en-GB" i="1" dirty="0">
                          <a:solidFill>
                            <a:schemeClr val="tx1"/>
                          </a:solidFill>
                        </a:rPr>
                        <a:t> </a:t>
                      </a:r>
                      <a:r>
                        <a:rPr lang="en-GB" i="1" dirty="0" err="1">
                          <a:solidFill>
                            <a:schemeClr val="tx1"/>
                          </a:solidFill>
                        </a:rPr>
                        <a:t>bancarios</a:t>
                      </a:r>
                      <a:r>
                        <a:rPr lang="en-GB" i="1" dirty="0">
                          <a:solidFill>
                            <a:schemeClr val="tx1"/>
                          </a:solidFill>
                        </a:rPr>
                        <a:t> </a:t>
                      </a:r>
                      <a:r>
                        <a:rPr lang="en-GB" i="1" dirty="0" err="1">
                          <a:solidFill>
                            <a:schemeClr val="tx1"/>
                          </a:solidFill>
                        </a:rPr>
                        <a:t>según</a:t>
                      </a:r>
                      <a:r>
                        <a:rPr lang="en-GB" i="1" dirty="0">
                          <a:solidFill>
                            <a:schemeClr val="tx1"/>
                          </a:solidFill>
                        </a:rPr>
                        <a:t> </a:t>
                      </a:r>
                      <a:r>
                        <a:rPr lang="en-GB" i="1" dirty="0" err="1">
                          <a:solidFill>
                            <a:schemeClr val="tx1"/>
                          </a:solidFill>
                        </a:rPr>
                        <a:t>riesgo</a:t>
                      </a:r>
                      <a:r>
                        <a:rPr lang="en-GB" i="1" dirty="0">
                          <a:solidFill>
                            <a:schemeClr val="tx1"/>
                          </a:solidFill>
                        </a:rPr>
                        <a:t> de </a:t>
                      </a:r>
                      <a:r>
                        <a:rPr lang="en-GB" i="1" dirty="0" err="1">
                          <a:solidFill>
                            <a:schemeClr val="tx1"/>
                          </a:solidFill>
                        </a:rPr>
                        <a:t>abandono</a:t>
                      </a:r>
                      <a:r>
                        <a:rPr lang="en-GB" i="1" dirty="0">
                          <a:solidFill>
                            <a:schemeClr val="tx1"/>
                          </a:solidFill>
                        </a:rPr>
                        <a:t> </a:t>
                      </a:r>
                      <a:r>
                        <a:rPr lang="en-GB" i="1" dirty="0" err="1">
                          <a:solidFill>
                            <a:schemeClr val="tx1"/>
                          </a:solidFill>
                        </a:rPr>
                        <a:t>mediante</a:t>
                      </a:r>
                      <a:r>
                        <a:rPr lang="en-GB" i="1" dirty="0">
                          <a:solidFill>
                            <a:schemeClr val="tx1"/>
                          </a:solidFill>
                        </a:rPr>
                        <a:t> variables del </a:t>
                      </a:r>
                      <a:r>
                        <a:rPr lang="en-GB" i="1" dirty="0" err="1">
                          <a:solidFill>
                            <a:schemeClr val="tx1"/>
                          </a:solidFill>
                        </a:rPr>
                        <a:t>usuario</a:t>
                      </a:r>
                      <a:r>
                        <a:rPr lang="en-GB" dirty="0">
                          <a:solidFill>
                            <a:schemeClr val="tx1"/>
                          </a:solidFill>
                        </a:rPr>
                        <a:t>.</a:t>
                      </a:r>
                      <a:endParaRPr dirty="0">
                        <a:solidFill>
                          <a:schemeClr val="tx1"/>
                        </a:solidFill>
                      </a:endParaRPr>
                    </a:p>
                  </a:txBody>
                  <a:tcPr/>
                </a:tc>
                <a:extLst>
                  <a:ext uri="{0D108BD9-81ED-4DB2-BD59-A6C34878D82A}">
                    <a16:rowId xmlns:a16="http://schemas.microsoft.com/office/drawing/2014/main" val="10000"/>
                  </a:ext>
                </a:extLst>
              </a:tr>
              <a:tr h="554796">
                <a:tc>
                  <a:txBody>
                    <a:bodyPr/>
                    <a:lstStyle/>
                    <a:p>
                      <a:pPr algn="l">
                        <a:defRPr sz="1400" b="1">
                          <a:solidFill>
                            <a:srgbClr val="00468C"/>
                          </a:solidFill>
                        </a:defRPr>
                      </a:pPr>
                      <a:r>
                        <a:rPr dirty="0" err="1"/>
                        <a:t>Contexto</a:t>
                      </a:r>
                      <a:r>
                        <a:rPr dirty="0"/>
                        <a:t> de </a:t>
                      </a:r>
                      <a:r>
                        <a:rPr dirty="0" err="1"/>
                        <a:t>aplicación</a:t>
                      </a:r>
                      <a:endParaRPr dirty="0"/>
                    </a:p>
                  </a:txBody>
                  <a:tcPr/>
                </a:tc>
                <a:tc>
                  <a:txBody>
                    <a:bodyPr/>
                    <a:lstStyle/>
                    <a:p>
                      <a:pPr algn="l">
                        <a:defRPr sz="1200"/>
                      </a:pPr>
                      <a:r>
                        <a:rPr lang="en-GB" dirty="0"/>
                        <a:t>Identidad </a:t>
                      </a:r>
                      <a:r>
                        <a:rPr lang="en-GB" dirty="0" err="1"/>
                        <a:t>Bancaria</a:t>
                      </a:r>
                      <a:r>
                        <a:rPr lang="en-GB" dirty="0"/>
                        <a:t>           </a:t>
                      </a:r>
                      <a:r>
                        <a:rPr lang="en-GB" dirty="0" err="1"/>
                        <a:t>busca</a:t>
                      </a:r>
                      <a:r>
                        <a:rPr lang="en-GB" dirty="0"/>
                        <a:t> </a:t>
                      </a:r>
                      <a:r>
                        <a:rPr lang="en-GB" dirty="0" err="1"/>
                        <a:t>identificar</a:t>
                      </a:r>
                      <a:r>
                        <a:rPr lang="en-GB" dirty="0"/>
                        <a:t> </a:t>
                      </a:r>
                      <a:r>
                        <a:rPr lang="en-GB" dirty="0" err="1"/>
                        <a:t>causas</a:t>
                      </a:r>
                      <a:r>
                        <a:rPr lang="en-GB" dirty="0"/>
                        <a:t> del </a:t>
                      </a:r>
                      <a:r>
                        <a:rPr lang="en-GB" dirty="0" err="1"/>
                        <a:t>abandono</a:t>
                      </a:r>
                      <a:r>
                        <a:rPr lang="en-GB" dirty="0"/>
                        <a:t> de sus </a:t>
                      </a:r>
                      <a:r>
                        <a:rPr lang="en-GB" dirty="0" err="1"/>
                        <a:t>clientes</a:t>
                      </a:r>
                      <a:endParaRPr dirty="0"/>
                    </a:p>
                  </a:txBody>
                  <a:tcPr/>
                </a:tc>
                <a:extLst>
                  <a:ext uri="{0D108BD9-81ED-4DB2-BD59-A6C34878D82A}">
                    <a16:rowId xmlns:a16="http://schemas.microsoft.com/office/drawing/2014/main" val="10001"/>
                  </a:ext>
                </a:extLst>
              </a:tr>
              <a:tr h="554796">
                <a:tc>
                  <a:txBody>
                    <a:bodyPr/>
                    <a:lstStyle/>
                    <a:p>
                      <a:pPr algn="l">
                        <a:defRPr sz="1400" b="1">
                          <a:solidFill>
                            <a:srgbClr val="00468C"/>
                          </a:solidFill>
                        </a:defRPr>
                      </a:pPr>
                      <a:r>
                        <a:t>Objetivo principal</a:t>
                      </a:r>
                    </a:p>
                  </a:txBody>
                  <a:tcPr/>
                </a:tc>
                <a:tc>
                  <a:txBody>
                    <a:bodyPr/>
                    <a:lstStyle/>
                    <a:p>
                      <a:pPr algn="l">
                        <a:defRPr sz="1200"/>
                      </a:pPr>
                      <a:r>
                        <a:rPr dirty="0" err="1"/>
                        <a:t>Modelizar</a:t>
                      </a:r>
                      <a:r>
                        <a:rPr dirty="0"/>
                        <a:t> la </a:t>
                      </a:r>
                      <a:r>
                        <a:rPr dirty="0" err="1"/>
                        <a:t>pérdida</a:t>
                      </a:r>
                      <a:r>
                        <a:rPr dirty="0"/>
                        <a:t> de </a:t>
                      </a:r>
                      <a:r>
                        <a:rPr dirty="0" err="1"/>
                        <a:t>clientes</a:t>
                      </a:r>
                      <a:r>
                        <a:rPr dirty="0"/>
                        <a:t> (churn) </a:t>
                      </a:r>
                      <a:r>
                        <a:rPr dirty="0" err="1"/>
                        <a:t>en</a:t>
                      </a:r>
                      <a:r>
                        <a:rPr dirty="0"/>
                        <a:t> </a:t>
                      </a:r>
                      <a:r>
                        <a:rPr dirty="0" err="1"/>
                        <a:t>función</a:t>
                      </a:r>
                      <a:r>
                        <a:rPr dirty="0"/>
                        <a:t> de variables del </a:t>
                      </a:r>
                      <a:r>
                        <a:rPr dirty="0" err="1"/>
                        <a:t>usuario</a:t>
                      </a:r>
                      <a:r>
                        <a:rPr dirty="0"/>
                        <a:t>.</a:t>
                      </a:r>
                    </a:p>
                  </a:txBody>
                  <a:tcPr/>
                </a:tc>
                <a:extLst>
                  <a:ext uri="{0D108BD9-81ED-4DB2-BD59-A6C34878D82A}">
                    <a16:rowId xmlns:a16="http://schemas.microsoft.com/office/drawing/2014/main" val="10002"/>
                  </a:ext>
                </a:extLst>
              </a:tr>
              <a:tr h="612776">
                <a:tc>
                  <a:txBody>
                    <a:bodyPr/>
                    <a:lstStyle/>
                    <a:p>
                      <a:pPr algn="l">
                        <a:defRPr sz="1400" b="1">
                          <a:solidFill>
                            <a:srgbClr val="00468C"/>
                          </a:solidFill>
                        </a:defRPr>
                      </a:pPr>
                      <a:r>
                        <a:t>Objetivos secundarios</a:t>
                      </a:r>
                    </a:p>
                  </a:txBody>
                  <a:tcPr/>
                </a:tc>
                <a:tc>
                  <a:txBody>
                    <a:bodyPr/>
                    <a:lstStyle/>
                    <a:p>
                      <a:pPr algn="l">
                        <a:defRPr sz="1200"/>
                      </a:pPr>
                      <a:r>
                        <a:rPr dirty="0"/>
                        <a:t>• </a:t>
                      </a:r>
                      <a:r>
                        <a:rPr dirty="0" err="1"/>
                        <a:t>Analizar</a:t>
                      </a:r>
                      <a:r>
                        <a:rPr dirty="0"/>
                        <a:t> la </a:t>
                      </a:r>
                      <a:r>
                        <a:rPr dirty="0" err="1"/>
                        <a:t>estructura</a:t>
                      </a:r>
                      <a:r>
                        <a:rPr dirty="0"/>
                        <a:t> de </a:t>
                      </a:r>
                      <a:r>
                        <a:rPr dirty="0" err="1"/>
                        <a:t>los</a:t>
                      </a:r>
                      <a:r>
                        <a:rPr dirty="0"/>
                        <a:t> </a:t>
                      </a:r>
                      <a:r>
                        <a:rPr dirty="0" err="1"/>
                        <a:t>datos</a:t>
                      </a:r>
                      <a:r>
                        <a:rPr dirty="0"/>
                        <a:t>.</a:t>
                      </a:r>
                      <a:br>
                        <a:rPr dirty="0"/>
                      </a:br>
                      <a:r>
                        <a:rPr dirty="0"/>
                        <a:t>• </a:t>
                      </a:r>
                      <a:r>
                        <a:rPr dirty="0" err="1"/>
                        <a:t>Identificar</a:t>
                      </a:r>
                      <a:r>
                        <a:rPr dirty="0"/>
                        <a:t> </a:t>
                      </a:r>
                      <a:r>
                        <a:rPr dirty="0" err="1"/>
                        <a:t>relaciones</a:t>
                      </a:r>
                      <a:r>
                        <a:rPr dirty="0"/>
                        <a:t> entre variables.</a:t>
                      </a:r>
                      <a:br>
                        <a:rPr dirty="0"/>
                      </a:br>
                      <a:r>
                        <a:rPr dirty="0"/>
                        <a:t>• </a:t>
                      </a:r>
                      <a:r>
                        <a:rPr dirty="0" err="1"/>
                        <a:t>Evaluar</a:t>
                      </a:r>
                      <a:r>
                        <a:rPr dirty="0"/>
                        <a:t> la </a:t>
                      </a:r>
                      <a:r>
                        <a:rPr dirty="0" err="1"/>
                        <a:t>influencia</a:t>
                      </a:r>
                      <a:r>
                        <a:rPr dirty="0"/>
                        <a:t> de las variables </a:t>
                      </a:r>
                      <a:r>
                        <a:rPr dirty="0" err="1"/>
                        <a:t>en</a:t>
                      </a:r>
                      <a:r>
                        <a:rPr dirty="0"/>
                        <a:t> la </a:t>
                      </a:r>
                      <a:r>
                        <a:rPr dirty="0" err="1"/>
                        <a:t>permanencia</a:t>
                      </a:r>
                      <a:r>
                        <a:rPr dirty="0"/>
                        <a:t> del </a:t>
                      </a:r>
                      <a:r>
                        <a:rPr dirty="0" err="1"/>
                        <a:t>cliente</a:t>
                      </a:r>
                      <a:r>
                        <a:rPr dirty="0"/>
                        <a:t>.</a:t>
                      </a:r>
                    </a:p>
                  </a:txBody>
                  <a:tcPr/>
                </a:tc>
                <a:extLst>
                  <a:ext uri="{0D108BD9-81ED-4DB2-BD59-A6C34878D82A}">
                    <a16:rowId xmlns:a16="http://schemas.microsoft.com/office/drawing/2014/main" val="10003"/>
                  </a:ext>
                </a:extLst>
              </a:tr>
              <a:tr h="787855">
                <a:tc>
                  <a:txBody>
                    <a:bodyPr/>
                    <a:lstStyle/>
                    <a:p>
                      <a:pPr algn="l">
                        <a:defRPr sz="1400" b="1">
                          <a:solidFill>
                            <a:srgbClr val="00468C"/>
                          </a:solidFill>
                        </a:defRPr>
                      </a:pPr>
                      <a:r>
                        <a:t>KPIs de control (modelo)</a:t>
                      </a:r>
                    </a:p>
                  </a:txBody>
                  <a:tcPr/>
                </a:tc>
                <a:tc>
                  <a:txBody>
                    <a:bodyPr/>
                    <a:lstStyle/>
                    <a:p>
                      <a:pPr algn="l">
                        <a:defRPr sz="1200"/>
                      </a:pPr>
                      <a:r>
                        <a:rPr dirty="0"/>
                        <a:t>• Accuracy</a:t>
                      </a:r>
                      <a:br>
                        <a:rPr dirty="0"/>
                      </a:br>
                      <a:r>
                        <a:rPr dirty="0"/>
                        <a:t>• Precision / Recall</a:t>
                      </a:r>
                      <a:br>
                        <a:rPr dirty="0"/>
                      </a:br>
                      <a:r>
                        <a:rPr dirty="0"/>
                        <a:t>• F1-Score</a:t>
                      </a:r>
                      <a:br>
                        <a:rPr dirty="0"/>
                      </a:br>
                      <a:r>
                        <a:rPr dirty="0"/>
                        <a:t>• AUC-ROC</a:t>
                      </a:r>
                    </a:p>
                  </a:txBody>
                  <a:tcPr/>
                </a:tc>
                <a:extLst>
                  <a:ext uri="{0D108BD9-81ED-4DB2-BD59-A6C34878D82A}">
                    <a16:rowId xmlns:a16="http://schemas.microsoft.com/office/drawing/2014/main" val="10004"/>
                  </a:ext>
                </a:extLst>
              </a:tr>
              <a:tr h="554796">
                <a:tc>
                  <a:txBody>
                    <a:bodyPr/>
                    <a:lstStyle/>
                    <a:p>
                      <a:pPr algn="l">
                        <a:defRPr sz="1400" b="1">
                          <a:solidFill>
                            <a:srgbClr val="00468C"/>
                          </a:solidFill>
                        </a:defRPr>
                      </a:pPr>
                      <a:r>
                        <a:t>KPI de negocio</a:t>
                      </a:r>
                    </a:p>
                  </a:txBody>
                  <a:tcPr/>
                </a:tc>
                <a:tc>
                  <a:txBody>
                    <a:bodyPr/>
                    <a:lstStyle/>
                    <a:p>
                      <a:pPr algn="l">
                        <a:defRPr sz="1200"/>
                      </a:pPr>
                      <a:r>
                        <a:rPr dirty="0"/>
                        <a:t>Tasa de </a:t>
                      </a:r>
                      <a:r>
                        <a:rPr dirty="0" err="1"/>
                        <a:t>retención</a:t>
                      </a:r>
                      <a:r>
                        <a:rPr dirty="0"/>
                        <a:t> de </a:t>
                      </a:r>
                      <a:r>
                        <a:rPr dirty="0" err="1"/>
                        <a:t>clientes</a:t>
                      </a:r>
                      <a:r>
                        <a:rPr dirty="0"/>
                        <a:t>.</a:t>
                      </a:r>
                    </a:p>
                  </a:txBody>
                  <a:tcPr/>
                </a:tc>
                <a:extLst>
                  <a:ext uri="{0D108BD9-81ED-4DB2-BD59-A6C34878D82A}">
                    <a16:rowId xmlns:a16="http://schemas.microsoft.com/office/drawing/2014/main" val="10005"/>
                  </a:ext>
                </a:extLst>
              </a:tr>
            </a:tbl>
          </a:graphicData>
        </a:graphic>
      </p:graphicFrame>
      <p:cxnSp>
        <p:nvCxnSpPr>
          <p:cNvPr id="5" name="Straight Arrow Connector 4">
            <a:extLst>
              <a:ext uri="{FF2B5EF4-FFF2-40B4-BE49-F238E27FC236}">
                <a16:creationId xmlns:a16="http://schemas.microsoft.com/office/drawing/2014/main" id="{0F658CDA-9847-DA7E-FDD6-1BC6CE6CDF57}"/>
              </a:ext>
            </a:extLst>
          </p:cNvPr>
          <p:cNvCxnSpPr>
            <a:cxnSpLocks/>
          </p:cNvCxnSpPr>
          <p:nvPr/>
        </p:nvCxnSpPr>
        <p:spPr>
          <a:xfrm>
            <a:off x="3829524" y="1636004"/>
            <a:ext cx="30228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 name="Picture 7" descr="A black and white logo&#10;&#10;AI-generated content may be incorrect.">
            <a:extLst>
              <a:ext uri="{FF2B5EF4-FFF2-40B4-BE49-F238E27FC236}">
                <a16:creationId xmlns:a16="http://schemas.microsoft.com/office/drawing/2014/main" id="{6664B0D6-20C8-9600-1FDB-D0932C2A16BC}"/>
              </a:ext>
            </a:extLst>
          </p:cNvPr>
          <p:cNvPicPr>
            <a:picLocks noChangeAspect="1"/>
          </p:cNvPicPr>
          <p:nvPr/>
        </p:nvPicPr>
        <p:blipFill>
          <a:blip r:embed="rId3"/>
          <a:stretch>
            <a:fillRect/>
          </a:stretch>
        </p:blipFill>
        <p:spPr>
          <a:xfrm>
            <a:off x="7489013" y="332509"/>
            <a:ext cx="1566241" cy="130092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129D671E-736D-BBE5-2753-B44018DB6EB4}"/>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F160F062-DB37-F0CE-0930-D313103DAB13}"/>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s-ES" dirty="0"/>
              <a:t>ENTENDIMIENTO DE DATOS</a:t>
            </a:r>
            <a:endParaRPr dirty="0"/>
          </a:p>
        </p:txBody>
      </p:sp>
      <p:sp>
        <p:nvSpPr>
          <p:cNvPr id="7" name="CuadroTexto 6">
            <a:extLst>
              <a:ext uri="{FF2B5EF4-FFF2-40B4-BE49-F238E27FC236}">
                <a16:creationId xmlns:a16="http://schemas.microsoft.com/office/drawing/2014/main" id="{47FF6C25-282A-B6CB-A67C-33E161E8763F}"/>
              </a:ext>
            </a:extLst>
          </p:cNvPr>
          <p:cNvSpPr txBox="1"/>
          <p:nvPr/>
        </p:nvSpPr>
        <p:spPr>
          <a:xfrm>
            <a:off x="720000" y="1269402"/>
            <a:ext cx="7154598" cy="2462213"/>
          </a:xfrm>
          <a:prstGeom prst="rect">
            <a:avLst/>
          </a:prstGeom>
          <a:noFill/>
        </p:spPr>
        <p:txBody>
          <a:bodyPr wrap="square" rtlCol="0">
            <a:spAutoFit/>
          </a:bodyPr>
          <a:lstStyle/>
          <a:p>
            <a:r>
              <a:rPr lang="es-ES" dirty="0"/>
              <a:t>La base de datos cuenta inicialmente con </a:t>
            </a:r>
            <a:r>
              <a:rPr lang="es-ES" b="1" dirty="0"/>
              <a:t>23 variables</a:t>
            </a:r>
            <a:r>
              <a:rPr lang="es-ES" dirty="0"/>
              <a:t>:</a:t>
            </a:r>
          </a:p>
          <a:p>
            <a:pPr marL="285750" indent="-285750">
              <a:buFontTx/>
              <a:buChar char="-"/>
            </a:pPr>
            <a:r>
              <a:rPr lang="es-ES" b="1" dirty="0"/>
              <a:t>12 numéricas</a:t>
            </a:r>
          </a:p>
          <a:p>
            <a:pPr marL="285750" indent="-285750">
              <a:buFontTx/>
              <a:buChar char="-"/>
            </a:pPr>
            <a:r>
              <a:rPr lang="es-ES" b="1" dirty="0"/>
              <a:t>11 categóricas</a:t>
            </a:r>
            <a:r>
              <a:rPr lang="es-ES" dirty="0"/>
              <a:t>, de las cuales:	</a:t>
            </a:r>
          </a:p>
          <a:p>
            <a:pPr lvl="1"/>
            <a:r>
              <a:rPr lang="es-ES" dirty="0"/>
              <a:t>	- </a:t>
            </a:r>
            <a:r>
              <a:rPr lang="es-ES" b="1" dirty="0"/>
              <a:t>5 binarias</a:t>
            </a:r>
          </a:p>
          <a:p>
            <a:pPr lvl="1"/>
            <a:r>
              <a:rPr lang="es-ES" dirty="0"/>
              <a:t>		- Una de ellas es la variable a predecir (</a:t>
            </a:r>
            <a:r>
              <a:rPr lang="es-ES" dirty="0" err="1"/>
              <a:t>Exited</a:t>
            </a:r>
            <a:r>
              <a:rPr lang="es-ES" dirty="0"/>
              <a:t>)</a:t>
            </a:r>
          </a:p>
          <a:p>
            <a:pPr lvl="1"/>
            <a:r>
              <a:rPr lang="es-ES" dirty="0"/>
              <a:t>	- </a:t>
            </a:r>
            <a:r>
              <a:rPr lang="es-ES" b="1" dirty="0"/>
              <a:t>2 identificadoras </a:t>
            </a:r>
            <a:r>
              <a:rPr lang="es-ES" dirty="0"/>
              <a:t>(ID, </a:t>
            </a:r>
            <a:r>
              <a:rPr lang="es-ES" dirty="0" err="1"/>
              <a:t>Surname</a:t>
            </a:r>
            <a:r>
              <a:rPr lang="es-ES" dirty="0"/>
              <a:t>)</a:t>
            </a:r>
          </a:p>
          <a:p>
            <a:pPr lvl="1"/>
            <a:endParaRPr lang="es-ES" dirty="0"/>
          </a:p>
          <a:p>
            <a:pPr lvl="1"/>
            <a:r>
              <a:rPr lang="es-ES" dirty="0"/>
              <a:t>En el siguiente enlace se incluye un </a:t>
            </a:r>
            <a:r>
              <a:rPr lang="es-ES" dirty="0" err="1"/>
              <a:t>Metadata</a:t>
            </a:r>
            <a:r>
              <a:rPr lang="es-ES" dirty="0"/>
              <a:t> más extenso donde se incluye información específica para cada variable (Nombre, tipología, rango, </a:t>
            </a:r>
            <a:r>
              <a:rPr lang="es-ES" dirty="0" err="1"/>
              <a:t>business</a:t>
            </a:r>
            <a:r>
              <a:rPr lang="es-ES" dirty="0"/>
              <a:t> </a:t>
            </a:r>
            <a:r>
              <a:rPr lang="es-ES" dirty="0" err="1"/>
              <a:t>category</a:t>
            </a:r>
            <a:r>
              <a:rPr lang="es-ES" dirty="0"/>
              <a:t> y una pequeña descripción de su significado)</a:t>
            </a:r>
            <a:r>
              <a:rPr lang="es-ES" dirty="0">
                <a:solidFill>
                  <a:srgbClr val="0070C0"/>
                </a:solidFill>
              </a:rPr>
              <a:t>: </a:t>
            </a:r>
            <a:r>
              <a:rPr lang="es-ES" dirty="0" err="1">
                <a:solidFill>
                  <a:srgbClr val="0070C0"/>
                </a:solidFill>
                <a:hlinkClick r:id="rId3">
                  <a:extLst>
                    <a:ext uri="{A12FA001-AC4F-418D-AE19-62706E023703}">
                      <ahyp:hlinkClr xmlns:ahyp="http://schemas.microsoft.com/office/drawing/2018/hyperlinkcolor" val="tx"/>
                    </a:ext>
                  </a:extLst>
                </a:hlinkClick>
              </a:rPr>
              <a:t>Metadata</a:t>
            </a:r>
            <a:endParaRPr lang="es-ES" dirty="0">
              <a:solidFill>
                <a:srgbClr val="0070C0"/>
              </a:solidFill>
            </a:endParaRPr>
          </a:p>
          <a:p>
            <a:pPr lvl="1"/>
            <a:endParaRPr lang="es-ES" dirty="0"/>
          </a:p>
        </p:txBody>
      </p:sp>
      <p:sp>
        <p:nvSpPr>
          <p:cNvPr id="8" name="CuadroTexto 7">
            <a:extLst>
              <a:ext uri="{FF2B5EF4-FFF2-40B4-BE49-F238E27FC236}">
                <a16:creationId xmlns:a16="http://schemas.microsoft.com/office/drawing/2014/main" id="{1007598B-E9E1-3C48-B750-DD200F51AA4F}"/>
              </a:ext>
            </a:extLst>
          </p:cNvPr>
          <p:cNvSpPr txBox="1"/>
          <p:nvPr/>
        </p:nvSpPr>
        <p:spPr>
          <a:xfrm>
            <a:off x="817581" y="3861995"/>
            <a:ext cx="6970955" cy="738664"/>
          </a:xfrm>
          <a:prstGeom prst="rect">
            <a:avLst/>
          </a:prstGeom>
          <a:noFill/>
        </p:spPr>
        <p:txBody>
          <a:bodyPr wrap="square" rtlCol="0">
            <a:spAutoFit/>
          </a:bodyPr>
          <a:lstStyle/>
          <a:p>
            <a:pPr marL="285750" indent="-285750">
              <a:buFont typeface="Wingdings" panose="05000000000000000000" pitchFamily="2" charset="2"/>
              <a:buChar char="q"/>
            </a:pPr>
            <a:r>
              <a:rPr lang="es-ES" b="1" i="1" dirty="0"/>
              <a:t>Importante</a:t>
            </a:r>
            <a:r>
              <a:rPr lang="es-ES" dirty="0"/>
              <a:t>: Este es el </a:t>
            </a:r>
            <a:r>
              <a:rPr lang="es-ES" dirty="0" err="1"/>
              <a:t>Metadata</a:t>
            </a:r>
            <a:r>
              <a:rPr lang="es-ES" dirty="0"/>
              <a:t> propio del entendimiento de los datos. Es susceptible a cambios en etapas futuras del proyecto como en ingeniería de variables.</a:t>
            </a:r>
          </a:p>
        </p:txBody>
      </p:sp>
    </p:spTree>
    <p:extLst>
      <p:ext uri="{BB962C8B-B14F-4D97-AF65-F5344CB8AC3E}">
        <p14:creationId xmlns:p14="http://schemas.microsoft.com/office/powerpoint/2010/main" val="1878690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AE743641-168A-62A7-64C4-12B21E9AC8FC}"/>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14CE457C-56DB-B4B3-1828-5D8139674A54}"/>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s-ES" dirty="0"/>
              <a:t>FRAMEWORK METODOLÓGICO</a:t>
            </a:r>
            <a:endParaRPr dirty="0"/>
          </a:p>
        </p:txBody>
      </p:sp>
      <p:graphicFrame>
        <p:nvGraphicFramePr>
          <p:cNvPr id="2" name="Diagrama 1">
            <a:extLst>
              <a:ext uri="{FF2B5EF4-FFF2-40B4-BE49-F238E27FC236}">
                <a16:creationId xmlns:a16="http://schemas.microsoft.com/office/drawing/2014/main" id="{CBD4D518-7DAA-184B-0314-92BDAE637D38}"/>
              </a:ext>
            </a:extLst>
          </p:cNvPr>
          <p:cNvGraphicFramePr/>
          <p:nvPr>
            <p:extLst>
              <p:ext uri="{D42A27DB-BD31-4B8C-83A1-F6EECF244321}">
                <p14:modId xmlns:p14="http://schemas.microsoft.com/office/powerpoint/2010/main" val="53099396"/>
              </p:ext>
            </p:extLst>
          </p:nvPr>
        </p:nvGraphicFramePr>
        <p:xfrm>
          <a:off x="3571539" y="1112201"/>
          <a:ext cx="5013063" cy="36857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CuadroTexto 4">
            <a:extLst>
              <a:ext uri="{FF2B5EF4-FFF2-40B4-BE49-F238E27FC236}">
                <a16:creationId xmlns:a16="http://schemas.microsoft.com/office/drawing/2014/main" id="{EAFFC7C5-F970-1FD5-95CA-A319822DB911}"/>
              </a:ext>
            </a:extLst>
          </p:cNvPr>
          <p:cNvSpPr txBox="1"/>
          <p:nvPr/>
        </p:nvSpPr>
        <p:spPr>
          <a:xfrm>
            <a:off x="279699" y="1112200"/>
            <a:ext cx="3131238" cy="1231106"/>
          </a:xfrm>
          <a:prstGeom prst="rect">
            <a:avLst/>
          </a:prstGeom>
          <a:noFill/>
        </p:spPr>
        <p:txBody>
          <a:bodyPr wrap="square" rtlCol="0">
            <a:spAutoFit/>
          </a:bodyPr>
          <a:lstStyle/>
          <a:p>
            <a:pPr marL="285750" indent="-285750">
              <a:buFont typeface="Arial" panose="020B0604020202020204" pitchFamily="34" charset="0"/>
              <a:buChar char="•"/>
            </a:pPr>
            <a:r>
              <a:rPr lang="en-GB" sz="1200" dirty="0" err="1"/>
              <a:t>Metodología</a:t>
            </a:r>
            <a:r>
              <a:rPr lang="en-GB" sz="1200" dirty="0"/>
              <a:t>: CRISP-DM (Cross Industry Standard Process for Data Mining)</a:t>
            </a:r>
          </a:p>
          <a:p>
            <a:pPr marL="285750" indent="-285750">
              <a:buFont typeface="Arial" panose="020B0604020202020204" pitchFamily="34" charset="0"/>
              <a:buChar char="•"/>
            </a:pPr>
            <a:r>
              <a:rPr lang="en-GB" sz="1200" dirty="0" err="1"/>
              <a:t>Enfoque</a:t>
            </a:r>
            <a:r>
              <a:rPr lang="en-GB" sz="1200" dirty="0"/>
              <a:t>: </a:t>
            </a:r>
            <a:r>
              <a:rPr lang="en-GB" sz="1200" dirty="0" err="1"/>
              <a:t>Trabajo</a:t>
            </a:r>
            <a:r>
              <a:rPr lang="en-GB" sz="1200" dirty="0"/>
              <a:t> </a:t>
            </a:r>
            <a:r>
              <a:rPr lang="en-GB" sz="1200" dirty="0" err="1"/>
              <a:t>colaborativo</a:t>
            </a:r>
            <a:r>
              <a:rPr lang="en-GB" sz="1200" dirty="0"/>
              <a:t> con </a:t>
            </a:r>
            <a:r>
              <a:rPr lang="en-GB" sz="1200" dirty="0" err="1"/>
              <a:t>asignación</a:t>
            </a:r>
            <a:r>
              <a:rPr lang="en-GB" sz="1200" dirty="0"/>
              <a:t> de </a:t>
            </a:r>
            <a:r>
              <a:rPr lang="en-GB" sz="1200" dirty="0" err="1"/>
              <a:t>responsables</a:t>
            </a:r>
            <a:r>
              <a:rPr lang="en-GB" sz="1200" dirty="0"/>
              <a:t> </a:t>
            </a:r>
            <a:r>
              <a:rPr lang="en-GB" sz="1200" dirty="0" err="1"/>
              <a:t>por</a:t>
            </a:r>
            <a:r>
              <a:rPr lang="en-GB" sz="1200" dirty="0"/>
              <a:t> </a:t>
            </a:r>
            <a:r>
              <a:rPr lang="en-GB" sz="1200" dirty="0" err="1"/>
              <a:t>fase</a:t>
            </a:r>
            <a:endParaRPr lang="en-GB" sz="1200" dirty="0"/>
          </a:p>
          <a:p>
            <a:pPr marL="285750" indent="-285750">
              <a:buFont typeface="Arial" panose="020B0604020202020204" pitchFamily="34" charset="0"/>
              <a:buChar char="•"/>
            </a:pPr>
            <a:endParaRPr lang="es-ES" b="1" dirty="0"/>
          </a:p>
        </p:txBody>
      </p:sp>
      <p:pic>
        <p:nvPicPr>
          <p:cNvPr id="9" name="Imagen 8">
            <a:extLst>
              <a:ext uri="{FF2B5EF4-FFF2-40B4-BE49-F238E27FC236}">
                <a16:creationId xmlns:a16="http://schemas.microsoft.com/office/drawing/2014/main" id="{ABFADC3A-F2D8-BABA-DD31-F0770B4C9B46}"/>
              </a:ext>
            </a:extLst>
          </p:cNvPr>
          <p:cNvPicPr>
            <a:picLocks noChangeAspect="1"/>
          </p:cNvPicPr>
          <p:nvPr/>
        </p:nvPicPr>
        <p:blipFill>
          <a:blip r:embed="rId8"/>
          <a:stretch>
            <a:fillRect/>
          </a:stretch>
        </p:blipFill>
        <p:spPr>
          <a:xfrm>
            <a:off x="374437" y="2250295"/>
            <a:ext cx="2750004" cy="2663526"/>
          </a:xfrm>
          <a:prstGeom prst="rect">
            <a:avLst/>
          </a:prstGeom>
          <a:ln>
            <a:solidFill>
              <a:schemeClr val="bg2"/>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Tree>
    <p:extLst>
      <p:ext uri="{BB962C8B-B14F-4D97-AF65-F5344CB8AC3E}">
        <p14:creationId xmlns:p14="http://schemas.microsoft.com/office/powerpoint/2010/main" val="3817130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1F0A1012-ECEC-8BC8-0063-D473929D3D2D}"/>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7946C38A-D74B-A3C1-5985-7F4666994364}"/>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s-ES" dirty="0" err="1"/>
              <a:t>Exploratory</a:t>
            </a:r>
            <a:r>
              <a:rPr lang="es-ES" dirty="0"/>
              <a:t> Data </a:t>
            </a:r>
            <a:r>
              <a:rPr lang="es-ES" dirty="0" err="1"/>
              <a:t>Analysis</a:t>
            </a:r>
            <a:r>
              <a:rPr lang="es-ES" dirty="0"/>
              <a:t> (EDA) 1/2</a:t>
            </a:r>
            <a:endParaRPr dirty="0"/>
          </a:p>
        </p:txBody>
      </p:sp>
      <p:pic>
        <p:nvPicPr>
          <p:cNvPr id="3" name="Imagen 2">
            <a:extLst>
              <a:ext uri="{FF2B5EF4-FFF2-40B4-BE49-F238E27FC236}">
                <a16:creationId xmlns:a16="http://schemas.microsoft.com/office/drawing/2014/main" id="{1D516515-DA42-9655-BB01-518323B33C34}"/>
              </a:ext>
            </a:extLst>
          </p:cNvPr>
          <p:cNvPicPr>
            <a:picLocks noChangeAspect="1"/>
          </p:cNvPicPr>
          <p:nvPr/>
        </p:nvPicPr>
        <p:blipFill>
          <a:blip r:embed="rId3"/>
          <a:stretch>
            <a:fillRect/>
          </a:stretch>
        </p:blipFill>
        <p:spPr>
          <a:xfrm>
            <a:off x="720000" y="1209851"/>
            <a:ext cx="3369761" cy="1745784"/>
          </a:xfrm>
          <a:prstGeom prst="rect">
            <a:avLst/>
          </a:prstGeom>
        </p:spPr>
      </p:pic>
      <p:sp>
        <p:nvSpPr>
          <p:cNvPr id="4" name="CuadroTexto 3">
            <a:extLst>
              <a:ext uri="{FF2B5EF4-FFF2-40B4-BE49-F238E27FC236}">
                <a16:creationId xmlns:a16="http://schemas.microsoft.com/office/drawing/2014/main" id="{3A063028-BC82-FA0D-BF4A-CD1689F34D4C}"/>
              </a:ext>
            </a:extLst>
          </p:cNvPr>
          <p:cNvSpPr txBox="1"/>
          <p:nvPr/>
        </p:nvSpPr>
        <p:spPr>
          <a:xfrm>
            <a:off x="4572000" y="1370384"/>
            <a:ext cx="4227755" cy="1031051"/>
          </a:xfrm>
          <a:prstGeom prst="rect">
            <a:avLst/>
          </a:prstGeom>
          <a:noFill/>
        </p:spPr>
        <p:txBody>
          <a:bodyPr wrap="square" rtlCol="0">
            <a:spAutoFit/>
          </a:bodyPr>
          <a:lstStyle/>
          <a:p>
            <a:r>
              <a:rPr lang="en-GB" sz="1100" dirty="0"/>
              <a:t>Entre las variables </a:t>
            </a:r>
            <a:r>
              <a:rPr lang="en-GB" sz="1100" dirty="0" err="1"/>
              <a:t>numéricas</a:t>
            </a:r>
            <a:r>
              <a:rPr lang="en-GB" sz="1100" dirty="0"/>
              <a:t> se </a:t>
            </a:r>
            <a:r>
              <a:rPr lang="en-GB" sz="1100" dirty="0" err="1"/>
              <a:t>han</a:t>
            </a:r>
            <a:r>
              <a:rPr lang="en-GB" sz="1100" dirty="0"/>
              <a:t> </a:t>
            </a:r>
            <a:r>
              <a:rPr lang="en-GB" sz="1100" dirty="0" err="1"/>
              <a:t>identificado</a:t>
            </a:r>
            <a:r>
              <a:rPr lang="en-GB" sz="1100" dirty="0"/>
              <a:t> </a:t>
            </a:r>
            <a:r>
              <a:rPr lang="en-GB" sz="1100" dirty="0" err="1"/>
              <a:t>correlaciones</a:t>
            </a:r>
            <a:r>
              <a:rPr lang="en-GB" sz="1100" dirty="0"/>
              <a:t> </a:t>
            </a:r>
            <a:r>
              <a:rPr lang="en-GB" sz="1100" dirty="0" err="1"/>
              <a:t>significativas</a:t>
            </a:r>
            <a:r>
              <a:rPr lang="en-GB" sz="1100" dirty="0"/>
              <a:t> entre</a:t>
            </a:r>
          </a:p>
          <a:p>
            <a:endParaRPr lang="en-GB" sz="1100" dirty="0"/>
          </a:p>
          <a:p>
            <a:r>
              <a:rPr lang="es-ES" b="1" dirty="0">
                <a:solidFill>
                  <a:srgbClr val="0070C0"/>
                </a:solidFill>
              </a:rPr>
              <a:t>número de quejas – satisfacción (</a:t>
            </a:r>
            <a:r>
              <a:rPr lang="en-GB" b="1" dirty="0">
                <a:solidFill>
                  <a:srgbClr val="0070C0"/>
                </a:solidFill>
              </a:rPr>
              <a:t>r = -0.31)</a:t>
            </a:r>
            <a:endParaRPr lang="es-ES" b="1" dirty="0">
              <a:solidFill>
                <a:srgbClr val="0070C0"/>
              </a:solidFill>
            </a:endParaRPr>
          </a:p>
          <a:p>
            <a:r>
              <a:rPr lang="es-ES" b="1" dirty="0">
                <a:solidFill>
                  <a:srgbClr val="00B050"/>
                </a:solidFill>
              </a:rPr>
              <a:t>número de productos – balance (r = -0.69)</a:t>
            </a:r>
            <a:endParaRPr lang="es-ES" dirty="0"/>
          </a:p>
        </p:txBody>
      </p:sp>
      <p:pic>
        <p:nvPicPr>
          <p:cNvPr id="6" name="Imagen 5">
            <a:extLst>
              <a:ext uri="{FF2B5EF4-FFF2-40B4-BE49-F238E27FC236}">
                <a16:creationId xmlns:a16="http://schemas.microsoft.com/office/drawing/2014/main" id="{C419C444-B510-41D1-18DA-A0EDA21E4FC5}"/>
              </a:ext>
            </a:extLst>
          </p:cNvPr>
          <p:cNvPicPr>
            <a:picLocks noChangeAspect="1"/>
          </p:cNvPicPr>
          <p:nvPr/>
        </p:nvPicPr>
        <p:blipFill>
          <a:blip r:embed="rId4"/>
          <a:stretch>
            <a:fillRect/>
          </a:stretch>
        </p:blipFill>
        <p:spPr>
          <a:xfrm>
            <a:off x="860608" y="4046709"/>
            <a:ext cx="3496237" cy="1114581"/>
          </a:xfrm>
          <a:prstGeom prst="rect">
            <a:avLst/>
          </a:prstGeom>
        </p:spPr>
      </p:pic>
      <p:pic>
        <p:nvPicPr>
          <p:cNvPr id="8" name="Imagen 7">
            <a:extLst>
              <a:ext uri="{FF2B5EF4-FFF2-40B4-BE49-F238E27FC236}">
                <a16:creationId xmlns:a16="http://schemas.microsoft.com/office/drawing/2014/main" id="{F191712F-AF11-545F-6745-913AE7E68860}"/>
              </a:ext>
            </a:extLst>
          </p:cNvPr>
          <p:cNvPicPr>
            <a:picLocks noChangeAspect="1"/>
          </p:cNvPicPr>
          <p:nvPr/>
        </p:nvPicPr>
        <p:blipFill>
          <a:blip r:embed="rId5"/>
          <a:stretch>
            <a:fillRect/>
          </a:stretch>
        </p:blipFill>
        <p:spPr>
          <a:xfrm>
            <a:off x="913040" y="3122220"/>
            <a:ext cx="1695687" cy="952633"/>
          </a:xfrm>
          <a:prstGeom prst="rect">
            <a:avLst/>
          </a:prstGeom>
        </p:spPr>
      </p:pic>
      <p:sp>
        <p:nvSpPr>
          <p:cNvPr id="9" name="CuadroTexto 8">
            <a:extLst>
              <a:ext uri="{FF2B5EF4-FFF2-40B4-BE49-F238E27FC236}">
                <a16:creationId xmlns:a16="http://schemas.microsoft.com/office/drawing/2014/main" id="{DF775A01-8C66-64FB-3CC2-F9073BE005FF}"/>
              </a:ext>
            </a:extLst>
          </p:cNvPr>
          <p:cNvSpPr txBox="1"/>
          <p:nvPr/>
        </p:nvSpPr>
        <p:spPr>
          <a:xfrm>
            <a:off x="4356845" y="3077091"/>
            <a:ext cx="4628648" cy="2123658"/>
          </a:xfrm>
          <a:prstGeom prst="rect">
            <a:avLst/>
          </a:prstGeom>
          <a:noFill/>
        </p:spPr>
        <p:txBody>
          <a:bodyPr wrap="square" rtlCol="0">
            <a:spAutoFit/>
          </a:bodyPr>
          <a:lstStyle/>
          <a:p>
            <a:r>
              <a:rPr lang="es-ES" sz="1200" b="1" dirty="0"/>
              <a:t>Respecto a un análisis bivariante, (</a:t>
            </a:r>
            <a:r>
              <a:rPr lang="es-ES" sz="1200" b="1" dirty="0" err="1"/>
              <a:t>Exited</a:t>
            </a:r>
            <a:r>
              <a:rPr lang="es-ES" sz="1200" b="1" dirty="0"/>
              <a:t> vs </a:t>
            </a:r>
            <a:r>
              <a:rPr lang="es-ES" sz="1200" b="1" dirty="0" err="1"/>
              <a:t>var.categóricas</a:t>
            </a:r>
            <a:r>
              <a:rPr lang="es-ES" sz="1200" b="1" dirty="0"/>
              <a:t>) </a:t>
            </a:r>
          </a:p>
          <a:p>
            <a:r>
              <a:rPr lang="en-GB" sz="1200" dirty="0"/>
              <a:t>Se </a:t>
            </a:r>
            <a:r>
              <a:rPr lang="en-GB" sz="1200" dirty="0" err="1"/>
              <a:t>han</a:t>
            </a:r>
            <a:r>
              <a:rPr lang="en-GB" sz="1200" dirty="0"/>
              <a:t> </a:t>
            </a:r>
            <a:r>
              <a:rPr lang="en-GB" sz="1200" dirty="0" err="1"/>
              <a:t>detectado</a:t>
            </a:r>
            <a:r>
              <a:rPr lang="en-GB" sz="1200" dirty="0"/>
              <a:t> </a:t>
            </a:r>
            <a:r>
              <a:rPr lang="en-GB" sz="1200" dirty="0" err="1"/>
              <a:t>diferencias</a:t>
            </a:r>
            <a:r>
              <a:rPr lang="en-GB" sz="1200" dirty="0"/>
              <a:t> </a:t>
            </a:r>
            <a:r>
              <a:rPr lang="en-GB" sz="1200" dirty="0" err="1"/>
              <a:t>proporcionales</a:t>
            </a:r>
            <a:r>
              <a:rPr lang="en-GB" sz="1200" dirty="0"/>
              <a:t> </a:t>
            </a:r>
            <a:r>
              <a:rPr lang="en-GB" sz="1200" dirty="0" err="1"/>
              <a:t>significativas</a:t>
            </a:r>
            <a:r>
              <a:rPr lang="en-GB" sz="1200" dirty="0"/>
              <a:t> </a:t>
            </a:r>
            <a:r>
              <a:rPr lang="en-GB" sz="1200" dirty="0" err="1"/>
              <a:t>en</a:t>
            </a:r>
            <a:endParaRPr lang="en-GB" sz="1200" dirty="0"/>
          </a:p>
          <a:p>
            <a:pPr marL="171450" indent="-171450">
              <a:buFont typeface="Arial" panose="020B0604020202020204" pitchFamily="34" charset="0"/>
              <a:buChar char="•"/>
            </a:pPr>
            <a:r>
              <a:rPr lang="en-ES" altLang="en-ES" sz="1200" dirty="0">
                <a:solidFill>
                  <a:schemeClr val="tx1"/>
                </a:solidFill>
                <a:latin typeface="Arial" panose="020B0604020202020204" pitchFamily="34" charset="0"/>
              </a:rPr>
              <a:t>Geography </a:t>
            </a:r>
          </a:p>
          <a:p>
            <a:pPr marL="171450" indent="-171450">
              <a:buFont typeface="Arial" panose="020B0604020202020204" pitchFamily="34" charset="0"/>
              <a:buChar char="•"/>
            </a:pPr>
            <a:r>
              <a:rPr lang="es-ES" sz="1200" dirty="0" err="1"/>
              <a:t>Gender</a:t>
            </a:r>
            <a:endParaRPr lang="es-ES" sz="1200" dirty="0"/>
          </a:p>
          <a:p>
            <a:pPr marL="171450" indent="-171450">
              <a:buFont typeface="Arial" panose="020B0604020202020204" pitchFamily="34" charset="0"/>
              <a:buChar char="•"/>
            </a:pPr>
            <a:r>
              <a:rPr lang="es-ES" sz="1200" dirty="0" err="1"/>
              <a:t>IsActiveMemeber</a:t>
            </a:r>
            <a:endParaRPr lang="es-ES" sz="1200" dirty="0"/>
          </a:p>
          <a:p>
            <a:r>
              <a:rPr lang="es-ES" sz="1200" dirty="0"/>
              <a:t>                </a:t>
            </a:r>
          </a:p>
          <a:p>
            <a:r>
              <a:rPr lang="en-GB" sz="1200" dirty="0"/>
              <a:t>                Tests de </a:t>
            </a:r>
            <a:r>
              <a:rPr lang="en-GB" sz="1200" dirty="0" err="1"/>
              <a:t>independencia</a:t>
            </a:r>
            <a:r>
              <a:rPr lang="en-GB" sz="1200" dirty="0"/>
              <a:t> (Chi-</a:t>
            </a:r>
            <a:r>
              <a:rPr lang="en-GB" sz="1200" dirty="0" err="1"/>
              <a:t>cuadrado</a:t>
            </a:r>
            <a:r>
              <a:rPr lang="en-GB" sz="1200" dirty="0"/>
              <a:t>)</a:t>
            </a:r>
            <a:r>
              <a:rPr lang="es-ES" sz="1200" dirty="0"/>
              <a:t>           </a:t>
            </a:r>
          </a:p>
          <a:p>
            <a:r>
              <a:rPr lang="es-ES" sz="1200" dirty="0"/>
              <a:t> </a:t>
            </a:r>
          </a:p>
          <a:p>
            <a:endParaRPr lang="es-ES" sz="1200" dirty="0"/>
          </a:p>
          <a:p>
            <a:endParaRPr lang="es-ES" sz="1200" dirty="0"/>
          </a:p>
          <a:p>
            <a:endParaRPr lang="es-ES" sz="1200" dirty="0"/>
          </a:p>
        </p:txBody>
      </p:sp>
      <p:pic>
        <p:nvPicPr>
          <p:cNvPr id="11" name="Imagen 10">
            <a:extLst>
              <a:ext uri="{FF2B5EF4-FFF2-40B4-BE49-F238E27FC236}">
                <a16:creationId xmlns:a16="http://schemas.microsoft.com/office/drawing/2014/main" id="{69979F9F-1699-FEEA-4104-C18227B154EA}"/>
              </a:ext>
            </a:extLst>
          </p:cNvPr>
          <p:cNvPicPr>
            <a:picLocks noChangeAspect="1"/>
          </p:cNvPicPr>
          <p:nvPr/>
        </p:nvPicPr>
        <p:blipFill>
          <a:blip r:embed="rId6"/>
          <a:stretch>
            <a:fillRect/>
          </a:stretch>
        </p:blipFill>
        <p:spPr>
          <a:xfrm>
            <a:off x="2545491" y="4046709"/>
            <a:ext cx="1706492" cy="1019914"/>
          </a:xfrm>
          <a:prstGeom prst="rect">
            <a:avLst/>
          </a:prstGeom>
        </p:spPr>
      </p:pic>
      <p:pic>
        <p:nvPicPr>
          <p:cNvPr id="13" name="Imagen 12">
            <a:extLst>
              <a:ext uri="{FF2B5EF4-FFF2-40B4-BE49-F238E27FC236}">
                <a16:creationId xmlns:a16="http://schemas.microsoft.com/office/drawing/2014/main" id="{B57E5F5A-38EB-81A4-5B57-E486F1B32098}"/>
              </a:ext>
            </a:extLst>
          </p:cNvPr>
          <p:cNvPicPr>
            <a:picLocks noChangeAspect="1"/>
          </p:cNvPicPr>
          <p:nvPr/>
        </p:nvPicPr>
        <p:blipFill>
          <a:blip r:embed="rId7"/>
          <a:stretch>
            <a:fillRect/>
          </a:stretch>
        </p:blipFill>
        <p:spPr>
          <a:xfrm>
            <a:off x="2552000" y="3122220"/>
            <a:ext cx="1804845" cy="1017824"/>
          </a:xfrm>
          <a:prstGeom prst="rect">
            <a:avLst/>
          </a:prstGeom>
        </p:spPr>
      </p:pic>
      <p:cxnSp>
        <p:nvCxnSpPr>
          <p:cNvPr id="5" name="Curved Connector 4">
            <a:extLst>
              <a:ext uri="{FF2B5EF4-FFF2-40B4-BE49-F238E27FC236}">
                <a16:creationId xmlns:a16="http://schemas.microsoft.com/office/drawing/2014/main" id="{ACB4AEF4-7734-6E9C-EF8D-E044C2E4D183}"/>
              </a:ext>
            </a:extLst>
          </p:cNvPr>
          <p:cNvCxnSpPr/>
          <p:nvPr/>
        </p:nvCxnSpPr>
        <p:spPr>
          <a:xfrm>
            <a:off x="2750288" y="1885507"/>
            <a:ext cx="1906772" cy="155944"/>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Curved Connector 9">
            <a:extLst>
              <a:ext uri="{FF2B5EF4-FFF2-40B4-BE49-F238E27FC236}">
                <a16:creationId xmlns:a16="http://schemas.microsoft.com/office/drawing/2014/main" id="{F7245195-70DF-C069-823F-B48FE94A48BB}"/>
              </a:ext>
            </a:extLst>
          </p:cNvPr>
          <p:cNvCxnSpPr/>
          <p:nvPr/>
        </p:nvCxnSpPr>
        <p:spPr>
          <a:xfrm flipV="1">
            <a:off x="3629247" y="2232837"/>
            <a:ext cx="1027813" cy="168598"/>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ight Arrow 13">
            <a:extLst>
              <a:ext uri="{FF2B5EF4-FFF2-40B4-BE49-F238E27FC236}">
                <a16:creationId xmlns:a16="http://schemas.microsoft.com/office/drawing/2014/main" id="{454349B8-B58B-8548-F0C1-A327E55F2878}"/>
              </a:ext>
            </a:extLst>
          </p:cNvPr>
          <p:cNvSpPr/>
          <p:nvPr/>
        </p:nvSpPr>
        <p:spPr>
          <a:xfrm>
            <a:off x="4572000" y="4225539"/>
            <a:ext cx="482009" cy="1994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a:p>
        </p:txBody>
      </p:sp>
    </p:spTree>
    <p:extLst>
      <p:ext uri="{BB962C8B-B14F-4D97-AF65-F5344CB8AC3E}">
        <p14:creationId xmlns:p14="http://schemas.microsoft.com/office/powerpoint/2010/main" val="1332014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028C3B4C-E20E-20D4-B769-65E63C51F2F3}"/>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356984D3-ED96-A90B-DBCF-B2F56FDAE2B4}"/>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r>
              <a:rPr lang="en-GB" dirty="0" err="1"/>
              <a:t>Resultados</a:t>
            </a:r>
            <a:r>
              <a:rPr lang="en-GB" dirty="0"/>
              <a:t> Clave </a:t>
            </a:r>
            <a:r>
              <a:rPr lang="es-ES" dirty="0"/>
              <a:t>(EDA) 2/2</a:t>
            </a:r>
            <a:endParaRPr dirty="0"/>
          </a:p>
        </p:txBody>
      </p:sp>
      <p:pic>
        <p:nvPicPr>
          <p:cNvPr id="3" name="Imagen 2">
            <a:extLst>
              <a:ext uri="{FF2B5EF4-FFF2-40B4-BE49-F238E27FC236}">
                <a16:creationId xmlns:a16="http://schemas.microsoft.com/office/drawing/2014/main" id="{F8B308B3-606D-5693-7118-602F333524E5}"/>
              </a:ext>
            </a:extLst>
          </p:cNvPr>
          <p:cNvPicPr>
            <a:picLocks noChangeAspect="1"/>
          </p:cNvPicPr>
          <p:nvPr/>
        </p:nvPicPr>
        <p:blipFill>
          <a:blip r:embed="rId3"/>
          <a:stretch>
            <a:fillRect/>
          </a:stretch>
        </p:blipFill>
        <p:spPr>
          <a:xfrm>
            <a:off x="364108" y="1380864"/>
            <a:ext cx="2045586" cy="1414690"/>
          </a:xfrm>
          <a:prstGeom prst="rect">
            <a:avLst/>
          </a:prstGeom>
        </p:spPr>
      </p:pic>
      <p:pic>
        <p:nvPicPr>
          <p:cNvPr id="5" name="Imagen 4">
            <a:extLst>
              <a:ext uri="{FF2B5EF4-FFF2-40B4-BE49-F238E27FC236}">
                <a16:creationId xmlns:a16="http://schemas.microsoft.com/office/drawing/2014/main" id="{178624F4-D358-A55A-7284-21B1DCA028A0}"/>
              </a:ext>
            </a:extLst>
          </p:cNvPr>
          <p:cNvPicPr>
            <a:picLocks noChangeAspect="1"/>
          </p:cNvPicPr>
          <p:nvPr/>
        </p:nvPicPr>
        <p:blipFill>
          <a:blip r:embed="rId4"/>
          <a:stretch>
            <a:fillRect/>
          </a:stretch>
        </p:blipFill>
        <p:spPr>
          <a:xfrm>
            <a:off x="3734585" y="1441794"/>
            <a:ext cx="2100969" cy="1414690"/>
          </a:xfrm>
          <a:prstGeom prst="rect">
            <a:avLst/>
          </a:prstGeom>
        </p:spPr>
      </p:pic>
      <p:sp>
        <p:nvSpPr>
          <p:cNvPr id="6" name="CuadroTexto 5">
            <a:extLst>
              <a:ext uri="{FF2B5EF4-FFF2-40B4-BE49-F238E27FC236}">
                <a16:creationId xmlns:a16="http://schemas.microsoft.com/office/drawing/2014/main" id="{BD19327A-FEC8-2546-D5CE-E67AF2C8E686}"/>
              </a:ext>
            </a:extLst>
          </p:cNvPr>
          <p:cNvSpPr txBox="1"/>
          <p:nvPr/>
        </p:nvSpPr>
        <p:spPr>
          <a:xfrm>
            <a:off x="5891456" y="1183710"/>
            <a:ext cx="2689411" cy="2154436"/>
          </a:xfrm>
          <a:prstGeom prst="rect">
            <a:avLst/>
          </a:prstGeom>
          <a:solidFill>
            <a:schemeClr val="lt1"/>
          </a:solidFill>
        </p:spPr>
        <p:txBody>
          <a:bodyPr wrap="square" lIns="90000" rtlCol="0">
            <a:spAutoFit/>
          </a:bodyPr>
          <a:lstStyle/>
          <a:p>
            <a:r>
              <a:rPr lang="es-ES" sz="1000" dirty="0"/>
              <a:t>Variables numéricas significativas </a:t>
            </a:r>
          </a:p>
          <a:p>
            <a:pPr marL="285750" indent="-285750">
              <a:buFontTx/>
              <a:buChar char="-"/>
            </a:pPr>
            <a:r>
              <a:rPr lang="es-ES" sz="1000" dirty="0"/>
              <a:t>Age</a:t>
            </a:r>
          </a:p>
          <a:p>
            <a:pPr marL="285750" indent="-285750">
              <a:buFontTx/>
              <a:buChar char="-"/>
            </a:pPr>
            <a:r>
              <a:rPr lang="es-ES" sz="1000" dirty="0"/>
              <a:t>Balance</a:t>
            </a:r>
          </a:p>
          <a:p>
            <a:endParaRPr lang="en-GB" sz="1000" dirty="0"/>
          </a:p>
          <a:p>
            <a:r>
              <a:rPr lang="en-GB" sz="1000" dirty="0" err="1"/>
              <a:t>Evitar</a:t>
            </a:r>
            <a:r>
              <a:rPr lang="en-GB" sz="1000" dirty="0"/>
              <a:t> </a:t>
            </a:r>
            <a:r>
              <a:rPr lang="en-GB" sz="1000" dirty="0" err="1"/>
              <a:t>multicolinealidad</a:t>
            </a:r>
            <a:endParaRPr lang="en-GB" sz="1000" dirty="0"/>
          </a:p>
          <a:p>
            <a:r>
              <a:rPr lang="en-GB" sz="1000" dirty="0"/>
              <a:t>• </a:t>
            </a:r>
            <a:r>
              <a:rPr lang="en-GB" sz="1000" dirty="0" err="1"/>
              <a:t>Aplicar</a:t>
            </a:r>
            <a:r>
              <a:rPr lang="en-GB" sz="1000" dirty="0"/>
              <a:t> </a:t>
            </a:r>
            <a:r>
              <a:rPr lang="en-GB" sz="1000" dirty="0" err="1"/>
              <a:t>técnicas</a:t>
            </a:r>
            <a:r>
              <a:rPr lang="en-GB" sz="1000" dirty="0"/>
              <a:t> de </a:t>
            </a:r>
            <a:r>
              <a:rPr lang="en-GB" sz="1000" dirty="0" err="1"/>
              <a:t>selección</a:t>
            </a:r>
            <a:r>
              <a:rPr lang="en-GB" sz="1000" dirty="0"/>
              <a:t> de features</a:t>
            </a:r>
          </a:p>
          <a:p>
            <a:r>
              <a:rPr lang="en-GB" sz="1000" dirty="0"/>
              <a:t>• </a:t>
            </a:r>
            <a:r>
              <a:rPr lang="en-GB" sz="1000" dirty="0" err="1"/>
              <a:t>Priorizar</a:t>
            </a:r>
            <a:r>
              <a:rPr lang="en-GB" sz="1000" dirty="0"/>
              <a:t> variables </a:t>
            </a:r>
            <a:r>
              <a:rPr lang="en-GB" sz="1000" dirty="0" err="1"/>
              <a:t>originales</a:t>
            </a:r>
            <a:r>
              <a:rPr lang="en-GB" sz="1000" dirty="0"/>
              <a:t> </a:t>
            </a:r>
            <a:r>
              <a:rPr lang="en-GB" sz="1000" dirty="0" err="1"/>
              <a:t>sobre</a:t>
            </a:r>
            <a:r>
              <a:rPr lang="en-GB" sz="1000" dirty="0"/>
              <a:t> </a:t>
            </a:r>
            <a:r>
              <a:rPr lang="en-GB" sz="1000" dirty="0" err="1"/>
              <a:t>derivadas</a:t>
            </a:r>
            <a:endParaRPr lang="en-GB" sz="1000" dirty="0"/>
          </a:p>
          <a:p>
            <a:endParaRPr lang="en-GB" sz="1000" dirty="0"/>
          </a:p>
          <a:p>
            <a:r>
              <a:rPr lang="en-GB" sz="1000" b="1" dirty="0" err="1"/>
              <a:t>Segmentación</a:t>
            </a:r>
            <a:r>
              <a:rPr lang="en-GB" sz="1000" b="1" dirty="0"/>
              <a:t> </a:t>
            </a:r>
            <a:r>
              <a:rPr lang="en-GB" sz="1000" b="1" dirty="0" err="1"/>
              <a:t>Detectada</a:t>
            </a:r>
            <a:endParaRPr lang="en-GB" sz="1000" b="1" dirty="0"/>
          </a:p>
          <a:p>
            <a:r>
              <a:rPr lang="en-GB" sz="1000" dirty="0"/>
              <a:t>- </a:t>
            </a:r>
            <a:r>
              <a:rPr lang="en-GB" sz="1000" dirty="0" err="1"/>
              <a:t>Muestran</a:t>
            </a:r>
            <a:r>
              <a:rPr lang="en-GB" sz="1000" dirty="0"/>
              <a:t> </a:t>
            </a:r>
            <a:r>
              <a:rPr lang="en-GB" sz="1000" dirty="0" err="1"/>
              <a:t>patrones</a:t>
            </a:r>
            <a:r>
              <a:rPr lang="en-GB" sz="1000" dirty="0"/>
              <a:t> </a:t>
            </a:r>
            <a:r>
              <a:rPr lang="en-GB" sz="1000" dirty="0" err="1"/>
              <a:t>diferenciados</a:t>
            </a:r>
            <a:r>
              <a:rPr lang="en-GB" sz="1000" dirty="0"/>
              <a:t> </a:t>
            </a:r>
            <a:r>
              <a:rPr lang="en-GB" sz="1000" dirty="0" err="1"/>
              <a:t>según</a:t>
            </a:r>
            <a:r>
              <a:rPr lang="en-GB" sz="1000" dirty="0"/>
              <a:t> </a:t>
            </a:r>
            <a:r>
              <a:rPr lang="en-GB" sz="1000" b="1" dirty="0"/>
              <a:t>Exited</a:t>
            </a:r>
            <a:r>
              <a:rPr lang="en-GB" sz="1000" dirty="0"/>
              <a:t> → </a:t>
            </a:r>
            <a:r>
              <a:rPr lang="en-GB" sz="1000" dirty="0" err="1"/>
              <a:t>alta</a:t>
            </a:r>
            <a:r>
              <a:rPr lang="en-GB" sz="1000" dirty="0"/>
              <a:t> </a:t>
            </a:r>
            <a:r>
              <a:rPr lang="en-GB" sz="1000" dirty="0" err="1"/>
              <a:t>capacidad</a:t>
            </a:r>
            <a:r>
              <a:rPr lang="en-GB" sz="1000" dirty="0"/>
              <a:t> </a:t>
            </a:r>
            <a:r>
              <a:rPr lang="en-GB" sz="1000" dirty="0" err="1"/>
              <a:t>predictiva</a:t>
            </a:r>
            <a:endParaRPr lang="en-GB" sz="1000" dirty="0"/>
          </a:p>
          <a:p>
            <a:endParaRPr lang="es-ES" dirty="0"/>
          </a:p>
        </p:txBody>
      </p:sp>
      <p:pic>
        <p:nvPicPr>
          <p:cNvPr id="8" name="Imagen 7">
            <a:extLst>
              <a:ext uri="{FF2B5EF4-FFF2-40B4-BE49-F238E27FC236}">
                <a16:creationId xmlns:a16="http://schemas.microsoft.com/office/drawing/2014/main" id="{9914B39E-79EB-753D-3011-BFAAE635B912}"/>
              </a:ext>
            </a:extLst>
          </p:cNvPr>
          <p:cNvPicPr>
            <a:picLocks noChangeAspect="1"/>
          </p:cNvPicPr>
          <p:nvPr/>
        </p:nvPicPr>
        <p:blipFill>
          <a:blip r:embed="rId5"/>
          <a:stretch>
            <a:fillRect/>
          </a:stretch>
        </p:blipFill>
        <p:spPr>
          <a:xfrm>
            <a:off x="519100" y="3398329"/>
            <a:ext cx="1576073" cy="957106"/>
          </a:xfrm>
          <a:prstGeom prst="rect">
            <a:avLst/>
          </a:prstGeom>
        </p:spPr>
      </p:pic>
      <p:pic>
        <p:nvPicPr>
          <p:cNvPr id="10" name="Imagen 9">
            <a:extLst>
              <a:ext uri="{FF2B5EF4-FFF2-40B4-BE49-F238E27FC236}">
                <a16:creationId xmlns:a16="http://schemas.microsoft.com/office/drawing/2014/main" id="{7ADEFD04-076B-92BF-D182-BF801606BBEF}"/>
              </a:ext>
            </a:extLst>
          </p:cNvPr>
          <p:cNvPicPr>
            <a:picLocks noChangeAspect="1"/>
          </p:cNvPicPr>
          <p:nvPr/>
        </p:nvPicPr>
        <p:blipFill>
          <a:blip r:embed="rId6"/>
          <a:stretch>
            <a:fillRect/>
          </a:stretch>
        </p:blipFill>
        <p:spPr>
          <a:xfrm>
            <a:off x="3958413" y="3398329"/>
            <a:ext cx="1653314" cy="957106"/>
          </a:xfrm>
          <a:prstGeom prst="rect">
            <a:avLst/>
          </a:prstGeom>
        </p:spPr>
      </p:pic>
      <p:sp>
        <p:nvSpPr>
          <p:cNvPr id="11" name="CuadroTexto 10">
            <a:extLst>
              <a:ext uri="{FF2B5EF4-FFF2-40B4-BE49-F238E27FC236}">
                <a16:creationId xmlns:a16="http://schemas.microsoft.com/office/drawing/2014/main" id="{94A685DF-E20C-512D-21F4-4547D83672C6}"/>
              </a:ext>
            </a:extLst>
          </p:cNvPr>
          <p:cNvSpPr txBox="1"/>
          <p:nvPr/>
        </p:nvSpPr>
        <p:spPr>
          <a:xfrm>
            <a:off x="5698820" y="3255768"/>
            <a:ext cx="2926080" cy="1169551"/>
          </a:xfrm>
          <a:prstGeom prst="rect">
            <a:avLst/>
          </a:prstGeom>
          <a:solidFill>
            <a:schemeClr val="accent2"/>
          </a:solidFill>
        </p:spPr>
        <p:txBody>
          <a:bodyPr wrap="square" rtlCol="0">
            <a:spAutoFit/>
          </a:bodyPr>
          <a:lstStyle/>
          <a:p>
            <a:r>
              <a:rPr lang="en-GB" dirty="0" err="1"/>
              <a:t>Algunas</a:t>
            </a:r>
            <a:r>
              <a:rPr lang="en-GB" dirty="0"/>
              <a:t> variables </a:t>
            </a:r>
            <a:r>
              <a:rPr lang="en-GB" dirty="0" err="1"/>
              <a:t>están</a:t>
            </a:r>
            <a:r>
              <a:rPr lang="en-GB" dirty="0"/>
              <a:t> </a:t>
            </a:r>
            <a:r>
              <a:rPr lang="en-GB" dirty="0" err="1"/>
              <a:t>relacionadas</a:t>
            </a:r>
            <a:r>
              <a:rPr lang="en-GB" dirty="0"/>
              <a:t> de forma artificial, </a:t>
            </a:r>
            <a:r>
              <a:rPr lang="en-GB" dirty="0" err="1"/>
              <a:t>ya</a:t>
            </a:r>
            <a:r>
              <a:rPr lang="en-GB" dirty="0"/>
              <a:t> </a:t>
            </a:r>
            <a:r>
              <a:rPr lang="en-GB" dirty="0" err="1"/>
              <a:t>que</a:t>
            </a:r>
            <a:r>
              <a:rPr lang="en-GB" dirty="0"/>
              <a:t> </a:t>
            </a:r>
            <a:r>
              <a:rPr lang="en-GB" dirty="0" err="1"/>
              <a:t>una</a:t>
            </a:r>
            <a:r>
              <a:rPr lang="en-GB" dirty="0"/>
              <a:t> </a:t>
            </a:r>
            <a:r>
              <a:rPr lang="en-GB" dirty="0" err="1"/>
              <a:t>deriva</a:t>
            </a:r>
            <a:r>
              <a:rPr lang="en-GB" dirty="0"/>
              <a:t> de </a:t>
            </a:r>
            <a:r>
              <a:rPr lang="en-GB" dirty="0" err="1"/>
              <a:t>otra</a:t>
            </a:r>
            <a:r>
              <a:rPr lang="en-GB" dirty="0"/>
              <a:t>; </a:t>
            </a:r>
            <a:r>
              <a:rPr lang="en-GB" dirty="0" err="1"/>
              <a:t>por</a:t>
            </a:r>
            <a:r>
              <a:rPr lang="en-GB" dirty="0"/>
              <a:t> </a:t>
            </a:r>
            <a:r>
              <a:rPr lang="en-GB" dirty="0" err="1"/>
              <a:t>ello</a:t>
            </a:r>
            <a:r>
              <a:rPr lang="en-GB" dirty="0"/>
              <a:t>, no </a:t>
            </a:r>
            <a:r>
              <a:rPr lang="en-GB" dirty="0" err="1"/>
              <a:t>pueden</a:t>
            </a:r>
            <a:r>
              <a:rPr lang="en-GB" dirty="0"/>
              <a:t> ser </a:t>
            </a:r>
            <a:r>
              <a:rPr lang="en-GB" dirty="0" err="1"/>
              <a:t>significativas</a:t>
            </a:r>
            <a:r>
              <a:rPr lang="en-GB" dirty="0"/>
              <a:t> al </a:t>
            </a:r>
            <a:r>
              <a:rPr lang="en-GB" dirty="0" err="1"/>
              <a:t>mismo</a:t>
            </a:r>
            <a:r>
              <a:rPr lang="en-GB" dirty="0"/>
              <a:t> </a:t>
            </a:r>
            <a:r>
              <a:rPr lang="en-GB" dirty="0" err="1"/>
              <a:t>tiempo</a:t>
            </a:r>
            <a:r>
              <a:rPr lang="en-GB" dirty="0"/>
              <a:t>.</a:t>
            </a:r>
            <a:endParaRPr lang="es-ES" dirty="0"/>
          </a:p>
        </p:txBody>
      </p:sp>
      <p:pic>
        <p:nvPicPr>
          <p:cNvPr id="13" name="Imagen 12">
            <a:extLst>
              <a:ext uri="{FF2B5EF4-FFF2-40B4-BE49-F238E27FC236}">
                <a16:creationId xmlns:a16="http://schemas.microsoft.com/office/drawing/2014/main" id="{7AA491D9-67AC-2F66-8CF6-52562D3A93F9}"/>
              </a:ext>
            </a:extLst>
          </p:cNvPr>
          <p:cNvPicPr>
            <a:picLocks noChangeAspect="1"/>
          </p:cNvPicPr>
          <p:nvPr/>
        </p:nvPicPr>
        <p:blipFill>
          <a:blip r:embed="rId7"/>
          <a:stretch>
            <a:fillRect/>
          </a:stretch>
        </p:blipFill>
        <p:spPr>
          <a:xfrm>
            <a:off x="2296072" y="3398329"/>
            <a:ext cx="1531433" cy="905696"/>
          </a:xfrm>
          <a:prstGeom prst="rect">
            <a:avLst/>
          </a:prstGeom>
        </p:spPr>
      </p:pic>
      <p:pic>
        <p:nvPicPr>
          <p:cNvPr id="4" name="Picture 3" descr="A black and white balance scale&#10;&#10;AI-generated content may be incorrect.">
            <a:extLst>
              <a:ext uri="{FF2B5EF4-FFF2-40B4-BE49-F238E27FC236}">
                <a16:creationId xmlns:a16="http://schemas.microsoft.com/office/drawing/2014/main" id="{13D621EE-205B-D93E-166E-144881D0EA80}"/>
              </a:ext>
            </a:extLst>
          </p:cNvPr>
          <p:cNvPicPr>
            <a:picLocks noChangeAspect="1"/>
          </p:cNvPicPr>
          <p:nvPr/>
        </p:nvPicPr>
        <p:blipFill>
          <a:blip r:embed="rId8"/>
          <a:stretch>
            <a:fillRect/>
          </a:stretch>
        </p:blipFill>
        <p:spPr>
          <a:xfrm>
            <a:off x="2632832" y="1622382"/>
            <a:ext cx="933999" cy="905696"/>
          </a:xfrm>
          <a:prstGeom prst="rect">
            <a:avLst/>
          </a:prstGeom>
        </p:spPr>
      </p:pic>
      <p:sp>
        <p:nvSpPr>
          <p:cNvPr id="7" name="TextBox 6">
            <a:extLst>
              <a:ext uri="{FF2B5EF4-FFF2-40B4-BE49-F238E27FC236}">
                <a16:creationId xmlns:a16="http://schemas.microsoft.com/office/drawing/2014/main" id="{A655FD26-B982-87C5-DF06-3F532B7F2DC6}"/>
              </a:ext>
            </a:extLst>
          </p:cNvPr>
          <p:cNvSpPr txBox="1"/>
          <p:nvPr/>
        </p:nvSpPr>
        <p:spPr>
          <a:xfrm>
            <a:off x="1907838" y="1138533"/>
            <a:ext cx="2383986" cy="307777"/>
          </a:xfrm>
          <a:prstGeom prst="rect">
            <a:avLst/>
          </a:prstGeom>
          <a:noFill/>
        </p:spPr>
        <p:txBody>
          <a:bodyPr wrap="none" rtlCol="0">
            <a:spAutoFit/>
          </a:bodyPr>
          <a:lstStyle/>
          <a:p>
            <a:r>
              <a:rPr lang="en-GB" dirty="0"/>
              <a:t>S</a:t>
            </a:r>
            <a:r>
              <a:rPr lang="en-ES" dirty="0"/>
              <a:t>eparación clara por Exited</a:t>
            </a:r>
          </a:p>
        </p:txBody>
      </p:sp>
      <p:sp>
        <p:nvSpPr>
          <p:cNvPr id="9" name="TextBox 8">
            <a:extLst>
              <a:ext uri="{FF2B5EF4-FFF2-40B4-BE49-F238E27FC236}">
                <a16:creationId xmlns:a16="http://schemas.microsoft.com/office/drawing/2014/main" id="{735269EF-2EBE-642D-98FA-E563E16D6C06}"/>
              </a:ext>
            </a:extLst>
          </p:cNvPr>
          <p:cNvSpPr txBox="1"/>
          <p:nvPr/>
        </p:nvSpPr>
        <p:spPr>
          <a:xfrm>
            <a:off x="400911" y="4355435"/>
            <a:ext cx="2908168" cy="307777"/>
          </a:xfrm>
          <a:prstGeom prst="rect">
            <a:avLst/>
          </a:prstGeom>
          <a:noFill/>
        </p:spPr>
        <p:txBody>
          <a:bodyPr wrap="none" rtlCol="0">
            <a:spAutoFit/>
          </a:bodyPr>
          <a:lstStyle/>
          <a:p>
            <a:r>
              <a:rPr lang="en-GB" b="1" dirty="0" err="1"/>
              <a:t>MaritalStatus</a:t>
            </a:r>
            <a:r>
              <a:rPr lang="en-GB" b="1" dirty="0"/>
              <a:t> ↔ </a:t>
            </a:r>
            <a:r>
              <a:rPr lang="en-GB" b="1" dirty="0" err="1"/>
              <a:t>EducationLevel</a:t>
            </a:r>
            <a:endParaRPr lang="en-ES" dirty="0"/>
          </a:p>
        </p:txBody>
      </p:sp>
      <p:sp>
        <p:nvSpPr>
          <p:cNvPr id="12" name="TextBox 11">
            <a:extLst>
              <a:ext uri="{FF2B5EF4-FFF2-40B4-BE49-F238E27FC236}">
                <a16:creationId xmlns:a16="http://schemas.microsoft.com/office/drawing/2014/main" id="{F60F9C31-DEE4-81DA-F297-2F845810FE30}"/>
              </a:ext>
            </a:extLst>
          </p:cNvPr>
          <p:cNvSpPr txBox="1"/>
          <p:nvPr/>
        </p:nvSpPr>
        <p:spPr>
          <a:xfrm>
            <a:off x="379179" y="4691981"/>
            <a:ext cx="3355406" cy="307777"/>
          </a:xfrm>
          <a:prstGeom prst="rect">
            <a:avLst/>
          </a:prstGeom>
          <a:noFill/>
        </p:spPr>
        <p:txBody>
          <a:bodyPr wrap="none" rtlCol="0">
            <a:spAutoFit/>
          </a:bodyPr>
          <a:lstStyle/>
          <a:p>
            <a:r>
              <a:rPr lang="en-GB" b="1" dirty="0" err="1"/>
              <a:t>SavingsAccountFlag</a:t>
            </a:r>
            <a:r>
              <a:rPr lang="en-GB" b="1" dirty="0"/>
              <a:t> ↔ </a:t>
            </a:r>
            <a:r>
              <a:rPr lang="en-GB" b="1" dirty="0" err="1"/>
              <a:t>MaritalStatus</a:t>
            </a:r>
            <a:endParaRPr lang="en-ES" dirty="0"/>
          </a:p>
        </p:txBody>
      </p:sp>
      <p:sp>
        <p:nvSpPr>
          <p:cNvPr id="15" name="TextBox 14">
            <a:extLst>
              <a:ext uri="{FF2B5EF4-FFF2-40B4-BE49-F238E27FC236}">
                <a16:creationId xmlns:a16="http://schemas.microsoft.com/office/drawing/2014/main" id="{77B2D105-8F00-228B-B13E-967360E901C0}"/>
              </a:ext>
            </a:extLst>
          </p:cNvPr>
          <p:cNvSpPr txBox="1"/>
          <p:nvPr/>
        </p:nvSpPr>
        <p:spPr>
          <a:xfrm>
            <a:off x="3734585" y="4465408"/>
            <a:ext cx="4572000" cy="307777"/>
          </a:xfrm>
          <a:prstGeom prst="rect">
            <a:avLst/>
          </a:prstGeom>
          <a:noFill/>
        </p:spPr>
        <p:txBody>
          <a:bodyPr wrap="square">
            <a:spAutoFit/>
          </a:bodyPr>
          <a:lstStyle/>
          <a:p>
            <a:r>
              <a:rPr lang="en-GB" b="1" i="0" dirty="0" err="1">
                <a:solidFill>
                  <a:srgbClr val="030712"/>
                </a:solidFill>
                <a:effectLst/>
                <a:latin typeface="ui-sans-serif"/>
              </a:rPr>
              <a:t>MaritalStatus</a:t>
            </a:r>
            <a:r>
              <a:rPr lang="en-GB" b="1" i="0" dirty="0">
                <a:solidFill>
                  <a:srgbClr val="030712"/>
                </a:solidFill>
                <a:effectLst/>
                <a:latin typeface="ui-sans-serif"/>
              </a:rPr>
              <a:t> ↔ </a:t>
            </a:r>
            <a:r>
              <a:rPr lang="en-GB" b="1" i="0" dirty="0" err="1">
                <a:solidFill>
                  <a:srgbClr val="030712"/>
                </a:solidFill>
                <a:effectLst/>
                <a:latin typeface="ui-sans-serif"/>
              </a:rPr>
              <a:t>CustomerSegment</a:t>
            </a:r>
            <a:endParaRPr lang="en-ES" dirty="0"/>
          </a:p>
        </p:txBody>
      </p:sp>
    </p:spTree>
    <p:extLst>
      <p:ext uri="{BB962C8B-B14F-4D97-AF65-F5344CB8AC3E}">
        <p14:creationId xmlns:p14="http://schemas.microsoft.com/office/powerpoint/2010/main" val="14613106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807DF698-F9EC-1757-A445-D83603E11B09}"/>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2899A42E-A5F5-458B-1B04-D602FDAE3254}"/>
              </a:ext>
            </a:extLst>
          </p:cNvPr>
          <p:cNvSpPr txBox="1">
            <a:spLocks noGrp="1"/>
          </p:cNvSpPr>
          <p:nvPr>
            <p:ph type="title"/>
          </p:nvPr>
        </p:nvSpPr>
        <p:spPr>
          <a:xfrm>
            <a:off x="720000" y="227362"/>
            <a:ext cx="7704000" cy="572700"/>
          </a:xfrm>
          <a:prstGeom prst="rect">
            <a:avLst/>
          </a:prstGeom>
        </p:spPr>
        <p:txBody>
          <a:bodyPr spcFirstLastPara="1" wrap="square" lIns="91425" tIns="91425" rIns="91425" bIns="91425" anchor="t" anchorCtr="0">
            <a:noAutofit/>
          </a:bodyPr>
          <a:lstStyle/>
          <a:p>
            <a:pPr lvl="0"/>
            <a:r>
              <a:rPr lang="es-ES" dirty="0"/>
              <a:t>Tratamiento de </a:t>
            </a:r>
            <a:r>
              <a:rPr lang="es-ES" dirty="0" err="1"/>
              <a:t>Missings</a:t>
            </a:r>
            <a:endParaRPr dirty="0"/>
          </a:p>
        </p:txBody>
      </p:sp>
      <p:pic>
        <p:nvPicPr>
          <p:cNvPr id="6" name="Imagen 5">
            <a:extLst>
              <a:ext uri="{FF2B5EF4-FFF2-40B4-BE49-F238E27FC236}">
                <a16:creationId xmlns:a16="http://schemas.microsoft.com/office/drawing/2014/main" id="{5F92A851-FE02-6BF4-670C-99083B0FEB62}"/>
              </a:ext>
            </a:extLst>
          </p:cNvPr>
          <p:cNvPicPr>
            <a:picLocks noChangeAspect="1"/>
          </p:cNvPicPr>
          <p:nvPr/>
        </p:nvPicPr>
        <p:blipFill>
          <a:blip r:embed="rId3"/>
          <a:stretch>
            <a:fillRect/>
          </a:stretch>
        </p:blipFill>
        <p:spPr>
          <a:xfrm>
            <a:off x="231718" y="704478"/>
            <a:ext cx="3117890" cy="2090109"/>
          </a:xfrm>
          <a:prstGeom prst="rect">
            <a:avLst/>
          </a:prstGeom>
        </p:spPr>
      </p:pic>
      <p:pic>
        <p:nvPicPr>
          <p:cNvPr id="8" name="Imagen 7">
            <a:extLst>
              <a:ext uri="{FF2B5EF4-FFF2-40B4-BE49-F238E27FC236}">
                <a16:creationId xmlns:a16="http://schemas.microsoft.com/office/drawing/2014/main" id="{4A959802-F2AB-6370-7B58-E78D7098AE1B}"/>
              </a:ext>
            </a:extLst>
          </p:cNvPr>
          <p:cNvPicPr>
            <a:picLocks noChangeAspect="1"/>
          </p:cNvPicPr>
          <p:nvPr/>
        </p:nvPicPr>
        <p:blipFill>
          <a:blip r:embed="rId4"/>
          <a:stretch>
            <a:fillRect/>
          </a:stretch>
        </p:blipFill>
        <p:spPr>
          <a:xfrm>
            <a:off x="231718" y="2794587"/>
            <a:ext cx="3251738" cy="2153928"/>
          </a:xfrm>
          <a:prstGeom prst="rect">
            <a:avLst/>
          </a:prstGeom>
        </p:spPr>
      </p:pic>
      <p:sp>
        <p:nvSpPr>
          <p:cNvPr id="3" name="Rounded Rectangle 2">
            <a:extLst>
              <a:ext uri="{FF2B5EF4-FFF2-40B4-BE49-F238E27FC236}">
                <a16:creationId xmlns:a16="http://schemas.microsoft.com/office/drawing/2014/main" id="{80C9A3E0-81F8-A41F-C787-ECE02F73D8C0}"/>
              </a:ext>
            </a:extLst>
          </p:cNvPr>
          <p:cNvSpPr/>
          <p:nvPr/>
        </p:nvSpPr>
        <p:spPr>
          <a:xfrm>
            <a:off x="3909653" y="723259"/>
            <a:ext cx="2282342" cy="24871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ES" dirty="0"/>
              <a:t>Detección</a:t>
            </a:r>
          </a:p>
        </p:txBody>
      </p:sp>
      <p:sp>
        <p:nvSpPr>
          <p:cNvPr id="4" name="TextBox 3">
            <a:extLst>
              <a:ext uri="{FF2B5EF4-FFF2-40B4-BE49-F238E27FC236}">
                <a16:creationId xmlns:a16="http://schemas.microsoft.com/office/drawing/2014/main" id="{B09C4AB6-E6F8-2CC6-4731-0E30548E7593}"/>
              </a:ext>
            </a:extLst>
          </p:cNvPr>
          <p:cNvSpPr txBox="1"/>
          <p:nvPr/>
        </p:nvSpPr>
        <p:spPr>
          <a:xfrm>
            <a:off x="3972153" y="1082650"/>
            <a:ext cx="2589581" cy="1384995"/>
          </a:xfrm>
          <a:prstGeom prst="rect">
            <a:avLst/>
          </a:prstGeom>
          <a:noFill/>
        </p:spPr>
        <p:txBody>
          <a:bodyPr wrap="square" rtlCol="0">
            <a:spAutoFit/>
          </a:bodyPr>
          <a:lstStyle/>
          <a:p>
            <a:r>
              <a:rPr lang="en-GB" b="1" dirty="0"/>
              <a:t>30% </a:t>
            </a:r>
            <a:r>
              <a:rPr lang="en-GB" dirty="0" err="1"/>
              <a:t>en</a:t>
            </a:r>
            <a:r>
              <a:rPr lang="en-GB" dirty="0"/>
              <a:t> </a:t>
            </a:r>
            <a:r>
              <a:rPr lang="en-GB" dirty="0" err="1"/>
              <a:t>todas</a:t>
            </a:r>
            <a:r>
              <a:rPr lang="en-GB" dirty="0"/>
              <a:t> las variables (</a:t>
            </a:r>
            <a:r>
              <a:rPr lang="en-GB" dirty="0" err="1"/>
              <a:t>excepto</a:t>
            </a:r>
            <a:r>
              <a:rPr lang="en-GB" dirty="0"/>
              <a:t> ID)</a:t>
            </a:r>
          </a:p>
          <a:p>
            <a:r>
              <a:rPr lang="en-GB" b="1" dirty="0">
                <a:highlight>
                  <a:srgbClr val="FFFF00"/>
                </a:highlight>
              </a:rPr>
              <a:t>Test MCAR</a:t>
            </a:r>
          </a:p>
          <a:p>
            <a:r>
              <a:rPr lang="en-GB" b="1" dirty="0"/>
              <a:t>p-</a:t>
            </a:r>
            <a:r>
              <a:rPr lang="en-GB" b="1" dirty="0" err="1"/>
              <a:t>valor</a:t>
            </a:r>
            <a:r>
              <a:rPr lang="en-GB" b="1" dirty="0"/>
              <a:t> = 0.39</a:t>
            </a:r>
          </a:p>
          <a:p>
            <a:r>
              <a:rPr lang="en-GB" dirty="0"/>
              <a:t>✓ </a:t>
            </a:r>
            <a:r>
              <a:rPr lang="en-GB" dirty="0" err="1"/>
              <a:t>Aleatoriedad</a:t>
            </a:r>
            <a:r>
              <a:rPr lang="en-GB" dirty="0"/>
              <a:t> </a:t>
            </a:r>
            <a:r>
              <a:rPr lang="en-GB" dirty="0" err="1"/>
              <a:t>confirmada</a:t>
            </a:r>
            <a:endParaRPr lang="en-GB" dirty="0"/>
          </a:p>
          <a:p>
            <a:endParaRPr lang="en-ES" dirty="0"/>
          </a:p>
        </p:txBody>
      </p:sp>
      <p:sp>
        <p:nvSpPr>
          <p:cNvPr id="7" name="TextBox 6">
            <a:extLst>
              <a:ext uri="{FF2B5EF4-FFF2-40B4-BE49-F238E27FC236}">
                <a16:creationId xmlns:a16="http://schemas.microsoft.com/office/drawing/2014/main" id="{12786B15-69B6-809E-8275-A012869310C1}"/>
              </a:ext>
            </a:extLst>
          </p:cNvPr>
          <p:cNvSpPr txBox="1"/>
          <p:nvPr/>
        </p:nvSpPr>
        <p:spPr>
          <a:xfrm>
            <a:off x="6456549" y="530782"/>
            <a:ext cx="2622821" cy="2546851"/>
          </a:xfrm>
          <a:prstGeom prst="rect">
            <a:avLst/>
          </a:prstGeom>
          <a:noFill/>
        </p:spPr>
        <p:txBody>
          <a:bodyPr wrap="square">
            <a:spAutoFit/>
          </a:bodyPr>
          <a:lstStyle/>
          <a:p>
            <a:pPr algn="l">
              <a:buNone/>
            </a:pPr>
            <a:br>
              <a:rPr lang="en-GB" b="1" i="0" dirty="0">
                <a:solidFill>
                  <a:srgbClr val="030712"/>
                </a:solidFill>
                <a:effectLst/>
                <a:latin typeface="ui-sans-serif"/>
              </a:rPr>
            </a:br>
            <a:r>
              <a:rPr lang="en-GB" sz="1200" b="1" i="0" dirty="0" err="1">
                <a:solidFill>
                  <a:srgbClr val="030712"/>
                </a:solidFill>
                <a:effectLst/>
                <a:latin typeface="ui-sans-serif"/>
              </a:rPr>
              <a:t>Métodos</a:t>
            </a:r>
            <a:r>
              <a:rPr lang="en-GB" sz="1200" b="1" i="0" dirty="0">
                <a:solidFill>
                  <a:srgbClr val="030712"/>
                </a:solidFill>
                <a:effectLst/>
                <a:latin typeface="ui-sans-serif"/>
              </a:rPr>
              <a:t> </a:t>
            </a:r>
            <a:r>
              <a:rPr lang="en-GB" sz="1200" b="1" i="0" dirty="0" err="1">
                <a:solidFill>
                  <a:srgbClr val="030712"/>
                </a:solidFill>
                <a:effectLst/>
                <a:latin typeface="ui-sans-serif"/>
              </a:rPr>
              <a:t>Probados</a:t>
            </a:r>
            <a:r>
              <a:rPr lang="en-GB" sz="1200" b="1" i="0" dirty="0">
                <a:solidFill>
                  <a:srgbClr val="030712"/>
                </a:solidFill>
                <a:effectLst/>
                <a:latin typeface="ui-sans-serif"/>
              </a:rPr>
              <a:t> </a:t>
            </a:r>
            <a:r>
              <a:rPr lang="en-GB" sz="1200" b="1" i="0" dirty="0" err="1">
                <a:solidFill>
                  <a:srgbClr val="030712"/>
                </a:solidFill>
                <a:effectLst/>
                <a:latin typeface="ui-sans-serif"/>
              </a:rPr>
              <a:t>Implementados</a:t>
            </a:r>
            <a:r>
              <a:rPr lang="en-GB" sz="1200" b="1" i="0" dirty="0">
                <a:solidFill>
                  <a:srgbClr val="030712"/>
                </a:solidFill>
                <a:effectLst/>
                <a:latin typeface="ui-sans-serif"/>
              </a:rPr>
              <a:t> </a:t>
            </a:r>
          </a:p>
          <a:p>
            <a:pPr algn="l">
              <a:buNone/>
            </a:pPr>
            <a:r>
              <a:rPr lang="en-GB" sz="1200" b="1" i="0" dirty="0">
                <a:solidFill>
                  <a:srgbClr val="7F1D1D"/>
                </a:solidFill>
                <a:effectLst/>
                <a:latin typeface="ui-sans-serif"/>
              </a:rPr>
              <a:t>- </a:t>
            </a:r>
            <a:r>
              <a:rPr lang="en-GB" sz="1200" b="1" i="0" dirty="0" err="1">
                <a:solidFill>
                  <a:srgbClr val="7F1D1D"/>
                </a:solidFill>
                <a:effectLst/>
                <a:latin typeface="ui-sans-serif"/>
              </a:rPr>
              <a:t>Imputación</a:t>
            </a:r>
            <a:r>
              <a:rPr lang="en-GB" sz="1200" b="1" i="0" dirty="0">
                <a:solidFill>
                  <a:srgbClr val="7F1D1D"/>
                </a:solidFill>
                <a:effectLst/>
                <a:latin typeface="ui-sans-serif"/>
              </a:rPr>
              <a:t> Simple</a:t>
            </a:r>
          </a:p>
          <a:p>
            <a:pPr algn="l">
              <a:buNone/>
            </a:pPr>
            <a:r>
              <a:rPr lang="en-GB" sz="1200" b="0" i="0" dirty="0">
                <a:solidFill>
                  <a:srgbClr val="4B5563"/>
                </a:solidFill>
                <a:effectLst/>
                <a:latin typeface="ui-sans-serif"/>
              </a:rPr>
              <a:t>Media/</a:t>
            </a:r>
            <a:r>
              <a:rPr lang="en-GB" sz="1200" b="0" i="0" dirty="0" err="1">
                <a:solidFill>
                  <a:srgbClr val="4B5563"/>
                </a:solidFill>
                <a:effectLst/>
                <a:latin typeface="ui-sans-serif"/>
              </a:rPr>
              <a:t>mediana</a:t>
            </a:r>
            <a:r>
              <a:rPr lang="en-GB" sz="1200" b="0" i="0" dirty="0">
                <a:solidFill>
                  <a:srgbClr val="4B5563"/>
                </a:solidFill>
                <a:effectLst/>
                <a:latin typeface="ui-sans-serif"/>
              </a:rPr>
              <a:t>/</a:t>
            </a:r>
            <a:r>
              <a:rPr lang="en-GB" sz="1200" b="0" i="0" dirty="0" err="1">
                <a:solidFill>
                  <a:srgbClr val="4B5563"/>
                </a:solidFill>
                <a:effectLst/>
                <a:latin typeface="ui-sans-serif"/>
              </a:rPr>
              <a:t>moda</a:t>
            </a:r>
            <a:endParaRPr lang="en-GB" sz="1200" b="0" i="0" dirty="0">
              <a:solidFill>
                <a:srgbClr val="4B5563"/>
              </a:solidFill>
              <a:effectLst/>
              <a:latin typeface="ui-sans-serif"/>
            </a:endParaRPr>
          </a:p>
          <a:p>
            <a:pPr algn="l">
              <a:buNone/>
            </a:pPr>
            <a:r>
              <a:rPr lang="en-GB" sz="1200" b="0" i="1" dirty="0" err="1">
                <a:solidFill>
                  <a:srgbClr val="B91C1C"/>
                </a:solidFill>
                <a:effectLst/>
                <a:latin typeface="ui-sans-serif"/>
              </a:rPr>
              <a:t>Distorsiona</a:t>
            </a:r>
            <a:r>
              <a:rPr lang="en-GB" sz="1200" b="0" i="1" dirty="0">
                <a:solidFill>
                  <a:srgbClr val="B91C1C"/>
                </a:solidFill>
                <a:effectLst/>
                <a:latin typeface="ui-sans-serif"/>
              </a:rPr>
              <a:t> </a:t>
            </a:r>
            <a:r>
              <a:rPr lang="en-GB" sz="1200" b="0" i="1" dirty="0" err="1">
                <a:solidFill>
                  <a:srgbClr val="B91C1C"/>
                </a:solidFill>
                <a:effectLst/>
                <a:latin typeface="ui-sans-serif"/>
              </a:rPr>
              <a:t>distribuciones</a:t>
            </a:r>
            <a:endParaRPr lang="en-GB" sz="1200" b="0" i="1" dirty="0">
              <a:solidFill>
                <a:srgbClr val="B91C1C"/>
              </a:solidFill>
              <a:effectLst/>
              <a:latin typeface="ui-sans-serif"/>
            </a:endParaRPr>
          </a:p>
          <a:p>
            <a:pPr marL="171450" indent="-171450" algn="l">
              <a:spcBef>
                <a:spcPts val="900"/>
              </a:spcBef>
              <a:buFontTx/>
              <a:buChar char="-"/>
            </a:pPr>
            <a:r>
              <a:rPr lang="en-GB" sz="1200" b="1" i="0" dirty="0">
                <a:solidFill>
                  <a:srgbClr val="713F12"/>
                </a:solidFill>
                <a:effectLst/>
                <a:latin typeface="ui-sans-serif"/>
              </a:rPr>
              <a:t>KNN </a:t>
            </a:r>
            <a:r>
              <a:rPr lang="en-GB" sz="1200" b="1" i="0" dirty="0" err="1">
                <a:solidFill>
                  <a:srgbClr val="713F12"/>
                </a:solidFill>
                <a:effectLst/>
                <a:latin typeface="ui-sans-serif"/>
              </a:rPr>
              <a:t>Multivariante</a:t>
            </a:r>
            <a:endParaRPr lang="en-GB" sz="1200" b="1" dirty="0">
              <a:solidFill>
                <a:srgbClr val="713F12"/>
              </a:solidFill>
              <a:latin typeface="ui-sans-serif"/>
            </a:endParaRPr>
          </a:p>
          <a:p>
            <a:pPr algn="l">
              <a:spcBef>
                <a:spcPts val="900"/>
              </a:spcBef>
            </a:pPr>
            <a:r>
              <a:rPr lang="en-GB" sz="1200" b="0" i="0" dirty="0">
                <a:solidFill>
                  <a:srgbClr val="4B5563"/>
                </a:solidFill>
                <a:effectLst/>
                <a:latin typeface="ui-sans-serif"/>
              </a:rPr>
              <a:t>Mejor </a:t>
            </a:r>
            <a:r>
              <a:rPr lang="en-GB" sz="1200" b="0" i="0" dirty="0" err="1">
                <a:solidFill>
                  <a:srgbClr val="4B5563"/>
                </a:solidFill>
                <a:effectLst/>
                <a:latin typeface="ui-sans-serif"/>
              </a:rPr>
              <a:t>ajuste</a:t>
            </a:r>
            <a:r>
              <a:rPr lang="en-GB" sz="1200" b="0" i="0" dirty="0">
                <a:solidFill>
                  <a:srgbClr val="4B5563"/>
                </a:solidFill>
                <a:effectLst/>
                <a:latin typeface="ui-sans-serif"/>
              </a:rPr>
              <a:t>, </a:t>
            </a:r>
            <a:r>
              <a:rPr lang="en-GB" sz="1200" b="0" i="0" dirty="0" err="1">
                <a:solidFill>
                  <a:srgbClr val="4B5563"/>
                </a:solidFill>
                <a:effectLst/>
                <a:latin typeface="ui-sans-serif"/>
              </a:rPr>
              <a:t>pero</a:t>
            </a:r>
            <a:r>
              <a:rPr lang="en-GB" sz="1200" b="0" i="0" dirty="0">
                <a:solidFill>
                  <a:srgbClr val="4B5563"/>
                </a:solidFill>
                <a:effectLst/>
                <a:latin typeface="ui-sans-serif"/>
              </a:rPr>
              <a:t> </a:t>
            </a:r>
            <a:r>
              <a:rPr lang="en-GB" sz="1200" b="0" i="0" dirty="0" err="1">
                <a:solidFill>
                  <a:srgbClr val="4B5563"/>
                </a:solidFill>
                <a:effectLst/>
                <a:latin typeface="ui-sans-serif"/>
              </a:rPr>
              <a:t>mejorable</a:t>
            </a:r>
            <a:endParaRPr lang="en-GB" sz="1200" b="0" i="0" dirty="0">
              <a:solidFill>
                <a:srgbClr val="4B5563"/>
              </a:solidFill>
              <a:effectLst/>
              <a:latin typeface="ui-sans-serif"/>
            </a:endParaRPr>
          </a:p>
          <a:p>
            <a:pPr algn="l">
              <a:spcBef>
                <a:spcPts val="900"/>
              </a:spcBef>
              <a:buNone/>
            </a:pPr>
            <a:r>
              <a:rPr lang="en-GB" sz="1200" b="1" i="0" dirty="0">
                <a:solidFill>
                  <a:srgbClr val="14532D"/>
                </a:solidFill>
                <a:effectLst/>
                <a:highlight>
                  <a:srgbClr val="FFFF00"/>
                </a:highlight>
                <a:latin typeface="ui-sans-serif"/>
              </a:rPr>
              <a:t>- MICE (</a:t>
            </a:r>
            <a:r>
              <a:rPr lang="en-GB" sz="1200" b="1" i="0" dirty="0" err="1">
                <a:solidFill>
                  <a:srgbClr val="14532D"/>
                </a:solidFill>
                <a:effectLst/>
                <a:highlight>
                  <a:srgbClr val="FFFF00"/>
                </a:highlight>
                <a:latin typeface="ui-sans-serif"/>
              </a:rPr>
              <a:t>Multivariante</a:t>
            </a:r>
            <a:r>
              <a:rPr lang="en-GB" sz="1200" b="1" i="0" dirty="0">
                <a:solidFill>
                  <a:srgbClr val="14532D"/>
                </a:solidFill>
                <a:effectLst/>
                <a:highlight>
                  <a:srgbClr val="FFFF00"/>
                </a:highlight>
                <a:latin typeface="ui-sans-serif"/>
              </a:rPr>
              <a:t>)</a:t>
            </a:r>
          </a:p>
          <a:p>
            <a:pPr algn="l">
              <a:spcBef>
                <a:spcPts val="900"/>
              </a:spcBef>
              <a:buNone/>
            </a:pPr>
            <a:r>
              <a:rPr lang="en-GB" sz="1200" b="0" i="0" dirty="0" err="1">
                <a:solidFill>
                  <a:srgbClr val="4B5563"/>
                </a:solidFill>
                <a:effectLst/>
                <a:latin typeface="ui-sans-serif"/>
              </a:rPr>
              <a:t>Ajuste</a:t>
            </a:r>
            <a:r>
              <a:rPr lang="en-GB" sz="1200" b="0" i="0" dirty="0">
                <a:solidFill>
                  <a:srgbClr val="4B5563"/>
                </a:solidFill>
                <a:effectLst/>
                <a:latin typeface="ui-sans-serif"/>
              </a:rPr>
              <a:t> perfecto de </a:t>
            </a:r>
            <a:r>
              <a:rPr lang="en-GB" sz="1200" b="0" i="0" dirty="0" err="1">
                <a:solidFill>
                  <a:srgbClr val="4B5563"/>
                </a:solidFill>
                <a:effectLst/>
                <a:latin typeface="ui-sans-serif"/>
              </a:rPr>
              <a:t>distribuciones</a:t>
            </a:r>
            <a:endParaRPr lang="en-GB" sz="1200" b="0" i="0" dirty="0">
              <a:solidFill>
                <a:srgbClr val="4B5563"/>
              </a:solidFill>
              <a:effectLst/>
              <a:latin typeface="ui-sans-serif"/>
            </a:endParaRPr>
          </a:p>
          <a:p>
            <a:pPr algn="l">
              <a:spcBef>
                <a:spcPts val="900"/>
              </a:spcBef>
              <a:buNone/>
            </a:pPr>
            <a:r>
              <a:rPr lang="en-GB" sz="1200" b="1" i="0" dirty="0">
                <a:solidFill>
                  <a:srgbClr val="166534"/>
                </a:solidFill>
                <a:effectLst/>
                <a:latin typeface="ui-sans-serif"/>
              </a:rPr>
              <a:t>✓ MÉTODO SELECCIONADO</a:t>
            </a:r>
          </a:p>
        </p:txBody>
      </p:sp>
      <p:sp>
        <p:nvSpPr>
          <p:cNvPr id="10" name="TextBox 9">
            <a:extLst>
              <a:ext uri="{FF2B5EF4-FFF2-40B4-BE49-F238E27FC236}">
                <a16:creationId xmlns:a16="http://schemas.microsoft.com/office/drawing/2014/main" id="{6B9214DE-8CE4-ADC1-4D89-4FDD571013F0}"/>
              </a:ext>
            </a:extLst>
          </p:cNvPr>
          <p:cNvSpPr txBox="1"/>
          <p:nvPr/>
        </p:nvSpPr>
        <p:spPr>
          <a:xfrm>
            <a:off x="3855856" y="3456052"/>
            <a:ext cx="5169717" cy="1015663"/>
          </a:xfrm>
          <a:prstGeom prst="rect">
            <a:avLst/>
          </a:prstGeom>
          <a:noFill/>
        </p:spPr>
        <p:txBody>
          <a:bodyPr wrap="square" rtlCol="0">
            <a:spAutoFit/>
          </a:bodyPr>
          <a:lstStyle/>
          <a:p>
            <a:pPr algn="just"/>
            <a:r>
              <a:rPr lang="es-ES" sz="1200" i="1" dirty="0"/>
              <a:t>Finalmente, tras aplicar el método </a:t>
            </a:r>
            <a:r>
              <a:rPr lang="es-ES" sz="1200" b="1" i="1" dirty="0"/>
              <a:t>MICE</a:t>
            </a:r>
            <a:r>
              <a:rPr lang="es-ES" sz="1200" i="1" dirty="0"/>
              <a:t> (multivariante), llegamos a unos resultados muy buenos, encontrando un ajuste prácticamente perfecto de las distribuciones. </a:t>
            </a:r>
          </a:p>
          <a:p>
            <a:pPr algn="just"/>
            <a:endParaRPr lang="es-ES" sz="1200" i="1" dirty="0"/>
          </a:p>
          <a:p>
            <a:pPr algn="just"/>
            <a:r>
              <a:rPr lang="es-ES" sz="1200" i="1" dirty="0"/>
              <a:t>Se decidió validar el método y la base de datos imputada por MICE.</a:t>
            </a:r>
          </a:p>
        </p:txBody>
      </p:sp>
    </p:spTree>
    <p:extLst>
      <p:ext uri="{BB962C8B-B14F-4D97-AF65-F5344CB8AC3E}">
        <p14:creationId xmlns:p14="http://schemas.microsoft.com/office/powerpoint/2010/main" val="1794189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1A066745-E63D-F2E0-F30F-FE27600A39AD}"/>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CBC2E359-E539-DBD1-495A-0EE34D687FD3}"/>
              </a:ext>
            </a:extLst>
          </p:cNvPr>
          <p:cNvSpPr txBox="1">
            <a:spLocks noGrp="1"/>
          </p:cNvSpPr>
          <p:nvPr>
            <p:ph type="title"/>
          </p:nvPr>
        </p:nvSpPr>
        <p:spPr>
          <a:xfrm>
            <a:off x="720000" y="265525"/>
            <a:ext cx="7704000" cy="572700"/>
          </a:xfrm>
          <a:prstGeom prst="rect">
            <a:avLst/>
          </a:prstGeom>
        </p:spPr>
        <p:txBody>
          <a:bodyPr spcFirstLastPara="1" wrap="square" lIns="91425" tIns="91425" rIns="91425" bIns="91425" anchor="t" anchorCtr="0">
            <a:noAutofit/>
          </a:bodyPr>
          <a:lstStyle/>
          <a:p>
            <a:pPr lvl="0"/>
            <a:r>
              <a:rPr lang="es-ES" dirty="0"/>
              <a:t>Tratamiento de </a:t>
            </a:r>
            <a:r>
              <a:rPr lang="es-ES" dirty="0" err="1"/>
              <a:t>Outliers</a:t>
            </a:r>
            <a:endParaRPr dirty="0"/>
          </a:p>
        </p:txBody>
      </p:sp>
      <p:sp>
        <p:nvSpPr>
          <p:cNvPr id="3" name="CuadroTexto 2">
            <a:extLst>
              <a:ext uri="{FF2B5EF4-FFF2-40B4-BE49-F238E27FC236}">
                <a16:creationId xmlns:a16="http://schemas.microsoft.com/office/drawing/2014/main" id="{2EEF3947-4909-7EA1-9CA3-22FEB8ED7AAA}"/>
              </a:ext>
            </a:extLst>
          </p:cNvPr>
          <p:cNvSpPr txBox="1"/>
          <p:nvPr/>
        </p:nvSpPr>
        <p:spPr>
          <a:xfrm>
            <a:off x="314554" y="4231644"/>
            <a:ext cx="7642400" cy="430887"/>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s-ES" sz="1100" dirty="0">
                <a:solidFill>
                  <a:schemeClr val="tx1"/>
                </a:solidFill>
              </a:rPr>
              <a:t>Se realizó un estudio de </a:t>
            </a:r>
            <a:r>
              <a:rPr lang="es-ES" sz="1100" dirty="0" err="1">
                <a:solidFill>
                  <a:schemeClr val="tx1"/>
                </a:solidFill>
              </a:rPr>
              <a:t>outliers</a:t>
            </a:r>
            <a:r>
              <a:rPr lang="es-ES" sz="1100" dirty="0">
                <a:solidFill>
                  <a:schemeClr val="tx1"/>
                </a:solidFill>
              </a:rPr>
              <a:t> previo y posterior a la imputación, obteniendo los mismos resultados tanto a nivel univariante como multivariante, por lo que se decidió no tratar los </a:t>
            </a:r>
            <a:r>
              <a:rPr lang="es-ES" sz="1100" dirty="0" err="1">
                <a:solidFill>
                  <a:schemeClr val="tx1"/>
                </a:solidFill>
              </a:rPr>
              <a:t>outliers</a:t>
            </a:r>
            <a:r>
              <a:rPr lang="es-ES" sz="1100" dirty="0">
                <a:solidFill>
                  <a:schemeClr val="tx1"/>
                </a:solidFill>
              </a:rPr>
              <a:t> y aceptarlos como fruto de la normalidad</a:t>
            </a:r>
          </a:p>
        </p:txBody>
      </p:sp>
      <p:graphicFrame>
        <p:nvGraphicFramePr>
          <p:cNvPr id="4" name="Table 3">
            <a:extLst>
              <a:ext uri="{FF2B5EF4-FFF2-40B4-BE49-F238E27FC236}">
                <a16:creationId xmlns:a16="http://schemas.microsoft.com/office/drawing/2014/main" id="{2F750F37-B68E-34B0-D8F6-AE79285CB33A}"/>
              </a:ext>
            </a:extLst>
          </p:cNvPr>
          <p:cNvGraphicFramePr>
            <a:graphicFrameLocks noGrp="1"/>
          </p:cNvGraphicFramePr>
          <p:nvPr>
            <p:extLst>
              <p:ext uri="{D42A27DB-BD31-4B8C-83A1-F6EECF244321}">
                <p14:modId xmlns:p14="http://schemas.microsoft.com/office/powerpoint/2010/main" val="454462927"/>
              </p:ext>
            </p:extLst>
          </p:nvPr>
        </p:nvGraphicFramePr>
        <p:xfrm>
          <a:off x="299923" y="1101572"/>
          <a:ext cx="5398617" cy="1630680"/>
        </p:xfrm>
        <a:graphic>
          <a:graphicData uri="http://schemas.openxmlformats.org/drawingml/2006/table">
            <a:tbl>
              <a:tblPr firstRow="1" bandRow="1">
                <a:tableStyleId>{7FD54D1E-A07F-487E-B709-6B33F1453160}</a:tableStyleId>
              </a:tblPr>
              <a:tblGrid>
                <a:gridCol w="1080507">
                  <a:extLst>
                    <a:ext uri="{9D8B030D-6E8A-4147-A177-3AD203B41FA5}">
                      <a16:colId xmlns:a16="http://schemas.microsoft.com/office/drawing/2014/main" val="2719349731"/>
                    </a:ext>
                  </a:extLst>
                </a:gridCol>
                <a:gridCol w="1439370">
                  <a:extLst>
                    <a:ext uri="{9D8B030D-6E8A-4147-A177-3AD203B41FA5}">
                      <a16:colId xmlns:a16="http://schemas.microsoft.com/office/drawing/2014/main" val="756193211"/>
                    </a:ext>
                  </a:extLst>
                </a:gridCol>
                <a:gridCol w="1439370">
                  <a:extLst>
                    <a:ext uri="{9D8B030D-6E8A-4147-A177-3AD203B41FA5}">
                      <a16:colId xmlns:a16="http://schemas.microsoft.com/office/drawing/2014/main" val="2269585124"/>
                    </a:ext>
                  </a:extLst>
                </a:gridCol>
                <a:gridCol w="1439370">
                  <a:extLst>
                    <a:ext uri="{9D8B030D-6E8A-4147-A177-3AD203B41FA5}">
                      <a16:colId xmlns:a16="http://schemas.microsoft.com/office/drawing/2014/main" val="2733211629"/>
                    </a:ext>
                  </a:extLst>
                </a:gridCol>
              </a:tblGrid>
              <a:tr h="251459">
                <a:tc>
                  <a:txBody>
                    <a:bodyPr/>
                    <a:lstStyle/>
                    <a:p>
                      <a:r>
                        <a:rPr lang="en-ES" sz="1100" b="1" dirty="0"/>
                        <a:t>Nivel</a:t>
                      </a:r>
                    </a:p>
                  </a:txBody>
                  <a:tcPr>
                    <a:solidFill>
                      <a:schemeClr val="accent2"/>
                    </a:solidFill>
                  </a:tcPr>
                </a:tc>
                <a:tc>
                  <a:txBody>
                    <a:bodyPr/>
                    <a:lstStyle/>
                    <a:p>
                      <a:r>
                        <a:rPr lang="en-ES" sz="1100" b="1" dirty="0"/>
                        <a:t>Tipo de Variable </a:t>
                      </a:r>
                    </a:p>
                  </a:txBody>
                  <a:tcPr>
                    <a:solidFill>
                      <a:schemeClr val="accent2"/>
                    </a:solidFill>
                  </a:tcPr>
                </a:tc>
                <a:tc>
                  <a:txBody>
                    <a:bodyPr/>
                    <a:lstStyle/>
                    <a:p>
                      <a:r>
                        <a:rPr lang="en-ES" sz="1100" b="1" dirty="0"/>
                        <a:t>Método</a:t>
                      </a:r>
                    </a:p>
                  </a:txBody>
                  <a:tcPr>
                    <a:solidFill>
                      <a:schemeClr val="accent2"/>
                    </a:solidFill>
                  </a:tcPr>
                </a:tc>
                <a:tc>
                  <a:txBody>
                    <a:bodyPr/>
                    <a:lstStyle/>
                    <a:p>
                      <a:r>
                        <a:rPr lang="en-ES" sz="1100" b="1" dirty="0"/>
                        <a:t>Criterio</a:t>
                      </a:r>
                    </a:p>
                  </a:txBody>
                  <a:tcPr>
                    <a:solidFill>
                      <a:schemeClr val="accent2"/>
                    </a:solidFill>
                  </a:tcPr>
                </a:tc>
                <a:extLst>
                  <a:ext uri="{0D108BD9-81ED-4DB2-BD59-A6C34878D82A}">
                    <a16:rowId xmlns:a16="http://schemas.microsoft.com/office/drawing/2014/main" val="2692643317"/>
                  </a:ext>
                </a:extLst>
              </a:tr>
              <a:tr h="251459">
                <a:tc>
                  <a:txBody>
                    <a:bodyPr/>
                    <a:lstStyle/>
                    <a:p>
                      <a:r>
                        <a:rPr lang="en-ES" sz="1100" dirty="0"/>
                        <a:t>Univariante</a:t>
                      </a:r>
                    </a:p>
                  </a:txBody>
                  <a:tcPr/>
                </a:tc>
                <a:tc>
                  <a:txBody>
                    <a:bodyPr/>
                    <a:lstStyle/>
                    <a:p>
                      <a:r>
                        <a:rPr lang="en-GB" sz="1100" dirty="0" err="1"/>
                        <a:t>Simétricas</a:t>
                      </a:r>
                      <a:endParaRPr lang="en-ES" sz="1100" dirty="0"/>
                    </a:p>
                  </a:txBody>
                  <a:tcPr/>
                </a:tc>
                <a:tc>
                  <a:txBody>
                    <a:bodyPr/>
                    <a:lstStyle/>
                    <a:p>
                      <a:r>
                        <a:rPr lang="en-ES" sz="1100" dirty="0"/>
                        <a:t>IQR</a:t>
                      </a:r>
                    </a:p>
                  </a:txBody>
                  <a:tcPr/>
                </a:tc>
                <a:tc>
                  <a:txBody>
                    <a:bodyPr/>
                    <a:lstStyle/>
                    <a:p>
                      <a:r>
                        <a:rPr lang="en-GB" sz="1100" dirty="0"/>
                        <a:t>1.5 × IQR</a:t>
                      </a:r>
                      <a:endParaRPr lang="en-ES" sz="1100" dirty="0"/>
                    </a:p>
                  </a:txBody>
                  <a:tcPr/>
                </a:tc>
                <a:extLst>
                  <a:ext uri="{0D108BD9-81ED-4DB2-BD59-A6C34878D82A}">
                    <a16:rowId xmlns:a16="http://schemas.microsoft.com/office/drawing/2014/main" val="776635213"/>
                  </a:ext>
                </a:extLst>
              </a:tr>
              <a:tr h="251459">
                <a:tc>
                  <a:txBody>
                    <a:bodyPr/>
                    <a:lstStyle/>
                    <a:p>
                      <a:r>
                        <a:rPr lang="en-ES" sz="1100" dirty="0"/>
                        <a:t>Univariante </a:t>
                      </a:r>
                    </a:p>
                  </a:txBody>
                  <a:tcPr/>
                </a:tc>
                <a:tc>
                  <a:txBody>
                    <a:bodyPr/>
                    <a:lstStyle/>
                    <a:p>
                      <a:r>
                        <a:rPr lang="en-GB" sz="1100" dirty="0"/>
                        <a:t>No </a:t>
                      </a:r>
                      <a:r>
                        <a:rPr lang="en-GB" sz="1100" dirty="0" err="1"/>
                        <a:t>simétricas</a:t>
                      </a:r>
                      <a:endParaRPr lang="en-ES" sz="1100" dirty="0"/>
                    </a:p>
                  </a:txBody>
                  <a:tcPr/>
                </a:tc>
                <a:tc>
                  <a:txBody>
                    <a:bodyPr/>
                    <a:lstStyle/>
                    <a:p>
                      <a:r>
                        <a:rPr lang="en-ES" sz="1100" dirty="0"/>
                        <a:t>Hampel</a:t>
                      </a:r>
                    </a:p>
                  </a:txBody>
                  <a:tcPr/>
                </a:tc>
                <a:tc>
                  <a:txBody>
                    <a:bodyPr/>
                    <a:lstStyle/>
                    <a:p>
                      <a:r>
                        <a:rPr lang="en-GB" sz="1100" dirty="0"/>
                        <a:t>Mediana + MAD</a:t>
                      </a:r>
                      <a:endParaRPr lang="en-ES" sz="1100" dirty="0"/>
                    </a:p>
                  </a:txBody>
                  <a:tcPr/>
                </a:tc>
                <a:extLst>
                  <a:ext uri="{0D108BD9-81ED-4DB2-BD59-A6C34878D82A}">
                    <a16:rowId xmlns:a16="http://schemas.microsoft.com/office/drawing/2014/main" val="2493077629"/>
                  </a:ext>
                </a:extLst>
              </a:tr>
              <a:tr h="251459">
                <a:tc>
                  <a:txBody>
                    <a:bodyPr/>
                    <a:lstStyle/>
                    <a:p>
                      <a:r>
                        <a:rPr lang="en-ES" sz="1100" dirty="0"/>
                        <a:t>Univariante </a:t>
                      </a:r>
                    </a:p>
                  </a:txBody>
                  <a:tcPr/>
                </a:tc>
                <a:tc>
                  <a:txBody>
                    <a:bodyPr/>
                    <a:lstStyle/>
                    <a:p>
                      <a:r>
                        <a:rPr lang="en-GB" sz="1100" dirty="0" err="1"/>
                        <a:t>Categóricas</a:t>
                      </a:r>
                      <a:endParaRPr lang="en-ES" sz="1100" dirty="0"/>
                    </a:p>
                  </a:txBody>
                  <a:tcPr/>
                </a:tc>
                <a:tc>
                  <a:txBody>
                    <a:bodyPr/>
                    <a:lstStyle/>
                    <a:p>
                      <a:r>
                        <a:rPr lang="en-GB" sz="1100" dirty="0" err="1"/>
                        <a:t>Frecuencias</a:t>
                      </a:r>
                      <a:r>
                        <a:rPr lang="en-GB" sz="1100" dirty="0"/>
                        <a:t> </a:t>
                      </a:r>
                      <a:r>
                        <a:rPr lang="en-GB" sz="1100" dirty="0" err="1"/>
                        <a:t>relativas</a:t>
                      </a:r>
                      <a:endParaRPr lang="en-ES" sz="1100" dirty="0"/>
                    </a:p>
                  </a:txBody>
                  <a:tcPr/>
                </a:tc>
                <a:tc>
                  <a:txBody>
                    <a:bodyPr/>
                    <a:lstStyle/>
                    <a:p>
                      <a:r>
                        <a:rPr lang="en-GB" sz="1100" dirty="0"/>
                        <a:t>&lt; 5% del total</a:t>
                      </a:r>
                      <a:endParaRPr lang="en-ES" sz="1100" dirty="0"/>
                    </a:p>
                  </a:txBody>
                  <a:tcPr/>
                </a:tc>
                <a:extLst>
                  <a:ext uri="{0D108BD9-81ED-4DB2-BD59-A6C34878D82A}">
                    <a16:rowId xmlns:a16="http://schemas.microsoft.com/office/drawing/2014/main" val="1462096888"/>
                  </a:ext>
                </a:extLst>
              </a:tr>
              <a:tr h="306609">
                <a:tc>
                  <a:txBody>
                    <a:bodyPr/>
                    <a:lstStyle/>
                    <a:p>
                      <a:r>
                        <a:rPr lang="en-ES" sz="1100" dirty="0"/>
                        <a:t>Multivariante</a:t>
                      </a:r>
                    </a:p>
                  </a:txBody>
                  <a:tcPr/>
                </a:tc>
                <a:tc>
                  <a:txBody>
                    <a:bodyPr/>
                    <a:lstStyle/>
                    <a:p>
                      <a:r>
                        <a:rPr lang="en-ES" sz="1100" dirty="0"/>
                        <a:t>Númericas</a:t>
                      </a:r>
                    </a:p>
                  </a:txBody>
                  <a:tcPr/>
                </a:tc>
                <a:tc>
                  <a:txBody>
                    <a:bodyPr/>
                    <a:lstStyle/>
                    <a:p>
                      <a:r>
                        <a:rPr lang="en-GB" sz="1100" dirty="0"/>
                        <a:t>Distancia </a:t>
                      </a:r>
                      <a:r>
                        <a:rPr lang="en-GB" sz="1100" dirty="0" err="1"/>
                        <a:t>Mahalanobis</a:t>
                      </a:r>
                      <a:r>
                        <a:rPr lang="en-GB" sz="1100" dirty="0"/>
                        <a:t> + LOF</a:t>
                      </a:r>
                      <a:endParaRPr lang="en-ES" sz="1100" dirty="0"/>
                    </a:p>
                  </a:txBody>
                  <a:tcPr/>
                </a:tc>
                <a:tc>
                  <a:txBody>
                    <a:bodyPr/>
                    <a:lstStyle/>
                    <a:p>
                      <a:r>
                        <a:rPr lang="en-ES" sz="1100" dirty="0"/>
                        <a:t>Gràficos </a:t>
                      </a:r>
                    </a:p>
                  </a:txBody>
                  <a:tcPr/>
                </a:tc>
                <a:extLst>
                  <a:ext uri="{0D108BD9-81ED-4DB2-BD59-A6C34878D82A}">
                    <a16:rowId xmlns:a16="http://schemas.microsoft.com/office/drawing/2014/main" val="407610777"/>
                  </a:ext>
                </a:extLst>
              </a:tr>
            </a:tbl>
          </a:graphicData>
        </a:graphic>
      </p:graphicFrame>
      <p:sp>
        <p:nvSpPr>
          <p:cNvPr id="5" name="Rounded Rectangle 4">
            <a:extLst>
              <a:ext uri="{FF2B5EF4-FFF2-40B4-BE49-F238E27FC236}">
                <a16:creationId xmlns:a16="http://schemas.microsoft.com/office/drawing/2014/main" id="{D0C42530-4C3A-B629-6B9C-E51BDE83B89A}"/>
              </a:ext>
            </a:extLst>
          </p:cNvPr>
          <p:cNvSpPr/>
          <p:nvPr/>
        </p:nvSpPr>
        <p:spPr>
          <a:xfrm>
            <a:off x="1338682" y="838225"/>
            <a:ext cx="2355494" cy="20053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ES" dirty="0"/>
              <a:t>Métodos</a:t>
            </a:r>
          </a:p>
        </p:txBody>
      </p:sp>
      <p:pic>
        <p:nvPicPr>
          <p:cNvPr id="8" name="Picture 7" descr="A diagram of a graph&#10;&#10;AI-generated content may be incorrect.">
            <a:extLst>
              <a:ext uri="{FF2B5EF4-FFF2-40B4-BE49-F238E27FC236}">
                <a16:creationId xmlns:a16="http://schemas.microsoft.com/office/drawing/2014/main" id="{2ECA8A3C-C7DC-2583-8AF3-B7C2E64F951A}"/>
              </a:ext>
            </a:extLst>
          </p:cNvPr>
          <p:cNvPicPr>
            <a:picLocks noChangeAspect="1"/>
          </p:cNvPicPr>
          <p:nvPr/>
        </p:nvPicPr>
        <p:blipFill>
          <a:blip r:embed="rId3"/>
          <a:stretch>
            <a:fillRect/>
          </a:stretch>
        </p:blipFill>
        <p:spPr>
          <a:xfrm>
            <a:off x="5897580" y="1101572"/>
            <a:ext cx="2895290" cy="1630680"/>
          </a:xfrm>
          <a:prstGeom prst="rect">
            <a:avLst/>
          </a:prstGeom>
        </p:spPr>
      </p:pic>
      <p:graphicFrame>
        <p:nvGraphicFramePr>
          <p:cNvPr id="10" name="Table 9">
            <a:extLst>
              <a:ext uri="{FF2B5EF4-FFF2-40B4-BE49-F238E27FC236}">
                <a16:creationId xmlns:a16="http://schemas.microsoft.com/office/drawing/2014/main" id="{A794FB05-8280-D165-828F-4BBCE7FFCBB7}"/>
              </a:ext>
            </a:extLst>
          </p:cNvPr>
          <p:cNvGraphicFramePr>
            <a:graphicFrameLocks noGrp="1"/>
          </p:cNvGraphicFramePr>
          <p:nvPr>
            <p:extLst>
              <p:ext uri="{D42A27DB-BD31-4B8C-83A1-F6EECF244321}">
                <p14:modId xmlns:p14="http://schemas.microsoft.com/office/powerpoint/2010/main" val="2427930410"/>
              </p:ext>
            </p:extLst>
          </p:nvPr>
        </p:nvGraphicFramePr>
        <p:xfrm>
          <a:off x="204824" y="2795066"/>
          <a:ext cx="8219176" cy="1220012"/>
        </p:xfrm>
        <a:graphic>
          <a:graphicData uri="http://schemas.openxmlformats.org/drawingml/2006/table">
            <a:tbl>
              <a:tblPr firstRow="1" bandRow="1">
                <a:tableStyleId>{7FD54D1E-A07F-487E-B709-6B33F1453160}</a:tableStyleId>
              </a:tblPr>
              <a:tblGrid>
                <a:gridCol w="2054794">
                  <a:extLst>
                    <a:ext uri="{9D8B030D-6E8A-4147-A177-3AD203B41FA5}">
                      <a16:colId xmlns:a16="http://schemas.microsoft.com/office/drawing/2014/main" val="2409669532"/>
                    </a:ext>
                  </a:extLst>
                </a:gridCol>
                <a:gridCol w="2054794">
                  <a:extLst>
                    <a:ext uri="{9D8B030D-6E8A-4147-A177-3AD203B41FA5}">
                      <a16:colId xmlns:a16="http://schemas.microsoft.com/office/drawing/2014/main" val="3249999538"/>
                    </a:ext>
                  </a:extLst>
                </a:gridCol>
                <a:gridCol w="2054794">
                  <a:extLst>
                    <a:ext uri="{9D8B030D-6E8A-4147-A177-3AD203B41FA5}">
                      <a16:colId xmlns:a16="http://schemas.microsoft.com/office/drawing/2014/main" val="3747097040"/>
                    </a:ext>
                  </a:extLst>
                </a:gridCol>
                <a:gridCol w="2054794">
                  <a:extLst>
                    <a:ext uri="{9D8B030D-6E8A-4147-A177-3AD203B41FA5}">
                      <a16:colId xmlns:a16="http://schemas.microsoft.com/office/drawing/2014/main" val="2005427499"/>
                    </a:ext>
                  </a:extLst>
                </a:gridCol>
              </a:tblGrid>
              <a:tr h="305003">
                <a:tc>
                  <a:txBody>
                    <a:bodyPr/>
                    <a:lstStyle/>
                    <a:p>
                      <a:r>
                        <a:rPr lang="en-ES" dirty="0"/>
                        <a:t>Variable </a:t>
                      </a:r>
                    </a:p>
                  </a:txBody>
                  <a:tcPr/>
                </a:tc>
                <a:tc>
                  <a:txBody>
                    <a:bodyPr/>
                    <a:lstStyle/>
                    <a:p>
                      <a:r>
                        <a:rPr lang="en-ES" dirty="0"/>
                        <a:t>Outliers detected</a:t>
                      </a:r>
                    </a:p>
                  </a:txBody>
                  <a:tcPr/>
                </a:tc>
                <a:tc>
                  <a:txBody>
                    <a:bodyPr/>
                    <a:lstStyle/>
                    <a:p>
                      <a:r>
                        <a:rPr lang="en-ES" dirty="0"/>
                        <a:t>Ubicación</a:t>
                      </a:r>
                    </a:p>
                  </a:txBody>
                  <a:tcPr/>
                </a:tc>
                <a:tc>
                  <a:txBody>
                    <a:bodyPr/>
                    <a:lstStyle/>
                    <a:p>
                      <a:r>
                        <a:rPr lang="en-ES" dirty="0"/>
                        <a:t>Características</a:t>
                      </a:r>
                    </a:p>
                  </a:txBody>
                  <a:tcPr/>
                </a:tc>
                <a:extLst>
                  <a:ext uri="{0D108BD9-81ED-4DB2-BD59-A6C34878D82A}">
                    <a16:rowId xmlns:a16="http://schemas.microsoft.com/office/drawing/2014/main" val="402475729"/>
                  </a:ext>
                </a:extLst>
              </a:tr>
              <a:tr h="305003">
                <a:tc>
                  <a:txBody>
                    <a:bodyPr/>
                    <a:lstStyle/>
                    <a:p>
                      <a:r>
                        <a:rPr lang="en-ES" dirty="0"/>
                        <a:t>Age</a:t>
                      </a:r>
                    </a:p>
                  </a:txBody>
                  <a:tcPr/>
                </a:tc>
                <a:tc>
                  <a:txBody>
                    <a:bodyPr/>
                    <a:lstStyle/>
                    <a:p>
                      <a:endParaRPr lang="en-ES" dirty="0"/>
                    </a:p>
                  </a:txBody>
                  <a:tcPr/>
                </a:tc>
                <a:tc>
                  <a:txBody>
                    <a:bodyPr/>
                    <a:lstStyle/>
                    <a:p>
                      <a:r>
                        <a:rPr lang="en-ES" dirty="0"/>
                        <a:t>Cola Derecha</a:t>
                      </a:r>
                    </a:p>
                  </a:txBody>
                  <a:tcPr/>
                </a:tc>
                <a:tc>
                  <a:txBody>
                    <a:bodyPr/>
                    <a:lstStyle/>
                    <a:p>
                      <a:r>
                        <a:rPr lang="en-GB" dirty="0"/>
                        <a:t>Valores </a:t>
                      </a:r>
                      <a:r>
                        <a:rPr lang="en-GB" dirty="0" err="1"/>
                        <a:t>extremos</a:t>
                      </a:r>
                      <a:r>
                        <a:rPr lang="en-GB" dirty="0"/>
                        <a:t> altos</a:t>
                      </a:r>
                      <a:endParaRPr lang="en-ES" dirty="0"/>
                    </a:p>
                  </a:txBody>
                  <a:tcPr/>
                </a:tc>
                <a:extLst>
                  <a:ext uri="{0D108BD9-81ED-4DB2-BD59-A6C34878D82A}">
                    <a16:rowId xmlns:a16="http://schemas.microsoft.com/office/drawing/2014/main" val="565551124"/>
                  </a:ext>
                </a:extLst>
              </a:tr>
              <a:tr h="305003">
                <a:tc>
                  <a:txBody>
                    <a:bodyPr/>
                    <a:lstStyle/>
                    <a:p>
                      <a:r>
                        <a:rPr lang="en-ES" dirty="0"/>
                        <a:t>Estimated Salary</a:t>
                      </a:r>
                    </a:p>
                  </a:txBody>
                  <a:tcPr/>
                </a:tc>
                <a:tc>
                  <a:txBody>
                    <a:bodyPr/>
                    <a:lstStyle/>
                    <a:p>
                      <a:endParaRPr lang="en-ES" dirty="0"/>
                    </a:p>
                  </a:txBody>
                  <a:tcPr/>
                </a:tc>
                <a:tc>
                  <a:txBody>
                    <a:bodyPr/>
                    <a:lstStyle/>
                    <a:p>
                      <a:r>
                        <a:rPr lang="en-ES" dirty="0"/>
                        <a:t>Cola Derecha</a:t>
                      </a:r>
                    </a:p>
                  </a:txBody>
                  <a:tcPr/>
                </a:tc>
                <a:tc>
                  <a:txBody>
                    <a:bodyPr/>
                    <a:lstStyle/>
                    <a:p>
                      <a:r>
                        <a:rPr lang="en-GB" dirty="0" err="1"/>
                        <a:t>Salarios</a:t>
                      </a:r>
                      <a:r>
                        <a:rPr lang="en-GB" dirty="0"/>
                        <a:t> </a:t>
                      </a:r>
                      <a:r>
                        <a:rPr lang="en-GB" dirty="0" err="1"/>
                        <a:t>muy</a:t>
                      </a:r>
                      <a:r>
                        <a:rPr lang="en-GB" dirty="0"/>
                        <a:t> </a:t>
                      </a:r>
                      <a:r>
                        <a:rPr lang="en-GB" dirty="0" err="1"/>
                        <a:t>elevados</a:t>
                      </a:r>
                      <a:endParaRPr lang="en-ES" dirty="0"/>
                    </a:p>
                  </a:txBody>
                  <a:tcPr/>
                </a:tc>
                <a:extLst>
                  <a:ext uri="{0D108BD9-81ED-4DB2-BD59-A6C34878D82A}">
                    <a16:rowId xmlns:a16="http://schemas.microsoft.com/office/drawing/2014/main" val="465873272"/>
                  </a:ext>
                </a:extLst>
              </a:tr>
              <a:tr h="305003">
                <a:tc>
                  <a:txBody>
                    <a:bodyPr/>
                    <a:lstStyle/>
                    <a:p>
                      <a:r>
                        <a:rPr lang="en-ES" dirty="0"/>
                        <a:t>Balance</a:t>
                      </a:r>
                    </a:p>
                  </a:txBody>
                  <a:tcPr/>
                </a:tc>
                <a:tc>
                  <a:txBody>
                    <a:bodyPr/>
                    <a:lstStyle/>
                    <a:p>
                      <a:endParaRPr lang="en-ES" dirty="0"/>
                    </a:p>
                  </a:txBody>
                  <a:tcPr/>
                </a:tc>
                <a:tc>
                  <a:txBody>
                    <a:bodyPr/>
                    <a:lstStyle/>
                    <a:p>
                      <a:r>
                        <a:rPr lang="en-ES" dirty="0"/>
                        <a:t>Cola Derecha</a:t>
                      </a:r>
                    </a:p>
                  </a:txBody>
                  <a:tcPr/>
                </a:tc>
                <a:tc>
                  <a:txBody>
                    <a:bodyPr/>
                    <a:lstStyle/>
                    <a:p>
                      <a:r>
                        <a:rPr lang="en-GB" dirty="0"/>
                        <a:t>Balances </a:t>
                      </a:r>
                      <a:r>
                        <a:rPr lang="en-GB" dirty="0" err="1"/>
                        <a:t>superiores</a:t>
                      </a:r>
                      <a:endParaRPr lang="en-ES" dirty="0"/>
                    </a:p>
                  </a:txBody>
                  <a:tcPr/>
                </a:tc>
                <a:extLst>
                  <a:ext uri="{0D108BD9-81ED-4DB2-BD59-A6C34878D82A}">
                    <a16:rowId xmlns:a16="http://schemas.microsoft.com/office/drawing/2014/main" val="3727610031"/>
                  </a:ext>
                </a:extLst>
              </a:tr>
            </a:tbl>
          </a:graphicData>
        </a:graphic>
      </p:graphicFrame>
      <p:pic>
        <p:nvPicPr>
          <p:cNvPr id="12" name="Graphic 11" descr="Tick with solid fill">
            <a:extLst>
              <a:ext uri="{FF2B5EF4-FFF2-40B4-BE49-F238E27FC236}">
                <a16:creationId xmlns:a16="http://schemas.microsoft.com/office/drawing/2014/main" id="{1506EFA1-1C73-86D2-E716-CAB61E13A04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24912" y="3031540"/>
            <a:ext cx="373532" cy="373532"/>
          </a:xfrm>
          <a:prstGeom prst="rect">
            <a:avLst/>
          </a:prstGeom>
        </p:spPr>
      </p:pic>
      <p:pic>
        <p:nvPicPr>
          <p:cNvPr id="13" name="Graphic 12" descr="Tick with solid fill">
            <a:extLst>
              <a:ext uri="{FF2B5EF4-FFF2-40B4-BE49-F238E27FC236}">
                <a16:creationId xmlns:a16="http://schemas.microsoft.com/office/drawing/2014/main" id="{902C99F7-DF91-E1D0-C61D-1A0AC980FAD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24912" y="3377413"/>
            <a:ext cx="373532" cy="373532"/>
          </a:xfrm>
          <a:prstGeom prst="rect">
            <a:avLst/>
          </a:prstGeom>
        </p:spPr>
      </p:pic>
      <p:pic>
        <p:nvPicPr>
          <p:cNvPr id="14" name="Graphic 13" descr="Tick with solid fill">
            <a:extLst>
              <a:ext uri="{FF2B5EF4-FFF2-40B4-BE49-F238E27FC236}">
                <a16:creationId xmlns:a16="http://schemas.microsoft.com/office/drawing/2014/main" id="{5EBBD3C2-A2ED-4479-7E26-B0D004755B3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801112" y="3742158"/>
            <a:ext cx="221132" cy="281707"/>
          </a:xfrm>
          <a:prstGeom prst="rect">
            <a:avLst/>
          </a:prstGeom>
        </p:spPr>
      </p:pic>
    </p:spTree>
    <p:extLst>
      <p:ext uri="{BB962C8B-B14F-4D97-AF65-F5344CB8AC3E}">
        <p14:creationId xmlns:p14="http://schemas.microsoft.com/office/powerpoint/2010/main" val="35359352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FE2D535F-37DF-64AA-1CB5-D6B250DB2906}"/>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7C4B54FB-1DBD-071B-42BB-FDCCA4B52BAC}"/>
              </a:ext>
            </a:extLst>
          </p:cNvPr>
          <p:cNvSpPr txBox="1">
            <a:spLocks noGrp="1"/>
          </p:cNvSpPr>
          <p:nvPr>
            <p:ph type="title"/>
          </p:nvPr>
        </p:nvSpPr>
        <p:spPr>
          <a:xfrm>
            <a:off x="139087" y="514239"/>
            <a:ext cx="9004913" cy="572700"/>
          </a:xfrm>
          <a:prstGeom prst="rect">
            <a:avLst/>
          </a:prstGeom>
        </p:spPr>
        <p:txBody>
          <a:bodyPr spcFirstLastPara="1" wrap="square" lIns="91425" tIns="91425" rIns="91425" bIns="91425" anchor="t" anchorCtr="0">
            <a:noAutofit/>
          </a:bodyPr>
          <a:lstStyle/>
          <a:p>
            <a:pPr lvl="0"/>
            <a:r>
              <a:rPr lang="es-ES" sz="2400" dirty="0"/>
              <a:t>Ingeniería de Variables ½: transformación</a:t>
            </a:r>
            <a:endParaRPr sz="2400" dirty="0"/>
          </a:p>
        </p:txBody>
      </p:sp>
      <p:sp>
        <p:nvSpPr>
          <p:cNvPr id="2" name="CuadroTexto 1">
            <a:extLst>
              <a:ext uri="{FF2B5EF4-FFF2-40B4-BE49-F238E27FC236}">
                <a16:creationId xmlns:a16="http://schemas.microsoft.com/office/drawing/2014/main" id="{850C95A2-487A-DD08-1994-9119B199CE78}"/>
              </a:ext>
            </a:extLst>
          </p:cNvPr>
          <p:cNvSpPr txBox="1"/>
          <p:nvPr/>
        </p:nvSpPr>
        <p:spPr>
          <a:xfrm>
            <a:off x="349607" y="1114861"/>
            <a:ext cx="3948057" cy="1600438"/>
          </a:xfrm>
          <a:prstGeom prst="rect">
            <a:avLst/>
          </a:prstGeom>
          <a:noFill/>
        </p:spPr>
        <p:txBody>
          <a:bodyPr wrap="square" rtlCol="0">
            <a:spAutoFit/>
          </a:bodyPr>
          <a:lstStyle/>
          <a:p>
            <a:pPr algn="just"/>
            <a:r>
              <a:rPr lang="es-ES" b="1" dirty="0" err="1"/>
              <a:t>ComplaintsCount</a:t>
            </a:r>
            <a:endParaRPr lang="es-ES" b="1" dirty="0"/>
          </a:p>
          <a:p>
            <a:pPr lvl="0" eaLnBrk="0" fontAlgn="base" hangingPunct="0">
              <a:spcBef>
                <a:spcPct val="0"/>
              </a:spcBef>
              <a:spcAft>
                <a:spcPct val="0"/>
              </a:spcAft>
              <a:buClrTx/>
              <a:buFontTx/>
              <a:buChar char="•"/>
            </a:pPr>
            <a:r>
              <a:rPr lang="en-ES" altLang="en-ES" dirty="0">
                <a:solidFill>
                  <a:schemeClr val="tx1"/>
                </a:solidFill>
                <a:latin typeface="Arial" panose="020B0604020202020204" pitchFamily="34" charset="0"/>
              </a:rPr>
              <a:t>Se decidió </a:t>
            </a:r>
            <a:r>
              <a:rPr lang="en-ES" altLang="en-ES" b="1" dirty="0">
                <a:solidFill>
                  <a:schemeClr val="tx1"/>
                </a:solidFill>
                <a:latin typeface="Arial" panose="020B0604020202020204" pitchFamily="34" charset="0"/>
              </a:rPr>
              <a:t>dummyficar la variable</a:t>
            </a:r>
          </a:p>
          <a:p>
            <a:pPr lvl="0" eaLnBrk="0" fontAlgn="base" hangingPunct="0">
              <a:spcBef>
                <a:spcPct val="0"/>
              </a:spcBef>
              <a:spcAft>
                <a:spcPct val="0"/>
              </a:spcAft>
              <a:buClrTx/>
              <a:buFontTx/>
              <a:buChar char="•"/>
            </a:pPr>
            <a:r>
              <a:rPr lang="en-ES" altLang="en-ES" dirty="0">
                <a:solidFill>
                  <a:schemeClr val="tx1"/>
                </a:solidFill>
                <a:latin typeface="Arial" panose="020B0604020202020204" pitchFamily="34" charset="0"/>
              </a:rPr>
              <a:t>. La información se simplifica para indicar </a:t>
            </a:r>
          </a:p>
          <a:p>
            <a:pPr lvl="0" eaLnBrk="0" fontAlgn="base" hangingPunct="0">
              <a:spcBef>
                <a:spcPct val="0"/>
              </a:spcBef>
              <a:spcAft>
                <a:spcPct val="0"/>
              </a:spcAft>
              <a:buClrTx/>
            </a:pPr>
            <a:r>
              <a:rPr lang="en-ES" altLang="en-ES" b="1" dirty="0">
                <a:solidFill>
                  <a:schemeClr val="tx1"/>
                </a:solidFill>
                <a:latin typeface="Arial" panose="020B0604020202020204" pitchFamily="34" charset="0"/>
              </a:rPr>
              <a:t>si el cliente ha emitido alguna queja o no</a:t>
            </a:r>
          </a:p>
          <a:p>
            <a:pPr marL="285750" lvl="0" indent="-285750" eaLnBrk="0" fontAlgn="base" hangingPunct="0">
              <a:spcBef>
                <a:spcPct val="0"/>
              </a:spcBef>
              <a:spcAft>
                <a:spcPct val="0"/>
              </a:spcAft>
              <a:buClrTx/>
              <a:buFont typeface="Arial" panose="020B0604020202020204" pitchFamily="34" charset="0"/>
              <a:buChar char="•"/>
            </a:pPr>
            <a:r>
              <a:rPr lang="en-ES" altLang="en-ES" dirty="0">
                <a:solidFill>
                  <a:schemeClr val="tx1"/>
                </a:solidFill>
                <a:latin typeface="Arial" panose="020B0604020202020204" pitchFamily="34" charset="0"/>
              </a:rPr>
              <a:t>Variable: Númerica            Factor binario</a:t>
            </a:r>
          </a:p>
          <a:p>
            <a:pPr lvl="0" eaLnBrk="0" fontAlgn="base" hangingPunct="0">
              <a:spcBef>
                <a:spcPct val="0"/>
              </a:spcBef>
              <a:spcAft>
                <a:spcPct val="0"/>
              </a:spcAft>
              <a:buClrTx/>
            </a:pPr>
            <a:endParaRPr lang="es-ES" b="1" dirty="0"/>
          </a:p>
          <a:p>
            <a:pPr marL="285750" indent="-285750" algn="just">
              <a:buFont typeface="Arial" panose="020B0604020202020204" pitchFamily="34" charset="0"/>
              <a:buChar char="•"/>
            </a:pPr>
            <a:endParaRPr lang="es-ES" b="1" dirty="0"/>
          </a:p>
        </p:txBody>
      </p:sp>
      <p:pic>
        <p:nvPicPr>
          <p:cNvPr id="6" name="Imagen 5">
            <a:extLst>
              <a:ext uri="{FF2B5EF4-FFF2-40B4-BE49-F238E27FC236}">
                <a16:creationId xmlns:a16="http://schemas.microsoft.com/office/drawing/2014/main" id="{CAA4D302-3728-C348-1B0F-95C66B65D0F8}"/>
              </a:ext>
            </a:extLst>
          </p:cNvPr>
          <p:cNvPicPr>
            <a:picLocks noChangeAspect="1"/>
          </p:cNvPicPr>
          <p:nvPr/>
        </p:nvPicPr>
        <p:blipFill>
          <a:blip r:embed="rId3"/>
          <a:stretch>
            <a:fillRect/>
          </a:stretch>
        </p:blipFill>
        <p:spPr>
          <a:xfrm>
            <a:off x="164468" y="2467226"/>
            <a:ext cx="1794612" cy="2110462"/>
          </a:xfrm>
          <a:prstGeom prst="rect">
            <a:avLst/>
          </a:prstGeom>
        </p:spPr>
      </p:pic>
      <p:pic>
        <p:nvPicPr>
          <p:cNvPr id="8" name="Imagen 7">
            <a:extLst>
              <a:ext uri="{FF2B5EF4-FFF2-40B4-BE49-F238E27FC236}">
                <a16:creationId xmlns:a16="http://schemas.microsoft.com/office/drawing/2014/main" id="{EFE9C1C0-BC77-C605-271B-8BF916B4DF5D}"/>
              </a:ext>
            </a:extLst>
          </p:cNvPr>
          <p:cNvPicPr>
            <a:picLocks noChangeAspect="1"/>
          </p:cNvPicPr>
          <p:nvPr/>
        </p:nvPicPr>
        <p:blipFill>
          <a:blip r:embed="rId4"/>
          <a:stretch>
            <a:fillRect/>
          </a:stretch>
        </p:blipFill>
        <p:spPr>
          <a:xfrm>
            <a:off x="2615049" y="2364902"/>
            <a:ext cx="1776956" cy="2315110"/>
          </a:xfrm>
          <a:prstGeom prst="rect">
            <a:avLst/>
          </a:prstGeom>
        </p:spPr>
      </p:pic>
      <p:sp>
        <p:nvSpPr>
          <p:cNvPr id="9" name="Flecha: a la derecha 8">
            <a:extLst>
              <a:ext uri="{FF2B5EF4-FFF2-40B4-BE49-F238E27FC236}">
                <a16:creationId xmlns:a16="http://schemas.microsoft.com/office/drawing/2014/main" id="{51263BE0-F9B9-D8D0-3B0A-0A88CEDFD45D}"/>
              </a:ext>
            </a:extLst>
          </p:cNvPr>
          <p:cNvSpPr/>
          <p:nvPr/>
        </p:nvSpPr>
        <p:spPr>
          <a:xfrm>
            <a:off x="2091624" y="3195186"/>
            <a:ext cx="445766" cy="29045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CuadroTexto 9">
            <a:extLst>
              <a:ext uri="{FF2B5EF4-FFF2-40B4-BE49-F238E27FC236}">
                <a16:creationId xmlns:a16="http://schemas.microsoft.com/office/drawing/2014/main" id="{CB8960E5-90AD-AE6F-6756-4BF481848451}"/>
              </a:ext>
            </a:extLst>
          </p:cNvPr>
          <p:cNvSpPr txBox="1"/>
          <p:nvPr/>
        </p:nvSpPr>
        <p:spPr>
          <a:xfrm>
            <a:off x="5030976" y="1086939"/>
            <a:ext cx="3948057" cy="1169551"/>
          </a:xfrm>
          <a:prstGeom prst="rect">
            <a:avLst/>
          </a:prstGeom>
          <a:noFill/>
        </p:spPr>
        <p:txBody>
          <a:bodyPr wrap="square" rtlCol="0">
            <a:spAutoFit/>
          </a:bodyPr>
          <a:lstStyle/>
          <a:p>
            <a:pPr algn="just"/>
            <a:r>
              <a:rPr lang="es-ES" b="1" dirty="0" err="1"/>
              <a:t>NumOfProducts</a:t>
            </a:r>
            <a:endParaRPr lang="es-ES" b="1" dirty="0"/>
          </a:p>
          <a:p>
            <a:pPr marL="285750" indent="-285750" algn="just">
              <a:buFont typeface="Arial" panose="020B0604020202020204" pitchFamily="34" charset="0"/>
              <a:buChar char="•"/>
            </a:pPr>
            <a:r>
              <a:rPr lang="es-ES" dirty="0" err="1"/>
              <a:t>Mayoria</a:t>
            </a:r>
            <a:r>
              <a:rPr lang="es-ES" dirty="0"/>
              <a:t> de clientes tienes </a:t>
            </a:r>
            <a:r>
              <a:rPr lang="es-ES" b="1" dirty="0"/>
              <a:t>1 | 2 productos </a:t>
            </a:r>
          </a:p>
          <a:p>
            <a:pPr marL="285750" indent="-285750" algn="just">
              <a:buFont typeface="Arial" panose="020B0604020202020204" pitchFamily="34" charset="0"/>
              <a:buChar char="•"/>
            </a:pPr>
            <a:r>
              <a:rPr lang="es-ES" b="1" dirty="0" err="1"/>
              <a:t>Minoria</a:t>
            </a:r>
            <a:r>
              <a:rPr lang="es-ES" b="1" dirty="0"/>
              <a:t>         </a:t>
            </a:r>
            <a:r>
              <a:rPr lang="es-ES" dirty="0"/>
              <a:t>3 o más productos</a:t>
            </a:r>
          </a:p>
          <a:p>
            <a:pPr marL="285750" indent="-285750" algn="just">
              <a:buFont typeface="Arial" panose="020B0604020202020204" pitchFamily="34" charset="0"/>
              <a:buChar char="•"/>
            </a:pPr>
            <a:r>
              <a:rPr lang="es-ES" dirty="0"/>
              <a:t>Categorización de la variable (1, 2, +3 productos)</a:t>
            </a:r>
          </a:p>
        </p:txBody>
      </p:sp>
      <p:sp>
        <p:nvSpPr>
          <p:cNvPr id="11" name="Elipse 10">
            <a:extLst>
              <a:ext uri="{FF2B5EF4-FFF2-40B4-BE49-F238E27FC236}">
                <a16:creationId xmlns:a16="http://schemas.microsoft.com/office/drawing/2014/main" id="{6AD0D5AA-59C3-51F4-0CA3-5085BFED3E06}"/>
              </a:ext>
            </a:extLst>
          </p:cNvPr>
          <p:cNvSpPr/>
          <p:nvPr/>
        </p:nvSpPr>
        <p:spPr>
          <a:xfrm>
            <a:off x="4503028" y="1114861"/>
            <a:ext cx="91823" cy="368305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s-ES"/>
          </a:p>
        </p:txBody>
      </p:sp>
      <p:pic>
        <p:nvPicPr>
          <p:cNvPr id="13" name="Imagen 12">
            <a:extLst>
              <a:ext uri="{FF2B5EF4-FFF2-40B4-BE49-F238E27FC236}">
                <a16:creationId xmlns:a16="http://schemas.microsoft.com/office/drawing/2014/main" id="{8BEEE918-019D-2D4E-8CB9-46C84E615698}"/>
              </a:ext>
            </a:extLst>
          </p:cNvPr>
          <p:cNvPicPr>
            <a:picLocks noChangeAspect="1"/>
          </p:cNvPicPr>
          <p:nvPr/>
        </p:nvPicPr>
        <p:blipFill>
          <a:blip r:embed="rId5"/>
          <a:stretch>
            <a:fillRect/>
          </a:stretch>
        </p:blipFill>
        <p:spPr>
          <a:xfrm>
            <a:off x="7052376" y="2182859"/>
            <a:ext cx="2022543" cy="2315110"/>
          </a:xfrm>
          <a:prstGeom prst="rect">
            <a:avLst/>
          </a:prstGeom>
        </p:spPr>
      </p:pic>
      <p:pic>
        <p:nvPicPr>
          <p:cNvPr id="15" name="Imagen 14">
            <a:extLst>
              <a:ext uri="{FF2B5EF4-FFF2-40B4-BE49-F238E27FC236}">
                <a16:creationId xmlns:a16="http://schemas.microsoft.com/office/drawing/2014/main" id="{F1EAD923-4663-2DF2-5645-25E9EBBFBE0D}"/>
              </a:ext>
            </a:extLst>
          </p:cNvPr>
          <p:cNvPicPr>
            <a:picLocks noChangeAspect="1"/>
          </p:cNvPicPr>
          <p:nvPr/>
        </p:nvPicPr>
        <p:blipFill>
          <a:blip r:embed="rId6"/>
          <a:stretch>
            <a:fillRect/>
          </a:stretch>
        </p:blipFill>
        <p:spPr>
          <a:xfrm>
            <a:off x="4799666" y="2256490"/>
            <a:ext cx="1878076" cy="2280143"/>
          </a:xfrm>
          <a:prstGeom prst="rect">
            <a:avLst/>
          </a:prstGeom>
        </p:spPr>
      </p:pic>
      <p:sp>
        <p:nvSpPr>
          <p:cNvPr id="16" name="Flecha: a la derecha 15">
            <a:extLst>
              <a:ext uri="{FF2B5EF4-FFF2-40B4-BE49-F238E27FC236}">
                <a16:creationId xmlns:a16="http://schemas.microsoft.com/office/drawing/2014/main" id="{A04C3FC8-534D-282D-E8B8-7A80F41C547F}"/>
              </a:ext>
            </a:extLst>
          </p:cNvPr>
          <p:cNvSpPr/>
          <p:nvPr/>
        </p:nvSpPr>
        <p:spPr>
          <a:xfrm>
            <a:off x="6604147" y="3232001"/>
            <a:ext cx="400857" cy="29045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Rectangle 3">
            <a:extLst>
              <a:ext uri="{FF2B5EF4-FFF2-40B4-BE49-F238E27FC236}">
                <a16:creationId xmlns:a16="http://schemas.microsoft.com/office/drawing/2014/main" id="{6F445AD4-12F0-F8AB-40F4-2087EDD7C509}"/>
              </a:ext>
            </a:extLst>
          </p:cNvPr>
          <p:cNvSpPr>
            <a:spLocks noChangeArrowheads="1"/>
          </p:cNvSpPr>
          <p:nvPr/>
        </p:nvSpPr>
        <p:spPr bwMode="auto">
          <a:xfrm>
            <a:off x="0" y="-323165"/>
            <a:ext cx="328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ES" altLang="en-E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ES" altLang="en-ES" sz="1800" b="0" i="0" u="none" strike="noStrike" cap="none" normalizeH="0" baseline="0" dirty="0">
              <a:ln>
                <a:noFill/>
              </a:ln>
              <a:solidFill>
                <a:schemeClr val="tx1"/>
              </a:solidFill>
              <a:effectLst/>
              <a:latin typeface="Arial" panose="020B0604020202020204" pitchFamily="34" charset="0"/>
            </a:endParaRPr>
          </a:p>
        </p:txBody>
      </p:sp>
      <p:cxnSp>
        <p:nvCxnSpPr>
          <p:cNvPr id="12" name="Straight Arrow Connector 11">
            <a:extLst>
              <a:ext uri="{FF2B5EF4-FFF2-40B4-BE49-F238E27FC236}">
                <a16:creationId xmlns:a16="http://schemas.microsoft.com/office/drawing/2014/main" id="{69F9EE2F-03A1-F5D4-1372-1541834A3778}"/>
              </a:ext>
            </a:extLst>
          </p:cNvPr>
          <p:cNvCxnSpPr/>
          <p:nvPr/>
        </p:nvCxnSpPr>
        <p:spPr>
          <a:xfrm>
            <a:off x="2314507" y="2182859"/>
            <a:ext cx="4934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B040C3E-0578-A241-E175-FAEC372B7D94}"/>
              </a:ext>
            </a:extLst>
          </p:cNvPr>
          <p:cNvCxnSpPr/>
          <p:nvPr/>
        </p:nvCxnSpPr>
        <p:spPr>
          <a:xfrm>
            <a:off x="6117579" y="1658867"/>
            <a:ext cx="32368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8488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8F746EDE-812E-12F3-8943-6A28A8B3A8D9}"/>
            </a:ext>
          </a:extLst>
        </p:cNvPr>
        <p:cNvGrpSpPr/>
        <p:nvPr/>
      </p:nvGrpSpPr>
      <p:grpSpPr>
        <a:xfrm>
          <a:off x="0" y="0"/>
          <a:ext cx="0" cy="0"/>
          <a:chOff x="0" y="0"/>
          <a:chExt cx="0" cy="0"/>
        </a:xfrm>
      </p:grpSpPr>
      <p:sp>
        <p:nvSpPr>
          <p:cNvPr id="2" name="Google Shape;633;p34">
            <a:extLst>
              <a:ext uri="{FF2B5EF4-FFF2-40B4-BE49-F238E27FC236}">
                <a16:creationId xmlns:a16="http://schemas.microsoft.com/office/drawing/2014/main" id="{D604109C-7A83-7410-C1FE-F6FB65CB1BAD}"/>
              </a:ext>
            </a:extLst>
          </p:cNvPr>
          <p:cNvSpPr txBox="1">
            <a:spLocks noGrp="1"/>
          </p:cNvSpPr>
          <p:nvPr>
            <p:ph type="title"/>
          </p:nvPr>
        </p:nvSpPr>
        <p:spPr>
          <a:xfrm>
            <a:off x="720725" y="428526"/>
            <a:ext cx="7702550" cy="573088"/>
          </a:xfrm>
          <a:prstGeom prst="rect">
            <a:avLst/>
          </a:prstGeom>
        </p:spPr>
        <p:txBody>
          <a:bodyPr spcFirstLastPara="1" wrap="square" lIns="91425" tIns="91425" rIns="91425" bIns="91425" anchor="t" anchorCtr="0">
            <a:noAutofit/>
          </a:bodyPr>
          <a:lstStyle/>
          <a:p>
            <a:pPr lvl="0"/>
            <a:r>
              <a:rPr lang="es-ES" sz="2400" dirty="0"/>
              <a:t>Ingeniería de Variables 2/2: selección</a:t>
            </a:r>
            <a:endParaRPr sz="2400" dirty="0"/>
          </a:p>
        </p:txBody>
      </p:sp>
      <p:sp>
        <p:nvSpPr>
          <p:cNvPr id="3" name="CuadroTexto 2">
            <a:extLst>
              <a:ext uri="{FF2B5EF4-FFF2-40B4-BE49-F238E27FC236}">
                <a16:creationId xmlns:a16="http://schemas.microsoft.com/office/drawing/2014/main" id="{3F0E4919-B4FB-64E2-AEFB-C557656BB033}"/>
              </a:ext>
            </a:extLst>
          </p:cNvPr>
          <p:cNvSpPr txBox="1"/>
          <p:nvPr/>
        </p:nvSpPr>
        <p:spPr>
          <a:xfrm>
            <a:off x="2117102" y="1253058"/>
            <a:ext cx="7702550" cy="1384995"/>
          </a:xfrm>
          <a:prstGeom prst="rect">
            <a:avLst/>
          </a:prstGeom>
          <a:noFill/>
        </p:spPr>
        <p:txBody>
          <a:bodyPr wrap="square" rtlCol="0">
            <a:spAutoFit/>
          </a:bodyPr>
          <a:lstStyle/>
          <a:p>
            <a:endParaRPr lang="es-ES" sz="1200" dirty="0"/>
          </a:p>
          <a:p>
            <a:endParaRPr lang="es-ES" sz="1200" dirty="0"/>
          </a:p>
          <a:p>
            <a:pPr marL="171450" indent="-171450">
              <a:buFont typeface="Arial" panose="020B0604020202020204" pitchFamily="34" charset="0"/>
              <a:buChar char="•"/>
            </a:pPr>
            <a:r>
              <a:rPr lang="es-ES" sz="1200" dirty="0"/>
              <a:t>Variables numéricas: Test de mediana</a:t>
            </a:r>
          </a:p>
          <a:p>
            <a:pPr marL="171450" indent="-171450">
              <a:buFont typeface="Arial" panose="020B0604020202020204" pitchFamily="34" charset="0"/>
              <a:buChar char="•"/>
            </a:pPr>
            <a:r>
              <a:rPr lang="es-ES" sz="1200" dirty="0"/>
              <a:t>Variables categóricas: Test de Chi-cuadrado</a:t>
            </a:r>
          </a:p>
          <a:p>
            <a:endParaRPr lang="es-ES" sz="1200" dirty="0"/>
          </a:p>
          <a:p>
            <a:r>
              <a:rPr lang="es-ES" sz="1200" dirty="0"/>
              <a:t>Las variables con un p-valor inferior a 0.05 han sido las siguientes:</a:t>
            </a:r>
          </a:p>
          <a:p>
            <a:endParaRPr lang="es-ES" sz="1200" dirty="0"/>
          </a:p>
        </p:txBody>
      </p:sp>
      <p:pic>
        <p:nvPicPr>
          <p:cNvPr id="7" name="Imagen 6">
            <a:extLst>
              <a:ext uri="{FF2B5EF4-FFF2-40B4-BE49-F238E27FC236}">
                <a16:creationId xmlns:a16="http://schemas.microsoft.com/office/drawing/2014/main" id="{9B9E24F2-CFA5-8337-CB06-8FA0C27089D4}"/>
              </a:ext>
            </a:extLst>
          </p:cNvPr>
          <p:cNvPicPr>
            <a:picLocks noChangeAspect="1"/>
          </p:cNvPicPr>
          <p:nvPr/>
        </p:nvPicPr>
        <p:blipFill>
          <a:blip r:embed="rId3"/>
          <a:stretch>
            <a:fillRect/>
          </a:stretch>
        </p:blipFill>
        <p:spPr>
          <a:xfrm>
            <a:off x="2119997" y="2510828"/>
            <a:ext cx="4594061" cy="1418710"/>
          </a:xfrm>
          <a:prstGeom prst="rect">
            <a:avLst/>
          </a:prstGeom>
        </p:spPr>
      </p:pic>
      <p:sp>
        <p:nvSpPr>
          <p:cNvPr id="8" name="CuadroTexto 7">
            <a:extLst>
              <a:ext uri="{FF2B5EF4-FFF2-40B4-BE49-F238E27FC236}">
                <a16:creationId xmlns:a16="http://schemas.microsoft.com/office/drawing/2014/main" id="{D0841C18-B399-C215-D4D4-8610F482EDA2}"/>
              </a:ext>
            </a:extLst>
          </p:cNvPr>
          <p:cNvSpPr txBox="1"/>
          <p:nvPr/>
        </p:nvSpPr>
        <p:spPr>
          <a:xfrm>
            <a:off x="408790" y="4046018"/>
            <a:ext cx="8178017" cy="461665"/>
          </a:xfrm>
          <a:prstGeom prst="rect">
            <a:avLst/>
          </a:prstGeom>
          <a:noFill/>
        </p:spPr>
        <p:txBody>
          <a:bodyPr wrap="square" rtlCol="0">
            <a:spAutoFit/>
          </a:bodyPr>
          <a:lstStyle/>
          <a:p>
            <a:pPr marL="171450" indent="-171450">
              <a:buFont typeface="Arial" panose="020B0604020202020204" pitchFamily="34" charset="0"/>
              <a:buChar char="•"/>
              <a:defRPr sz="1600">
                <a:latin typeface="Arial"/>
              </a:defRPr>
            </a:pPr>
            <a:r>
              <a:rPr lang="en-GB" sz="1200" dirty="0"/>
              <a:t>Las variables </a:t>
            </a:r>
            <a:r>
              <a:rPr lang="en-GB" sz="1200" b="1" dirty="0" err="1"/>
              <a:t>EstimatedSalary</a:t>
            </a:r>
            <a:r>
              <a:rPr lang="en-GB" sz="1200" b="1" dirty="0"/>
              <a:t> y </a:t>
            </a:r>
            <a:r>
              <a:rPr lang="en-GB" sz="1200" b="1" dirty="0" err="1"/>
              <a:t>CreditScore</a:t>
            </a:r>
            <a:r>
              <a:rPr lang="en-GB" sz="1200" b="1" dirty="0"/>
              <a:t>         </a:t>
            </a:r>
            <a:r>
              <a:rPr lang="en-GB" sz="1200" dirty="0"/>
              <a:t>p-</a:t>
            </a:r>
            <a:r>
              <a:rPr lang="en-GB" sz="1200" dirty="0" err="1"/>
              <a:t>valores</a:t>
            </a:r>
            <a:r>
              <a:rPr lang="en-GB" sz="1200" dirty="0"/>
              <a:t> </a:t>
            </a:r>
            <a:r>
              <a:rPr lang="en-GB" sz="1200" dirty="0" err="1"/>
              <a:t>cercanos</a:t>
            </a:r>
            <a:r>
              <a:rPr lang="en-GB" sz="1200" dirty="0"/>
              <a:t> a 0.05 antes de la </a:t>
            </a:r>
            <a:r>
              <a:rPr lang="en-GB" sz="1200" dirty="0" err="1"/>
              <a:t>imputación</a:t>
            </a:r>
            <a:r>
              <a:rPr lang="en-GB" sz="1200" dirty="0"/>
              <a:t> de NA.</a:t>
            </a:r>
          </a:p>
          <a:p>
            <a:pPr marL="171450" indent="-171450">
              <a:buFont typeface="Arial" panose="020B0604020202020204" pitchFamily="34" charset="0"/>
              <a:buChar char="•"/>
              <a:defRPr sz="1600">
                <a:latin typeface="Arial"/>
              </a:defRPr>
            </a:pPr>
            <a:r>
              <a:rPr lang="en-GB" sz="1200" dirty="0"/>
              <a:t>Se </a:t>
            </a:r>
            <a:r>
              <a:rPr lang="en-GB" sz="1200" dirty="0" err="1"/>
              <a:t>probará</a:t>
            </a:r>
            <a:r>
              <a:rPr lang="en-GB" sz="1200" dirty="0"/>
              <a:t> </a:t>
            </a:r>
            <a:r>
              <a:rPr lang="en-GB" sz="1200" dirty="0" err="1"/>
              <a:t>el</a:t>
            </a:r>
            <a:r>
              <a:rPr lang="en-GB" sz="1200" dirty="0"/>
              <a:t> </a:t>
            </a:r>
            <a:r>
              <a:rPr lang="en-GB" sz="1200" dirty="0" err="1"/>
              <a:t>modelo</a:t>
            </a:r>
            <a:r>
              <a:rPr lang="en-GB" sz="1200" dirty="0"/>
              <a:t> con y sin </a:t>
            </a:r>
            <a:r>
              <a:rPr lang="en-GB" sz="1200" dirty="0" err="1"/>
              <a:t>estas</a:t>
            </a:r>
            <a:r>
              <a:rPr lang="en-GB" sz="1200" dirty="0"/>
              <a:t> dos variables para </a:t>
            </a:r>
            <a:r>
              <a:rPr lang="en-GB" sz="1200" dirty="0" err="1"/>
              <a:t>verificar</a:t>
            </a:r>
            <a:r>
              <a:rPr lang="en-GB" sz="1200" dirty="0"/>
              <a:t> </a:t>
            </a:r>
            <a:r>
              <a:rPr lang="en-GB" sz="1200" b="1" dirty="0" err="1"/>
              <a:t>diferencias</a:t>
            </a:r>
            <a:r>
              <a:rPr lang="en-GB" sz="1200" b="1" dirty="0"/>
              <a:t> </a:t>
            </a:r>
            <a:r>
              <a:rPr lang="en-GB" sz="1200" b="1" dirty="0" err="1"/>
              <a:t>en</a:t>
            </a:r>
            <a:r>
              <a:rPr lang="en-GB" sz="1200" b="1" dirty="0"/>
              <a:t> </a:t>
            </a:r>
            <a:r>
              <a:rPr lang="en-GB" sz="1200" b="1" dirty="0" err="1"/>
              <a:t>los</a:t>
            </a:r>
            <a:r>
              <a:rPr lang="en-GB" sz="1200" b="1" dirty="0"/>
              <a:t> </a:t>
            </a:r>
            <a:r>
              <a:rPr lang="en-GB" sz="1200" b="1" dirty="0" err="1"/>
              <a:t>resultados</a:t>
            </a:r>
            <a:r>
              <a:rPr lang="en-GB" sz="1200" b="1" dirty="0"/>
              <a:t>.</a:t>
            </a:r>
          </a:p>
        </p:txBody>
      </p:sp>
      <p:sp>
        <p:nvSpPr>
          <p:cNvPr id="4" name="Rounded Rectangle 3">
            <a:extLst>
              <a:ext uri="{FF2B5EF4-FFF2-40B4-BE49-F238E27FC236}">
                <a16:creationId xmlns:a16="http://schemas.microsoft.com/office/drawing/2014/main" id="{03BE575D-59C2-5DAF-AF57-D94F96FCACDD}"/>
              </a:ext>
            </a:extLst>
          </p:cNvPr>
          <p:cNvSpPr/>
          <p:nvPr/>
        </p:nvSpPr>
        <p:spPr>
          <a:xfrm>
            <a:off x="817297" y="964666"/>
            <a:ext cx="7025864" cy="43346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dirty="0"/>
              <a:t>Sobre la base de datos imputada y transformada se realizaron </a:t>
            </a:r>
            <a:r>
              <a:rPr lang="es-ES" sz="1100" dirty="0" err="1"/>
              <a:t>tests</a:t>
            </a:r>
            <a:r>
              <a:rPr lang="es-ES" sz="1100" dirty="0"/>
              <a:t> de significancia para determinar qué variables son importantes para describir el comportamiento de la variable </a:t>
            </a:r>
            <a:r>
              <a:rPr lang="es-ES" sz="1100" dirty="0" err="1"/>
              <a:t>Exited</a:t>
            </a:r>
            <a:endParaRPr lang="en-ES" sz="1100" dirty="0"/>
          </a:p>
        </p:txBody>
      </p:sp>
      <p:cxnSp>
        <p:nvCxnSpPr>
          <p:cNvPr id="6" name="Straight Arrow Connector 5">
            <a:extLst>
              <a:ext uri="{FF2B5EF4-FFF2-40B4-BE49-F238E27FC236}">
                <a16:creationId xmlns:a16="http://schemas.microsoft.com/office/drawing/2014/main" id="{17579261-50D2-BE0C-93D4-173148A6DD48}"/>
              </a:ext>
            </a:extLst>
          </p:cNvPr>
          <p:cNvCxnSpPr/>
          <p:nvPr/>
        </p:nvCxnSpPr>
        <p:spPr>
          <a:xfrm>
            <a:off x="3876085" y="4046018"/>
            <a:ext cx="2103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53687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0BBD54E0-DDDD-7885-85BC-9F30C765443E}"/>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88BF07B4-089D-2999-03B1-E61BC35ADFED}"/>
              </a:ext>
            </a:extLst>
          </p:cNvPr>
          <p:cNvSpPr txBox="1">
            <a:spLocks noGrp="1"/>
          </p:cNvSpPr>
          <p:nvPr>
            <p:ph type="title"/>
          </p:nvPr>
        </p:nvSpPr>
        <p:spPr>
          <a:xfrm>
            <a:off x="666211" y="283022"/>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ES" dirty="0" err="1"/>
              <a:t>Association</a:t>
            </a:r>
            <a:r>
              <a:rPr lang="es-ES" dirty="0"/>
              <a:t> Rules 1/2</a:t>
            </a:r>
            <a:endParaRPr dirty="0"/>
          </a:p>
        </p:txBody>
      </p:sp>
      <p:sp>
        <p:nvSpPr>
          <p:cNvPr id="2" name="CuadroTexto 1">
            <a:extLst>
              <a:ext uri="{FF2B5EF4-FFF2-40B4-BE49-F238E27FC236}">
                <a16:creationId xmlns:a16="http://schemas.microsoft.com/office/drawing/2014/main" id="{A3CCF44F-B8BF-18DD-610B-AC1D8BFF48EF}"/>
              </a:ext>
            </a:extLst>
          </p:cNvPr>
          <p:cNvSpPr txBox="1"/>
          <p:nvPr/>
        </p:nvSpPr>
        <p:spPr>
          <a:xfrm>
            <a:off x="419547" y="890160"/>
            <a:ext cx="8197327" cy="3754874"/>
          </a:xfrm>
          <a:prstGeom prst="rect">
            <a:avLst/>
          </a:prstGeom>
          <a:noFill/>
        </p:spPr>
        <p:txBody>
          <a:bodyPr wrap="square" rtlCol="0">
            <a:spAutoFit/>
          </a:bodyPr>
          <a:lstStyle/>
          <a:p>
            <a:r>
              <a:rPr lang="es-ES" b="1" dirty="0"/>
              <a:t>Sobre la preparación de los datos: </a:t>
            </a:r>
          </a:p>
          <a:p>
            <a:pPr marL="285750" indent="-285750">
              <a:buFontTx/>
              <a:buChar char="-"/>
            </a:pPr>
            <a:r>
              <a:rPr lang="es-ES" dirty="0"/>
              <a:t>Se categorizó las variables numéricas aplicando cortes lógicos ajustados a cada variable.</a:t>
            </a:r>
          </a:p>
          <a:p>
            <a:pPr marL="285750" indent="-285750">
              <a:buFontTx/>
              <a:buChar char="-"/>
            </a:pPr>
            <a:r>
              <a:rPr lang="es-ES" dirty="0"/>
              <a:t>Se trabajó únicamente con los datos Train debido a los NA para </a:t>
            </a:r>
            <a:r>
              <a:rPr lang="es-ES" dirty="0" err="1"/>
              <a:t>Exited</a:t>
            </a:r>
            <a:r>
              <a:rPr lang="es-ES" dirty="0"/>
              <a:t> en los datos test.</a:t>
            </a:r>
          </a:p>
          <a:p>
            <a:pPr marL="285750" indent="-285750">
              <a:buFontTx/>
              <a:buChar char="-"/>
            </a:pPr>
            <a:r>
              <a:rPr lang="es-ES" dirty="0"/>
              <a:t>La base de datos transaccional se compuso de 7000 filas y 73 ítems.</a:t>
            </a:r>
          </a:p>
          <a:p>
            <a:pPr marL="285750" indent="-285750">
              <a:buFontTx/>
              <a:buChar char="-"/>
            </a:pPr>
            <a:endParaRPr lang="es-ES" dirty="0"/>
          </a:p>
          <a:p>
            <a:r>
              <a:rPr lang="es-ES" b="1" dirty="0"/>
              <a:t>Sobre la parametrización</a:t>
            </a:r>
          </a:p>
          <a:p>
            <a:r>
              <a:rPr lang="es-ES" dirty="0"/>
              <a:t>Se pretendía encontrar reglas asociativas donde </a:t>
            </a:r>
            <a:r>
              <a:rPr lang="es-ES" dirty="0" err="1"/>
              <a:t>Exited</a:t>
            </a:r>
            <a:r>
              <a:rPr lang="es-ES" dirty="0"/>
              <a:t> fuera el consecuente, y </a:t>
            </a:r>
            <a:r>
              <a:rPr lang="es-ES" dirty="0" err="1"/>
              <a:t>Exited</a:t>
            </a:r>
            <a:r>
              <a:rPr lang="es-ES" dirty="0"/>
              <a:t> es una variable claramente desbalanceada para las 7000 observaciones (20% </a:t>
            </a:r>
            <a:r>
              <a:rPr lang="es-ES" dirty="0" err="1"/>
              <a:t>Exited</a:t>
            </a:r>
            <a:r>
              <a:rPr lang="es-ES" dirty="0"/>
              <a:t>=1, 80% </a:t>
            </a:r>
            <a:r>
              <a:rPr lang="es-ES" dirty="0" err="1"/>
              <a:t>Exited</a:t>
            </a:r>
            <a:r>
              <a:rPr lang="es-ES" dirty="0"/>
              <a:t>=0).</a:t>
            </a:r>
          </a:p>
          <a:p>
            <a:endParaRPr lang="es-ES" dirty="0"/>
          </a:p>
          <a:p>
            <a:pPr algn="just"/>
            <a:r>
              <a:rPr lang="es-ES" dirty="0"/>
              <a:t>Esta circunstancia derivó en la elección de un soporte mínimo extremadamente bajo, de modo que se pudiera obtener reglas significativas asociadas al abandono del banco. En los valores LIFT se podrá ver que el hecho de reducir el soporte no impide obtener reglas muy significativas que expliquen tendencias dentro de ese 20% de la muestra. </a:t>
            </a:r>
            <a:r>
              <a:rPr lang="es-ES" b="1" i="1" dirty="0"/>
              <a:t>El soporte mínimo elegido fue de 0.0125. </a:t>
            </a:r>
            <a:r>
              <a:rPr lang="es-ES" dirty="0"/>
              <a:t>Esto supone que solo se considerarán reglas que ocurran en al menos el 1.25% de las transacciones.</a:t>
            </a:r>
            <a:endParaRPr lang="es-ES" b="1" i="1" dirty="0"/>
          </a:p>
          <a:p>
            <a:pPr algn="just"/>
            <a:endParaRPr lang="es-ES" dirty="0"/>
          </a:p>
          <a:p>
            <a:pPr algn="just"/>
            <a:r>
              <a:rPr lang="es-ES" dirty="0"/>
              <a:t>Esto también afecta a la elección de la confianza: Se ha escogido </a:t>
            </a:r>
            <a:r>
              <a:rPr lang="es-ES" b="1" dirty="0"/>
              <a:t>confianza=0.6</a:t>
            </a:r>
            <a:r>
              <a:rPr lang="es-ES" dirty="0"/>
              <a:t>, lo que significa que cuando se da la condición del antecedente, en el 60% de los casos se cumple el consecuente.</a:t>
            </a:r>
          </a:p>
        </p:txBody>
      </p:sp>
    </p:spTree>
    <p:extLst>
      <p:ext uri="{BB962C8B-B14F-4D97-AF65-F5344CB8AC3E}">
        <p14:creationId xmlns:p14="http://schemas.microsoft.com/office/powerpoint/2010/main" val="1928837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55C995D2-E420-AAEA-4FF1-82F41E8CE557}"/>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F6C12439-9695-5DCC-5484-455797F0DD0A}"/>
              </a:ext>
            </a:extLst>
          </p:cNvPr>
          <p:cNvSpPr txBox="1">
            <a:spLocks noGrp="1"/>
          </p:cNvSpPr>
          <p:nvPr>
            <p:ph type="title"/>
          </p:nvPr>
        </p:nvSpPr>
        <p:spPr>
          <a:xfrm>
            <a:off x="720000" y="236566"/>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ES" sz="2400" dirty="0" err="1"/>
              <a:t>Association</a:t>
            </a:r>
            <a:r>
              <a:rPr lang="es-ES" sz="2400" dirty="0"/>
              <a:t> Rules 2/2: resultados</a:t>
            </a:r>
            <a:endParaRPr sz="2400" dirty="0"/>
          </a:p>
        </p:txBody>
      </p:sp>
      <p:grpSp>
        <p:nvGrpSpPr>
          <p:cNvPr id="616" name="Google Shape;894;p25">
            <a:extLst>
              <a:ext uri="{FF2B5EF4-FFF2-40B4-BE49-F238E27FC236}">
                <a16:creationId xmlns:a16="http://schemas.microsoft.com/office/drawing/2014/main" id="{211B4FB1-DED4-BE7B-08DF-63276B9D3A7C}"/>
              </a:ext>
            </a:extLst>
          </p:cNvPr>
          <p:cNvGrpSpPr/>
          <p:nvPr/>
        </p:nvGrpSpPr>
        <p:grpSpPr>
          <a:xfrm>
            <a:off x="1263704" y="2892821"/>
            <a:ext cx="362991" cy="290018"/>
            <a:chOff x="3049653" y="2321468"/>
            <a:chExt cx="362991" cy="290018"/>
          </a:xfrm>
        </p:grpSpPr>
        <p:sp>
          <p:nvSpPr>
            <p:cNvPr id="617" name="Google Shape;895;p25">
              <a:extLst>
                <a:ext uri="{FF2B5EF4-FFF2-40B4-BE49-F238E27FC236}">
                  <a16:creationId xmlns:a16="http://schemas.microsoft.com/office/drawing/2014/main" id="{1B597574-2DCB-212D-0771-E5B500E26B64}"/>
                </a:ext>
              </a:extLst>
            </p:cNvPr>
            <p:cNvSpPr/>
            <p:nvPr/>
          </p:nvSpPr>
          <p:spPr>
            <a:xfrm>
              <a:off x="3280290" y="2429690"/>
              <a:ext cx="29913" cy="73957"/>
            </a:xfrm>
            <a:custGeom>
              <a:avLst/>
              <a:gdLst/>
              <a:ahLst/>
              <a:cxnLst/>
              <a:rect l="l" t="t" r="r" b="b"/>
              <a:pathLst>
                <a:path w="942" h="2329" extrusionOk="0">
                  <a:moveTo>
                    <a:pt x="200" y="1"/>
                  </a:moveTo>
                  <a:cubicBezTo>
                    <a:pt x="158" y="1"/>
                    <a:pt x="114" y="16"/>
                    <a:pt x="72" y="45"/>
                  </a:cubicBezTo>
                  <a:cubicBezTo>
                    <a:pt x="13" y="93"/>
                    <a:pt x="13" y="200"/>
                    <a:pt x="72" y="283"/>
                  </a:cubicBezTo>
                  <a:cubicBezTo>
                    <a:pt x="572" y="772"/>
                    <a:pt x="572" y="1569"/>
                    <a:pt x="72" y="2046"/>
                  </a:cubicBezTo>
                  <a:cubicBezTo>
                    <a:pt x="1" y="2129"/>
                    <a:pt x="1" y="2224"/>
                    <a:pt x="72" y="2284"/>
                  </a:cubicBezTo>
                  <a:cubicBezTo>
                    <a:pt x="102" y="2313"/>
                    <a:pt x="144" y="2328"/>
                    <a:pt x="187" y="2328"/>
                  </a:cubicBezTo>
                  <a:cubicBezTo>
                    <a:pt x="230" y="2328"/>
                    <a:pt x="275" y="2313"/>
                    <a:pt x="310" y="2284"/>
                  </a:cubicBezTo>
                  <a:cubicBezTo>
                    <a:pt x="941" y="1665"/>
                    <a:pt x="941" y="664"/>
                    <a:pt x="310" y="45"/>
                  </a:cubicBezTo>
                  <a:cubicBezTo>
                    <a:pt x="280" y="16"/>
                    <a:pt x="242" y="1"/>
                    <a:pt x="20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896;p25">
              <a:extLst>
                <a:ext uri="{FF2B5EF4-FFF2-40B4-BE49-F238E27FC236}">
                  <a16:creationId xmlns:a16="http://schemas.microsoft.com/office/drawing/2014/main" id="{DF9980C2-B859-8AF2-BBF6-9114FC1C9DC3}"/>
                </a:ext>
              </a:extLst>
            </p:cNvPr>
            <p:cNvSpPr/>
            <p:nvPr/>
          </p:nvSpPr>
          <p:spPr>
            <a:xfrm>
              <a:off x="3317729" y="2392250"/>
              <a:ext cx="49570" cy="148836"/>
            </a:xfrm>
            <a:custGeom>
              <a:avLst/>
              <a:gdLst/>
              <a:ahLst/>
              <a:cxnLst/>
              <a:rect l="l" t="t" r="r" b="b"/>
              <a:pathLst>
                <a:path w="1561" h="4687" extrusionOk="0">
                  <a:moveTo>
                    <a:pt x="183" y="1"/>
                  </a:moveTo>
                  <a:cubicBezTo>
                    <a:pt x="140" y="1"/>
                    <a:pt x="96" y="16"/>
                    <a:pt x="60" y="46"/>
                  </a:cubicBezTo>
                  <a:cubicBezTo>
                    <a:pt x="0" y="105"/>
                    <a:pt x="0" y="212"/>
                    <a:pt x="60" y="284"/>
                  </a:cubicBezTo>
                  <a:cubicBezTo>
                    <a:pt x="1191" y="1415"/>
                    <a:pt x="1191" y="3272"/>
                    <a:pt x="60" y="4403"/>
                  </a:cubicBezTo>
                  <a:cubicBezTo>
                    <a:pt x="0" y="4475"/>
                    <a:pt x="0" y="4582"/>
                    <a:pt x="60" y="4641"/>
                  </a:cubicBezTo>
                  <a:cubicBezTo>
                    <a:pt x="90" y="4671"/>
                    <a:pt x="131" y="4686"/>
                    <a:pt x="175" y="4686"/>
                  </a:cubicBezTo>
                  <a:cubicBezTo>
                    <a:pt x="218" y="4686"/>
                    <a:pt x="262" y="4671"/>
                    <a:pt x="298" y="4641"/>
                  </a:cubicBezTo>
                  <a:cubicBezTo>
                    <a:pt x="1560" y="3379"/>
                    <a:pt x="1560" y="1308"/>
                    <a:pt x="298" y="46"/>
                  </a:cubicBezTo>
                  <a:cubicBezTo>
                    <a:pt x="268" y="16"/>
                    <a:pt x="227" y="1"/>
                    <a:pt x="18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897;p25">
              <a:extLst>
                <a:ext uri="{FF2B5EF4-FFF2-40B4-BE49-F238E27FC236}">
                  <a16:creationId xmlns:a16="http://schemas.microsoft.com/office/drawing/2014/main" id="{AB150971-3AFF-C959-ACCF-A54E6949A937}"/>
                </a:ext>
              </a:extLst>
            </p:cNvPr>
            <p:cNvSpPr/>
            <p:nvPr/>
          </p:nvSpPr>
          <p:spPr>
            <a:xfrm>
              <a:off x="3354406" y="2355954"/>
              <a:ext cx="58239" cy="222317"/>
            </a:xfrm>
            <a:custGeom>
              <a:avLst/>
              <a:gdLst/>
              <a:ahLst/>
              <a:cxnLst/>
              <a:rect l="l" t="t" r="r" b="b"/>
              <a:pathLst>
                <a:path w="1834" h="7001" extrusionOk="0">
                  <a:moveTo>
                    <a:pt x="174" y="1"/>
                  </a:moveTo>
                  <a:cubicBezTo>
                    <a:pt x="131" y="1"/>
                    <a:pt x="90" y="16"/>
                    <a:pt x="60" y="46"/>
                  </a:cubicBezTo>
                  <a:cubicBezTo>
                    <a:pt x="0" y="105"/>
                    <a:pt x="0" y="200"/>
                    <a:pt x="60" y="284"/>
                  </a:cubicBezTo>
                  <a:cubicBezTo>
                    <a:pt x="1834" y="2046"/>
                    <a:pt x="1834" y="4939"/>
                    <a:pt x="60" y="6713"/>
                  </a:cubicBezTo>
                  <a:cubicBezTo>
                    <a:pt x="0" y="6773"/>
                    <a:pt x="0" y="6868"/>
                    <a:pt x="60" y="6951"/>
                  </a:cubicBezTo>
                  <a:cubicBezTo>
                    <a:pt x="88" y="6985"/>
                    <a:pt x="128" y="7000"/>
                    <a:pt x="169" y="7000"/>
                  </a:cubicBezTo>
                  <a:cubicBezTo>
                    <a:pt x="214" y="7000"/>
                    <a:pt x="261" y="6982"/>
                    <a:pt x="298" y="6951"/>
                  </a:cubicBezTo>
                  <a:cubicBezTo>
                    <a:pt x="1227" y="6023"/>
                    <a:pt x="1727" y="4808"/>
                    <a:pt x="1727" y="3498"/>
                  </a:cubicBezTo>
                  <a:cubicBezTo>
                    <a:pt x="1727" y="2189"/>
                    <a:pt x="1227" y="962"/>
                    <a:pt x="298" y="46"/>
                  </a:cubicBezTo>
                  <a:cubicBezTo>
                    <a:pt x="262" y="16"/>
                    <a:pt x="218" y="1"/>
                    <a:pt x="17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898;p25">
              <a:extLst>
                <a:ext uri="{FF2B5EF4-FFF2-40B4-BE49-F238E27FC236}">
                  <a16:creationId xmlns:a16="http://schemas.microsoft.com/office/drawing/2014/main" id="{14AF9887-6176-DAB6-B988-A356E370C220}"/>
                </a:ext>
              </a:extLst>
            </p:cNvPr>
            <p:cNvSpPr/>
            <p:nvPr/>
          </p:nvSpPr>
          <p:spPr>
            <a:xfrm>
              <a:off x="3049653" y="2321468"/>
              <a:ext cx="210250" cy="290018"/>
            </a:xfrm>
            <a:custGeom>
              <a:avLst/>
              <a:gdLst/>
              <a:ahLst/>
              <a:cxnLst/>
              <a:rect l="l" t="t" r="r" b="b"/>
              <a:pathLst>
                <a:path w="6621" h="9133" extrusionOk="0">
                  <a:moveTo>
                    <a:pt x="5216" y="1072"/>
                  </a:moveTo>
                  <a:lnTo>
                    <a:pt x="5216" y="8097"/>
                  </a:lnTo>
                  <a:cubicBezTo>
                    <a:pt x="4156" y="7751"/>
                    <a:pt x="3287" y="7037"/>
                    <a:pt x="2739" y="6061"/>
                  </a:cubicBezTo>
                  <a:lnTo>
                    <a:pt x="2739" y="3084"/>
                  </a:lnTo>
                  <a:cubicBezTo>
                    <a:pt x="3275" y="2120"/>
                    <a:pt x="4156" y="1405"/>
                    <a:pt x="5216" y="1072"/>
                  </a:cubicBezTo>
                  <a:close/>
                  <a:moveTo>
                    <a:pt x="5716" y="0"/>
                  </a:moveTo>
                  <a:cubicBezTo>
                    <a:pt x="5430" y="0"/>
                    <a:pt x="5216" y="215"/>
                    <a:pt x="5216" y="501"/>
                  </a:cubicBezTo>
                  <a:lnTo>
                    <a:pt x="5216" y="691"/>
                  </a:lnTo>
                  <a:cubicBezTo>
                    <a:pt x="4049" y="1048"/>
                    <a:pt x="3096" y="1810"/>
                    <a:pt x="2489" y="2858"/>
                  </a:cubicBezTo>
                  <a:lnTo>
                    <a:pt x="1227" y="2858"/>
                  </a:lnTo>
                  <a:cubicBezTo>
                    <a:pt x="549" y="2858"/>
                    <a:pt x="13" y="3394"/>
                    <a:pt x="13" y="4061"/>
                  </a:cubicBezTo>
                  <a:lnTo>
                    <a:pt x="13" y="5037"/>
                  </a:lnTo>
                  <a:cubicBezTo>
                    <a:pt x="1" y="5692"/>
                    <a:pt x="489" y="6227"/>
                    <a:pt x="1120" y="6275"/>
                  </a:cubicBezTo>
                  <a:cubicBezTo>
                    <a:pt x="1203" y="6275"/>
                    <a:pt x="1287" y="6216"/>
                    <a:pt x="1299" y="6132"/>
                  </a:cubicBezTo>
                  <a:cubicBezTo>
                    <a:pt x="1299" y="6037"/>
                    <a:pt x="1239" y="5966"/>
                    <a:pt x="1144" y="5954"/>
                  </a:cubicBezTo>
                  <a:cubicBezTo>
                    <a:pt x="703" y="5918"/>
                    <a:pt x="346" y="5537"/>
                    <a:pt x="346" y="5073"/>
                  </a:cubicBezTo>
                  <a:lnTo>
                    <a:pt x="346" y="4084"/>
                  </a:lnTo>
                  <a:cubicBezTo>
                    <a:pt x="346" y="3608"/>
                    <a:pt x="727" y="3215"/>
                    <a:pt x="1227" y="3215"/>
                  </a:cubicBezTo>
                  <a:lnTo>
                    <a:pt x="2418" y="3215"/>
                  </a:lnTo>
                  <a:lnTo>
                    <a:pt x="2418" y="5954"/>
                  </a:lnTo>
                  <a:lnTo>
                    <a:pt x="1918" y="5954"/>
                  </a:lnTo>
                  <a:cubicBezTo>
                    <a:pt x="1834" y="5954"/>
                    <a:pt x="1763" y="6025"/>
                    <a:pt x="1763" y="6108"/>
                  </a:cubicBezTo>
                  <a:cubicBezTo>
                    <a:pt x="1763" y="6204"/>
                    <a:pt x="1834" y="6275"/>
                    <a:pt x="1918" y="6275"/>
                  </a:cubicBezTo>
                  <a:lnTo>
                    <a:pt x="2489" y="6275"/>
                  </a:lnTo>
                  <a:cubicBezTo>
                    <a:pt x="3096" y="7323"/>
                    <a:pt x="4049" y="8097"/>
                    <a:pt x="5216" y="8430"/>
                  </a:cubicBezTo>
                  <a:lnTo>
                    <a:pt x="5216" y="8633"/>
                  </a:lnTo>
                  <a:cubicBezTo>
                    <a:pt x="5216" y="8906"/>
                    <a:pt x="5430" y="9133"/>
                    <a:pt x="5716" y="9133"/>
                  </a:cubicBezTo>
                  <a:lnTo>
                    <a:pt x="6121" y="9133"/>
                  </a:lnTo>
                  <a:cubicBezTo>
                    <a:pt x="6406" y="9133"/>
                    <a:pt x="6621" y="8906"/>
                    <a:pt x="6621" y="8633"/>
                  </a:cubicBezTo>
                  <a:lnTo>
                    <a:pt x="6621" y="4953"/>
                  </a:lnTo>
                  <a:cubicBezTo>
                    <a:pt x="6621" y="4858"/>
                    <a:pt x="6549" y="4787"/>
                    <a:pt x="6466" y="4787"/>
                  </a:cubicBezTo>
                  <a:cubicBezTo>
                    <a:pt x="6371" y="4787"/>
                    <a:pt x="6299" y="4858"/>
                    <a:pt x="6299" y="4953"/>
                  </a:cubicBezTo>
                  <a:lnTo>
                    <a:pt x="6299" y="8633"/>
                  </a:lnTo>
                  <a:cubicBezTo>
                    <a:pt x="6299" y="8728"/>
                    <a:pt x="6228" y="8811"/>
                    <a:pt x="6121" y="8811"/>
                  </a:cubicBezTo>
                  <a:lnTo>
                    <a:pt x="5716" y="8811"/>
                  </a:lnTo>
                  <a:cubicBezTo>
                    <a:pt x="5609" y="8811"/>
                    <a:pt x="5537" y="8728"/>
                    <a:pt x="5537" y="8633"/>
                  </a:cubicBezTo>
                  <a:lnTo>
                    <a:pt x="5537" y="501"/>
                  </a:lnTo>
                  <a:cubicBezTo>
                    <a:pt x="5537" y="393"/>
                    <a:pt x="5609" y="322"/>
                    <a:pt x="5716" y="322"/>
                  </a:cubicBezTo>
                  <a:lnTo>
                    <a:pt x="6121" y="322"/>
                  </a:lnTo>
                  <a:cubicBezTo>
                    <a:pt x="6228" y="322"/>
                    <a:pt x="6299" y="393"/>
                    <a:pt x="6299" y="501"/>
                  </a:cubicBezTo>
                  <a:lnTo>
                    <a:pt x="6299" y="4180"/>
                  </a:lnTo>
                  <a:cubicBezTo>
                    <a:pt x="6299" y="4263"/>
                    <a:pt x="6371" y="4346"/>
                    <a:pt x="6466" y="4346"/>
                  </a:cubicBezTo>
                  <a:cubicBezTo>
                    <a:pt x="6549" y="4346"/>
                    <a:pt x="6621" y="4263"/>
                    <a:pt x="6621" y="4180"/>
                  </a:cubicBezTo>
                  <a:lnTo>
                    <a:pt x="6621" y="501"/>
                  </a:lnTo>
                  <a:cubicBezTo>
                    <a:pt x="6621" y="215"/>
                    <a:pt x="6406" y="0"/>
                    <a:pt x="61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28" name="Imagen 627">
            <a:extLst>
              <a:ext uri="{FF2B5EF4-FFF2-40B4-BE49-F238E27FC236}">
                <a16:creationId xmlns:a16="http://schemas.microsoft.com/office/drawing/2014/main" id="{0049D36F-5CE6-EB69-3EFF-B0FC9696B8D3}"/>
              </a:ext>
            </a:extLst>
          </p:cNvPr>
          <p:cNvPicPr>
            <a:picLocks noChangeAspect="1"/>
          </p:cNvPicPr>
          <p:nvPr/>
        </p:nvPicPr>
        <p:blipFill>
          <a:blip r:embed="rId3"/>
          <a:stretch>
            <a:fillRect/>
          </a:stretch>
        </p:blipFill>
        <p:spPr>
          <a:xfrm>
            <a:off x="221950" y="970344"/>
            <a:ext cx="3952017" cy="2329037"/>
          </a:xfrm>
          <a:prstGeom prst="rect">
            <a:avLst/>
          </a:prstGeom>
        </p:spPr>
      </p:pic>
      <p:sp>
        <p:nvSpPr>
          <p:cNvPr id="59" name="Google Shape;849;p25">
            <a:extLst>
              <a:ext uri="{FF2B5EF4-FFF2-40B4-BE49-F238E27FC236}">
                <a16:creationId xmlns:a16="http://schemas.microsoft.com/office/drawing/2014/main" id="{272A9B48-06CD-BA0E-9761-7A83F9A0C7F5}"/>
              </a:ext>
            </a:extLst>
          </p:cNvPr>
          <p:cNvSpPr/>
          <p:nvPr/>
        </p:nvSpPr>
        <p:spPr>
          <a:xfrm>
            <a:off x="221951" y="884749"/>
            <a:ext cx="4101022" cy="2441196"/>
          </a:xfrm>
          <a:prstGeom prst="roundRect">
            <a:avLst>
              <a:gd name="adj" fmla="val 5989"/>
            </a:avLst>
          </a:prstGeom>
          <a:noFill/>
          <a:ln w="9525" cap="flat" cmpd="sng">
            <a:solidFill>
              <a:srgbClr val="00B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highlight>
                <a:srgbClr val="000080"/>
              </a:highlight>
            </a:endParaRPr>
          </a:p>
        </p:txBody>
      </p:sp>
      <p:sp>
        <p:nvSpPr>
          <p:cNvPr id="63" name="Google Shape;853;p25">
            <a:extLst>
              <a:ext uri="{FF2B5EF4-FFF2-40B4-BE49-F238E27FC236}">
                <a16:creationId xmlns:a16="http://schemas.microsoft.com/office/drawing/2014/main" id="{DAAC3287-95C6-BA1F-9A87-A2ACA773479C}"/>
              </a:ext>
            </a:extLst>
          </p:cNvPr>
          <p:cNvSpPr/>
          <p:nvPr/>
        </p:nvSpPr>
        <p:spPr>
          <a:xfrm>
            <a:off x="221949" y="741395"/>
            <a:ext cx="2379842" cy="275159"/>
          </a:xfrm>
          <a:prstGeom prst="roundRect">
            <a:avLst>
              <a:gd name="adj" fmla="val 16667"/>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r>
              <a:rPr lang="es-ES" dirty="0">
                <a:latin typeface="Arial Rounded MT Bold" panose="020F0704030504030204" pitchFamily="34" charset="0"/>
              </a:rPr>
              <a:t>Consecuente: </a:t>
            </a:r>
            <a:r>
              <a:rPr lang="es-ES" dirty="0" err="1">
                <a:latin typeface="Arial Rounded MT Bold" panose="020F0704030504030204" pitchFamily="34" charset="0"/>
              </a:rPr>
              <a:t>Exited</a:t>
            </a:r>
            <a:r>
              <a:rPr lang="es-ES" dirty="0">
                <a:latin typeface="Arial Rounded MT Bold" panose="020F0704030504030204" pitchFamily="34" charset="0"/>
              </a:rPr>
              <a:t>=0</a:t>
            </a:r>
            <a:endParaRPr dirty="0">
              <a:latin typeface="Arial Rounded MT Bold" panose="020F0704030504030204" pitchFamily="34" charset="0"/>
            </a:endParaRPr>
          </a:p>
        </p:txBody>
      </p:sp>
      <p:pic>
        <p:nvPicPr>
          <p:cNvPr id="630" name="Imagen 629">
            <a:extLst>
              <a:ext uri="{FF2B5EF4-FFF2-40B4-BE49-F238E27FC236}">
                <a16:creationId xmlns:a16="http://schemas.microsoft.com/office/drawing/2014/main" id="{D6958A06-027A-312F-9B3B-4479111747AE}"/>
              </a:ext>
            </a:extLst>
          </p:cNvPr>
          <p:cNvPicPr>
            <a:picLocks noChangeAspect="1"/>
          </p:cNvPicPr>
          <p:nvPr/>
        </p:nvPicPr>
        <p:blipFill>
          <a:blip r:embed="rId4"/>
          <a:stretch>
            <a:fillRect/>
          </a:stretch>
        </p:blipFill>
        <p:spPr>
          <a:xfrm>
            <a:off x="4649663" y="1051342"/>
            <a:ext cx="4101022" cy="2248039"/>
          </a:xfrm>
          <a:prstGeom prst="rect">
            <a:avLst/>
          </a:prstGeom>
        </p:spPr>
      </p:pic>
      <p:sp>
        <p:nvSpPr>
          <p:cNvPr id="631" name="CuadroTexto 630">
            <a:extLst>
              <a:ext uri="{FF2B5EF4-FFF2-40B4-BE49-F238E27FC236}">
                <a16:creationId xmlns:a16="http://schemas.microsoft.com/office/drawing/2014/main" id="{7AA7058E-9BE2-849D-0A76-2B2D241AFF6D}"/>
              </a:ext>
            </a:extLst>
          </p:cNvPr>
          <p:cNvSpPr txBox="1"/>
          <p:nvPr/>
        </p:nvSpPr>
        <p:spPr>
          <a:xfrm>
            <a:off x="147827" y="3350032"/>
            <a:ext cx="4249270" cy="1107996"/>
          </a:xfrm>
          <a:prstGeom prst="rect">
            <a:avLst/>
          </a:prstGeom>
          <a:noFill/>
        </p:spPr>
        <p:txBody>
          <a:bodyPr wrap="square" rtlCol="0">
            <a:spAutoFit/>
          </a:bodyPr>
          <a:lstStyle/>
          <a:p>
            <a:r>
              <a:rPr lang="es-ES" sz="1100" dirty="0"/>
              <a:t>Confianza de 1 o ~1: </a:t>
            </a:r>
            <a:r>
              <a:rPr lang="es-ES" sz="1100" b="1" dirty="0"/>
              <a:t>siempre que ha sucedido el antecedente se da el consecuente</a:t>
            </a:r>
            <a:endParaRPr lang="es-ES" sz="1100" dirty="0"/>
          </a:p>
          <a:p>
            <a:endParaRPr lang="es-ES" sz="1100" dirty="0"/>
          </a:p>
          <a:p>
            <a:r>
              <a:rPr lang="es-ES" sz="1100" dirty="0"/>
              <a:t>Diversas reglas refuerzan la tesis de que clientes de entre 18-35 años, con 2 productos y casados o con solvencia para pedir préstamos es prácticamente seguro que se quedarán en el banco</a:t>
            </a:r>
          </a:p>
        </p:txBody>
      </p:sp>
      <p:sp>
        <p:nvSpPr>
          <p:cNvPr id="632" name="CuadroTexto 631">
            <a:extLst>
              <a:ext uri="{FF2B5EF4-FFF2-40B4-BE49-F238E27FC236}">
                <a16:creationId xmlns:a16="http://schemas.microsoft.com/office/drawing/2014/main" id="{710A3BEA-2604-24E5-30E8-C13F32D4BE4C}"/>
              </a:ext>
            </a:extLst>
          </p:cNvPr>
          <p:cNvSpPr txBox="1"/>
          <p:nvPr/>
        </p:nvSpPr>
        <p:spPr>
          <a:xfrm>
            <a:off x="4649663" y="3336128"/>
            <a:ext cx="4431491" cy="1277273"/>
          </a:xfrm>
          <a:prstGeom prst="rect">
            <a:avLst/>
          </a:prstGeom>
          <a:noFill/>
        </p:spPr>
        <p:txBody>
          <a:bodyPr wrap="square" rtlCol="0">
            <a:spAutoFit/>
          </a:bodyPr>
          <a:lstStyle/>
          <a:p>
            <a:pPr algn="just"/>
            <a:r>
              <a:rPr lang="es-ES" sz="1100" dirty="0" err="1"/>
              <a:t>Lift</a:t>
            </a:r>
            <a:r>
              <a:rPr lang="es-ES" sz="1100" dirty="0"/>
              <a:t> de ~3 el consecuente es </a:t>
            </a:r>
            <a:r>
              <a:rPr lang="es-ES" sz="1100" b="1" dirty="0"/>
              <a:t>3 veces más probable cuando ocurre el antecedente</a:t>
            </a:r>
            <a:r>
              <a:rPr lang="es-ES" sz="1100" dirty="0"/>
              <a:t> que si fueran independientes</a:t>
            </a:r>
          </a:p>
          <a:p>
            <a:pPr algn="just"/>
            <a:endParaRPr lang="es-ES" sz="1100" dirty="0"/>
          </a:p>
          <a:p>
            <a:pPr algn="just"/>
            <a:r>
              <a:rPr lang="es-ES" sz="1100" dirty="0"/>
              <a:t>Preocupante segmento de edad 46-55 años en mujeres y nacionalidad alemana.</a:t>
            </a:r>
          </a:p>
          <a:p>
            <a:pPr algn="just"/>
            <a:r>
              <a:rPr lang="es-ES" sz="1100" dirty="0"/>
              <a:t>Revisar las condiciones que ofrece el banco a clientes con 3 productos o más.</a:t>
            </a:r>
          </a:p>
        </p:txBody>
      </p:sp>
      <p:sp>
        <p:nvSpPr>
          <p:cNvPr id="583" name="Google Shape;861;p25">
            <a:extLst>
              <a:ext uri="{FF2B5EF4-FFF2-40B4-BE49-F238E27FC236}">
                <a16:creationId xmlns:a16="http://schemas.microsoft.com/office/drawing/2014/main" id="{160C52B2-04F8-173B-FD6B-C29FC57BF3F5}"/>
              </a:ext>
            </a:extLst>
          </p:cNvPr>
          <p:cNvSpPr/>
          <p:nvPr/>
        </p:nvSpPr>
        <p:spPr>
          <a:xfrm>
            <a:off x="4649663" y="878974"/>
            <a:ext cx="4397517" cy="2441196"/>
          </a:xfrm>
          <a:prstGeom prst="roundRect">
            <a:avLst>
              <a:gd name="adj" fmla="val 5989"/>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865;p25">
            <a:extLst>
              <a:ext uri="{FF2B5EF4-FFF2-40B4-BE49-F238E27FC236}">
                <a16:creationId xmlns:a16="http://schemas.microsoft.com/office/drawing/2014/main" id="{F5FADC25-6962-68E7-217A-0BA156D5F24E}"/>
              </a:ext>
            </a:extLst>
          </p:cNvPr>
          <p:cNvSpPr/>
          <p:nvPr/>
        </p:nvSpPr>
        <p:spPr>
          <a:xfrm>
            <a:off x="4649663" y="809266"/>
            <a:ext cx="2379842" cy="264401"/>
          </a:xfrm>
          <a:prstGeom prst="roundRect">
            <a:avLst>
              <a:gd name="adj" fmla="val 16667"/>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91425" rIns="91425" bIns="91425" anchor="ctr" anchorCtr="0">
            <a:noAutofit/>
          </a:bodyPr>
          <a:lstStyle/>
          <a:p>
            <a:pPr lvl="0"/>
            <a:r>
              <a:rPr lang="es-ES" dirty="0">
                <a:latin typeface="Arial Rounded MT Bold" panose="020F0704030504030204" pitchFamily="34" charset="0"/>
              </a:rPr>
              <a:t>Consecuente: </a:t>
            </a:r>
            <a:r>
              <a:rPr lang="es-ES" dirty="0" err="1">
                <a:latin typeface="Arial Rounded MT Bold" panose="020F0704030504030204" pitchFamily="34" charset="0"/>
              </a:rPr>
              <a:t>Exited</a:t>
            </a:r>
            <a:r>
              <a:rPr lang="es-ES" dirty="0">
                <a:latin typeface="Arial Rounded MT Bold" panose="020F0704030504030204" pitchFamily="34" charset="0"/>
              </a:rPr>
              <a:t>=1</a:t>
            </a:r>
          </a:p>
        </p:txBody>
      </p:sp>
      <p:sp>
        <p:nvSpPr>
          <p:cNvPr id="634" name="CuadroTexto 633">
            <a:extLst>
              <a:ext uri="{FF2B5EF4-FFF2-40B4-BE49-F238E27FC236}">
                <a16:creationId xmlns:a16="http://schemas.microsoft.com/office/drawing/2014/main" id="{51011016-44F2-FE07-8AF0-A81903637A7B}"/>
              </a:ext>
            </a:extLst>
          </p:cNvPr>
          <p:cNvSpPr txBox="1"/>
          <p:nvPr/>
        </p:nvSpPr>
        <p:spPr>
          <a:xfrm>
            <a:off x="118335" y="4594319"/>
            <a:ext cx="8928845" cy="461665"/>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s-ES" sz="1200" b="1" i="1" dirty="0">
                <a:solidFill>
                  <a:schemeClr val="tx1"/>
                </a:solidFill>
              </a:rPr>
              <a:t>Variables declaradas previamente como significativas concuerdan con las que aparecen en las reglas más informativas: </a:t>
            </a:r>
            <a:r>
              <a:rPr lang="es-ES" sz="1200" b="1" i="1" u="sng" dirty="0">
                <a:solidFill>
                  <a:schemeClr val="tx1"/>
                </a:solidFill>
              </a:rPr>
              <a:t>Validación de la significancia</a:t>
            </a:r>
          </a:p>
        </p:txBody>
      </p:sp>
    </p:spTree>
    <p:extLst>
      <p:ext uri="{BB962C8B-B14F-4D97-AF65-F5344CB8AC3E}">
        <p14:creationId xmlns:p14="http://schemas.microsoft.com/office/powerpoint/2010/main" val="3729417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113A20AF-FC6D-9F73-F5DC-B1B6F2ADABDB}"/>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D2F30AEF-5FFA-6775-646D-F971A970963C}"/>
              </a:ext>
            </a:extLst>
          </p:cNvPr>
          <p:cNvSpPr txBox="1">
            <a:spLocks noGrp="1"/>
          </p:cNvSpPr>
          <p:nvPr>
            <p:ph type="title"/>
          </p:nvPr>
        </p:nvSpPr>
        <p:spPr>
          <a:xfrm>
            <a:off x="673945" y="285499"/>
            <a:ext cx="7704000" cy="572700"/>
          </a:xfrm>
          <a:prstGeom prst="rect">
            <a:avLst/>
          </a:prstGeom>
        </p:spPr>
        <p:txBody>
          <a:bodyPr spcFirstLastPara="1" wrap="square" lIns="91425" tIns="91425" rIns="91425" bIns="91425" anchor="t" anchorCtr="0">
            <a:noAutofit/>
          </a:bodyPr>
          <a:lstStyle/>
          <a:p>
            <a:pPr lvl="0"/>
            <a:r>
              <a:rPr lang="es-ES" dirty="0"/>
              <a:t>PREPARACIÓN PARA EL MODELADO</a:t>
            </a:r>
            <a:endParaRPr dirty="0"/>
          </a:p>
        </p:txBody>
      </p:sp>
      <p:pic>
        <p:nvPicPr>
          <p:cNvPr id="1026" name="Picture 2" descr="Handling Imbalanced Dataset In Machine Learning. | by Shivam Chhetry |  Medium">
            <a:extLst>
              <a:ext uri="{FF2B5EF4-FFF2-40B4-BE49-F238E27FC236}">
                <a16:creationId xmlns:a16="http://schemas.microsoft.com/office/drawing/2014/main" id="{C18EA33C-C5E0-87E7-4EF1-8FB48CB1C0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448" y="1073150"/>
            <a:ext cx="2318042" cy="11557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40EE447-D04F-9B51-31BE-AD39AA4B154C}"/>
              </a:ext>
            </a:extLst>
          </p:cNvPr>
          <p:cNvSpPr txBox="1"/>
          <p:nvPr/>
        </p:nvSpPr>
        <p:spPr>
          <a:xfrm>
            <a:off x="559833" y="748484"/>
            <a:ext cx="2064989" cy="307777"/>
          </a:xfrm>
          <a:prstGeom prst="rect">
            <a:avLst/>
          </a:prstGeom>
          <a:noFill/>
        </p:spPr>
        <p:txBody>
          <a:bodyPr wrap="none" rtlCol="0">
            <a:spAutoFit/>
          </a:bodyPr>
          <a:lstStyle/>
          <a:p>
            <a:r>
              <a:rPr lang="en-ES" dirty="0"/>
              <a:t>Dataset desbalanceado</a:t>
            </a:r>
          </a:p>
        </p:txBody>
      </p:sp>
      <p:sp>
        <p:nvSpPr>
          <p:cNvPr id="5" name="TextBox 4">
            <a:extLst>
              <a:ext uri="{FF2B5EF4-FFF2-40B4-BE49-F238E27FC236}">
                <a16:creationId xmlns:a16="http://schemas.microsoft.com/office/drawing/2014/main" id="{9F3DB66A-05BA-4C22-89CA-05489D147222}"/>
              </a:ext>
            </a:extLst>
          </p:cNvPr>
          <p:cNvSpPr txBox="1"/>
          <p:nvPr/>
        </p:nvSpPr>
        <p:spPr>
          <a:xfrm>
            <a:off x="862078" y="2242522"/>
            <a:ext cx="1460500" cy="430887"/>
          </a:xfrm>
          <a:prstGeom prst="rect">
            <a:avLst/>
          </a:prstGeom>
          <a:noFill/>
        </p:spPr>
        <p:txBody>
          <a:bodyPr wrap="square">
            <a:spAutoFit/>
          </a:bodyPr>
          <a:lstStyle/>
          <a:p>
            <a:pPr algn="ctr"/>
            <a:r>
              <a:rPr lang="en-ES" sz="1100" dirty="0"/>
              <a:t>Clase negativa 80%</a:t>
            </a:r>
            <a:br>
              <a:rPr lang="en-ES" sz="1100" dirty="0"/>
            </a:br>
            <a:r>
              <a:rPr lang="en-ES" sz="1100" dirty="0"/>
              <a:t>Modelo sesgado</a:t>
            </a:r>
          </a:p>
        </p:txBody>
      </p:sp>
      <p:pic>
        <p:nvPicPr>
          <p:cNvPr id="1028" name="Picture 4" descr="71 mil resultados de imágenes, fotos de stock e ilustraciones libres de  regalías para Red x symbol | Shutterstock">
            <a:extLst>
              <a:ext uri="{FF2B5EF4-FFF2-40B4-BE49-F238E27FC236}">
                <a16:creationId xmlns:a16="http://schemas.microsoft.com/office/drawing/2014/main" id="{32F0DB92-EBC3-D1FE-9DEE-DF6E0DCC39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5485" y="2301581"/>
            <a:ext cx="458759" cy="421716"/>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8DC694F7-2C67-8D9A-27D1-39C45A8CC0F3}"/>
              </a:ext>
            </a:extLst>
          </p:cNvPr>
          <p:cNvCxnSpPr>
            <a:cxnSpLocks/>
          </p:cNvCxnSpPr>
          <p:nvPr/>
        </p:nvCxnSpPr>
        <p:spPr>
          <a:xfrm>
            <a:off x="2908300" y="1651000"/>
            <a:ext cx="8442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95446D04-C8F7-A5FC-FF50-762E56ADB010}"/>
              </a:ext>
            </a:extLst>
          </p:cNvPr>
          <p:cNvSpPr txBox="1"/>
          <p:nvPr/>
        </p:nvSpPr>
        <p:spPr>
          <a:xfrm>
            <a:off x="3752551" y="765373"/>
            <a:ext cx="1925527" cy="307777"/>
          </a:xfrm>
          <a:prstGeom prst="rect">
            <a:avLst/>
          </a:prstGeom>
          <a:noFill/>
        </p:spPr>
        <p:txBody>
          <a:bodyPr wrap="none" rtlCol="0">
            <a:spAutoFit/>
          </a:bodyPr>
          <a:lstStyle/>
          <a:p>
            <a:r>
              <a:rPr lang="en-ES" dirty="0"/>
              <a:t>Técnicas de balanceo</a:t>
            </a:r>
          </a:p>
        </p:txBody>
      </p:sp>
      <p:pic>
        <p:nvPicPr>
          <p:cNvPr id="1030" name="Picture 6" descr="Imbalanced Vs Balanced Dataset ...">
            <a:extLst>
              <a:ext uri="{FF2B5EF4-FFF2-40B4-BE49-F238E27FC236}">
                <a16:creationId xmlns:a16="http://schemas.microsoft.com/office/drawing/2014/main" id="{3A229A68-D68A-FD9C-AA26-6D42023187F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77710" y="855762"/>
            <a:ext cx="2318042" cy="159098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64899363-A985-40D2-24C0-98B425C2F013}"/>
              </a:ext>
            </a:extLst>
          </p:cNvPr>
          <p:cNvSpPr txBox="1"/>
          <p:nvPr/>
        </p:nvSpPr>
        <p:spPr>
          <a:xfrm>
            <a:off x="6706863" y="740645"/>
            <a:ext cx="1717137" cy="307777"/>
          </a:xfrm>
          <a:prstGeom prst="rect">
            <a:avLst/>
          </a:prstGeom>
          <a:noFill/>
        </p:spPr>
        <p:txBody>
          <a:bodyPr wrap="none" rtlCol="0">
            <a:spAutoFit/>
          </a:bodyPr>
          <a:lstStyle/>
          <a:p>
            <a:r>
              <a:rPr lang="en-ES" dirty="0"/>
              <a:t>Datos balanceados</a:t>
            </a:r>
          </a:p>
        </p:txBody>
      </p:sp>
      <p:sp>
        <p:nvSpPr>
          <p:cNvPr id="10" name="TextBox 9">
            <a:extLst>
              <a:ext uri="{FF2B5EF4-FFF2-40B4-BE49-F238E27FC236}">
                <a16:creationId xmlns:a16="http://schemas.microsoft.com/office/drawing/2014/main" id="{368A1267-108C-9092-DCDF-ED3139D20009}"/>
              </a:ext>
            </a:extLst>
          </p:cNvPr>
          <p:cNvSpPr txBox="1"/>
          <p:nvPr/>
        </p:nvSpPr>
        <p:spPr>
          <a:xfrm>
            <a:off x="6836802" y="2455328"/>
            <a:ext cx="1313180" cy="261610"/>
          </a:xfrm>
          <a:prstGeom prst="rect">
            <a:avLst/>
          </a:prstGeom>
          <a:noFill/>
        </p:spPr>
        <p:txBody>
          <a:bodyPr wrap="none" rtlCol="0">
            <a:spAutoFit/>
          </a:bodyPr>
          <a:lstStyle/>
          <a:p>
            <a:r>
              <a:rPr lang="en-ES" sz="1100" dirty="0"/>
              <a:t>Mejor rendimiento</a:t>
            </a:r>
          </a:p>
        </p:txBody>
      </p:sp>
      <p:cxnSp>
        <p:nvCxnSpPr>
          <p:cNvPr id="11" name="Straight Arrow Connector 10">
            <a:extLst>
              <a:ext uri="{FF2B5EF4-FFF2-40B4-BE49-F238E27FC236}">
                <a16:creationId xmlns:a16="http://schemas.microsoft.com/office/drawing/2014/main" id="{E6CE2FAF-DF58-8ED6-3D47-E43C5C3B44E8}"/>
              </a:ext>
            </a:extLst>
          </p:cNvPr>
          <p:cNvCxnSpPr>
            <a:cxnSpLocks/>
          </p:cNvCxnSpPr>
          <p:nvPr/>
        </p:nvCxnSpPr>
        <p:spPr>
          <a:xfrm>
            <a:off x="5630353" y="1651000"/>
            <a:ext cx="78062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034" name="Picture 10" descr="30.600+ Tick Verde Fotografías de stock ...">
            <a:extLst>
              <a:ext uri="{FF2B5EF4-FFF2-40B4-BE49-F238E27FC236}">
                <a16:creationId xmlns:a16="http://schemas.microsoft.com/office/drawing/2014/main" id="{6C7ED6AE-C646-6389-21C6-B6852F24C8D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70364" y="2348495"/>
            <a:ext cx="475275" cy="475275"/>
          </a:xfrm>
          <a:prstGeom prst="rect">
            <a:avLst/>
          </a:prstGeom>
          <a:noFill/>
          <a:extLst>
            <a:ext uri="{909E8E84-426E-40DD-AFC4-6F175D3DCCD1}">
              <a14:hiddenFill xmlns:a14="http://schemas.microsoft.com/office/drawing/2010/main">
                <a:solidFill>
                  <a:srgbClr val="FFFFFF"/>
                </a:solidFill>
              </a14:hiddenFill>
            </a:ext>
          </a:extLst>
        </p:spPr>
      </p:pic>
      <p:sp>
        <p:nvSpPr>
          <p:cNvPr id="12" name="Rounded Rectangle 11">
            <a:extLst>
              <a:ext uri="{FF2B5EF4-FFF2-40B4-BE49-F238E27FC236}">
                <a16:creationId xmlns:a16="http://schemas.microsoft.com/office/drawing/2014/main" id="{1ECBF497-13C4-3227-DBB9-BADFB4398B0C}"/>
              </a:ext>
            </a:extLst>
          </p:cNvPr>
          <p:cNvSpPr/>
          <p:nvPr/>
        </p:nvSpPr>
        <p:spPr>
          <a:xfrm>
            <a:off x="3860728" y="1084156"/>
            <a:ext cx="1542921" cy="2948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O</a:t>
            </a:r>
            <a:r>
              <a:rPr lang="en-ES" dirty="0">
                <a:solidFill>
                  <a:schemeClr val="tx1"/>
                </a:solidFill>
              </a:rPr>
              <a:t>versampling</a:t>
            </a:r>
          </a:p>
        </p:txBody>
      </p:sp>
      <p:sp>
        <p:nvSpPr>
          <p:cNvPr id="14" name="Rounded Rectangle 13">
            <a:extLst>
              <a:ext uri="{FF2B5EF4-FFF2-40B4-BE49-F238E27FC236}">
                <a16:creationId xmlns:a16="http://schemas.microsoft.com/office/drawing/2014/main" id="{2DB3CF25-6462-D736-FD2E-B8DF75F1FE23}"/>
              </a:ext>
            </a:extLst>
          </p:cNvPr>
          <p:cNvSpPr/>
          <p:nvPr/>
        </p:nvSpPr>
        <p:spPr>
          <a:xfrm>
            <a:off x="3850487" y="1456037"/>
            <a:ext cx="1542921" cy="2948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a:solidFill>
                  <a:schemeClr val="tx1"/>
                </a:solidFill>
              </a:rPr>
              <a:t>Undersampling</a:t>
            </a:r>
            <a:endParaRPr lang="en-ES" dirty="0">
              <a:solidFill>
                <a:schemeClr val="tx1"/>
              </a:solidFill>
            </a:endParaRPr>
          </a:p>
        </p:txBody>
      </p:sp>
      <p:sp>
        <p:nvSpPr>
          <p:cNvPr id="15" name="Rounded Rectangle 14">
            <a:extLst>
              <a:ext uri="{FF2B5EF4-FFF2-40B4-BE49-F238E27FC236}">
                <a16:creationId xmlns:a16="http://schemas.microsoft.com/office/drawing/2014/main" id="{971F8AF3-E5C9-9DF4-4D08-5F0BDE9570F3}"/>
              </a:ext>
            </a:extLst>
          </p:cNvPr>
          <p:cNvSpPr/>
          <p:nvPr/>
        </p:nvSpPr>
        <p:spPr>
          <a:xfrm>
            <a:off x="3850486" y="1839743"/>
            <a:ext cx="1542921" cy="24442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ROSE</a:t>
            </a:r>
            <a:endParaRPr lang="en-ES" dirty="0">
              <a:solidFill>
                <a:schemeClr val="tx1"/>
              </a:solidFill>
            </a:endParaRPr>
          </a:p>
        </p:txBody>
      </p:sp>
      <p:sp>
        <p:nvSpPr>
          <p:cNvPr id="18" name="TextBox 17">
            <a:extLst>
              <a:ext uri="{FF2B5EF4-FFF2-40B4-BE49-F238E27FC236}">
                <a16:creationId xmlns:a16="http://schemas.microsoft.com/office/drawing/2014/main" id="{3A1457C4-E1D5-D1CA-4D35-ECA933DB1208}"/>
              </a:ext>
            </a:extLst>
          </p:cNvPr>
          <p:cNvSpPr txBox="1"/>
          <p:nvPr/>
        </p:nvSpPr>
        <p:spPr>
          <a:xfrm>
            <a:off x="3330425" y="2439538"/>
            <a:ext cx="2520242" cy="261610"/>
          </a:xfrm>
          <a:prstGeom prst="rect">
            <a:avLst/>
          </a:prstGeom>
          <a:noFill/>
        </p:spPr>
        <p:txBody>
          <a:bodyPr wrap="none" rtlCol="0">
            <a:spAutoFit/>
          </a:bodyPr>
          <a:lstStyle/>
          <a:p>
            <a:r>
              <a:rPr lang="en-ES" sz="1100" dirty="0"/>
              <a:t>Todas las técnicas mejoran resultado</a:t>
            </a:r>
          </a:p>
        </p:txBody>
      </p:sp>
      <p:pic>
        <p:nvPicPr>
          <p:cNvPr id="19" name="Picture 18">
            <a:extLst>
              <a:ext uri="{FF2B5EF4-FFF2-40B4-BE49-F238E27FC236}">
                <a16:creationId xmlns:a16="http://schemas.microsoft.com/office/drawing/2014/main" id="{5B13B0EB-1477-2655-9B5D-E5EAD987BC31}"/>
              </a:ext>
            </a:extLst>
          </p:cNvPr>
          <p:cNvPicPr>
            <a:picLocks noChangeAspect="1"/>
          </p:cNvPicPr>
          <p:nvPr/>
        </p:nvPicPr>
        <p:blipFill>
          <a:blip r:embed="rId7"/>
          <a:stretch>
            <a:fillRect/>
          </a:stretch>
        </p:blipFill>
        <p:spPr>
          <a:xfrm>
            <a:off x="317403" y="3028784"/>
            <a:ext cx="8609085" cy="2052892"/>
          </a:xfrm>
          <a:prstGeom prst="rect">
            <a:avLst/>
          </a:prstGeom>
        </p:spPr>
      </p:pic>
      <p:sp>
        <p:nvSpPr>
          <p:cNvPr id="3" name="Rounded Rectangle 2">
            <a:extLst>
              <a:ext uri="{FF2B5EF4-FFF2-40B4-BE49-F238E27FC236}">
                <a16:creationId xmlns:a16="http://schemas.microsoft.com/office/drawing/2014/main" id="{91C9788D-1559-6736-E45E-93CB72D82824}"/>
              </a:ext>
            </a:extLst>
          </p:cNvPr>
          <p:cNvSpPr/>
          <p:nvPr/>
        </p:nvSpPr>
        <p:spPr>
          <a:xfrm>
            <a:off x="3860726" y="2163638"/>
            <a:ext cx="1542921" cy="24442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SMOTE</a:t>
            </a:r>
            <a:endParaRPr lang="en-ES" dirty="0">
              <a:solidFill>
                <a:schemeClr val="tx1"/>
              </a:solidFill>
            </a:endParaRPr>
          </a:p>
        </p:txBody>
      </p:sp>
    </p:spTree>
    <p:extLst>
      <p:ext uri="{BB962C8B-B14F-4D97-AF65-F5344CB8AC3E}">
        <p14:creationId xmlns:p14="http://schemas.microsoft.com/office/powerpoint/2010/main" val="29417738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Shape 620"/>
        <p:cNvGrpSpPr/>
        <p:nvPr/>
      </p:nvGrpSpPr>
      <p:grpSpPr>
        <a:xfrm>
          <a:off x="0" y="0"/>
          <a:ext cx="0" cy="0"/>
          <a:chOff x="0" y="0"/>
          <a:chExt cx="0" cy="0"/>
        </a:xfrm>
      </p:grpSpPr>
      <p:sp>
        <p:nvSpPr>
          <p:cNvPr id="633" name="Google Shape;633;p34"/>
          <p:cNvSpPr txBox="1">
            <a:spLocks noGrp="1"/>
          </p:cNvSpPr>
          <p:nvPr>
            <p:ph type="title"/>
          </p:nvPr>
        </p:nvSpPr>
        <p:spPr>
          <a:xfrm>
            <a:off x="290457" y="539500"/>
            <a:ext cx="8638390" cy="572700"/>
          </a:xfrm>
          <a:prstGeom prst="rect">
            <a:avLst/>
          </a:prstGeom>
        </p:spPr>
        <p:txBody>
          <a:bodyPr spcFirstLastPara="1" wrap="square" lIns="91425" tIns="91425" rIns="91425" bIns="91425" anchor="t" anchorCtr="0">
            <a:noAutofit/>
          </a:bodyPr>
          <a:lstStyle/>
          <a:p>
            <a:pPr lvl="0"/>
            <a:r>
              <a:rPr lang="es-ES" dirty="0"/>
              <a:t>PRIMEROS MODELOS</a:t>
            </a:r>
            <a:endParaRPr dirty="0"/>
          </a:p>
        </p:txBody>
      </p:sp>
      <p:graphicFrame>
        <p:nvGraphicFramePr>
          <p:cNvPr id="4" name="Tabla 3"/>
          <p:cNvGraphicFramePr>
            <a:graphicFrameLocks noGrp="1"/>
          </p:cNvGraphicFramePr>
          <p:nvPr>
            <p:extLst>
              <p:ext uri="{D42A27DB-BD31-4B8C-83A1-F6EECF244321}">
                <p14:modId xmlns:p14="http://schemas.microsoft.com/office/powerpoint/2010/main" val="50387516"/>
              </p:ext>
            </p:extLst>
          </p:nvPr>
        </p:nvGraphicFramePr>
        <p:xfrm>
          <a:off x="2462406" y="2051066"/>
          <a:ext cx="4374692" cy="520684"/>
        </p:xfrm>
        <a:graphic>
          <a:graphicData uri="http://schemas.openxmlformats.org/drawingml/2006/table">
            <a:tbl>
              <a:tblPr>
                <a:tableStyleId>{7FD54D1E-A07F-487E-B709-6B33F1453160}</a:tableStyleId>
              </a:tblPr>
              <a:tblGrid>
                <a:gridCol w="611319">
                  <a:extLst>
                    <a:ext uri="{9D8B030D-6E8A-4147-A177-3AD203B41FA5}">
                      <a16:colId xmlns:a16="http://schemas.microsoft.com/office/drawing/2014/main" val="20001"/>
                    </a:ext>
                  </a:extLst>
                </a:gridCol>
                <a:gridCol w="736805">
                  <a:extLst>
                    <a:ext uri="{9D8B030D-6E8A-4147-A177-3AD203B41FA5}">
                      <a16:colId xmlns:a16="http://schemas.microsoft.com/office/drawing/2014/main" val="20002"/>
                    </a:ext>
                  </a:extLst>
                </a:gridCol>
                <a:gridCol w="736805">
                  <a:extLst>
                    <a:ext uri="{9D8B030D-6E8A-4147-A177-3AD203B41FA5}">
                      <a16:colId xmlns:a16="http://schemas.microsoft.com/office/drawing/2014/main" val="20003"/>
                    </a:ext>
                  </a:extLst>
                </a:gridCol>
                <a:gridCol w="816153">
                  <a:extLst>
                    <a:ext uri="{9D8B030D-6E8A-4147-A177-3AD203B41FA5}">
                      <a16:colId xmlns:a16="http://schemas.microsoft.com/office/drawing/2014/main" val="20004"/>
                    </a:ext>
                  </a:extLst>
                </a:gridCol>
                <a:gridCol w="736805">
                  <a:extLst>
                    <a:ext uri="{9D8B030D-6E8A-4147-A177-3AD203B41FA5}">
                      <a16:colId xmlns:a16="http://schemas.microsoft.com/office/drawing/2014/main" val="20005"/>
                    </a:ext>
                  </a:extLst>
                </a:gridCol>
                <a:gridCol w="736805">
                  <a:extLst>
                    <a:ext uri="{9D8B030D-6E8A-4147-A177-3AD203B41FA5}">
                      <a16:colId xmlns:a16="http://schemas.microsoft.com/office/drawing/2014/main" val="20006"/>
                    </a:ext>
                  </a:extLst>
                </a:gridCol>
              </a:tblGrid>
              <a:tr h="260342">
                <a:tc>
                  <a:txBody>
                    <a:bodyPr/>
                    <a:lstStyle/>
                    <a:p>
                      <a:pPr algn="l" fontAlgn="ctr">
                        <a:buNone/>
                      </a:pPr>
                      <a:r>
                        <a:rPr lang="es-ES" sz="1100" b="1" i="0" u="none" strike="noStrike" dirty="0">
                          <a:solidFill>
                            <a:srgbClr val="000000"/>
                          </a:solidFill>
                          <a:effectLst/>
                          <a:latin typeface="+mj-lt"/>
                        </a:rPr>
                        <a:t>TRAIN</a:t>
                      </a:r>
                    </a:p>
                  </a:txBody>
                  <a:tcPr marL="7620" marR="7620" marT="7620" marB="0" anchor="ctr"/>
                </a:tc>
                <a:tc>
                  <a:txBody>
                    <a:bodyPr/>
                    <a:lstStyle/>
                    <a:p>
                      <a:pPr algn="l" fontAlgn="ctr">
                        <a:buNone/>
                      </a:pPr>
                      <a:r>
                        <a:rPr lang="es-ES" sz="1100" b="1" u="none" strike="noStrike" dirty="0">
                          <a:effectLst/>
                          <a:latin typeface="+mj-lt"/>
                        </a:rPr>
                        <a:t>0.7477551</a:t>
                      </a:r>
                      <a:endParaRPr lang="es-ES" sz="1100" b="1" i="0" u="none" strike="noStrike" dirty="0">
                        <a:solidFill>
                          <a:srgbClr val="000000"/>
                        </a:solidFill>
                        <a:effectLst/>
                        <a:latin typeface="+mj-lt"/>
                      </a:endParaRPr>
                    </a:p>
                  </a:txBody>
                  <a:tcPr marL="7620" marR="7620" marT="7620" marB="0" anchor="ctr"/>
                </a:tc>
                <a:tc>
                  <a:txBody>
                    <a:bodyPr/>
                    <a:lstStyle/>
                    <a:p>
                      <a:pPr algn="l" fontAlgn="ctr">
                        <a:buNone/>
                      </a:pPr>
                      <a:r>
                        <a:rPr lang="es-ES" sz="1100" b="1" u="none" strike="noStrike" dirty="0">
                          <a:effectLst/>
                          <a:latin typeface="+mj-lt"/>
                        </a:rPr>
                        <a:t>0.4010743</a:t>
                      </a:r>
                      <a:endParaRPr lang="es-ES" sz="1100" b="1" i="0" u="none" strike="noStrike" dirty="0">
                        <a:solidFill>
                          <a:srgbClr val="000000"/>
                        </a:solidFill>
                        <a:effectLst/>
                        <a:latin typeface="+mj-lt"/>
                      </a:endParaRPr>
                    </a:p>
                  </a:txBody>
                  <a:tcPr marL="7620" marR="7620" marT="7620" marB="0" anchor="ctr"/>
                </a:tc>
                <a:tc>
                  <a:txBody>
                    <a:bodyPr/>
                    <a:lstStyle/>
                    <a:p>
                      <a:pPr algn="l" fontAlgn="ctr">
                        <a:buNone/>
                      </a:pPr>
                      <a:r>
                        <a:rPr lang="es-ES" sz="1100" b="1" u="none" strike="noStrike">
                          <a:effectLst/>
                          <a:latin typeface="+mj-lt"/>
                        </a:rPr>
                        <a:t>0.4413793</a:t>
                      </a:r>
                      <a:endParaRPr lang="es-ES" sz="1100" b="1" i="0" u="none" strike="noStrike">
                        <a:solidFill>
                          <a:srgbClr val="000000"/>
                        </a:solidFill>
                        <a:effectLst/>
                        <a:latin typeface="+mj-lt"/>
                      </a:endParaRPr>
                    </a:p>
                  </a:txBody>
                  <a:tcPr marL="7620" marR="7620" marT="7620" marB="0" anchor="ctr"/>
                </a:tc>
                <a:tc>
                  <a:txBody>
                    <a:bodyPr/>
                    <a:lstStyle/>
                    <a:p>
                      <a:pPr algn="l" fontAlgn="ctr">
                        <a:buNone/>
                      </a:pPr>
                      <a:r>
                        <a:rPr lang="es-ES" sz="1100" b="1" u="none" strike="noStrike" dirty="0">
                          <a:effectLst/>
                          <a:latin typeface="+mj-lt"/>
                        </a:rPr>
                        <a:t>0.8277992</a:t>
                      </a:r>
                      <a:endParaRPr lang="es-ES" sz="1100" b="1" i="0" u="none" strike="noStrike" dirty="0">
                        <a:solidFill>
                          <a:srgbClr val="000000"/>
                        </a:solidFill>
                        <a:effectLst/>
                        <a:latin typeface="+mj-lt"/>
                      </a:endParaRPr>
                    </a:p>
                  </a:txBody>
                  <a:tcPr marL="7620" marR="7620" marT="7620" marB="0" anchor="ctr"/>
                </a:tc>
                <a:tc>
                  <a:txBody>
                    <a:bodyPr/>
                    <a:lstStyle/>
                    <a:p>
                      <a:pPr algn="l" fontAlgn="ctr">
                        <a:buNone/>
                      </a:pPr>
                      <a:r>
                        <a:rPr lang="es-ES" sz="1100" b="1" u="none" strike="noStrike" dirty="0">
                          <a:effectLst/>
                          <a:latin typeface="+mj-lt"/>
                        </a:rPr>
                        <a:t>0.4202627</a:t>
                      </a:r>
                      <a:endParaRPr lang="es-ES" sz="1100" b="1" i="0" u="none" strike="noStrike" dirty="0">
                        <a:solidFill>
                          <a:srgbClr val="000000"/>
                        </a:solidFill>
                        <a:effectLst/>
                        <a:latin typeface="+mj-lt"/>
                      </a:endParaRPr>
                    </a:p>
                  </a:txBody>
                  <a:tcPr marL="7620" marR="7620" marT="7620" marB="0" anchor="ctr"/>
                </a:tc>
                <a:extLst>
                  <a:ext uri="{0D108BD9-81ED-4DB2-BD59-A6C34878D82A}">
                    <a16:rowId xmlns:a16="http://schemas.microsoft.com/office/drawing/2014/main" val="10001"/>
                  </a:ext>
                </a:extLst>
              </a:tr>
              <a:tr h="260342">
                <a:tc>
                  <a:txBody>
                    <a:bodyPr/>
                    <a:lstStyle/>
                    <a:p>
                      <a:pPr algn="l" fontAlgn="ctr">
                        <a:buNone/>
                      </a:pPr>
                      <a:r>
                        <a:rPr lang="es-ES" sz="1100" b="1" i="0" u="none" strike="noStrike" dirty="0">
                          <a:solidFill>
                            <a:srgbClr val="000000"/>
                          </a:solidFill>
                          <a:effectLst/>
                          <a:latin typeface="+mj-lt"/>
                        </a:rPr>
                        <a:t>TEST</a:t>
                      </a:r>
                    </a:p>
                  </a:txBody>
                  <a:tcPr marL="7620" marR="7620" marT="7620" marB="0" anchor="ctr"/>
                </a:tc>
                <a:tc>
                  <a:txBody>
                    <a:bodyPr/>
                    <a:lstStyle/>
                    <a:p>
                      <a:pPr algn="l" fontAlgn="ctr">
                        <a:buNone/>
                      </a:pPr>
                      <a:r>
                        <a:rPr lang="es-ES" sz="1100" b="1" u="none" strike="noStrike" dirty="0">
                          <a:effectLst/>
                          <a:latin typeface="+mj-lt"/>
                        </a:rPr>
                        <a:t>0.7595238</a:t>
                      </a:r>
                      <a:endParaRPr lang="es-ES" sz="1100" b="1" i="0" u="none" strike="noStrike" dirty="0">
                        <a:solidFill>
                          <a:srgbClr val="000000"/>
                        </a:solidFill>
                        <a:effectLst/>
                        <a:latin typeface="+mj-lt"/>
                      </a:endParaRPr>
                    </a:p>
                  </a:txBody>
                  <a:tcPr marL="7620" marR="7620" marT="7620" marB="0" anchor="ctr"/>
                </a:tc>
                <a:tc>
                  <a:txBody>
                    <a:bodyPr/>
                    <a:lstStyle/>
                    <a:p>
                      <a:pPr algn="l" fontAlgn="ctr">
                        <a:buNone/>
                      </a:pPr>
                      <a:r>
                        <a:rPr lang="es-ES" sz="1100" b="1" u="none" strike="noStrike" dirty="0">
                          <a:effectLst/>
                          <a:latin typeface="+mj-lt"/>
                        </a:rPr>
                        <a:t>0.4264706</a:t>
                      </a:r>
                      <a:endParaRPr lang="es-ES" sz="1100" b="1" i="0" u="none" strike="noStrike" dirty="0">
                        <a:solidFill>
                          <a:srgbClr val="000000"/>
                        </a:solidFill>
                        <a:effectLst/>
                        <a:latin typeface="+mj-lt"/>
                      </a:endParaRPr>
                    </a:p>
                  </a:txBody>
                  <a:tcPr marL="7620" marR="7620" marT="7620" marB="0" anchor="ctr"/>
                </a:tc>
                <a:tc>
                  <a:txBody>
                    <a:bodyPr/>
                    <a:lstStyle/>
                    <a:p>
                      <a:pPr algn="l" fontAlgn="ctr">
                        <a:buNone/>
                      </a:pPr>
                      <a:r>
                        <a:rPr lang="es-ES" sz="1100" b="1" u="none" strike="noStrike" dirty="0">
                          <a:effectLst/>
                          <a:latin typeface="+mj-lt"/>
                        </a:rPr>
                        <a:t>0.4666667</a:t>
                      </a:r>
                      <a:endParaRPr lang="es-ES" sz="1100" b="1" i="0" u="none" strike="noStrike" dirty="0">
                        <a:solidFill>
                          <a:srgbClr val="000000"/>
                        </a:solidFill>
                        <a:effectLst/>
                        <a:latin typeface="+mj-lt"/>
                      </a:endParaRPr>
                    </a:p>
                  </a:txBody>
                  <a:tcPr marL="7620" marR="7620" marT="7620" marB="0" anchor="ctr"/>
                </a:tc>
                <a:tc>
                  <a:txBody>
                    <a:bodyPr/>
                    <a:lstStyle/>
                    <a:p>
                      <a:pPr algn="l" fontAlgn="ctr">
                        <a:buNone/>
                      </a:pPr>
                      <a:r>
                        <a:rPr lang="es-ES" sz="1100" b="1" u="none" strike="noStrike" dirty="0">
                          <a:effectLst/>
                          <a:latin typeface="+mj-lt"/>
                        </a:rPr>
                        <a:t>0.8360360</a:t>
                      </a:r>
                      <a:endParaRPr lang="es-ES" sz="1100" b="1" i="0" u="none" strike="noStrike" dirty="0">
                        <a:solidFill>
                          <a:srgbClr val="000000"/>
                        </a:solidFill>
                        <a:effectLst/>
                        <a:latin typeface="+mj-lt"/>
                      </a:endParaRPr>
                    </a:p>
                  </a:txBody>
                  <a:tcPr marL="7620" marR="7620" marT="7620" marB="0" anchor="ctr"/>
                </a:tc>
                <a:tc>
                  <a:txBody>
                    <a:bodyPr/>
                    <a:lstStyle/>
                    <a:p>
                      <a:pPr algn="l" fontAlgn="ctr">
                        <a:buNone/>
                      </a:pPr>
                      <a:r>
                        <a:rPr lang="es-ES" sz="1100" b="1" u="none" strike="noStrike" dirty="0">
                          <a:effectLst/>
                          <a:latin typeface="+mj-lt"/>
                        </a:rPr>
                        <a:t>0.4456641</a:t>
                      </a:r>
                      <a:endParaRPr lang="es-ES" sz="1100" b="1" i="0" u="none" strike="noStrike" dirty="0">
                        <a:solidFill>
                          <a:srgbClr val="000000"/>
                        </a:solidFill>
                        <a:effectLst/>
                        <a:latin typeface="+mj-lt"/>
                      </a:endParaRPr>
                    </a:p>
                  </a:txBody>
                  <a:tcPr marL="7620" marR="7620" marT="7620" marB="0" anchor="ctr"/>
                </a:tc>
                <a:extLst>
                  <a:ext uri="{0D108BD9-81ED-4DB2-BD59-A6C34878D82A}">
                    <a16:rowId xmlns:a16="http://schemas.microsoft.com/office/drawing/2014/main" val="10002"/>
                  </a:ext>
                </a:extLst>
              </a:tr>
            </a:tbl>
          </a:graphicData>
        </a:graphic>
      </p:graphicFrame>
      <p:graphicFrame>
        <p:nvGraphicFramePr>
          <p:cNvPr id="5" name="Tabla 4"/>
          <p:cNvGraphicFramePr>
            <a:graphicFrameLocks noGrp="1"/>
          </p:cNvGraphicFramePr>
          <p:nvPr>
            <p:extLst>
              <p:ext uri="{D42A27DB-BD31-4B8C-83A1-F6EECF244321}">
                <p14:modId xmlns:p14="http://schemas.microsoft.com/office/powerpoint/2010/main" val="1754887632"/>
              </p:ext>
            </p:extLst>
          </p:nvPr>
        </p:nvGraphicFramePr>
        <p:xfrm>
          <a:off x="2455224" y="1148854"/>
          <a:ext cx="4381876" cy="778842"/>
        </p:xfrm>
        <a:graphic>
          <a:graphicData uri="http://schemas.openxmlformats.org/drawingml/2006/table">
            <a:tbl>
              <a:tblPr>
                <a:tableStyleId>{7FD54D1E-A07F-487E-B709-6B33F1453160}</a:tableStyleId>
              </a:tblPr>
              <a:tblGrid>
                <a:gridCol w="641276">
                  <a:extLst>
                    <a:ext uri="{9D8B030D-6E8A-4147-A177-3AD203B41FA5}">
                      <a16:colId xmlns:a16="http://schemas.microsoft.com/office/drawing/2014/main" val="20001"/>
                    </a:ext>
                  </a:extLst>
                </a:gridCol>
                <a:gridCol w="709607">
                  <a:extLst>
                    <a:ext uri="{9D8B030D-6E8A-4147-A177-3AD203B41FA5}">
                      <a16:colId xmlns:a16="http://schemas.microsoft.com/office/drawing/2014/main" val="20002"/>
                    </a:ext>
                  </a:extLst>
                </a:gridCol>
                <a:gridCol w="730054">
                  <a:extLst>
                    <a:ext uri="{9D8B030D-6E8A-4147-A177-3AD203B41FA5}">
                      <a16:colId xmlns:a16="http://schemas.microsoft.com/office/drawing/2014/main" val="20003"/>
                    </a:ext>
                  </a:extLst>
                </a:gridCol>
                <a:gridCol w="839275">
                  <a:extLst>
                    <a:ext uri="{9D8B030D-6E8A-4147-A177-3AD203B41FA5}">
                      <a16:colId xmlns:a16="http://schemas.microsoft.com/office/drawing/2014/main" val="20004"/>
                    </a:ext>
                  </a:extLst>
                </a:gridCol>
                <a:gridCol w="713544">
                  <a:extLst>
                    <a:ext uri="{9D8B030D-6E8A-4147-A177-3AD203B41FA5}">
                      <a16:colId xmlns:a16="http://schemas.microsoft.com/office/drawing/2014/main" val="20005"/>
                    </a:ext>
                  </a:extLst>
                </a:gridCol>
                <a:gridCol w="748120">
                  <a:extLst>
                    <a:ext uri="{9D8B030D-6E8A-4147-A177-3AD203B41FA5}">
                      <a16:colId xmlns:a16="http://schemas.microsoft.com/office/drawing/2014/main" val="20006"/>
                    </a:ext>
                  </a:extLst>
                </a:gridCol>
              </a:tblGrid>
              <a:tr h="329827">
                <a:tc>
                  <a:txBody>
                    <a:bodyPr/>
                    <a:lstStyle/>
                    <a:p>
                      <a:pPr algn="l" fontAlgn="ctr">
                        <a:buNone/>
                      </a:pPr>
                      <a:r>
                        <a:rPr lang="en-US" altLang="es-ES" sz="1100" b="1" i="0" u="none" strike="noStrike" dirty="0">
                          <a:solidFill>
                            <a:srgbClr val="7030A0"/>
                          </a:solidFill>
                          <a:effectLst/>
                          <a:latin typeface="+mj-lt"/>
                        </a:rPr>
                        <a:t>Split</a:t>
                      </a:r>
                    </a:p>
                  </a:txBody>
                  <a:tcPr marL="7620" marR="7620" marT="7620" marB="0" anchor="ctr"/>
                </a:tc>
                <a:tc>
                  <a:txBody>
                    <a:bodyPr/>
                    <a:lstStyle/>
                    <a:p>
                      <a:pPr algn="l" fontAlgn="ctr">
                        <a:buNone/>
                      </a:pPr>
                      <a:r>
                        <a:rPr lang="en-US" altLang="es-ES" sz="1100" b="1" dirty="0">
                          <a:solidFill>
                            <a:srgbClr val="7030A0"/>
                          </a:solidFill>
                          <a:effectLst/>
                          <a:latin typeface="+mj-lt"/>
                          <a:sym typeface="+mn-ea"/>
                        </a:rPr>
                        <a:t>Accuracy</a:t>
                      </a:r>
                      <a:endParaRPr lang="en-US" altLang="es-ES" sz="1100" b="1" i="0" u="none" strike="noStrike" dirty="0">
                        <a:solidFill>
                          <a:srgbClr val="7030A0"/>
                        </a:solidFill>
                        <a:effectLst/>
                        <a:latin typeface="+mj-lt"/>
                        <a:sym typeface="+mn-ea"/>
                      </a:endParaRPr>
                    </a:p>
                  </a:txBody>
                  <a:tcPr marL="7620" marR="7620" marT="7620" marB="0" anchor="ctr"/>
                </a:tc>
                <a:tc>
                  <a:txBody>
                    <a:bodyPr/>
                    <a:lstStyle/>
                    <a:p>
                      <a:pPr algn="l" fontAlgn="ctr">
                        <a:buNone/>
                      </a:pPr>
                      <a:r>
                        <a:rPr lang="en-US" altLang="zh-CN" sz="1100" b="1" i="0" u="none" strike="noStrike" dirty="0">
                          <a:solidFill>
                            <a:srgbClr val="7030A0"/>
                          </a:solidFill>
                          <a:effectLst/>
                          <a:latin typeface="+mj-lt"/>
                        </a:rPr>
                        <a:t>Precision</a:t>
                      </a:r>
                    </a:p>
                  </a:txBody>
                  <a:tcPr marL="7620" marR="7620" marT="7620" marB="0" anchor="ctr"/>
                </a:tc>
                <a:tc>
                  <a:txBody>
                    <a:bodyPr/>
                    <a:lstStyle/>
                    <a:p>
                      <a:pPr algn="l" fontAlgn="ctr">
                        <a:buNone/>
                      </a:pPr>
                      <a:r>
                        <a:rPr lang="en-US" altLang="es-ES" sz="1100" b="1" dirty="0">
                          <a:solidFill>
                            <a:srgbClr val="7030A0"/>
                          </a:solidFill>
                          <a:effectLst/>
                          <a:latin typeface="+mj-lt"/>
                          <a:sym typeface="+mn-ea"/>
                        </a:rPr>
                        <a:t>Recall</a:t>
                      </a:r>
                      <a:endParaRPr lang="en-US" altLang="es-ES" sz="1100" b="1" i="0" u="none" strike="noStrike" dirty="0">
                        <a:solidFill>
                          <a:srgbClr val="7030A0"/>
                        </a:solidFill>
                        <a:effectLst/>
                        <a:latin typeface="+mj-lt"/>
                        <a:sym typeface="+mn-ea"/>
                      </a:endParaRPr>
                    </a:p>
                  </a:txBody>
                  <a:tcPr marL="7620" marR="7620" marT="7620" marB="0" anchor="ctr"/>
                </a:tc>
                <a:tc>
                  <a:txBody>
                    <a:bodyPr/>
                    <a:lstStyle/>
                    <a:p>
                      <a:pPr algn="l" fontAlgn="ctr">
                        <a:buNone/>
                      </a:pPr>
                      <a:r>
                        <a:rPr lang="en-US" altLang="es-ES" sz="1100" b="1" i="0" u="none" strike="noStrike" dirty="0">
                          <a:solidFill>
                            <a:srgbClr val="7030A0"/>
                          </a:solidFill>
                          <a:effectLst/>
                          <a:latin typeface="+mj-lt"/>
                        </a:rPr>
                        <a:t>Specificity</a:t>
                      </a:r>
                    </a:p>
                  </a:txBody>
                  <a:tcPr marL="7620" marR="7620" marT="7620" marB="0" anchor="ctr"/>
                </a:tc>
                <a:tc>
                  <a:txBody>
                    <a:bodyPr/>
                    <a:lstStyle/>
                    <a:p>
                      <a:pPr algn="l" fontAlgn="ctr">
                        <a:buNone/>
                      </a:pPr>
                      <a:r>
                        <a:rPr lang="en-US" altLang="es-ES" sz="1100" b="1" i="0" u="none" strike="noStrike" dirty="0">
                          <a:solidFill>
                            <a:srgbClr val="7030A0"/>
                          </a:solidFill>
                          <a:effectLst/>
                          <a:latin typeface="+mj-lt"/>
                        </a:rPr>
                        <a:t>F1-Score</a:t>
                      </a:r>
                    </a:p>
                  </a:txBody>
                  <a:tcPr marL="7620" marR="7620" marT="7620" marB="0" anchor="ctr"/>
                </a:tc>
                <a:extLst>
                  <a:ext uri="{0D108BD9-81ED-4DB2-BD59-A6C34878D82A}">
                    <a16:rowId xmlns:a16="http://schemas.microsoft.com/office/drawing/2014/main" val="3840787724"/>
                  </a:ext>
                </a:extLst>
              </a:tr>
              <a:tr h="244469">
                <a:tc>
                  <a:txBody>
                    <a:bodyPr/>
                    <a:lstStyle/>
                    <a:p>
                      <a:pPr algn="l" fontAlgn="ctr">
                        <a:buNone/>
                      </a:pPr>
                      <a:r>
                        <a:rPr lang="es-ES" sz="1100" b="1" i="0" u="none" strike="noStrike" dirty="0">
                          <a:solidFill>
                            <a:srgbClr val="000000"/>
                          </a:solidFill>
                          <a:effectLst/>
                        </a:rPr>
                        <a:t>TRAIN</a:t>
                      </a:r>
                    </a:p>
                  </a:txBody>
                  <a:tcPr marL="7620" marR="7620" marT="7620" marB="0" anchor="ctr"/>
                </a:tc>
                <a:tc>
                  <a:txBody>
                    <a:bodyPr/>
                    <a:lstStyle/>
                    <a:p>
                      <a:pPr algn="l" fontAlgn="ctr"/>
                      <a:r>
                        <a:rPr lang="es-ES" sz="1100" b="1" i="0" dirty="0">
                          <a:solidFill>
                            <a:srgbClr val="000000"/>
                          </a:solidFill>
                          <a:effectLst/>
                        </a:rPr>
                        <a:t>0.7708163</a:t>
                      </a:r>
                    </a:p>
                  </a:txBody>
                  <a:tcPr marL="9842" marR="9842" marT="9842" marB="0" anchor="ctr"/>
                </a:tc>
                <a:tc>
                  <a:txBody>
                    <a:bodyPr/>
                    <a:lstStyle/>
                    <a:p>
                      <a:pPr algn="l" fontAlgn="ctr">
                        <a:buNone/>
                      </a:pPr>
                      <a:r>
                        <a:rPr lang="es-ES" sz="1100" b="1" u="none" strike="noStrike" dirty="0">
                          <a:effectLst/>
                        </a:rPr>
                        <a:t>0.4686241</a:t>
                      </a:r>
                    </a:p>
                  </a:txBody>
                  <a:tcPr marL="7620" marR="7620" marT="7620" marB="0" anchor="ctr"/>
                </a:tc>
                <a:tc>
                  <a:txBody>
                    <a:bodyPr/>
                    <a:lstStyle/>
                    <a:p>
                      <a:pPr algn="l" fontAlgn="ctr"/>
                      <a:r>
                        <a:rPr lang="es-ES" sz="1100" b="1" i="0" dirty="0">
                          <a:solidFill>
                            <a:srgbClr val="000000"/>
                          </a:solidFill>
                          <a:effectLst/>
                        </a:rPr>
                        <a:t>0.8027613</a:t>
                      </a:r>
                    </a:p>
                  </a:txBody>
                  <a:tcPr marL="9842" marR="9842" marT="9842" marB="0" anchor="ctr"/>
                </a:tc>
                <a:tc>
                  <a:txBody>
                    <a:bodyPr/>
                    <a:lstStyle/>
                    <a:p>
                      <a:pPr algn="l" fontAlgn="ctr"/>
                      <a:r>
                        <a:rPr lang="es-ES" sz="1100" b="1" i="0" dirty="0">
                          <a:solidFill>
                            <a:srgbClr val="000000"/>
                          </a:solidFill>
                          <a:effectLst/>
                        </a:rPr>
                        <a:t>0.7624807</a:t>
                      </a:r>
                    </a:p>
                  </a:txBody>
                  <a:tcPr marL="9842" marR="9842" marT="9842" marB="0" anchor="ctr"/>
                </a:tc>
                <a:tc>
                  <a:txBody>
                    <a:bodyPr/>
                    <a:lstStyle/>
                    <a:p>
                      <a:pPr algn="l" fontAlgn="ctr"/>
                      <a:r>
                        <a:rPr lang="es-ES" sz="1100" b="1" i="0" dirty="0">
                          <a:solidFill>
                            <a:srgbClr val="000000"/>
                          </a:solidFill>
                          <a:effectLst/>
                        </a:rPr>
                        <a:t>0.5917848</a:t>
                      </a:r>
                    </a:p>
                  </a:txBody>
                  <a:tcPr marL="9842" marR="9842" marT="9842" marB="0" anchor="ctr"/>
                </a:tc>
                <a:extLst>
                  <a:ext uri="{0D108BD9-81ED-4DB2-BD59-A6C34878D82A}">
                    <a16:rowId xmlns:a16="http://schemas.microsoft.com/office/drawing/2014/main" val="10000"/>
                  </a:ext>
                </a:extLst>
              </a:tr>
              <a:tr h="204546">
                <a:tc>
                  <a:txBody>
                    <a:bodyPr/>
                    <a:lstStyle/>
                    <a:p>
                      <a:pPr algn="l" fontAlgn="ctr">
                        <a:buNone/>
                      </a:pPr>
                      <a:r>
                        <a:rPr lang="es-ES" sz="1100" b="1" i="0" u="none" strike="noStrike" dirty="0">
                          <a:solidFill>
                            <a:srgbClr val="000000"/>
                          </a:solidFill>
                          <a:effectLst/>
                        </a:rPr>
                        <a:t>TEST</a:t>
                      </a:r>
                    </a:p>
                  </a:txBody>
                  <a:tcPr marL="7620" marR="7620" marT="7620" marB="0" anchor="ctr"/>
                </a:tc>
                <a:tc>
                  <a:txBody>
                    <a:bodyPr/>
                    <a:lstStyle/>
                    <a:p>
                      <a:pPr algn="l" fontAlgn="b"/>
                      <a:r>
                        <a:rPr lang="es-ES" sz="1100" b="1" i="0" dirty="0">
                          <a:solidFill>
                            <a:srgbClr val="000000"/>
                          </a:solidFill>
                          <a:effectLst/>
                        </a:rPr>
                        <a:t>0.6790476</a:t>
                      </a:r>
                    </a:p>
                  </a:txBody>
                  <a:tcPr marL="9842" marR="9842" marT="9842" marB="0" anchor="b"/>
                </a:tc>
                <a:tc>
                  <a:txBody>
                    <a:bodyPr/>
                    <a:lstStyle/>
                    <a:p>
                      <a:pPr algn="l" fontAlgn="b"/>
                      <a:r>
                        <a:rPr lang="es-ES" sz="1100" b="1" i="0" dirty="0">
                          <a:solidFill>
                            <a:srgbClr val="000000"/>
                          </a:solidFill>
                          <a:effectLst/>
                        </a:rPr>
                        <a:t>0.3342618</a:t>
                      </a:r>
                    </a:p>
                  </a:txBody>
                  <a:tcPr marL="9842" marR="9842" marT="9842" marB="0" anchor="b"/>
                </a:tc>
                <a:tc>
                  <a:txBody>
                    <a:bodyPr/>
                    <a:lstStyle/>
                    <a:p>
                      <a:pPr algn="l" fontAlgn="b"/>
                      <a:r>
                        <a:rPr lang="es-ES" sz="1100" b="1" i="0" dirty="0">
                          <a:solidFill>
                            <a:srgbClr val="000000"/>
                          </a:solidFill>
                          <a:effectLst/>
                        </a:rPr>
                        <a:t>0.5504587</a:t>
                      </a:r>
                    </a:p>
                  </a:txBody>
                  <a:tcPr marL="9842" marR="9842" marT="9842" marB="0" anchor="b"/>
                </a:tc>
                <a:tc>
                  <a:txBody>
                    <a:bodyPr/>
                    <a:lstStyle/>
                    <a:p>
                      <a:pPr algn="l" fontAlgn="b"/>
                      <a:r>
                        <a:rPr lang="es-ES" sz="1100" b="1" i="0" dirty="0">
                          <a:solidFill>
                            <a:srgbClr val="000000"/>
                          </a:solidFill>
                          <a:effectLst/>
                        </a:rPr>
                        <a:t>0.7127404</a:t>
                      </a:r>
                    </a:p>
                  </a:txBody>
                  <a:tcPr marL="9842" marR="9842" marT="9842" marB="0" anchor="b"/>
                </a:tc>
                <a:tc>
                  <a:txBody>
                    <a:bodyPr/>
                    <a:lstStyle/>
                    <a:p>
                      <a:pPr algn="l" fontAlgn="b"/>
                      <a:r>
                        <a:rPr lang="es-ES" sz="1100" b="1" i="0" dirty="0">
                          <a:solidFill>
                            <a:srgbClr val="000000"/>
                          </a:solidFill>
                          <a:effectLst/>
                        </a:rPr>
                        <a:t>0.4159445</a:t>
                      </a:r>
                    </a:p>
                  </a:txBody>
                  <a:tcPr marL="9842" marR="9842" marT="9842" marB="0" anchor="b"/>
                </a:tc>
                <a:extLst>
                  <a:ext uri="{0D108BD9-81ED-4DB2-BD59-A6C34878D82A}">
                    <a16:rowId xmlns:a16="http://schemas.microsoft.com/office/drawing/2014/main" val="10001"/>
                  </a:ext>
                </a:extLst>
              </a:tr>
            </a:tbl>
          </a:graphicData>
        </a:graphic>
      </p:graphicFrame>
      <p:sp>
        <p:nvSpPr>
          <p:cNvPr id="7" name="CuadroTexto 6"/>
          <p:cNvSpPr txBox="1"/>
          <p:nvPr/>
        </p:nvSpPr>
        <p:spPr>
          <a:xfrm>
            <a:off x="782760" y="2842962"/>
            <a:ext cx="7726804" cy="1569660"/>
          </a:xfrm>
          <a:prstGeom prst="rect">
            <a:avLst/>
          </a:prstGeom>
          <a:noFill/>
        </p:spPr>
        <p:txBody>
          <a:bodyPr wrap="square">
            <a:spAutoFit/>
          </a:bodyPr>
          <a:lstStyle/>
          <a:p>
            <a:pPr>
              <a:buFont typeface="Arial" panose="020B0604020202020204" pitchFamily="34" charset="0"/>
              <a:buChar char="•"/>
            </a:pPr>
            <a:r>
              <a:rPr lang="en-GB" b="1" dirty="0"/>
              <a:t>Naive Bayes:</a:t>
            </a:r>
            <a:r>
              <a:rPr lang="en-GB" dirty="0"/>
              <a:t> se </a:t>
            </a:r>
            <a:r>
              <a:rPr lang="en-GB" dirty="0" err="1"/>
              <a:t>aplicó</a:t>
            </a:r>
            <a:r>
              <a:rPr lang="en-GB" dirty="0"/>
              <a:t> </a:t>
            </a:r>
            <a:r>
              <a:rPr lang="en-GB" b="1" dirty="0" err="1"/>
              <a:t>balanceo</a:t>
            </a:r>
            <a:r>
              <a:rPr lang="en-GB" dirty="0"/>
              <a:t>, </a:t>
            </a:r>
            <a:r>
              <a:rPr lang="en-GB" dirty="0" err="1"/>
              <a:t>obteniendo</a:t>
            </a:r>
            <a:r>
              <a:rPr lang="en-GB" dirty="0"/>
              <a:t> </a:t>
            </a:r>
            <a:r>
              <a:rPr lang="en-GB" dirty="0" err="1"/>
              <a:t>una</a:t>
            </a:r>
            <a:r>
              <a:rPr lang="en-GB" dirty="0"/>
              <a:t> </a:t>
            </a:r>
            <a:r>
              <a:rPr lang="en-GB" dirty="0" err="1"/>
              <a:t>leve</a:t>
            </a:r>
            <a:r>
              <a:rPr lang="en-GB" dirty="0"/>
              <a:t> </a:t>
            </a:r>
            <a:r>
              <a:rPr lang="en-GB" dirty="0" err="1"/>
              <a:t>mejora</a:t>
            </a:r>
            <a:r>
              <a:rPr lang="en-GB" dirty="0"/>
              <a:t> </a:t>
            </a:r>
            <a:r>
              <a:rPr lang="en-GB" dirty="0" err="1"/>
              <a:t>en</a:t>
            </a:r>
            <a:r>
              <a:rPr lang="en-GB" dirty="0"/>
              <a:t> las </a:t>
            </a:r>
            <a:r>
              <a:rPr lang="en-GB" dirty="0" err="1"/>
              <a:t>métricas</a:t>
            </a:r>
            <a:r>
              <a:rPr lang="en-GB" dirty="0"/>
              <a:t>.</a:t>
            </a:r>
          </a:p>
          <a:p>
            <a:pPr>
              <a:buFont typeface="Arial" panose="020B0604020202020204" pitchFamily="34" charset="0"/>
              <a:buChar char="•"/>
            </a:pPr>
            <a:r>
              <a:rPr lang="en-GB" b="1" dirty="0"/>
              <a:t>KNN (9NN):</a:t>
            </a:r>
            <a:r>
              <a:rPr lang="en-GB" dirty="0"/>
              <a:t> se </a:t>
            </a:r>
            <a:r>
              <a:rPr lang="en-GB" dirty="0" err="1"/>
              <a:t>entrenó</a:t>
            </a:r>
            <a:r>
              <a:rPr lang="en-GB" dirty="0"/>
              <a:t> con </a:t>
            </a:r>
            <a:r>
              <a:rPr lang="en-GB" b="1" dirty="0"/>
              <a:t>datasets </a:t>
            </a:r>
            <a:r>
              <a:rPr lang="en-GB" b="1" dirty="0" err="1"/>
              <a:t>balanceados</a:t>
            </a:r>
            <a:r>
              <a:rPr lang="en-GB" dirty="0"/>
              <a:t> (Over-sampling, Under-sampling, SMOTE, ROSE) y </a:t>
            </a:r>
            <a:r>
              <a:rPr lang="en-GB" b="1" dirty="0"/>
              <a:t>FAMD</a:t>
            </a:r>
            <a:r>
              <a:rPr lang="en-GB" dirty="0"/>
              <a:t>.</a:t>
            </a:r>
          </a:p>
          <a:p>
            <a:pPr marL="742950" lvl="1" indent="-285750">
              <a:buFont typeface="Arial" panose="020B0604020202020204" pitchFamily="34" charset="0"/>
              <a:buChar char="•"/>
            </a:pPr>
            <a:r>
              <a:rPr lang="en-GB" b="1" dirty="0"/>
              <a:t>SMOTE</a:t>
            </a:r>
            <a:r>
              <a:rPr lang="en-GB" dirty="0"/>
              <a:t> </a:t>
            </a:r>
            <a:r>
              <a:rPr lang="en-GB" dirty="0" err="1"/>
              <a:t>ofreció</a:t>
            </a:r>
            <a:r>
              <a:rPr lang="en-GB" dirty="0"/>
              <a:t> </a:t>
            </a:r>
            <a:r>
              <a:rPr lang="en-GB" dirty="0" err="1"/>
              <a:t>los</a:t>
            </a:r>
            <a:r>
              <a:rPr lang="en-GB" dirty="0"/>
              <a:t> </a:t>
            </a:r>
            <a:r>
              <a:rPr lang="en-GB" dirty="0" err="1"/>
              <a:t>mejores</a:t>
            </a:r>
            <a:r>
              <a:rPr lang="en-GB" dirty="0"/>
              <a:t> </a:t>
            </a:r>
            <a:r>
              <a:rPr lang="en-GB" dirty="0" err="1"/>
              <a:t>resultados</a:t>
            </a:r>
            <a:r>
              <a:rPr lang="en-GB" dirty="0"/>
              <a:t>.</a:t>
            </a:r>
          </a:p>
          <a:p>
            <a:pPr marL="742950" lvl="1" indent="-285750">
              <a:buFont typeface="Arial" panose="020B0604020202020204" pitchFamily="34" charset="0"/>
              <a:buChar char="•"/>
            </a:pPr>
            <a:r>
              <a:rPr lang="en-GB" dirty="0"/>
              <a:t>Se </a:t>
            </a:r>
            <a:r>
              <a:rPr lang="en-GB" dirty="0" err="1"/>
              <a:t>detectó</a:t>
            </a:r>
            <a:r>
              <a:rPr lang="en-GB" dirty="0"/>
              <a:t> </a:t>
            </a:r>
            <a:r>
              <a:rPr lang="en-GB" b="1" dirty="0" err="1"/>
              <a:t>ligero</a:t>
            </a:r>
            <a:r>
              <a:rPr lang="en-GB" b="1" dirty="0"/>
              <a:t> </a:t>
            </a:r>
            <a:r>
              <a:rPr lang="en-GB" b="1" dirty="0" err="1"/>
              <a:t>sobreajuste</a:t>
            </a:r>
            <a:r>
              <a:rPr lang="en-GB" dirty="0"/>
              <a:t>.</a:t>
            </a:r>
            <a:br>
              <a:rPr lang="en-GB" dirty="0"/>
            </a:br>
            <a:endParaRPr lang="en-GB" dirty="0"/>
          </a:p>
          <a:p>
            <a:r>
              <a:rPr lang="es-ES" sz="1200" i="1" dirty="0"/>
              <a:t>(Ver “Registros </a:t>
            </a:r>
            <a:r>
              <a:rPr lang="es-ES" sz="1200" i="1" dirty="0" err="1"/>
              <a:t>modelos.xlsx</a:t>
            </a:r>
            <a:r>
              <a:rPr lang="es-ES" sz="1200" i="1" dirty="0"/>
              <a:t>” evaluados en </a:t>
            </a:r>
            <a:r>
              <a:rPr lang="es-ES" sz="1200" i="1" dirty="0" err="1">
                <a:hlinkClick r:id="rId3"/>
              </a:rPr>
              <a:t>Github</a:t>
            </a:r>
            <a:r>
              <a:rPr lang="es-ES" sz="1200" i="1" dirty="0"/>
              <a:t>)</a:t>
            </a:r>
            <a:endParaRPr lang="ca-ES" sz="1200" i="1" dirty="0"/>
          </a:p>
        </p:txBody>
      </p:sp>
      <p:sp>
        <p:nvSpPr>
          <p:cNvPr id="10" name="Flecha: hacia la izquierda 9"/>
          <p:cNvSpPr/>
          <p:nvPr/>
        </p:nvSpPr>
        <p:spPr>
          <a:xfrm rot="1074322">
            <a:off x="6834155" y="2446835"/>
            <a:ext cx="1861339" cy="607846"/>
          </a:xfrm>
          <a:prstGeom prst="lef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ca-ES" sz="1200" dirty="0" err="1">
                <a:solidFill>
                  <a:srgbClr val="FF0000"/>
                </a:solidFill>
              </a:rPr>
              <a:t>Insufficient</a:t>
            </a:r>
            <a:r>
              <a:rPr lang="ca-ES" sz="1200" dirty="0">
                <a:solidFill>
                  <a:srgbClr val="FF0000"/>
                </a:solidFill>
              </a:rPr>
              <a:t> </a:t>
            </a:r>
            <a:r>
              <a:rPr lang="ca-ES" sz="1200" dirty="0" err="1">
                <a:solidFill>
                  <a:srgbClr val="FF0000"/>
                </a:solidFill>
              </a:rPr>
              <a:t>results</a:t>
            </a:r>
            <a:r>
              <a:rPr lang="ca-ES" sz="1200" dirty="0">
                <a:solidFill>
                  <a:srgbClr val="FF0000"/>
                </a:solidFill>
              </a:rPr>
              <a:t> F1&lt;0,5</a:t>
            </a:r>
          </a:p>
        </p:txBody>
      </p:sp>
      <p:sp>
        <p:nvSpPr>
          <p:cNvPr id="18" name="Flecha: hacia la izquierda 8"/>
          <p:cNvSpPr/>
          <p:nvPr/>
        </p:nvSpPr>
        <p:spPr>
          <a:xfrm rot="21098126">
            <a:off x="6953929" y="1317800"/>
            <a:ext cx="1411605" cy="401695"/>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ca-ES" sz="1200" dirty="0">
                <a:solidFill>
                  <a:schemeClr val="tx1"/>
                </a:solidFill>
              </a:rPr>
              <a:t>O</a:t>
            </a:r>
            <a:r>
              <a:rPr lang="ca-ES" sz="1200" dirty="0" err="1">
                <a:solidFill>
                  <a:schemeClr val="tx1"/>
                </a:solidFill>
              </a:rPr>
              <a:t>v</a:t>
            </a:r>
            <a:r>
              <a:rPr lang="en-US" altLang="ca-ES" sz="1200" dirty="0" err="1">
                <a:solidFill>
                  <a:schemeClr val="tx1"/>
                </a:solidFill>
              </a:rPr>
              <a:t>e</a:t>
            </a:r>
            <a:r>
              <a:rPr lang="ca-ES" sz="1200" dirty="0" err="1">
                <a:solidFill>
                  <a:schemeClr val="tx1"/>
                </a:solidFill>
              </a:rPr>
              <a:t>rfitting</a:t>
            </a:r>
          </a:p>
        </p:txBody>
      </p:sp>
      <p:graphicFrame>
        <p:nvGraphicFramePr>
          <p:cNvPr id="15" name="Diagram 14">
            <a:extLst>
              <a:ext uri="{FF2B5EF4-FFF2-40B4-BE49-F238E27FC236}">
                <a16:creationId xmlns:a16="http://schemas.microsoft.com/office/drawing/2014/main" id="{3C87FC02-D443-B500-1F46-D6A556E0E738}"/>
              </a:ext>
            </a:extLst>
          </p:cNvPr>
          <p:cNvGraphicFramePr/>
          <p:nvPr>
            <p:extLst>
              <p:ext uri="{D42A27DB-BD31-4B8C-83A1-F6EECF244321}">
                <p14:modId xmlns:p14="http://schemas.microsoft.com/office/powerpoint/2010/main" val="3846858244"/>
              </p:ext>
            </p:extLst>
          </p:nvPr>
        </p:nvGraphicFramePr>
        <p:xfrm>
          <a:off x="782760" y="1353106"/>
          <a:ext cx="1617045" cy="5727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6" name="Diagram 15">
            <a:extLst>
              <a:ext uri="{FF2B5EF4-FFF2-40B4-BE49-F238E27FC236}">
                <a16:creationId xmlns:a16="http://schemas.microsoft.com/office/drawing/2014/main" id="{FAAF9AA9-2E60-FD7F-66A3-2CAAAD442921}"/>
              </a:ext>
            </a:extLst>
          </p:cNvPr>
          <p:cNvGraphicFramePr/>
          <p:nvPr>
            <p:extLst>
              <p:ext uri="{D42A27DB-BD31-4B8C-83A1-F6EECF244321}">
                <p14:modId xmlns:p14="http://schemas.microsoft.com/office/powerpoint/2010/main" val="4176453887"/>
              </p:ext>
            </p:extLst>
          </p:nvPr>
        </p:nvGraphicFramePr>
        <p:xfrm>
          <a:off x="-51798" y="2004664"/>
          <a:ext cx="2451603" cy="53087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2" name="Left Arrow 1">
            <a:extLst>
              <a:ext uri="{FF2B5EF4-FFF2-40B4-BE49-F238E27FC236}">
                <a16:creationId xmlns:a16="http://schemas.microsoft.com/office/drawing/2014/main" id="{55941FCE-A230-D01C-1E66-60A61B21C5A3}"/>
              </a:ext>
            </a:extLst>
          </p:cNvPr>
          <p:cNvSpPr/>
          <p:nvPr/>
        </p:nvSpPr>
        <p:spPr>
          <a:xfrm>
            <a:off x="7098798" y="1771793"/>
            <a:ext cx="1916610" cy="453829"/>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ES" dirty="0"/>
              <a:t>Cross Validation</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C1E94954-8BE6-885F-9D60-C44242E00E66}"/>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DC5D79E9-BDAD-F1DC-A98F-4B21D1728099}"/>
              </a:ext>
            </a:extLst>
          </p:cNvPr>
          <p:cNvSpPr txBox="1">
            <a:spLocks noGrp="1"/>
          </p:cNvSpPr>
          <p:nvPr>
            <p:ph type="title"/>
          </p:nvPr>
        </p:nvSpPr>
        <p:spPr>
          <a:xfrm>
            <a:off x="642998" y="421824"/>
            <a:ext cx="7704000" cy="572700"/>
          </a:xfrm>
          <a:prstGeom prst="rect">
            <a:avLst/>
          </a:prstGeom>
        </p:spPr>
        <p:txBody>
          <a:bodyPr spcFirstLastPara="1" wrap="square" lIns="91425" tIns="91425" rIns="91425" bIns="91425" anchor="t" anchorCtr="0">
            <a:noAutofit/>
          </a:bodyPr>
          <a:lstStyle/>
          <a:p>
            <a:pPr lvl="0"/>
            <a:r>
              <a:rPr lang="es-ES" dirty="0"/>
              <a:t>CONCLUSIONES &amp; PRÓXIMOS PASOS</a:t>
            </a:r>
            <a:endParaRPr dirty="0"/>
          </a:p>
        </p:txBody>
      </p:sp>
      <p:pic>
        <p:nvPicPr>
          <p:cNvPr id="2" name="Picture 1">
            <a:extLst>
              <a:ext uri="{FF2B5EF4-FFF2-40B4-BE49-F238E27FC236}">
                <a16:creationId xmlns:a16="http://schemas.microsoft.com/office/drawing/2014/main" id="{633856C8-457E-85C9-545D-9133F826B174}"/>
              </a:ext>
            </a:extLst>
          </p:cNvPr>
          <p:cNvPicPr>
            <a:picLocks noChangeAspect="1"/>
          </p:cNvPicPr>
          <p:nvPr/>
        </p:nvPicPr>
        <p:blipFill>
          <a:blip r:embed="rId3"/>
          <a:stretch>
            <a:fillRect/>
          </a:stretch>
        </p:blipFill>
        <p:spPr>
          <a:xfrm>
            <a:off x="1625700" y="1115036"/>
            <a:ext cx="5562600" cy="2356013"/>
          </a:xfrm>
          <a:prstGeom prst="rect">
            <a:avLst/>
          </a:prstGeom>
        </p:spPr>
      </p:pic>
      <p:sp>
        <p:nvSpPr>
          <p:cNvPr id="3" name="TextBox 2">
            <a:extLst>
              <a:ext uri="{FF2B5EF4-FFF2-40B4-BE49-F238E27FC236}">
                <a16:creationId xmlns:a16="http://schemas.microsoft.com/office/drawing/2014/main" id="{CBB543AC-28C6-CB87-2130-192D13526D85}"/>
              </a:ext>
            </a:extLst>
          </p:cNvPr>
          <p:cNvSpPr txBox="1"/>
          <p:nvPr/>
        </p:nvSpPr>
        <p:spPr>
          <a:xfrm>
            <a:off x="2687220" y="1150060"/>
            <a:ext cx="564578" cy="307777"/>
          </a:xfrm>
          <a:prstGeom prst="rect">
            <a:avLst/>
          </a:prstGeom>
          <a:noFill/>
        </p:spPr>
        <p:txBody>
          <a:bodyPr wrap="none" rtlCol="0">
            <a:spAutoFit/>
          </a:bodyPr>
          <a:lstStyle/>
          <a:p>
            <a:r>
              <a:rPr lang="en-ES" dirty="0"/>
              <a:t>KNN</a:t>
            </a:r>
          </a:p>
        </p:txBody>
      </p:sp>
      <p:sp>
        <p:nvSpPr>
          <p:cNvPr id="5" name="TextBox 4">
            <a:extLst>
              <a:ext uri="{FF2B5EF4-FFF2-40B4-BE49-F238E27FC236}">
                <a16:creationId xmlns:a16="http://schemas.microsoft.com/office/drawing/2014/main" id="{1B72F570-8C4E-D03D-19B6-735E5B05BD2C}"/>
              </a:ext>
            </a:extLst>
          </p:cNvPr>
          <p:cNvSpPr txBox="1"/>
          <p:nvPr/>
        </p:nvSpPr>
        <p:spPr>
          <a:xfrm>
            <a:off x="5291719" y="1111741"/>
            <a:ext cx="1200970" cy="307777"/>
          </a:xfrm>
          <a:prstGeom prst="rect">
            <a:avLst/>
          </a:prstGeom>
          <a:noFill/>
        </p:spPr>
        <p:txBody>
          <a:bodyPr wrap="none" rtlCol="0">
            <a:spAutoFit/>
          </a:bodyPr>
          <a:lstStyle/>
          <a:p>
            <a:r>
              <a:rPr lang="en-ES" dirty="0"/>
              <a:t>Na</a:t>
            </a:r>
            <a:r>
              <a:rPr lang="en-GB" dirty="0" err="1"/>
              <a:t>ï</a:t>
            </a:r>
            <a:r>
              <a:rPr lang="en-ES" dirty="0"/>
              <a:t>ve Bayes</a:t>
            </a:r>
          </a:p>
        </p:txBody>
      </p:sp>
      <p:sp>
        <p:nvSpPr>
          <p:cNvPr id="7" name="TextBox 6">
            <a:extLst>
              <a:ext uri="{FF2B5EF4-FFF2-40B4-BE49-F238E27FC236}">
                <a16:creationId xmlns:a16="http://schemas.microsoft.com/office/drawing/2014/main" id="{DD0C6F00-4574-F599-71F8-148D1AC02A0D}"/>
              </a:ext>
            </a:extLst>
          </p:cNvPr>
          <p:cNvSpPr txBox="1"/>
          <p:nvPr/>
        </p:nvSpPr>
        <p:spPr>
          <a:xfrm>
            <a:off x="2410265" y="3474344"/>
            <a:ext cx="3538148" cy="307777"/>
          </a:xfrm>
          <a:prstGeom prst="rect">
            <a:avLst/>
          </a:prstGeom>
          <a:noFill/>
        </p:spPr>
        <p:txBody>
          <a:bodyPr wrap="none" rtlCol="0">
            <a:spAutoFit/>
          </a:bodyPr>
          <a:lstStyle/>
          <a:p>
            <a:r>
              <a:rPr lang="en-ES" dirty="0">
                <a:solidFill>
                  <a:srgbClr val="00B050"/>
                </a:solidFill>
              </a:rPr>
              <a:t>¡NECESITAMOS UN NUEVO ENFOQUE!</a:t>
            </a:r>
          </a:p>
        </p:txBody>
      </p:sp>
      <p:sp>
        <p:nvSpPr>
          <p:cNvPr id="4" name="TextBox 3">
            <a:extLst>
              <a:ext uri="{FF2B5EF4-FFF2-40B4-BE49-F238E27FC236}">
                <a16:creationId xmlns:a16="http://schemas.microsoft.com/office/drawing/2014/main" id="{CE81DE5E-6259-79DC-5572-F796569C1956}"/>
              </a:ext>
            </a:extLst>
          </p:cNvPr>
          <p:cNvSpPr txBox="1"/>
          <p:nvPr/>
        </p:nvSpPr>
        <p:spPr>
          <a:xfrm>
            <a:off x="80300" y="3782121"/>
            <a:ext cx="9063700" cy="1154162"/>
          </a:xfrm>
          <a:prstGeom prst="rect">
            <a:avLst/>
          </a:prstGeom>
          <a:noFill/>
        </p:spPr>
        <p:txBody>
          <a:bodyPr wrap="none" rtlCol="0">
            <a:spAutoFit/>
          </a:bodyPr>
          <a:lstStyle/>
          <a:p>
            <a:pPr marL="171450" indent="-171450">
              <a:buFont typeface="Arial" panose="020B0604020202020204" pitchFamily="34" charset="0"/>
              <a:buChar char="•"/>
            </a:pPr>
            <a:r>
              <a:rPr lang="en-GB" sz="1100" dirty="0"/>
              <a:t>Los </a:t>
            </a:r>
            <a:r>
              <a:rPr lang="en-GB" sz="1100" dirty="0" err="1"/>
              <a:t>modelos</a:t>
            </a:r>
            <a:r>
              <a:rPr lang="en-GB" sz="1100" dirty="0"/>
              <a:t> </a:t>
            </a:r>
            <a:r>
              <a:rPr lang="en-GB" sz="1100" dirty="0" err="1"/>
              <a:t>iniciales</a:t>
            </a:r>
            <a:r>
              <a:rPr lang="en-GB" sz="1100" dirty="0"/>
              <a:t> (</a:t>
            </a:r>
            <a:r>
              <a:rPr lang="en-GB" sz="1100" b="1" dirty="0"/>
              <a:t>KNN</a:t>
            </a:r>
            <a:r>
              <a:rPr lang="en-GB" sz="1100" dirty="0"/>
              <a:t> y </a:t>
            </a:r>
            <a:r>
              <a:rPr lang="en-GB" sz="1100" b="1" dirty="0"/>
              <a:t>Naive Bayes</a:t>
            </a:r>
            <a:r>
              <a:rPr lang="en-GB" sz="1100" dirty="0"/>
              <a:t>) </a:t>
            </a:r>
            <a:r>
              <a:rPr lang="en-GB" sz="1100" dirty="0" err="1"/>
              <a:t>mostraron</a:t>
            </a:r>
            <a:r>
              <a:rPr lang="en-GB" sz="1100" dirty="0"/>
              <a:t> </a:t>
            </a:r>
            <a:r>
              <a:rPr lang="en-GB" sz="1100" b="1" dirty="0"/>
              <a:t>bajo </a:t>
            </a:r>
            <a:r>
              <a:rPr lang="en-GB" sz="1100" b="1" dirty="0" err="1"/>
              <a:t>desempeño</a:t>
            </a:r>
            <a:r>
              <a:rPr lang="en-GB" sz="1100" b="1" dirty="0"/>
              <a:t> </a:t>
            </a:r>
            <a:r>
              <a:rPr lang="en-GB" sz="1100" b="1" dirty="0" err="1"/>
              <a:t>predictivo</a:t>
            </a:r>
            <a:r>
              <a:rPr lang="en-GB" sz="1100" dirty="0"/>
              <a:t> </a:t>
            </a:r>
            <a:r>
              <a:rPr lang="en-GB" sz="1100" dirty="0" err="1"/>
              <a:t>en</a:t>
            </a:r>
            <a:r>
              <a:rPr lang="en-GB" sz="1100" dirty="0"/>
              <a:t> la </a:t>
            </a:r>
            <a:r>
              <a:rPr lang="en-GB" sz="1100" dirty="0" err="1"/>
              <a:t>detección</a:t>
            </a:r>
            <a:r>
              <a:rPr lang="en-GB" sz="1100" dirty="0"/>
              <a:t> de </a:t>
            </a:r>
            <a:r>
              <a:rPr lang="en-GB" sz="1100" dirty="0" err="1"/>
              <a:t>clientes</a:t>
            </a:r>
            <a:r>
              <a:rPr lang="en-GB" sz="1100" dirty="0"/>
              <a:t> con </a:t>
            </a:r>
            <a:r>
              <a:rPr lang="en-GB" sz="1100" dirty="0" err="1"/>
              <a:t>riesgo</a:t>
            </a:r>
            <a:r>
              <a:rPr lang="en-GB" sz="1100" dirty="0"/>
              <a:t> de </a:t>
            </a:r>
            <a:r>
              <a:rPr lang="en-GB" sz="1100" i="1" dirty="0"/>
              <a:t>churn</a:t>
            </a:r>
            <a:r>
              <a:rPr lang="en-GB" sz="1100" dirty="0"/>
              <a:t>.</a:t>
            </a:r>
          </a:p>
          <a:p>
            <a:pPr marL="171450" indent="-171450">
              <a:buFont typeface="Arial" panose="020B0604020202020204" pitchFamily="34" charset="0"/>
              <a:buChar char="•"/>
            </a:pPr>
            <a:r>
              <a:rPr lang="en-GB" sz="1100" dirty="0"/>
              <a:t>Se </a:t>
            </a:r>
            <a:r>
              <a:rPr lang="en-GB" sz="1100" dirty="0" err="1"/>
              <a:t>concluye</a:t>
            </a:r>
            <a:r>
              <a:rPr lang="en-GB" sz="1100" dirty="0"/>
              <a:t> que </a:t>
            </a:r>
            <a:r>
              <a:rPr lang="en-GB" sz="1100" b="1" dirty="0" err="1"/>
              <a:t>estas</a:t>
            </a:r>
            <a:r>
              <a:rPr lang="en-GB" sz="1100" b="1" dirty="0"/>
              <a:t> </a:t>
            </a:r>
            <a:r>
              <a:rPr lang="en-GB" sz="1100" b="1" dirty="0" err="1"/>
              <a:t>técnicas</a:t>
            </a:r>
            <a:r>
              <a:rPr lang="en-GB" sz="1100" b="1" dirty="0"/>
              <a:t> no son las </a:t>
            </a:r>
            <a:r>
              <a:rPr lang="en-GB" sz="1100" b="1" dirty="0" err="1"/>
              <a:t>más</a:t>
            </a:r>
            <a:r>
              <a:rPr lang="en-GB" sz="1100" b="1" dirty="0"/>
              <a:t> </a:t>
            </a:r>
            <a:r>
              <a:rPr lang="en-GB" sz="1100" b="1" dirty="0" err="1"/>
              <a:t>adecuadas</a:t>
            </a:r>
            <a:r>
              <a:rPr lang="en-GB" sz="1100" dirty="0"/>
              <a:t> para </a:t>
            </a:r>
            <a:r>
              <a:rPr lang="en-GB" sz="1100" dirty="0" err="1"/>
              <a:t>capturar</a:t>
            </a:r>
            <a:r>
              <a:rPr lang="en-GB" sz="1100" dirty="0"/>
              <a:t> </a:t>
            </a:r>
            <a:r>
              <a:rPr lang="en-GB" sz="1100" dirty="0" err="1"/>
              <a:t>los</a:t>
            </a:r>
            <a:r>
              <a:rPr lang="en-GB" sz="1100" dirty="0"/>
              <a:t> </a:t>
            </a:r>
            <a:r>
              <a:rPr lang="en-GB" sz="1100" dirty="0" err="1"/>
              <a:t>patrones</a:t>
            </a:r>
            <a:r>
              <a:rPr lang="en-GB" sz="1100" dirty="0"/>
              <a:t> de </a:t>
            </a:r>
            <a:r>
              <a:rPr lang="en-GB" sz="1100" dirty="0" err="1"/>
              <a:t>abandono</a:t>
            </a:r>
            <a:r>
              <a:rPr lang="en-GB" sz="1100" dirty="0"/>
              <a:t> </a:t>
            </a:r>
            <a:r>
              <a:rPr lang="en-GB" sz="1100" dirty="0" err="1"/>
              <a:t>en</a:t>
            </a:r>
            <a:r>
              <a:rPr lang="en-GB" sz="1100" dirty="0"/>
              <a:t> </a:t>
            </a:r>
            <a:r>
              <a:rPr lang="en-GB" sz="1100" dirty="0" err="1"/>
              <a:t>los</a:t>
            </a:r>
            <a:r>
              <a:rPr lang="en-GB" sz="1100" dirty="0"/>
              <a:t> </a:t>
            </a:r>
            <a:r>
              <a:rPr lang="en-GB" sz="1100" dirty="0" err="1"/>
              <a:t>datos</a:t>
            </a:r>
            <a:r>
              <a:rPr lang="en-GB" sz="1100" dirty="0"/>
              <a:t>.</a:t>
            </a:r>
          </a:p>
          <a:p>
            <a:pPr marL="171450" indent="-171450">
              <a:buFont typeface="Arial" panose="020B0604020202020204" pitchFamily="34" charset="0"/>
              <a:buChar char="•"/>
            </a:pPr>
            <a:r>
              <a:rPr lang="en-GB" sz="1100" dirty="0"/>
              <a:t>Como </a:t>
            </a:r>
            <a:r>
              <a:rPr lang="en-GB" sz="1100" dirty="0" err="1"/>
              <a:t>siguiente</a:t>
            </a:r>
            <a:r>
              <a:rPr lang="en-GB" sz="1100" dirty="0"/>
              <a:t> paso, se </a:t>
            </a:r>
            <a:r>
              <a:rPr lang="en-GB" sz="1100" dirty="0" err="1"/>
              <a:t>propone</a:t>
            </a:r>
            <a:r>
              <a:rPr lang="en-GB" sz="1100" dirty="0"/>
              <a:t> </a:t>
            </a:r>
            <a:r>
              <a:rPr lang="en-GB" sz="1100" dirty="0" err="1"/>
              <a:t>implementar</a:t>
            </a:r>
            <a:r>
              <a:rPr lang="en-GB" sz="1100" dirty="0"/>
              <a:t> un </a:t>
            </a:r>
            <a:r>
              <a:rPr lang="en-GB" sz="1100" b="1" dirty="0"/>
              <a:t>árbol de </a:t>
            </a:r>
            <a:r>
              <a:rPr lang="en-GB" sz="1100" b="1" dirty="0" err="1"/>
              <a:t>decisión</a:t>
            </a:r>
            <a:r>
              <a:rPr lang="en-GB" sz="1100" dirty="0"/>
              <a:t> y </a:t>
            </a:r>
            <a:r>
              <a:rPr lang="en-GB" sz="1100" dirty="0" err="1"/>
              <a:t>evaluar</a:t>
            </a:r>
            <a:r>
              <a:rPr lang="en-GB" sz="1100" dirty="0"/>
              <a:t> </a:t>
            </a:r>
            <a:r>
              <a:rPr lang="en-GB" sz="1100" b="1" dirty="0" err="1"/>
              <a:t>otros</a:t>
            </a:r>
            <a:r>
              <a:rPr lang="en-GB" sz="1100" b="1" dirty="0"/>
              <a:t> </a:t>
            </a:r>
            <a:r>
              <a:rPr lang="en-GB" sz="1100" b="1" dirty="0" err="1"/>
              <a:t>algoritmos</a:t>
            </a:r>
            <a:r>
              <a:rPr lang="en-GB" sz="1100" b="1" dirty="0"/>
              <a:t> alternativos</a:t>
            </a:r>
            <a:r>
              <a:rPr lang="en-GB" sz="1100" dirty="0"/>
              <a:t> para </a:t>
            </a:r>
            <a:r>
              <a:rPr lang="en-GB" sz="1100" dirty="0" err="1"/>
              <a:t>optimizar</a:t>
            </a:r>
            <a:r>
              <a:rPr lang="en-GB" sz="1100" dirty="0"/>
              <a:t> la </a:t>
            </a:r>
            <a:r>
              <a:rPr lang="en-GB" sz="1100" dirty="0" err="1"/>
              <a:t>predicción</a:t>
            </a:r>
            <a:r>
              <a:rPr lang="en-GB" sz="1100" dirty="0"/>
              <a:t>.</a:t>
            </a:r>
          </a:p>
          <a:p>
            <a:pPr marL="171450" indent="-171450">
              <a:buFont typeface="Arial" panose="020B0604020202020204" pitchFamily="34" charset="0"/>
              <a:buChar char="•"/>
            </a:pPr>
            <a:r>
              <a:rPr lang="en-GB" sz="1100" b="1" dirty="0" err="1"/>
              <a:t>Mensaje</a:t>
            </a:r>
            <a:r>
              <a:rPr lang="en-GB" sz="1100" b="1" dirty="0"/>
              <a:t> para </a:t>
            </a:r>
            <a:r>
              <a:rPr lang="en-GB" sz="1100" b="1" dirty="0" err="1"/>
              <a:t>los</a:t>
            </a:r>
            <a:r>
              <a:rPr lang="en-GB" sz="1100" b="1" dirty="0"/>
              <a:t> stakeholders:</a:t>
            </a:r>
            <a:r>
              <a:rPr lang="en-GB" sz="1100" dirty="0"/>
              <a:t> </a:t>
            </a:r>
            <a:r>
              <a:rPr lang="en-GB" sz="1100" dirty="0" err="1"/>
              <a:t>mejorar</a:t>
            </a:r>
            <a:r>
              <a:rPr lang="en-GB" sz="1100" dirty="0"/>
              <a:t> la </a:t>
            </a:r>
            <a:r>
              <a:rPr lang="en-GB" sz="1100" dirty="0" err="1"/>
              <a:t>capacidad</a:t>
            </a:r>
            <a:r>
              <a:rPr lang="en-GB" sz="1100" dirty="0"/>
              <a:t> </a:t>
            </a:r>
            <a:r>
              <a:rPr lang="en-GB" sz="1100" dirty="0" err="1"/>
              <a:t>predictiva</a:t>
            </a:r>
            <a:r>
              <a:rPr lang="en-GB" sz="1100" dirty="0"/>
              <a:t> </a:t>
            </a:r>
            <a:r>
              <a:rPr lang="en-GB" sz="1100" dirty="0" err="1"/>
              <a:t>permitirá</a:t>
            </a:r>
            <a:r>
              <a:rPr lang="en-GB" sz="1100" dirty="0"/>
              <a:t> </a:t>
            </a:r>
            <a:r>
              <a:rPr lang="en-GB" sz="1100" b="1" dirty="0" err="1"/>
              <a:t>anticipar</a:t>
            </a:r>
            <a:r>
              <a:rPr lang="en-GB" sz="1100" b="1" dirty="0"/>
              <a:t> </a:t>
            </a:r>
            <a:r>
              <a:rPr lang="en-GB" sz="1100" b="1" dirty="0" err="1"/>
              <a:t>el</a:t>
            </a:r>
            <a:r>
              <a:rPr lang="en-GB" sz="1100" b="1" dirty="0"/>
              <a:t> </a:t>
            </a:r>
            <a:r>
              <a:rPr lang="en-GB" sz="1100" b="1" dirty="0" err="1"/>
              <a:t>abandono</a:t>
            </a:r>
            <a:r>
              <a:rPr lang="en-GB" sz="1100" b="1" dirty="0"/>
              <a:t> de </a:t>
            </a:r>
            <a:r>
              <a:rPr lang="en-GB" sz="1100" b="1" dirty="0" err="1"/>
              <a:t>clientes</a:t>
            </a:r>
            <a:r>
              <a:rPr lang="en-GB" sz="1100" dirty="0"/>
              <a:t> y </a:t>
            </a:r>
            <a:r>
              <a:rPr lang="en-GB" sz="1100" b="1" dirty="0" err="1"/>
              <a:t>diseñar</a:t>
            </a:r>
            <a:endParaRPr lang="en-GB" sz="1100" b="1" dirty="0"/>
          </a:p>
          <a:p>
            <a:r>
              <a:rPr lang="en-GB" sz="1100" b="1" dirty="0"/>
              <a:t>     </a:t>
            </a:r>
            <a:r>
              <a:rPr lang="en-GB" sz="1100" b="1" dirty="0" err="1"/>
              <a:t>estrategias</a:t>
            </a:r>
            <a:r>
              <a:rPr lang="en-GB" sz="1100" b="1" dirty="0"/>
              <a:t> </a:t>
            </a:r>
            <a:r>
              <a:rPr lang="en-GB" sz="1100" b="1" dirty="0" err="1"/>
              <a:t>proactivas</a:t>
            </a:r>
            <a:r>
              <a:rPr lang="en-GB" sz="1100" b="1" dirty="0"/>
              <a:t> de </a:t>
            </a:r>
            <a:r>
              <a:rPr lang="en-GB" sz="1100" b="1" dirty="0" err="1"/>
              <a:t>retención</a:t>
            </a:r>
            <a:r>
              <a:rPr lang="en-GB" sz="1100" dirty="0"/>
              <a:t>.</a:t>
            </a:r>
          </a:p>
          <a:p>
            <a:endParaRPr lang="en-ES" dirty="0"/>
          </a:p>
        </p:txBody>
      </p:sp>
    </p:spTree>
    <p:extLst>
      <p:ext uri="{BB962C8B-B14F-4D97-AF65-F5344CB8AC3E}">
        <p14:creationId xmlns:p14="http://schemas.microsoft.com/office/powerpoint/2010/main" val="804811583"/>
      </p:ext>
    </p:extLst>
  </p:cSld>
  <p:clrMapOvr>
    <a:masterClrMapping/>
  </p:clrMapOvr>
</p:sld>
</file>

<file path=ppt/theme/theme1.xml><?xml version="1.0" encoding="utf-8"?>
<a:theme xmlns:a="http://schemas.openxmlformats.org/drawingml/2006/main" name="Cycle Diagrams Theme for a Business Plan by Slidesgo">
  <a:themeElements>
    <a:clrScheme name="Simple Light">
      <a:dk1>
        <a:srgbClr val="1B1B1B"/>
      </a:dk1>
      <a:lt1>
        <a:srgbClr val="FAFAFA"/>
      </a:lt1>
      <a:dk2>
        <a:srgbClr val="374768"/>
      </a:dk2>
      <a:lt2>
        <a:srgbClr val="43567F"/>
      </a:lt2>
      <a:accent1>
        <a:srgbClr val="9BACCA"/>
      </a:accent1>
      <a:accent2>
        <a:srgbClr val="C2CDE5"/>
      </a:accent2>
      <a:accent3>
        <a:srgbClr val="FFFFFF"/>
      </a:accent3>
      <a:accent4>
        <a:srgbClr val="FFFFFF"/>
      </a:accent4>
      <a:accent5>
        <a:srgbClr val="FFFFFF"/>
      </a:accent5>
      <a:accent6>
        <a:srgbClr val="FFFFFF"/>
      </a:accent6>
      <a:hlink>
        <a:srgbClr val="1B1B1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Parcel</Template>
  <TotalTime>816</TotalTime>
  <Words>1529</Words>
  <Application>Microsoft Macintosh PowerPoint</Application>
  <PresentationFormat>On-screen Show (16:9)</PresentationFormat>
  <Paragraphs>239</Paragraphs>
  <Slides>15</Slides>
  <Notes>15</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Arial Black</vt:lpstr>
      <vt:lpstr>Arial</vt:lpstr>
      <vt:lpstr>Wingdings</vt:lpstr>
      <vt:lpstr>Poppins</vt:lpstr>
      <vt:lpstr>Libre Franklin</vt:lpstr>
      <vt:lpstr>ui-sans-serif</vt:lpstr>
      <vt:lpstr>Raleway</vt:lpstr>
      <vt:lpstr>Didact Gothic</vt:lpstr>
      <vt:lpstr>Arial Rounded MT Bold</vt:lpstr>
      <vt:lpstr>Cycle Diagrams Theme for a Business Plan by Slidesgo</vt:lpstr>
      <vt:lpstr>Modelo de clasificación  GRUPO 5</vt:lpstr>
      <vt:lpstr>ENTENDIMIENTO DE NEGOCIO</vt:lpstr>
      <vt:lpstr>ENTENDIMIENTO DE DATOS</vt:lpstr>
      <vt:lpstr>FRAMEWORK METODOLÓGICO</vt:lpstr>
      <vt:lpstr>Exploratory Data Analysis (EDA) 1/2</vt:lpstr>
      <vt:lpstr>Resultados Clave (EDA) 2/2</vt:lpstr>
      <vt:lpstr>Tratamiento de Missings</vt:lpstr>
      <vt:lpstr>Tratamiento de Outliers</vt:lpstr>
      <vt:lpstr>Ingeniería de Variables ½: transformación</vt:lpstr>
      <vt:lpstr>Ingeniería de Variables 2/2: selección</vt:lpstr>
      <vt:lpstr>Association Rules 1/2</vt:lpstr>
      <vt:lpstr>Association Rules 2/2: resultados</vt:lpstr>
      <vt:lpstr>PREPARACIÓN PARA EL MODELADO</vt:lpstr>
      <vt:lpstr>PRIMEROS MODELOS</vt:lpstr>
      <vt:lpstr>CONCLUSIONES &amp; PRÓXIMOS PASOS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Modelo de clasificación  GRUPO 5</dc:title>
  <dc:creator>Mario Aragón Valderrama</dc:creator>
  <cp:lastModifiedBy>MELISSA VARGAS JEREZ</cp:lastModifiedBy>
  <cp:revision>15</cp:revision>
  <dcterms:modified xsi:type="dcterms:W3CDTF">2025-11-09T18:23:51Z</dcterms:modified>
</cp:coreProperties>
</file>