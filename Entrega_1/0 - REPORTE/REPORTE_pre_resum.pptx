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70" r:id="rId5"/>
    <p:sldId id="271" r:id="rId6"/>
    <p:sldId id="272" r:id="rId7"/>
    <p:sldId id="273" r:id="rId8"/>
    <p:sldId id="274" r:id="rId9"/>
    <p:sldId id="275" r:id="rId10"/>
    <p:sldId id="276" r:id="rId11"/>
    <p:sldId id="277" r:id="rId12"/>
    <p:sldId id="278" r:id="rId13"/>
    <p:sldId id="279" r:id="rId14"/>
    <p:sldId id="280" r:id="rId15"/>
    <p:sldId id="281" r:id="rId16"/>
    <p:sldId id="285" r:id="rId17"/>
    <p:sldId id="284" r:id="rId18"/>
  </p:sldIdLst>
  <p:sldSz cx="9144000" cy="5143500" type="screen16x9"/>
  <p:notesSz cx="6858000" cy="9144000"/>
  <p:embeddedFontLst>
    <p:embeddedFont>
      <p:font typeface="Poppins" panose="00000500000000000000"/>
      <p:regular r:id="rId23"/>
    </p:embeddedFont>
    <p:embeddedFont>
      <p:font typeface="Didact Gothic" panose="00000500000000000000"/>
      <p:regular r:id="rId24"/>
    </p:embeddedFont>
    <p:embeddedFont>
      <p:font typeface="Raleway"/>
      <p:regular r:id="rId25"/>
    </p:embeddedFont>
    <p:embeddedFont>
      <p:font typeface="Arial Black" panose="020B0A04020102020204" pitchFamily="34" charset="0"/>
      <p:bold r:id="rId26"/>
    </p:embeddedFont>
    <p:embeddedFont>
      <p:font typeface="Arial Rounded MT Bold" panose="020F0704030504030204" pitchFamily="34" charset="0"/>
      <p:regular r:id="rId27"/>
    </p:embeddedFont>
    <p:embeddedFont>
      <p:font typeface="Lucida Console" panose="020B0609040504020204" pitchFamily="49" charset="0"/>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 Aragón Valderrama" initials="M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FD54D1E-A07F-487E-B709-6B33F145316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73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diagrams/_rels/drawing1.xml.rels><?xml version="1.0" encoding="UTF-8" standalone="yes"?>
<Relationships xmlns="http://schemas.openxmlformats.org/package/2006/relationships"><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0DBD592-C900-4D5D-A79A-93A58E8DA172}"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s-ES"/>
        </a:p>
      </dgm:t>
    </dgm:pt>
    <dgm:pt modelId="{C9F99139-B66D-4219-861A-3EA127D493C0}">
      <dgm:prSet phldrT="[Texto]" phldr="0" custT="1"/>
      <dgm:spPr/>
      <dgm:t>
        <a:bodyPr/>
        <a:lstStyle/>
        <a:p>
          <a:r>
            <a:rPr lang="es-ES" sz="900" b="1" dirty="0">
              <a:solidFill>
                <a:srgbClr val="002060"/>
              </a:solidFill>
            </a:rPr>
            <a:t>Business </a:t>
          </a:r>
          <a:r>
            <a:rPr lang="es-ES" sz="900" b="1" dirty="0" err="1">
              <a:solidFill>
                <a:srgbClr val="002060"/>
              </a:solidFill>
            </a:rPr>
            <a:t>understanding</a:t>
          </a:r>
          <a:r>
            <a:rPr lang="es-ES" sz="900" b="1" dirty="0">
              <a:solidFill>
                <a:srgbClr val="002060"/>
              </a:solidFill>
            </a:rPr>
            <a:t> </a:t>
          </a:r>
          <a:r>
            <a:rPr lang="es-ES" sz="900" dirty="0"/>
            <a:t>– Todo el equipo</a:t>
          </a:r>
        </a:p>
      </dgm:t>
    </dgm:pt>
    <dgm:pt modelId="{1C880A37-22BC-4FD9-8955-F47618D81BCC}" cxnId="{2FF3EB71-C7F5-4619-AB74-5943DE39CC10}" type="parTrans">
      <dgm:prSet/>
      <dgm:spPr/>
      <dgm:t>
        <a:bodyPr/>
        <a:lstStyle/>
        <a:p>
          <a:endParaRPr lang="es-ES" sz="2400"/>
        </a:p>
      </dgm:t>
    </dgm:pt>
    <dgm:pt modelId="{2ABCB300-CCE9-44E7-999D-3B03628596E1}" cxnId="{2FF3EB71-C7F5-4619-AB74-5943DE39CC10}" type="sibTrans">
      <dgm:prSet/>
      <dgm:spPr/>
      <dgm:t>
        <a:bodyPr/>
        <a:lstStyle/>
        <a:p>
          <a:endParaRPr lang="es-ES" sz="2400"/>
        </a:p>
      </dgm:t>
    </dgm:pt>
    <dgm:pt modelId="{B0A54B65-E829-4553-8B45-B4EBDAF3C233}">
      <dgm:prSet phldrT="[Texto]" phldr="0" custT="1"/>
      <dgm:spPr/>
      <dgm:t>
        <a:bodyPr/>
        <a:lstStyle/>
        <a:p>
          <a:r>
            <a:rPr lang="es-ES" sz="800" b="1" dirty="0">
              <a:solidFill>
                <a:srgbClr val="002060"/>
              </a:solidFill>
            </a:rPr>
            <a:t>Data </a:t>
          </a:r>
          <a:r>
            <a:rPr lang="es-ES" sz="800" b="1" dirty="0" err="1">
              <a:solidFill>
                <a:srgbClr val="002060"/>
              </a:solidFill>
            </a:rPr>
            <a:t>understanding</a:t>
          </a:r>
          <a:r>
            <a:rPr lang="es-ES" sz="800" b="1" dirty="0">
              <a:solidFill>
                <a:srgbClr val="002060"/>
              </a:solidFill>
            </a:rPr>
            <a:t> </a:t>
          </a:r>
          <a:r>
            <a:rPr lang="es-ES" sz="800" b="1" dirty="0"/>
            <a:t>-</a:t>
          </a:r>
          <a:r>
            <a:rPr lang="es-ES" sz="800" dirty="0"/>
            <a:t>  Todo el equipo</a:t>
          </a:r>
        </a:p>
        <a:p>
          <a:r>
            <a:rPr lang="es-ES" sz="800" dirty="0"/>
            <a:t>Diseño del </a:t>
          </a:r>
          <a:r>
            <a:rPr lang="es-ES" sz="800" dirty="0" err="1"/>
            <a:t>metadata</a:t>
          </a:r>
          <a:r>
            <a:rPr lang="es-ES" sz="800" dirty="0"/>
            <a:t> – Melissa</a:t>
          </a:r>
        </a:p>
        <a:p>
          <a:r>
            <a:rPr lang="es-ES" sz="800" dirty="0"/>
            <a:t>Análisis exploratorio de datos – </a:t>
          </a:r>
          <a:r>
            <a:rPr lang="es-ES" sz="800" dirty="0" err="1"/>
            <a:t>Wenjia</a:t>
          </a:r>
          <a:r>
            <a:rPr lang="es-ES" sz="800" dirty="0"/>
            <a:t> y </a:t>
          </a:r>
          <a:r>
            <a:rPr lang="es-ES" sz="800" dirty="0" err="1"/>
            <a:t>Siling</a:t>
          </a:r>
          <a:endParaRPr lang="es-ES" sz="800" dirty="0"/>
        </a:p>
        <a:p>
          <a:r>
            <a:rPr lang="es-ES" sz="800" dirty="0"/>
            <a:t>Análisis de </a:t>
          </a:r>
          <a:r>
            <a:rPr lang="es-ES" sz="800" dirty="0" err="1"/>
            <a:t>outliers</a:t>
          </a:r>
          <a:r>
            <a:rPr lang="es-ES" sz="800" dirty="0"/>
            <a:t> </a:t>
          </a:r>
          <a:r>
            <a:rPr lang="es-ES" sz="800" dirty="0" err="1"/>
            <a:t>pre-imputación</a:t>
          </a:r>
          <a:r>
            <a:rPr lang="es-ES" sz="800" dirty="0"/>
            <a:t>: Mario, Laura y Melissa</a:t>
          </a:r>
        </a:p>
        <a:p>
          <a:endParaRPr lang="es-ES" sz="800" dirty="0"/>
        </a:p>
      </dgm:t>
    </dgm:pt>
    <dgm:pt modelId="{58D673D6-CE1A-45C9-8DE0-8248CFA91FFF}" cxnId="{62EFD2D3-AE51-4D7B-AC9A-B557C95CFE85}" type="parTrans">
      <dgm:prSet/>
      <dgm:spPr/>
      <dgm:t>
        <a:bodyPr/>
        <a:lstStyle/>
        <a:p>
          <a:endParaRPr lang="es-ES" sz="2400"/>
        </a:p>
      </dgm:t>
    </dgm:pt>
    <dgm:pt modelId="{F068E20D-9182-40E9-81D3-3D2119E9E208}" cxnId="{62EFD2D3-AE51-4D7B-AC9A-B557C95CFE85}" type="sibTrans">
      <dgm:prSet/>
      <dgm:spPr/>
      <dgm:t>
        <a:bodyPr/>
        <a:lstStyle/>
        <a:p>
          <a:endParaRPr lang="es-ES" sz="2400"/>
        </a:p>
      </dgm:t>
    </dgm:pt>
    <dgm:pt modelId="{EBF196C3-A6DB-42DE-B168-0612EDF03693}">
      <dgm:prSet phldrT="[Texto]" phldr="0" custT="1"/>
      <dgm:spPr/>
      <dgm:t>
        <a:bodyPr/>
        <a:lstStyle/>
        <a:p>
          <a:r>
            <a:rPr lang="es-ES" sz="800" b="1" dirty="0">
              <a:solidFill>
                <a:srgbClr val="002060"/>
              </a:solidFill>
            </a:rPr>
            <a:t>Data </a:t>
          </a:r>
          <a:r>
            <a:rPr lang="es-ES" sz="800" b="1" dirty="0" err="1">
              <a:solidFill>
                <a:srgbClr val="002060"/>
              </a:solidFill>
            </a:rPr>
            <a:t>preparation</a:t>
          </a:r>
          <a:endParaRPr lang="es-ES" sz="800" b="1" dirty="0">
            <a:solidFill>
              <a:srgbClr val="002060"/>
            </a:solidFill>
          </a:endParaRPr>
        </a:p>
        <a:p>
          <a:r>
            <a:rPr lang="es-ES" sz="800" dirty="0"/>
            <a:t>Imputación de valores faltantes – Mario y Laura</a:t>
          </a:r>
        </a:p>
        <a:p>
          <a:r>
            <a:rPr lang="es-ES" sz="800" dirty="0"/>
            <a:t>Análisis de </a:t>
          </a:r>
          <a:r>
            <a:rPr lang="es-ES" sz="800" dirty="0" err="1"/>
            <a:t>outliers</a:t>
          </a:r>
          <a:r>
            <a:rPr lang="es-ES" sz="800" dirty="0"/>
            <a:t> </a:t>
          </a:r>
          <a:r>
            <a:rPr lang="es-ES" sz="800" dirty="0" err="1"/>
            <a:t>post-imputación</a:t>
          </a:r>
          <a:r>
            <a:rPr lang="es-ES" sz="800" dirty="0"/>
            <a:t> – Mario, Laura y Melissa</a:t>
          </a:r>
        </a:p>
        <a:p>
          <a:r>
            <a:rPr lang="es-ES" sz="800" dirty="0"/>
            <a:t>Ingeniería de variables – </a:t>
          </a:r>
          <a:r>
            <a:rPr lang="es-ES" sz="800" dirty="0" err="1"/>
            <a:t>Wenjia</a:t>
          </a:r>
          <a:r>
            <a:rPr lang="es-ES" sz="800" dirty="0"/>
            <a:t> </a:t>
          </a:r>
        </a:p>
      </dgm:t>
    </dgm:pt>
    <dgm:pt modelId="{9BCB12AF-3FDE-4ECC-9F8F-CED83AED7CCB}" cxnId="{09CD5CFB-F57C-4EA7-9B86-AED2343EDF67}" type="parTrans">
      <dgm:prSet/>
      <dgm:spPr/>
      <dgm:t>
        <a:bodyPr/>
        <a:lstStyle/>
        <a:p>
          <a:endParaRPr lang="es-ES" sz="2400"/>
        </a:p>
      </dgm:t>
    </dgm:pt>
    <dgm:pt modelId="{C16B64A7-40EB-4C86-BE64-8EBACDE653C3}" cxnId="{09CD5CFB-F57C-4EA7-9B86-AED2343EDF67}" type="sibTrans">
      <dgm:prSet/>
      <dgm:spPr/>
      <dgm:t>
        <a:bodyPr/>
        <a:lstStyle/>
        <a:p>
          <a:endParaRPr lang="es-ES" sz="2400"/>
        </a:p>
      </dgm:t>
    </dgm:pt>
    <dgm:pt modelId="{D3DB2985-286F-4E1B-A3EF-B67DCD1C08F6}">
      <dgm:prSet phldrT="[Texto]" phldr="0" custT="1"/>
      <dgm:spPr/>
      <dgm:t>
        <a:bodyPr/>
        <a:lstStyle/>
        <a:p>
          <a:r>
            <a:rPr lang="es-ES" sz="800" b="1" dirty="0">
              <a:solidFill>
                <a:srgbClr val="002060"/>
              </a:solidFill>
            </a:rPr>
            <a:t>Modelado y evaluación de sus KPI</a:t>
          </a:r>
        </a:p>
      </dgm:t>
    </dgm:pt>
    <dgm:pt modelId="{3A914AC6-6594-4B0A-A5A2-C491F53EF95C}" cxnId="{D2E0ED84-53E3-49A1-A292-3EA003DD3B1F}" type="parTrans">
      <dgm:prSet/>
      <dgm:spPr/>
      <dgm:t>
        <a:bodyPr/>
        <a:lstStyle/>
        <a:p>
          <a:endParaRPr lang="es-ES" sz="2400"/>
        </a:p>
      </dgm:t>
    </dgm:pt>
    <dgm:pt modelId="{F982C1E6-BEEF-456A-A8F1-006AD67EDC6F}" cxnId="{D2E0ED84-53E3-49A1-A292-3EA003DD3B1F}" type="sibTrans">
      <dgm:prSet/>
      <dgm:spPr/>
      <dgm:t>
        <a:bodyPr/>
        <a:lstStyle/>
        <a:p>
          <a:endParaRPr lang="es-ES" sz="2400"/>
        </a:p>
      </dgm:t>
    </dgm:pt>
    <dgm:pt modelId="{7F32E596-06EC-48C3-A09C-04CA91FC3646}">
      <dgm:prSet phldrT="[Texto]" phldr="0" custT="1"/>
      <dgm:spPr/>
      <dgm:t>
        <a:bodyPr/>
        <a:lstStyle/>
        <a:p>
          <a:r>
            <a:rPr lang="es-ES" sz="700" dirty="0"/>
            <a:t>Método KNN – </a:t>
          </a:r>
          <a:r>
            <a:rPr lang="es-ES" sz="700" dirty="0" err="1"/>
            <a:t>Siling</a:t>
          </a:r>
          <a:r>
            <a:rPr lang="es-ES" sz="700" dirty="0"/>
            <a:t> y Laura</a:t>
          </a:r>
        </a:p>
      </dgm:t>
    </dgm:pt>
    <dgm:pt modelId="{3CA22E8E-B6D2-474E-A562-2E6873661CBF}" cxnId="{F5BFB7A7-DA96-4B2A-A712-D49E9BEFF153}" type="parTrans">
      <dgm:prSet/>
      <dgm:spPr/>
      <dgm:t>
        <a:bodyPr/>
        <a:lstStyle/>
        <a:p>
          <a:endParaRPr lang="es-ES" sz="2400"/>
        </a:p>
      </dgm:t>
    </dgm:pt>
    <dgm:pt modelId="{EA306326-FF63-4C8E-B58E-DE3A1AA8769B}" cxnId="{F5BFB7A7-DA96-4B2A-A712-D49E9BEFF153}" type="sibTrans">
      <dgm:prSet/>
      <dgm:spPr/>
      <dgm:t>
        <a:bodyPr/>
        <a:lstStyle/>
        <a:p>
          <a:endParaRPr lang="es-ES" sz="2400"/>
        </a:p>
      </dgm:t>
    </dgm:pt>
    <dgm:pt modelId="{249D8C40-36DB-4241-9967-FD998032C2DA}">
      <dgm:prSet phldrT="[Texto]" phldr="0" custT="1"/>
      <dgm:spPr/>
      <dgm:t>
        <a:bodyPr/>
        <a:lstStyle/>
        <a:p>
          <a:r>
            <a:rPr lang="es-ES" sz="700" dirty="0"/>
            <a:t>Método </a:t>
          </a:r>
          <a:r>
            <a:rPr lang="es-ES" sz="700" dirty="0" err="1"/>
            <a:t>Naive</a:t>
          </a:r>
          <a:r>
            <a:rPr lang="es-ES" sz="700" dirty="0"/>
            <a:t> Bayes – Melissa y </a:t>
          </a:r>
          <a:r>
            <a:rPr lang="es-ES" sz="700" dirty="0" err="1"/>
            <a:t>Wenjia</a:t>
          </a:r>
          <a:endParaRPr lang="es-ES" sz="700" dirty="0"/>
        </a:p>
      </dgm:t>
    </dgm:pt>
    <dgm:pt modelId="{E1A988E4-349E-4757-8870-C71CC27E20A7}" cxnId="{5D3C7EBA-3675-4CB3-B786-118349DD30C3}" type="parTrans">
      <dgm:prSet/>
      <dgm:spPr/>
      <dgm:t>
        <a:bodyPr/>
        <a:lstStyle/>
        <a:p>
          <a:endParaRPr lang="es-ES" sz="2400"/>
        </a:p>
      </dgm:t>
    </dgm:pt>
    <dgm:pt modelId="{F275AD60-A384-48A0-84C2-5A1E5ABDC251}" cxnId="{5D3C7EBA-3675-4CB3-B786-118349DD30C3}" type="sibTrans">
      <dgm:prSet/>
      <dgm:spPr/>
      <dgm:t>
        <a:bodyPr/>
        <a:lstStyle/>
        <a:p>
          <a:endParaRPr lang="es-ES" sz="2400"/>
        </a:p>
      </dgm:t>
    </dgm:pt>
    <dgm:pt modelId="{B9802D42-76B7-4AE8-9963-A689582E6B35}">
      <dgm:prSet phldrT="[Texto]" phldr="0" custT="1"/>
      <dgm:spPr/>
      <dgm:t>
        <a:bodyPr/>
        <a:lstStyle/>
        <a:p>
          <a:r>
            <a:rPr lang="es-ES" sz="800" b="1" dirty="0" err="1">
              <a:solidFill>
                <a:srgbClr val="002060"/>
              </a:solidFill>
            </a:rPr>
            <a:t>Association</a:t>
          </a:r>
          <a:r>
            <a:rPr lang="es-ES" sz="800" b="1" dirty="0">
              <a:solidFill>
                <a:srgbClr val="002060"/>
              </a:solidFill>
            </a:rPr>
            <a:t> Rules </a:t>
          </a:r>
          <a:r>
            <a:rPr lang="es-ES" sz="800" dirty="0"/>
            <a:t>- Mario</a:t>
          </a:r>
        </a:p>
      </dgm:t>
    </dgm:pt>
    <dgm:pt modelId="{5522CECA-745D-4D76-A87A-0DA536D5330D}" cxnId="{A44658AC-B46F-4B08-B962-B06FFFD99B33}" type="parTrans">
      <dgm:prSet/>
      <dgm:spPr/>
      <dgm:t>
        <a:bodyPr/>
        <a:lstStyle/>
        <a:p>
          <a:endParaRPr lang="es-ES" sz="2400"/>
        </a:p>
      </dgm:t>
    </dgm:pt>
    <dgm:pt modelId="{1B62F6DE-B574-43AD-B04F-ABDF9E20E863}" cxnId="{A44658AC-B46F-4B08-B962-B06FFFD99B33}" type="sibTrans">
      <dgm:prSet/>
      <dgm:spPr/>
      <dgm:t>
        <a:bodyPr/>
        <a:lstStyle/>
        <a:p>
          <a:endParaRPr lang="es-ES" sz="2400"/>
        </a:p>
      </dgm:t>
    </dgm:pt>
    <dgm:pt modelId="{AF2423DC-82A1-4E65-98F7-8C4D4E9BA053}">
      <dgm:prSet phldrT="[Texto]" phldr="0" custT="1"/>
      <dgm:spPr/>
      <dgm:t>
        <a:bodyPr/>
        <a:lstStyle/>
        <a:p>
          <a:endParaRPr lang="es-ES" sz="700" dirty="0"/>
        </a:p>
      </dgm:t>
    </dgm:pt>
    <dgm:pt modelId="{13516DD8-08A2-4F96-AC0C-71230459227B}" cxnId="{986064BB-FA05-4630-8B08-E86CDE1769AB}" type="parTrans">
      <dgm:prSet/>
      <dgm:spPr/>
      <dgm:t>
        <a:bodyPr/>
        <a:lstStyle/>
        <a:p>
          <a:endParaRPr lang="es-ES"/>
        </a:p>
      </dgm:t>
    </dgm:pt>
    <dgm:pt modelId="{4D87072F-125F-4294-883C-54F5E9CD8B1C}" cxnId="{986064BB-FA05-4630-8B08-E86CDE1769AB}" type="sibTrans">
      <dgm:prSet/>
      <dgm:spPr/>
      <dgm:t>
        <a:bodyPr/>
        <a:lstStyle/>
        <a:p>
          <a:endParaRPr lang="es-ES"/>
        </a:p>
      </dgm:t>
    </dgm:pt>
    <dgm:pt modelId="{CBFF6C33-7733-4A2E-9F4F-71A5C208EAE8}">
      <dgm:prSet phldrT="[Texto]" phldr="0" custT="1"/>
      <dgm:spPr/>
      <dgm:t>
        <a:bodyPr/>
        <a:lstStyle/>
        <a:p>
          <a:r>
            <a:rPr lang="es-ES" sz="700" dirty="0"/>
            <a:t>Para cada método se ha probado diversas bases de datos con diferentes selecciones de variables para comprobar cuál es el mejor</a:t>
          </a:r>
        </a:p>
      </dgm:t>
    </dgm:pt>
    <dgm:pt modelId="{6FCC6521-4EFE-4241-A97E-7E91A23E183F}" cxnId="{C1FA232B-B25A-4818-9BCD-DEBE45316E2F}" type="parTrans">
      <dgm:prSet/>
      <dgm:spPr/>
      <dgm:t>
        <a:bodyPr/>
        <a:lstStyle/>
        <a:p>
          <a:endParaRPr lang="es-ES"/>
        </a:p>
      </dgm:t>
    </dgm:pt>
    <dgm:pt modelId="{05CE11E1-ACF9-4DAF-930B-ADCD600844E6}" cxnId="{C1FA232B-B25A-4818-9BCD-DEBE45316E2F}" type="sibTrans">
      <dgm:prSet/>
      <dgm:spPr/>
      <dgm:t>
        <a:bodyPr/>
        <a:lstStyle/>
        <a:p>
          <a:endParaRPr lang="es-ES"/>
        </a:p>
      </dgm:t>
    </dgm:pt>
    <dgm:pt modelId="{2D5738C4-EC9E-4779-B540-31D33BE25B70}" type="pres">
      <dgm:prSet presAssocID="{E0DBD592-C900-4D5D-A79A-93A58E8DA172}" presName="linear" presStyleCnt="0">
        <dgm:presLayoutVars>
          <dgm:dir/>
          <dgm:resizeHandles val="exact"/>
        </dgm:presLayoutVars>
      </dgm:prSet>
      <dgm:spPr/>
    </dgm:pt>
    <dgm:pt modelId="{3495E656-1F14-4307-80DE-ABD969E4FEFA}" type="pres">
      <dgm:prSet presAssocID="{C9F99139-B66D-4219-861A-3EA127D493C0}" presName="comp" presStyleCnt="0"/>
      <dgm:spPr/>
    </dgm:pt>
    <dgm:pt modelId="{DC08CE2B-3BA2-48DB-B768-70EF00B4488D}" type="pres">
      <dgm:prSet presAssocID="{C9F99139-B66D-4219-861A-3EA127D493C0}" presName="box" presStyleLbl="node1" presStyleIdx="0" presStyleCnt="5" custScaleY="71211"/>
      <dgm:spPr/>
    </dgm:pt>
    <dgm:pt modelId="{EF2D8EC3-8FE2-4E7C-B86A-83EDAF07162F}" type="pres">
      <dgm:prSet presAssocID="{C9F99139-B66D-4219-861A-3EA127D493C0}" presName="img" presStyleLbl="fgImgPlace1" presStyleIdx="0" presStyleCnt="5" custScaleY="69563"/>
      <dgm:spPr>
        <a:blipFill>
          <a:blip xmlns:r="http://schemas.openxmlformats.org/officeDocument/2006/relationships" r:embed="rId1"/>
          <a:srcRect/>
          <a:stretch>
            <a:fillRect t="-84000" b="-84000"/>
          </a:stretch>
        </a:blipFill>
      </dgm:spPr>
    </dgm:pt>
    <dgm:pt modelId="{51F715FF-4B49-486A-B461-C35D3C55EEB6}" type="pres">
      <dgm:prSet presAssocID="{C9F99139-B66D-4219-861A-3EA127D493C0}" presName="text" presStyleLbl="node1" presStyleIdx="0" presStyleCnt="5">
        <dgm:presLayoutVars>
          <dgm:bulletEnabled val="1"/>
        </dgm:presLayoutVars>
      </dgm:prSet>
      <dgm:spPr/>
    </dgm:pt>
    <dgm:pt modelId="{A85E9522-9A51-4F9B-825C-5AAE997BCC79}" type="pres">
      <dgm:prSet presAssocID="{2ABCB300-CCE9-44E7-999D-3B03628596E1}" presName="spacer" presStyleCnt="0"/>
      <dgm:spPr/>
    </dgm:pt>
    <dgm:pt modelId="{9C15E9F4-CE56-4E8D-9AC4-025934C7C1D4}" type="pres">
      <dgm:prSet presAssocID="{B0A54B65-E829-4553-8B45-B4EBDAF3C233}" presName="comp" presStyleCnt="0"/>
      <dgm:spPr/>
    </dgm:pt>
    <dgm:pt modelId="{B12AE6C0-B4ED-4A08-98AA-6732B6DC385E}" type="pres">
      <dgm:prSet presAssocID="{B0A54B65-E829-4553-8B45-B4EBDAF3C233}" presName="box" presStyleLbl="node1" presStyleIdx="1" presStyleCnt="5" custScaleY="119178"/>
      <dgm:spPr/>
    </dgm:pt>
    <dgm:pt modelId="{C9E8AD8B-B134-4129-BD9A-C060E9DACAFC}" type="pres">
      <dgm:prSet presAssocID="{B0A54B65-E829-4553-8B45-B4EBDAF3C233}" presName="img" presStyleLbl="fgImgPlace1" presStyleIdx="1" presStyleCnt="5" custScaleY="120571"/>
      <dgm:spPr>
        <a:blipFill>
          <a:blip xmlns:r="http://schemas.openxmlformats.org/officeDocument/2006/relationships" r:embed="rId2"/>
          <a:srcRect/>
          <a:stretch>
            <a:fillRect l="-9000" r="-9000"/>
          </a:stretch>
        </a:blipFill>
      </dgm:spPr>
    </dgm:pt>
    <dgm:pt modelId="{3D1FE89A-8ADF-4C10-94D7-ABA6570F8C42}" type="pres">
      <dgm:prSet presAssocID="{B0A54B65-E829-4553-8B45-B4EBDAF3C233}" presName="text" presStyleLbl="node1" presStyleIdx="1" presStyleCnt="5">
        <dgm:presLayoutVars>
          <dgm:bulletEnabled val="1"/>
        </dgm:presLayoutVars>
      </dgm:prSet>
      <dgm:spPr/>
    </dgm:pt>
    <dgm:pt modelId="{3ADE5778-2B09-4D2C-BFA0-9E09D3AB850F}" type="pres">
      <dgm:prSet presAssocID="{F068E20D-9182-40E9-81D3-3D2119E9E208}" presName="spacer" presStyleCnt="0"/>
      <dgm:spPr/>
    </dgm:pt>
    <dgm:pt modelId="{394CAA2C-B39A-45C2-8692-4F108831F697}" type="pres">
      <dgm:prSet presAssocID="{EBF196C3-A6DB-42DE-B168-0612EDF03693}" presName="comp" presStyleCnt="0"/>
      <dgm:spPr/>
    </dgm:pt>
    <dgm:pt modelId="{C6452C4A-60F5-47BC-8505-428BC48A03CB}" type="pres">
      <dgm:prSet presAssocID="{EBF196C3-A6DB-42DE-B168-0612EDF03693}" presName="box" presStyleLbl="node1" presStyleIdx="2" presStyleCnt="5" custScaleY="130909"/>
      <dgm:spPr/>
    </dgm:pt>
    <dgm:pt modelId="{D306C488-315E-46F7-B989-FFF5212BF6E2}" type="pres">
      <dgm:prSet presAssocID="{EBF196C3-A6DB-42DE-B168-0612EDF03693}" presName="img" presStyleLbl="fgImgPlace1" presStyleIdx="2" presStyleCnt="5" custScaleY="119041"/>
      <dgm:spPr>
        <a:blipFill>
          <a:blip xmlns:r="http://schemas.openxmlformats.org/officeDocument/2006/relationships" r:embed="rId3"/>
          <a:srcRect/>
          <a:stretch>
            <a:fillRect t="-8000" b="-8000"/>
          </a:stretch>
        </a:blipFill>
      </dgm:spPr>
    </dgm:pt>
    <dgm:pt modelId="{E67E17D0-D90F-49C4-814B-C75905BED48F}" type="pres">
      <dgm:prSet presAssocID="{EBF196C3-A6DB-42DE-B168-0612EDF03693}" presName="text" presStyleLbl="node1" presStyleIdx="2" presStyleCnt="5">
        <dgm:presLayoutVars>
          <dgm:bulletEnabled val="1"/>
        </dgm:presLayoutVars>
      </dgm:prSet>
      <dgm:spPr/>
    </dgm:pt>
    <dgm:pt modelId="{A4B9FD97-CD6C-45E6-BB2C-BADD153BE16D}" type="pres">
      <dgm:prSet presAssocID="{C16B64A7-40EB-4C86-BE64-8EBACDE653C3}" presName="spacer" presStyleCnt="0"/>
      <dgm:spPr/>
    </dgm:pt>
    <dgm:pt modelId="{FA11953F-C793-41F3-944C-F9C478C0015E}" type="pres">
      <dgm:prSet presAssocID="{D3DB2985-286F-4E1B-A3EF-B67DCD1C08F6}" presName="comp" presStyleCnt="0"/>
      <dgm:spPr/>
    </dgm:pt>
    <dgm:pt modelId="{9368D843-76C1-42B0-834B-2DA28FCB0771}" type="pres">
      <dgm:prSet presAssocID="{D3DB2985-286F-4E1B-A3EF-B67DCD1C08F6}" presName="box" presStyleLbl="node1" presStyleIdx="3" presStyleCnt="5"/>
      <dgm:spPr/>
    </dgm:pt>
    <dgm:pt modelId="{D58F51A8-C9AC-49A7-BF07-49E56398E46B}" type="pres">
      <dgm:prSet presAssocID="{D3DB2985-286F-4E1B-A3EF-B67DCD1C08F6}" presName="img" presStyleLbl="fgImgPlace1" presStyleIdx="3" presStyleCnt="5"/>
      <dgm:spPr>
        <a:blipFill>
          <a:blip xmlns:r="http://schemas.openxmlformats.org/officeDocument/2006/relationships" r:embed="rId4"/>
          <a:srcRect/>
          <a:stretch>
            <a:fillRect l="-3000" r="-3000"/>
          </a:stretch>
        </a:blipFill>
      </dgm:spPr>
    </dgm:pt>
    <dgm:pt modelId="{CCCE771C-F880-4686-A4B6-89572DC603BC}" type="pres">
      <dgm:prSet presAssocID="{D3DB2985-286F-4E1B-A3EF-B67DCD1C08F6}" presName="text" presStyleLbl="node1" presStyleIdx="3" presStyleCnt="5">
        <dgm:presLayoutVars>
          <dgm:bulletEnabled val="1"/>
        </dgm:presLayoutVars>
      </dgm:prSet>
      <dgm:spPr/>
    </dgm:pt>
    <dgm:pt modelId="{3A49B040-FDA1-4A12-B511-8E073D364A2F}" type="pres">
      <dgm:prSet presAssocID="{F982C1E6-BEEF-456A-A8F1-006AD67EDC6F}" presName="spacer" presStyleCnt="0"/>
      <dgm:spPr/>
    </dgm:pt>
    <dgm:pt modelId="{290DC7B3-86F4-4764-849C-490D39CB5F58}" type="pres">
      <dgm:prSet presAssocID="{B9802D42-76B7-4AE8-9963-A689582E6B35}" presName="comp" presStyleCnt="0"/>
      <dgm:spPr/>
    </dgm:pt>
    <dgm:pt modelId="{34B88185-A619-4D08-836A-F611598437A8}" type="pres">
      <dgm:prSet presAssocID="{B9802D42-76B7-4AE8-9963-A689582E6B35}" presName="box" presStyleLbl="node1" presStyleIdx="4" presStyleCnt="5" custScaleY="71948" custLinFactNeighborX="-6009" custLinFactNeighborY="597"/>
      <dgm:spPr/>
    </dgm:pt>
    <dgm:pt modelId="{F2ED9228-CFBA-4661-8996-A0E7EA7BA1F7}" type="pres">
      <dgm:prSet presAssocID="{B9802D42-76B7-4AE8-9963-A689582E6B35}" presName="img" presStyleLbl="fgImgPlace1" presStyleIdx="4" presStyleCnt="5" custAng="10800000" custFlipVert="1" custScaleY="68307"/>
      <dgm:spPr>
        <a:blipFill>
          <a:blip xmlns:r="http://schemas.openxmlformats.org/officeDocument/2006/relationships" r:embed="rId5"/>
          <a:srcRect/>
          <a:stretch>
            <a:fillRect t="-17000" b="-17000"/>
          </a:stretch>
        </a:blipFill>
      </dgm:spPr>
    </dgm:pt>
    <dgm:pt modelId="{1EA42E4A-7A77-461B-A3EF-ED6EF71F796A}" type="pres">
      <dgm:prSet presAssocID="{B9802D42-76B7-4AE8-9963-A689582E6B35}" presName="text" presStyleLbl="node1" presStyleIdx="4" presStyleCnt="5">
        <dgm:presLayoutVars>
          <dgm:bulletEnabled val="1"/>
        </dgm:presLayoutVars>
      </dgm:prSet>
      <dgm:spPr/>
    </dgm:pt>
  </dgm:ptLst>
  <dgm:cxnLst>
    <dgm:cxn modelId="{D7771514-C386-46C1-946B-E4D34C195D50}" type="presOf" srcId="{E0DBD592-C900-4D5D-A79A-93A58E8DA172}" destId="{2D5738C4-EC9E-4779-B540-31D33BE25B70}" srcOrd="0" destOrd="0" presId="urn:microsoft.com/office/officeart/2005/8/layout/vList4"/>
    <dgm:cxn modelId="{441FA015-EE80-4570-970B-A56A475256EF}" type="presOf" srcId="{C9F99139-B66D-4219-861A-3EA127D493C0}" destId="{DC08CE2B-3BA2-48DB-B768-70EF00B4488D}" srcOrd="0" destOrd="0" presId="urn:microsoft.com/office/officeart/2005/8/layout/vList4"/>
    <dgm:cxn modelId="{C1FA232B-B25A-4818-9BCD-DEBE45316E2F}" srcId="{D3DB2985-286F-4E1B-A3EF-B67DCD1C08F6}" destId="{CBFF6C33-7733-4A2E-9F4F-71A5C208EAE8}" srcOrd="3" destOrd="0" parTransId="{6FCC6521-4EFE-4241-A97E-7E91A23E183F}" sibTransId="{05CE11E1-ACF9-4DAF-930B-ADCD600844E6}"/>
    <dgm:cxn modelId="{18335230-78A8-45BC-9C99-E6CC84F92234}" type="presOf" srcId="{CBFF6C33-7733-4A2E-9F4F-71A5C208EAE8}" destId="{CCCE771C-F880-4686-A4B6-89572DC603BC}" srcOrd="1" destOrd="4" presId="urn:microsoft.com/office/officeart/2005/8/layout/vList4"/>
    <dgm:cxn modelId="{8782CE40-8DD3-4ADB-A873-E359E3EA8147}" type="presOf" srcId="{249D8C40-36DB-4241-9967-FD998032C2DA}" destId="{9368D843-76C1-42B0-834B-2DA28FCB0771}" srcOrd="0" destOrd="2" presId="urn:microsoft.com/office/officeart/2005/8/layout/vList4"/>
    <dgm:cxn modelId="{DF5B256E-1BCA-468C-AF06-39814118FCEF}" type="presOf" srcId="{B0A54B65-E829-4553-8B45-B4EBDAF3C233}" destId="{B12AE6C0-B4ED-4A08-98AA-6732B6DC385E}" srcOrd="0" destOrd="0" presId="urn:microsoft.com/office/officeart/2005/8/layout/vList4"/>
    <dgm:cxn modelId="{9974744E-C0B1-4F73-B4ED-7510389F128C}" type="presOf" srcId="{7F32E596-06EC-48C3-A09C-04CA91FC3646}" destId="{9368D843-76C1-42B0-834B-2DA28FCB0771}" srcOrd="0" destOrd="1" presId="urn:microsoft.com/office/officeart/2005/8/layout/vList4"/>
    <dgm:cxn modelId="{4141D94E-2E86-434B-BC2F-125887D42DA7}" type="presOf" srcId="{CBFF6C33-7733-4A2E-9F4F-71A5C208EAE8}" destId="{9368D843-76C1-42B0-834B-2DA28FCB0771}" srcOrd="0" destOrd="4" presId="urn:microsoft.com/office/officeart/2005/8/layout/vList4"/>
    <dgm:cxn modelId="{2FF3EB71-C7F5-4619-AB74-5943DE39CC10}" srcId="{E0DBD592-C900-4D5D-A79A-93A58E8DA172}" destId="{C9F99139-B66D-4219-861A-3EA127D493C0}" srcOrd="0" destOrd="0" parTransId="{1C880A37-22BC-4FD9-8955-F47618D81BCC}" sibTransId="{2ABCB300-CCE9-44E7-999D-3B03628596E1}"/>
    <dgm:cxn modelId="{CA7E1976-125C-4E25-B0E9-D36AE1BECE4E}" type="presOf" srcId="{249D8C40-36DB-4241-9967-FD998032C2DA}" destId="{CCCE771C-F880-4686-A4B6-89572DC603BC}" srcOrd="1" destOrd="2" presId="urn:microsoft.com/office/officeart/2005/8/layout/vList4"/>
    <dgm:cxn modelId="{16458B7B-01D5-46EA-95CB-21064FA40DA3}" type="presOf" srcId="{B9802D42-76B7-4AE8-9963-A689582E6B35}" destId="{1EA42E4A-7A77-461B-A3EF-ED6EF71F796A}" srcOrd="1" destOrd="0" presId="urn:microsoft.com/office/officeart/2005/8/layout/vList4"/>
    <dgm:cxn modelId="{D2E0ED84-53E3-49A1-A292-3EA003DD3B1F}" srcId="{E0DBD592-C900-4D5D-A79A-93A58E8DA172}" destId="{D3DB2985-286F-4E1B-A3EF-B67DCD1C08F6}" srcOrd="3" destOrd="0" parTransId="{3A914AC6-6594-4B0A-A5A2-C491F53EF95C}" sibTransId="{F982C1E6-BEEF-456A-A8F1-006AD67EDC6F}"/>
    <dgm:cxn modelId="{A7896099-D8B3-44B5-9344-82700D552AE4}" type="presOf" srcId="{AF2423DC-82A1-4E65-98F7-8C4D4E9BA053}" destId="{CCCE771C-F880-4686-A4B6-89572DC603BC}" srcOrd="1" destOrd="3" presId="urn:microsoft.com/office/officeart/2005/8/layout/vList4"/>
    <dgm:cxn modelId="{712DF1A2-9649-4A26-A0DA-529186D8E53F}" type="presOf" srcId="{D3DB2985-286F-4E1B-A3EF-B67DCD1C08F6}" destId="{9368D843-76C1-42B0-834B-2DA28FCB0771}" srcOrd="0" destOrd="0" presId="urn:microsoft.com/office/officeart/2005/8/layout/vList4"/>
    <dgm:cxn modelId="{F5BFB7A7-DA96-4B2A-A712-D49E9BEFF153}" srcId="{D3DB2985-286F-4E1B-A3EF-B67DCD1C08F6}" destId="{7F32E596-06EC-48C3-A09C-04CA91FC3646}" srcOrd="0" destOrd="0" parTransId="{3CA22E8E-B6D2-474E-A562-2E6873661CBF}" sibTransId="{EA306326-FF63-4C8E-B58E-DE3A1AA8769B}"/>
    <dgm:cxn modelId="{A44658AC-B46F-4B08-B962-B06FFFD99B33}" srcId="{E0DBD592-C900-4D5D-A79A-93A58E8DA172}" destId="{B9802D42-76B7-4AE8-9963-A689582E6B35}" srcOrd="4" destOrd="0" parTransId="{5522CECA-745D-4D76-A87A-0DA536D5330D}" sibTransId="{1B62F6DE-B574-43AD-B04F-ABDF9E20E863}"/>
    <dgm:cxn modelId="{5D3C7EBA-3675-4CB3-B786-118349DD30C3}" srcId="{D3DB2985-286F-4E1B-A3EF-B67DCD1C08F6}" destId="{249D8C40-36DB-4241-9967-FD998032C2DA}" srcOrd="1" destOrd="0" parTransId="{E1A988E4-349E-4757-8870-C71CC27E20A7}" sibTransId="{F275AD60-A384-48A0-84C2-5A1E5ABDC251}"/>
    <dgm:cxn modelId="{986064BB-FA05-4630-8B08-E86CDE1769AB}" srcId="{D3DB2985-286F-4E1B-A3EF-B67DCD1C08F6}" destId="{AF2423DC-82A1-4E65-98F7-8C4D4E9BA053}" srcOrd="2" destOrd="0" parTransId="{13516DD8-08A2-4F96-AC0C-71230459227B}" sibTransId="{4D87072F-125F-4294-883C-54F5E9CD8B1C}"/>
    <dgm:cxn modelId="{CADC53CB-EC25-4D6E-882B-972A19677F10}" type="presOf" srcId="{D3DB2985-286F-4E1B-A3EF-B67DCD1C08F6}" destId="{CCCE771C-F880-4686-A4B6-89572DC603BC}" srcOrd="1" destOrd="0" presId="urn:microsoft.com/office/officeart/2005/8/layout/vList4"/>
    <dgm:cxn modelId="{C6E967D2-333A-4712-830E-A69583B49116}" type="presOf" srcId="{B9802D42-76B7-4AE8-9963-A689582E6B35}" destId="{34B88185-A619-4D08-836A-F611598437A8}" srcOrd="0" destOrd="0" presId="urn:microsoft.com/office/officeart/2005/8/layout/vList4"/>
    <dgm:cxn modelId="{62EFD2D3-AE51-4D7B-AC9A-B557C95CFE85}" srcId="{E0DBD592-C900-4D5D-A79A-93A58E8DA172}" destId="{B0A54B65-E829-4553-8B45-B4EBDAF3C233}" srcOrd="1" destOrd="0" parTransId="{58D673D6-CE1A-45C9-8DE0-8248CFA91FFF}" sibTransId="{F068E20D-9182-40E9-81D3-3D2119E9E208}"/>
    <dgm:cxn modelId="{A4BF16E6-FAE2-49A6-8E9A-22FE4B1019A9}" type="presOf" srcId="{EBF196C3-A6DB-42DE-B168-0612EDF03693}" destId="{C6452C4A-60F5-47BC-8505-428BC48A03CB}" srcOrd="0" destOrd="0" presId="urn:microsoft.com/office/officeart/2005/8/layout/vList4"/>
    <dgm:cxn modelId="{F31FFAE6-B3DF-4875-8480-C0F41B21D4B2}" type="presOf" srcId="{B0A54B65-E829-4553-8B45-B4EBDAF3C233}" destId="{3D1FE89A-8ADF-4C10-94D7-ABA6570F8C42}" srcOrd="1" destOrd="0" presId="urn:microsoft.com/office/officeart/2005/8/layout/vList4"/>
    <dgm:cxn modelId="{983B2CED-E271-4C8A-9468-B16025433270}" type="presOf" srcId="{C9F99139-B66D-4219-861A-3EA127D493C0}" destId="{51F715FF-4B49-486A-B461-C35D3C55EEB6}" srcOrd="1" destOrd="0" presId="urn:microsoft.com/office/officeart/2005/8/layout/vList4"/>
    <dgm:cxn modelId="{5E2E55F1-3B50-4E5B-9D53-7D1CB568B001}" type="presOf" srcId="{7F32E596-06EC-48C3-A09C-04CA91FC3646}" destId="{CCCE771C-F880-4686-A4B6-89572DC603BC}" srcOrd="1" destOrd="1" presId="urn:microsoft.com/office/officeart/2005/8/layout/vList4"/>
    <dgm:cxn modelId="{09CD5CFB-F57C-4EA7-9B86-AED2343EDF67}" srcId="{E0DBD592-C900-4D5D-A79A-93A58E8DA172}" destId="{EBF196C3-A6DB-42DE-B168-0612EDF03693}" srcOrd="2" destOrd="0" parTransId="{9BCB12AF-3FDE-4ECC-9F8F-CED83AED7CCB}" sibTransId="{C16B64A7-40EB-4C86-BE64-8EBACDE653C3}"/>
    <dgm:cxn modelId="{F061E8FE-427F-4FDE-8A99-C44C76C8DC58}" type="presOf" srcId="{AF2423DC-82A1-4E65-98F7-8C4D4E9BA053}" destId="{9368D843-76C1-42B0-834B-2DA28FCB0771}" srcOrd="0" destOrd="3" presId="urn:microsoft.com/office/officeart/2005/8/layout/vList4"/>
    <dgm:cxn modelId="{4D52D9FF-8814-4832-AAFD-6DD4FA592C36}" type="presOf" srcId="{EBF196C3-A6DB-42DE-B168-0612EDF03693}" destId="{E67E17D0-D90F-49C4-814B-C75905BED48F}" srcOrd="1" destOrd="0" presId="urn:microsoft.com/office/officeart/2005/8/layout/vList4"/>
    <dgm:cxn modelId="{EF6542DF-4537-4DC2-B1D9-B78444899BEC}" type="presParOf" srcId="{2D5738C4-EC9E-4779-B540-31D33BE25B70}" destId="{3495E656-1F14-4307-80DE-ABD969E4FEFA}" srcOrd="0" destOrd="0" presId="urn:microsoft.com/office/officeart/2005/8/layout/vList4"/>
    <dgm:cxn modelId="{E754B661-2C85-40F8-9635-1E3B84D8F76E}" type="presParOf" srcId="{3495E656-1F14-4307-80DE-ABD969E4FEFA}" destId="{DC08CE2B-3BA2-48DB-B768-70EF00B4488D}" srcOrd="0" destOrd="0" presId="urn:microsoft.com/office/officeart/2005/8/layout/vList4"/>
    <dgm:cxn modelId="{DDC0104C-69C6-4C22-8DDA-37422DD457EB}" type="presParOf" srcId="{3495E656-1F14-4307-80DE-ABD969E4FEFA}" destId="{EF2D8EC3-8FE2-4E7C-B86A-83EDAF07162F}" srcOrd="1" destOrd="0" presId="urn:microsoft.com/office/officeart/2005/8/layout/vList4"/>
    <dgm:cxn modelId="{712E3B41-46F6-4BB0-8C90-5002339AB84F}" type="presParOf" srcId="{3495E656-1F14-4307-80DE-ABD969E4FEFA}" destId="{51F715FF-4B49-486A-B461-C35D3C55EEB6}" srcOrd="2" destOrd="0" presId="urn:microsoft.com/office/officeart/2005/8/layout/vList4"/>
    <dgm:cxn modelId="{DFC7B6B5-59F6-4A57-A84F-0850103975EA}" type="presParOf" srcId="{2D5738C4-EC9E-4779-B540-31D33BE25B70}" destId="{A85E9522-9A51-4F9B-825C-5AAE997BCC79}" srcOrd="1" destOrd="0" presId="urn:microsoft.com/office/officeart/2005/8/layout/vList4"/>
    <dgm:cxn modelId="{DD6A45F7-31A4-4567-9B0C-DAB37FAA4FDB}" type="presParOf" srcId="{2D5738C4-EC9E-4779-B540-31D33BE25B70}" destId="{9C15E9F4-CE56-4E8D-9AC4-025934C7C1D4}" srcOrd="2" destOrd="0" presId="urn:microsoft.com/office/officeart/2005/8/layout/vList4"/>
    <dgm:cxn modelId="{F8DAF924-F73D-41DC-B2E9-9682829D2561}" type="presParOf" srcId="{9C15E9F4-CE56-4E8D-9AC4-025934C7C1D4}" destId="{B12AE6C0-B4ED-4A08-98AA-6732B6DC385E}" srcOrd="0" destOrd="0" presId="urn:microsoft.com/office/officeart/2005/8/layout/vList4"/>
    <dgm:cxn modelId="{41611BF0-B5B2-4B8C-9E68-B8B35264280D}" type="presParOf" srcId="{9C15E9F4-CE56-4E8D-9AC4-025934C7C1D4}" destId="{C9E8AD8B-B134-4129-BD9A-C060E9DACAFC}" srcOrd="1" destOrd="0" presId="urn:microsoft.com/office/officeart/2005/8/layout/vList4"/>
    <dgm:cxn modelId="{A70DB30D-F7C5-4C01-9738-E0DE48D12509}" type="presParOf" srcId="{9C15E9F4-CE56-4E8D-9AC4-025934C7C1D4}" destId="{3D1FE89A-8ADF-4C10-94D7-ABA6570F8C42}" srcOrd="2" destOrd="0" presId="urn:microsoft.com/office/officeart/2005/8/layout/vList4"/>
    <dgm:cxn modelId="{72A817E0-9F11-4CE9-9F3E-F26DF95F0CBA}" type="presParOf" srcId="{2D5738C4-EC9E-4779-B540-31D33BE25B70}" destId="{3ADE5778-2B09-4D2C-BFA0-9E09D3AB850F}" srcOrd="3" destOrd="0" presId="urn:microsoft.com/office/officeart/2005/8/layout/vList4"/>
    <dgm:cxn modelId="{21D79D85-6A79-4C95-AB05-4B9FBCEEFB38}" type="presParOf" srcId="{2D5738C4-EC9E-4779-B540-31D33BE25B70}" destId="{394CAA2C-B39A-45C2-8692-4F108831F697}" srcOrd="4" destOrd="0" presId="urn:microsoft.com/office/officeart/2005/8/layout/vList4"/>
    <dgm:cxn modelId="{1B5F7425-81F1-4E75-BE49-07209D8A9C92}" type="presParOf" srcId="{394CAA2C-B39A-45C2-8692-4F108831F697}" destId="{C6452C4A-60F5-47BC-8505-428BC48A03CB}" srcOrd="0" destOrd="0" presId="urn:microsoft.com/office/officeart/2005/8/layout/vList4"/>
    <dgm:cxn modelId="{9D32D5E8-902D-4D45-8002-75E51E6E0EAC}" type="presParOf" srcId="{394CAA2C-B39A-45C2-8692-4F108831F697}" destId="{D306C488-315E-46F7-B989-FFF5212BF6E2}" srcOrd="1" destOrd="0" presId="urn:microsoft.com/office/officeart/2005/8/layout/vList4"/>
    <dgm:cxn modelId="{39D6149B-BA07-4DFB-A0E9-B769847AEDE3}" type="presParOf" srcId="{394CAA2C-B39A-45C2-8692-4F108831F697}" destId="{E67E17D0-D90F-49C4-814B-C75905BED48F}" srcOrd="2" destOrd="0" presId="urn:microsoft.com/office/officeart/2005/8/layout/vList4"/>
    <dgm:cxn modelId="{AB430D4A-F663-4F65-90FB-5EBB31C3C10E}" type="presParOf" srcId="{2D5738C4-EC9E-4779-B540-31D33BE25B70}" destId="{A4B9FD97-CD6C-45E6-BB2C-BADD153BE16D}" srcOrd="5" destOrd="0" presId="urn:microsoft.com/office/officeart/2005/8/layout/vList4"/>
    <dgm:cxn modelId="{E0AEF6AC-2CA9-42C1-80DA-C45C252413C0}" type="presParOf" srcId="{2D5738C4-EC9E-4779-B540-31D33BE25B70}" destId="{FA11953F-C793-41F3-944C-F9C478C0015E}" srcOrd="6" destOrd="0" presId="urn:microsoft.com/office/officeart/2005/8/layout/vList4"/>
    <dgm:cxn modelId="{3E3E90B7-E7F4-4098-86CE-456FD145D474}" type="presParOf" srcId="{FA11953F-C793-41F3-944C-F9C478C0015E}" destId="{9368D843-76C1-42B0-834B-2DA28FCB0771}" srcOrd="0" destOrd="0" presId="urn:microsoft.com/office/officeart/2005/8/layout/vList4"/>
    <dgm:cxn modelId="{4583DEA2-C6B9-4321-9D84-F35A1237B997}" type="presParOf" srcId="{FA11953F-C793-41F3-944C-F9C478C0015E}" destId="{D58F51A8-C9AC-49A7-BF07-49E56398E46B}" srcOrd="1" destOrd="0" presId="urn:microsoft.com/office/officeart/2005/8/layout/vList4"/>
    <dgm:cxn modelId="{A3F62817-40C2-4A24-9118-2F626F64F4D0}" type="presParOf" srcId="{FA11953F-C793-41F3-944C-F9C478C0015E}" destId="{CCCE771C-F880-4686-A4B6-89572DC603BC}" srcOrd="2" destOrd="0" presId="urn:microsoft.com/office/officeart/2005/8/layout/vList4"/>
    <dgm:cxn modelId="{1F65D5CB-4A82-448E-9FF8-BD87C2EB4A5C}" type="presParOf" srcId="{2D5738C4-EC9E-4779-B540-31D33BE25B70}" destId="{3A49B040-FDA1-4A12-B511-8E073D364A2F}" srcOrd="7" destOrd="0" presId="urn:microsoft.com/office/officeart/2005/8/layout/vList4"/>
    <dgm:cxn modelId="{FD1E39F0-3AAF-49C8-B9CA-33029DD7BC49}" type="presParOf" srcId="{2D5738C4-EC9E-4779-B540-31D33BE25B70}" destId="{290DC7B3-86F4-4764-849C-490D39CB5F58}" srcOrd="8" destOrd="0" presId="urn:microsoft.com/office/officeart/2005/8/layout/vList4"/>
    <dgm:cxn modelId="{93E65382-6E82-4214-B1F8-0D80A1BAE75B}" type="presParOf" srcId="{290DC7B3-86F4-4764-849C-490D39CB5F58}" destId="{34B88185-A619-4D08-836A-F611598437A8}" srcOrd="0" destOrd="0" presId="urn:microsoft.com/office/officeart/2005/8/layout/vList4"/>
    <dgm:cxn modelId="{9535B602-BF4C-4731-BA5D-CD132A921303}" type="presParOf" srcId="{290DC7B3-86F4-4764-849C-490D39CB5F58}" destId="{F2ED9228-CFBA-4661-8996-A0E7EA7BA1F7}" srcOrd="1" destOrd="0" presId="urn:microsoft.com/office/officeart/2005/8/layout/vList4"/>
    <dgm:cxn modelId="{68ECDDD6-AA1A-465B-A746-7234866EC438}" type="presParOf" srcId="{290DC7B3-86F4-4764-849C-490D39CB5F58}" destId="{1EA42E4A-7A77-461B-A3EF-ED6EF71F796A}" srcOrd="2" destOrd="0" presId="urn:microsoft.com/office/officeart/2005/8/layout/vList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013063" cy="3685710"/>
        <a:chOff x="0" y="0"/>
        <a:chExt cx="5013063" cy="3685710"/>
      </a:xfrm>
    </dsp:grpSpPr>
    <dsp:sp modelId="{DC08CE2B-3BA2-48DB-B768-70EF00B4488D}">
      <dsp:nvSpPr>
        <dsp:cNvPr id="3" name="圆角矩形 2"/>
        <dsp:cNvSpPr/>
      </dsp:nvSpPr>
      <dsp:spPr bwMode="white">
        <a:xfrm>
          <a:off x="0" y="0"/>
          <a:ext cx="5013063" cy="68253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34290" tIns="34290" rIns="34290" bIns="3429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s-ES" sz="900" b="1" dirty="0">
              <a:solidFill>
                <a:srgbClr val="002060"/>
              </a:solidFill>
            </a:rPr>
            <a:t>Business </a:t>
          </a:r>
          <a:r>
            <a:rPr lang="es-ES" sz="900" b="1" dirty="0" err="1">
              <a:solidFill>
                <a:srgbClr val="002060"/>
              </a:solidFill>
            </a:rPr>
            <a:t>understanding</a:t>
          </a:r>
          <a:r>
            <a:rPr lang="es-ES" sz="900" b="1" dirty="0">
              <a:solidFill>
                <a:srgbClr val="002060"/>
              </a:solidFill>
            </a:rPr>
            <a:t> </a:t>
          </a:r>
          <a:r>
            <a:rPr lang="es-ES" sz="900" dirty="0"/>
            <a:t>– Todo el equipo</a:t>
          </a:r>
        </a:p>
      </dsp:txBody>
      <dsp:txXfrm>
        <a:off x="0" y="0"/>
        <a:ext cx="5013063" cy="682539"/>
      </dsp:txXfrm>
    </dsp:sp>
    <dsp:sp modelId="{EF2D8EC3-8FE2-4E7C-B86A-83EDAF07162F}">
      <dsp:nvSpPr>
        <dsp:cNvPr id="4" name="圆角矩形 3"/>
        <dsp:cNvSpPr/>
      </dsp:nvSpPr>
      <dsp:spPr bwMode="white">
        <a:xfrm>
          <a:off x="68254" y="68254"/>
          <a:ext cx="1002613" cy="546031"/>
        </a:xfrm>
        <a:prstGeom prst="roundRect">
          <a:avLst>
            <a:gd name="adj" fmla="val 10000"/>
          </a:avLst>
        </a:prstGeom>
        <a:blipFill>
          <a:blip r:embed="rId1"/>
          <a:srcRect/>
          <a:stretch>
            <a:fillRect t="-84000" b="-84000"/>
          </a:stretch>
        </a:blipFill>
      </dsp:spPr>
      <dsp:style>
        <a:lnRef idx="2">
          <a:schemeClr val="lt1"/>
        </a:lnRef>
        <a:fillRef idx="1">
          <a:schemeClr val="accent1">
            <a:tint val="50000"/>
          </a:schemeClr>
        </a:fillRef>
        <a:effectRef idx="0">
          <a:scrgbClr r="0" g="0" b="0"/>
        </a:effectRef>
        <a:fontRef idx="minor"/>
      </dsp:style>
      <dsp:txXfrm>
        <a:off x="68254" y="68254"/>
        <a:ext cx="1002613" cy="546031"/>
      </dsp:txXfrm>
    </dsp:sp>
    <dsp:sp modelId="{B12AE6C0-B4ED-4A08-98AA-6732B6DC385E}">
      <dsp:nvSpPr>
        <dsp:cNvPr id="5" name="圆角矩形 4"/>
        <dsp:cNvSpPr/>
      </dsp:nvSpPr>
      <dsp:spPr bwMode="white">
        <a:xfrm>
          <a:off x="0" y="750793"/>
          <a:ext cx="5013063" cy="68253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30480" tIns="30480" rIns="30480" bIns="304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s-ES" sz="800" b="1" dirty="0">
              <a:solidFill>
                <a:srgbClr val="002060"/>
              </a:solidFill>
            </a:rPr>
            <a:t>Data </a:t>
          </a:r>
          <a:r>
            <a:rPr lang="es-ES" sz="800" b="1" dirty="0" err="1">
              <a:solidFill>
                <a:srgbClr val="002060"/>
              </a:solidFill>
            </a:rPr>
            <a:t>understanding</a:t>
          </a:r>
          <a:r>
            <a:rPr lang="es-ES" sz="800" b="1" dirty="0">
              <a:solidFill>
                <a:srgbClr val="002060"/>
              </a:solidFill>
            </a:rPr>
            <a:t> </a:t>
          </a:r>
          <a:r>
            <a:rPr lang="es-ES" sz="800" b="1" dirty="0"/>
            <a:t>-</a:t>
          </a:r>
          <a:r>
            <a:rPr lang="es-ES" sz="800" dirty="0"/>
            <a:t>  Todo el equipo</a:t>
          </a:r>
          <a:endParaRPr lang="es-ES" sz="800" dirty="0"/>
        </a:p>
        <a:p>
          <a:pPr lvl="0">
            <a:lnSpc>
              <a:spcPct val="100000"/>
            </a:lnSpc>
            <a:spcBef>
              <a:spcPct val="0"/>
            </a:spcBef>
            <a:spcAft>
              <a:spcPct val="35000"/>
            </a:spcAft>
          </a:pPr>
          <a:r>
            <a:rPr lang="es-ES" sz="800" dirty="0"/>
            <a:t>Diseño del </a:t>
          </a:r>
          <a:r>
            <a:rPr lang="es-ES" sz="800" dirty="0" err="1"/>
            <a:t>metadata</a:t>
          </a:r>
          <a:r>
            <a:rPr lang="es-ES" sz="800" dirty="0"/>
            <a:t> – Melissa</a:t>
          </a:r>
          <a:endParaRPr lang="es-ES" sz="800" dirty="0"/>
        </a:p>
        <a:p>
          <a:pPr lvl="0">
            <a:lnSpc>
              <a:spcPct val="100000"/>
            </a:lnSpc>
            <a:spcBef>
              <a:spcPct val="0"/>
            </a:spcBef>
            <a:spcAft>
              <a:spcPct val="35000"/>
            </a:spcAft>
          </a:pPr>
          <a:r>
            <a:rPr lang="es-ES" sz="800" dirty="0"/>
            <a:t>Análisis exploratorio de datos – </a:t>
          </a:r>
          <a:r>
            <a:rPr lang="es-ES" sz="800" dirty="0" err="1"/>
            <a:t>Wenjia</a:t>
          </a:r>
          <a:r>
            <a:rPr lang="es-ES" sz="800" dirty="0"/>
            <a:t> y </a:t>
          </a:r>
          <a:r>
            <a:rPr lang="es-ES" sz="800" dirty="0" err="1"/>
            <a:t>Siling</a:t>
          </a:r>
          <a:endParaRPr lang="es-ES" sz="800" dirty="0"/>
        </a:p>
        <a:p>
          <a:pPr lvl="0">
            <a:lnSpc>
              <a:spcPct val="100000"/>
            </a:lnSpc>
            <a:spcBef>
              <a:spcPct val="0"/>
            </a:spcBef>
            <a:spcAft>
              <a:spcPct val="35000"/>
            </a:spcAft>
          </a:pPr>
          <a:r>
            <a:rPr lang="es-ES" sz="800" dirty="0"/>
            <a:t>Análisis de </a:t>
          </a:r>
          <a:r>
            <a:rPr lang="es-ES" sz="800" dirty="0" err="1"/>
            <a:t>outliers</a:t>
          </a:r>
          <a:r>
            <a:rPr lang="es-ES" sz="800" dirty="0"/>
            <a:t> </a:t>
          </a:r>
          <a:r>
            <a:rPr lang="es-ES" sz="800" dirty="0" err="1"/>
            <a:t>pre-imputación</a:t>
          </a:r>
          <a:r>
            <a:rPr lang="es-ES" sz="800" dirty="0"/>
            <a:t>: Mario, Laura y Melissa</a:t>
          </a:r>
          <a:endParaRPr lang="es-ES" sz="800" dirty="0"/>
        </a:p>
        <a:p>
          <a:pPr lvl="0">
            <a:lnSpc>
              <a:spcPct val="100000"/>
            </a:lnSpc>
            <a:spcBef>
              <a:spcPct val="0"/>
            </a:spcBef>
            <a:spcAft>
              <a:spcPct val="35000"/>
            </a:spcAft>
          </a:pPr>
          <a:endParaRPr lang="es-ES" sz="800" dirty="0"/>
        </a:p>
      </dsp:txBody>
      <dsp:txXfrm>
        <a:off x="0" y="750793"/>
        <a:ext cx="5013063" cy="682539"/>
      </dsp:txXfrm>
    </dsp:sp>
    <dsp:sp modelId="{C9E8AD8B-B134-4129-BD9A-C060E9DACAFC}">
      <dsp:nvSpPr>
        <dsp:cNvPr id="6" name="圆角矩形 5"/>
        <dsp:cNvSpPr/>
      </dsp:nvSpPr>
      <dsp:spPr bwMode="white">
        <a:xfrm>
          <a:off x="68254" y="819047"/>
          <a:ext cx="1002613" cy="546031"/>
        </a:xfrm>
        <a:prstGeom prst="roundRect">
          <a:avLst>
            <a:gd name="adj" fmla="val 10000"/>
          </a:avLst>
        </a:prstGeom>
        <a:blipFill>
          <a:blip r:embed="rId2"/>
          <a:srcRect/>
          <a:stretch>
            <a:fillRect l="-9000" r="-9000"/>
          </a:stretch>
        </a:blipFill>
      </dsp:spPr>
      <dsp:style>
        <a:lnRef idx="2">
          <a:schemeClr val="lt1"/>
        </a:lnRef>
        <a:fillRef idx="1">
          <a:schemeClr val="accent1">
            <a:tint val="50000"/>
          </a:schemeClr>
        </a:fillRef>
        <a:effectRef idx="0">
          <a:scrgbClr r="0" g="0" b="0"/>
        </a:effectRef>
        <a:fontRef idx="minor"/>
      </dsp:style>
      <dsp:txXfrm>
        <a:off x="68254" y="819047"/>
        <a:ext cx="1002613" cy="546031"/>
      </dsp:txXfrm>
    </dsp:sp>
    <dsp:sp modelId="{C6452C4A-60F5-47BC-8505-428BC48A03CB}">
      <dsp:nvSpPr>
        <dsp:cNvPr id="7" name="圆角矩形 6"/>
        <dsp:cNvSpPr/>
      </dsp:nvSpPr>
      <dsp:spPr bwMode="white">
        <a:xfrm>
          <a:off x="0" y="1501586"/>
          <a:ext cx="5013063" cy="68253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30480" tIns="30480" rIns="30480" bIns="304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s-ES" sz="800" b="1" dirty="0">
              <a:solidFill>
                <a:srgbClr val="002060"/>
              </a:solidFill>
            </a:rPr>
            <a:t>Data </a:t>
          </a:r>
          <a:r>
            <a:rPr lang="es-ES" sz="800" b="1" dirty="0" err="1">
              <a:solidFill>
                <a:srgbClr val="002060"/>
              </a:solidFill>
            </a:rPr>
            <a:t>preparation</a:t>
          </a:r>
          <a:endParaRPr lang="es-ES" sz="800" b="1" dirty="0">
            <a:solidFill>
              <a:srgbClr val="002060"/>
            </a:solidFill>
          </a:endParaRPr>
        </a:p>
        <a:p>
          <a:pPr lvl="0">
            <a:lnSpc>
              <a:spcPct val="100000"/>
            </a:lnSpc>
            <a:spcBef>
              <a:spcPct val="0"/>
            </a:spcBef>
            <a:spcAft>
              <a:spcPct val="35000"/>
            </a:spcAft>
          </a:pPr>
          <a:r>
            <a:rPr lang="es-ES" sz="800" dirty="0"/>
            <a:t>Imputación de valores faltantes – Mario y Laura</a:t>
          </a:r>
          <a:endParaRPr lang="es-ES" sz="800" dirty="0"/>
        </a:p>
        <a:p>
          <a:pPr lvl="0">
            <a:lnSpc>
              <a:spcPct val="100000"/>
            </a:lnSpc>
            <a:spcBef>
              <a:spcPct val="0"/>
            </a:spcBef>
            <a:spcAft>
              <a:spcPct val="35000"/>
            </a:spcAft>
          </a:pPr>
          <a:r>
            <a:rPr lang="es-ES" sz="800" dirty="0"/>
            <a:t>Análisis de </a:t>
          </a:r>
          <a:r>
            <a:rPr lang="es-ES" sz="800" dirty="0" err="1"/>
            <a:t>outliers</a:t>
          </a:r>
          <a:r>
            <a:rPr lang="es-ES" sz="800" dirty="0"/>
            <a:t> </a:t>
          </a:r>
          <a:r>
            <a:rPr lang="es-ES" sz="800" dirty="0" err="1"/>
            <a:t>post-imputación</a:t>
          </a:r>
          <a:r>
            <a:rPr lang="es-ES" sz="800" dirty="0"/>
            <a:t> – Mario, Laura y Melissa</a:t>
          </a:r>
          <a:endParaRPr lang="es-ES" sz="800" dirty="0"/>
        </a:p>
        <a:p>
          <a:pPr lvl="0">
            <a:lnSpc>
              <a:spcPct val="100000"/>
            </a:lnSpc>
            <a:spcBef>
              <a:spcPct val="0"/>
            </a:spcBef>
            <a:spcAft>
              <a:spcPct val="35000"/>
            </a:spcAft>
          </a:pPr>
          <a:r>
            <a:rPr lang="es-ES" sz="800" dirty="0"/>
            <a:t>Ingeniería de variables – </a:t>
          </a:r>
          <a:r>
            <a:rPr lang="es-ES" sz="800" dirty="0" err="1"/>
            <a:t>Wenjia</a:t>
          </a:r>
          <a:r>
            <a:rPr lang="es-ES" sz="800" dirty="0"/>
            <a:t> </a:t>
          </a:r>
        </a:p>
      </dsp:txBody>
      <dsp:txXfrm>
        <a:off x="0" y="1501586"/>
        <a:ext cx="5013063" cy="682539"/>
      </dsp:txXfrm>
    </dsp:sp>
    <dsp:sp modelId="{D306C488-315E-46F7-B989-FFF5212BF6E2}">
      <dsp:nvSpPr>
        <dsp:cNvPr id="8" name="圆角矩形 7"/>
        <dsp:cNvSpPr/>
      </dsp:nvSpPr>
      <dsp:spPr bwMode="white">
        <a:xfrm>
          <a:off x="68254" y="1569839"/>
          <a:ext cx="1002613" cy="546031"/>
        </a:xfrm>
        <a:prstGeom prst="roundRect">
          <a:avLst>
            <a:gd name="adj" fmla="val 10000"/>
          </a:avLst>
        </a:prstGeom>
        <a:blipFill>
          <a:blip r:embed="rId3"/>
          <a:srcRect/>
          <a:stretch>
            <a:fillRect t="-8000" b="-8000"/>
          </a:stretch>
        </a:blipFill>
      </dsp:spPr>
      <dsp:style>
        <a:lnRef idx="2">
          <a:schemeClr val="lt1"/>
        </a:lnRef>
        <a:fillRef idx="1">
          <a:schemeClr val="accent1">
            <a:tint val="50000"/>
          </a:schemeClr>
        </a:fillRef>
        <a:effectRef idx="0">
          <a:scrgbClr r="0" g="0" b="0"/>
        </a:effectRef>
        <a:fontRef idx="minor"/>
      </dsp:style>
      <dsp:txXfrm>
        <a:off x="68254" y="1569839"/>
        <a:ext cx="1002613" cy="546031"/>
      </dsp:txXfrm>
    </dsp:sp>
    <dsp:sp modelId="{9368D843-76C1-42B0-834B-2DA28FCB0771}">
      <dsp:nvSpPr>
        <dsp:cNvPr id="9" name="圆角矩形 8"/>
        <dsp:cNvSpPr/>
      </dsp:nvSpPr>
      <dsp:spPr bwMode="white">
        <a:xfrm>
          <a:off x="0" y="2252378"/>
          <a:ext cx="5013063" cy="68253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30480" tIns="30480" rIns="30480" bIns="304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s-ES" sz="800" b="1" dirty="0">
              <a:solidFill>
                <a:srgbClr val="002060"/>
              </a:solidFill>
            </a:rPr>
            <a:t>Modelado y evaluación de sus KPI</a:t>
          </a:r>
          <a:endParaRPr lang="es-ES" sz="800" b="1" dirty="0">
            <a:solidFill>
              <a:srgbClr val="002060"/>
            </a:solidFill>
          </a:endParaRPr>
        </a:p>
        <a:p>
          <a:pPr marL="57150" lvl="1" indent="-57150">
            <a:lnSpc>
              <a:spcPct val="100000"/>
            </a:lnSpc>
            <a:spcBef>
              <a:spcPct val="0"/>
            </a:spcBef>
            <a:spcAft>
              <a:spcPct val="15000"/>
            </a:spcAft>
            <a:buChar char="•"/>
          </a:pPr>
          <a:r>
            <a:rPr lang="es-ES" sz="700" dirty="0"/>
            <a:t>Método KNN – </a:t>
          </a:r>
          <a:r>
            <a:rPr lang="es-ES" sz="700" dirty="0" err="1"/>
            <a:t>Siling</a:t>
          </a:r>
          <a:r>
            <a:rPr lang="es-ES" sz="700" dirty="0"/>
            <a:t> y Laura</a:t>
          </a:r>
          <a:endParaRPr lang="es-ES" sz="700" dirty="0"/>
        </a:p>
        <a:p>
          <a:pPr marL="57150" lvl="1" indent="-57150">
            <a:lnSpc>
              <a:spcPct val="100000"/>
            </a:lnSpc>
            <a:spcBef>
              <a:spcPct val="0"/>
            </a:spcBef>
            <a:spcAft>
              <a:spcPct val="15000"/>
            </a:spcAft>
            <a:buChar char="•"/>
          </a:pPr>
          <a:r>
            <a:rPr lang="es-ES" sz="700" dirty="0"/>
            <a:t>Método </a:t>
          </a:r>
          <a:r>
            <a:rPr lang="es-ES" sz="700" dirty="0" err="1"/>
            <a:t>Naive</a:t>
          </a:r>
          <a:r>
            <a:rPr lang="es-ES" sz="700" dirty="0"/>
            <a:t> Bayes – Melissa y </a:t>
          </a:r>
          <a:r>
            <a:rPr lang="es-ES" sz="700" dirty="0" err="1"/>
            <a:t>Wenjia</a:t>
          </a:r>
          <a:endParaRPr lang="es-ES" sz="700" dirty="0"/>
        </a:p>
        <a:p>
          <a:pPr marL="57150" lvl="1" indent="-57150">
            <a:lnSpc>
              <a:spcPct val="100000"/>
            </a:lnSpc>
            <a:spcBef>
              <a:spcPct val="0"/>
            </a:spcBef>
            <a:spcAft>
              <a:spcPct val="15000"/>
            </a:spcAft>
            <a:buChar char="•"/>
          </a:pPr>
          <a:endParaRPr lang="es-ES" sz="700" dirty="0"/>
        </a:p>
        <a:p>
          <a:pPr marL="57150" lvl="1" indent="-57150">
            <a:lnSpc>
              <a:spcPct val="100000"/>
            </a:lnSpc>
            <a:spcBef>
              <a:spcPct val="0"/>
            </a:spcBef>
            <a:spcAft>
              <a:spcPct val="15000"/>
            </a:spcAft>
            <a:buChar char="•"/>
          </a:pPr>
          <a:r>
            <a:rPr lang="es-ES" sz="700" dirty="0"/>
            <a:t>Para cada método se ha probado diversas bases de datos con diferentes selecciones de variables para comprobar cuál es el mejor</a:t>
          </a:r>
        </a:p>
      </dsp:txBody>
      <dsp:txXfrm>
        <a:off x="0" y="2252378"/>
        <a:ext cx="5013063" cy="682539"/>
      </dsp:txXfrm>
    </dsp:sp>
    <dsp:sp modelId="{D58F51A8-C9AC-49A7-BF07-49E56398E46B}">
      <dsp:nvSpPr>
        <dsp:cNvPr id="10" name="圆角矩形 9"/>
        <dsp:cNvSpPr/>
      </dsp:nvSpPr>
      <dsp:spPr bwMode="white">
        <a:xfrm>
          <a:off x="68254" y="2320632"/>
          <a:ext cx="1002613" cy="546031"/>
        </a:xfrm>
        <a:prstGeom prst="roundRect">
          <a:avLst>
            <a:gd name="adj" fmla="val 10000"/>
          </a:avLst>
        </a:prstGeom>
        <a:blipFill>
          <a:blip r:embed="rId4"/>
          <a:srcRect/>
          <a:stretch>
            <a:fillRect l="-3000" r="-3000"/>
          </a:stretch>
        </a:blipFill>
      </dsp:spPr>
      <dsp:style>
        <a:lnRef idx="2">
          <a:schemeClr val="lt1"/>
        </a:lnRef>
        <a:fillRef idx="1">
          <a:schemeClr val="accent1">
            <a:tint val="50000"/>
          </a:schemeClr>
        </a:fillRef>
        <a:effectRef idx="0">
          <a:scrgbClr r="0" g="0" b="0"/>
        </a:effectRef>
        <a:fontRef idx="minor"/>
      </dsp:style>
      <dsp:txXfrm>
        <a:off x="68254" y="2320632"/>
        <a:ext cx="1002613" cy="546031"/>
      </dsp:txXfrm>
    </dsp:sp>
    <dsp:sp modelId="{34B88185-A619-4D08-836A-F611598437A8}">
      <dsp:nvSpPr>
        <dsp:cNvPr id="11" name="圆角矩形 10"/>
        <dsp:cNvSpPr/>
      </dsp:nvSpPr>
      <dsp:spPr bwMode="white">
        <a:xfrm>
          <a:off x="0" y="3003171"/>
          <a:ext cx="5013063" cy="68253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30480" tIns="30480" rIns="30480" bIns="304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s-ES" sz="800" b="1" dirty="0" err="1">
              <a:solidFill>
                <a:srgbClr val="002060"/>
              </a:solidFill>
            </a:rPr>
            <a:t>Association</a:t>
          </a:r>
          <a:r>
            <a:rPr lang="es-ES" sz="800" b="1" dirty="0">
              <a:solidFill>
                <a:srgbClr val="002060"/>
              </a:solidFill>
            </a:rPr>
            <a:t> Rules </a:t>
          </a:r>
          <a:r>
            <a:rPr lang="es-ES" sz="800" dirty="0"/>
            <a:t>- Mario</a:t>
          </a:r>
        </a:p>
      </dsp:txBody>
      <dsp:txXfrm>
        <a:off x="0" y="3003171"/>
        <a:ext cx="5013063" cy="682539"/>
      </dsp:txXfrm>
    </dsp:sp>
    <dsp:sp modelId="{F2ED9228-CFBA-4661-8996-A0E7EA7BA1F7}">
      <dsp:nvSpPr>
        <dsp:cNvPr id="12" name="圆角矩形 11"/>
        <dsp:cNvSpPr/>
      </dsp:nvSpPr>
      <dsp:spPr bwMode="white">
        <a:xfrm rot="-10800000" flipV="1">
          <a:off x="68254" y="3071425"/>
          <a:ext cx="1002613" cy="546031"/>
        </a:xfrm>
        <a:prstGeom prst="roundRect">
          <a:avLst>
            <a:gd name="adj" fmla="val 10000"/>
          </a:avLst>
        </a:prstGeom>
        <a:blipFill>
          <a:blip r:embed="rId5"/>
          <a:srcRect/>
          <a:stretch>
            <a:fillRect t="-17000" b="-17000"/>
          </a:stretch>
        </a:blipFill>
      </dsp:spPr>
      <dsp:style>
        <a:lnRef idx="2">
          <a:schemeClr val="lt1"/>
        </a:lnRef>
        <a:fillRef idx="1">
          <a:schemeClr val="accent1">
            <a:tint val="50000"/>
          </a:schemeClr>
        </a:fillRef>
        <a:effectRef idx="0">
          <a:scrgbClr r="0" g="0" b="0"/>
        </a:effectRef>
        <a:fontRef idx="minor"/>
      </dsp:style>
      <dsp:txXfrm rot="-10800000" flipV="1">
        <a:off x="68254" y="3071425"/>
        <a:ext cx="1002613" cy="546031"/>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4"/>
        <p:cNvGrpSpPr/>
        <p:nvPr/>
      </p:nvGrpSpPr>
      <p:grpSpPr>
        <a:xfrm>
          <a:off x="0" y="0"/>
          <a:ext cx="0" cy="0"/>
          <a:chOff x="0" y="0"/>
          <a:chExt cx="0" cy="0"/>
        </a:xfrm>
      </p:grpSpPr>
      <p:sp>
        <p:nvSpPr>
          <p:cNvPr id="105" name="Google Shape;10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8400" y="0"/>
            <a:ext cx="728475" cy="5163250"/>
            <a:chOff x="-8400" y="0"/>
            <a:chExt cx="728475" cy="5163250"/>
          </a:xfrm>
        </p:grpSpPr>
        <p:sp>
          <p:nvSpPr>
            <p:cNvPr id="12" name="Google Shape;12;p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3" name="Google Shape;13;p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047175" y="2571975"/>
            <a:ext cx="4383600" cy="1210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a:spLocks noGrp="1"/>
          </p:cNvSpPr>
          <p:nvPr>
            <p:ph type="title" idx="2" hasCustomPrompt="1"/>
          </p:nvPr>
        </p:nvSpPr>
        <p:spPr>
          <a:xfrm>
            <a:off x="4047175" y="1321975"/>
            <a:ext cx="13326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 name="Google Shape;17;p3"/>
          <p:cNvSpPr>
            <a:spLocks noGrp="1"/>
          </p:cNvSpPr>
          <p:nvPr>
            <p:ph type="pic" idx="3"/>
          </p:nvPr>
        </p:nvSpPr>
        <p:spPr>
          <a:xfrm>
            <a:off x="713225" y="539500"/>
            <a:ext cx="2760600" cy="40644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6" name="Google Shape;26;p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27" name="Google Shape;27;p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28" name="Google Shape;28;p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p:txBody>
      </p:sp>
      <p:sp>
        <p:nvSpPr>
          <p:cNvPr id="29" name="Google Shape;29;p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p:txBody>
      </p:sp>
      <p:grpSp>
        <p:nvGrpSpPr>
          <p:cNvPr id="30" name="Google Shape;30;p5"/>
          <p:cNvGrpSpPr/>
          <p:nvPr/>
        </p:nvGrpSpPr>
        <p:grpSpPr>
          <a:xfrm>
            <a:off x="0" y="0"/>
            <a:ext cx="9144000" cy="312600"/>
            <a:chOff x="0" y="0"/>
            <a:chExt cx="9144000" cy="312600"/>
          </a:xfrm>
        </p:grpSpPr>
        <p:sp>
          <p:nvSpPr>
            <p:cNvPr id="31" name="Google Shape;31;p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 name="Google Shape;32;p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5" name="Google Shape;35;p6"/>
          <p:cNvGrpSpPr/>
          <p:nvPr/>
        </p:nvGrpSpPr>
        <p:grpSpPr>
          <a:xfrm>
            <a:off x="0" y="0"/>
            <a:ext cx="9144000" cy="312600"/>
            <a:chOff x="0" y="0"/>
            <a:chExt cx="9144000" cy="312600"/>
          </a:xfrm>
        </p:grpSpPr>
        <p:sp>
          <p:nvSpPr>
            <p:cNvPr id="36" name="Google Shape;36;p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 name="Google Shape;37;p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0" name="Google Shape;40;p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 name="Google Shape;41;p7"/>
          <p:cNvSpPr>
            <a:spLocks noGrp="1"/>
          </p:cNvSpPr>
          <p:nvPr>
            <p:ph type="pic" idx="2"/>
          </p:nvPr>
        </p:nvSpPr>
        <p:spPr>
          <a:xfrm>
            <a:off x="5643775" y="539500"/>
            <a:ext cx="2787000" cy="4064400"/>
          </a:xfrm>
          <a:prstGeom prst="rect">
            <a:avLst/>
          </a:prstGeom>
          <a:noFill/>
          <a:ln>
            <a:noFill/>
          </a:ln>
        </p:spPr>
      </p:sp>
      <p:grpSp>
        <p:nvGrpSpPr>
          <p:cNvPr id="42" name="Google Shape;42;p7"/>
          <p:cNvGrpSpPr/>
          <p:nvPr/>
        </p:nvGrpSpPr>
        <p:grpSpPr>
          <a:xfrm>
            <a:off x="0" y="0"/>
            <a:ext cx="9144000" cy="312600"/>
            <a:chOff x="0" y="0"/>
            <a:chExt cx="9144000" cy="312600"/>
          </a:xfrm>
        </p:grpSpPr>
        <p:sp>
          <p:nvSpPr>
            <p:cNvPr id="43" name="Google Shape;43;p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 name="Google Shape;44;p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7" name="Google Shape;47;p8"/>
          <p:cNvGrpSpPr/>
          <p:nvPr/>
        </p:nvGrpSpPr>
        <p:grpSpPr>
          <a:xfrm>
            <a:off x="-8400" y="0"/>
            <a:ext cx="728475" cy="5163250"/>
            <a:chOff x="-8400" y="0"/>
            <a:chExt cx="728475" cy="5163250"/>
          </a:xfrm>
        </p:grpSpPr>
        <p:sp>
          <p:nvSpPr>
            <p:cNvPr id="48" name="Google Shape;48;p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9" name="Google Shape;49;p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52" name="Google Shape;5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grpSp>
        <p:nvGrpSpPr>
          <p:cNvPr id="53" name="Google Shape;53;p9"/>
          <p:cNvGrpSpPr/>
          <p:nvPr/>
        </p:nvGrpSpPr>
        <p:grpSpPr>
          <a:xfrm>
            <a:off x="-8400" y="0"/>
            <a:ext cx="728475" cy="5163250"/>
            <a:chOff x="-8400" y="0"/>
            <a:chExt cx="728475" cy="5163250"/>
          </a:xfrm>
        </p:grpSpPr>
        <p:sp>
          <p:nvSpPr>
            <p:cNvPr id="54" name="Google Shape;54;p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5" name="Google Shape;55;p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0" y="0"/>
            <a:ext cx="9144000" cy="5143500"/>
          </a:xfrm>
          <a:prstGeom prst="rect">
            <a:avLst/>
          </a:prstGeom>
          <a:noFill/>
          <a:ln>
            <a:noFill/>
          </a:ln>
        </p:spPr>
      </p:sp>
      <p:sp>
        <p:nvSpPr>
          <p:cNvPr id="58" name="Google Shape;58;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grpSp>
        <p:nvGrpSpPr>
          <p:cNvPr id="62" name="Google Shape;62;p11"/>
          <p:cNvGrpSpPr/>
          <p:nvPr/>
        </p:nvGrpSpPr>
        <p:grpSpPr>
          <a:xfrm>
            <a:off x="-8400" y="0"/>
            <a:ext cx="728475" cy="5163250"/>
            <a:chOff x="-8400" y="0"/>
            <a:chExt cx="728475" cy="5163250"/>
          </a:xfrm>
        </p:grpSpPr>
        <p:sp>
          <p:nvSpPr>
            <p:cNvPr id="63" name="Google Shape;63;p1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1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matchingName="Blank">
  <p:cSld name="BLANK">
    <p:bg>
      <p:bgPr>
        <a:solidFill>
          <a:schemeClr val="accent3"/>
        </a:solidFill>
        <a:effectLst/>
      </p:bgPr>
    </p:bg>
    <p:spTree>
      <p:nvGrpSpPr>
        <p:cNvPr id="1" name="Shape 65"/>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90"/>
        <p:cNvGrpSpPr/>
        <p:nvPr/>
      </p:nvGrpSpPr>
      <p:grpSpPr>
        <a:xfrm>
          <a:off x="0" y="0"/>
          <a:ext cx="0" cy="0"/>
          <a:chOff x="0" y="0"/>
          <a:chExt cx="0" cy="0"/>
        </a:xfrm>
      </p:grpSpPr>
      <p:grpSp>
        <p:nvGrpSpPr>
          <p:cNvPr id="91" name="Google Shape;91;p15"/>
          <p:cNvGrpSpPr/>
          <p:nvPr/>
        </p:nvGrpSpPr>
        <p:grpSpPr>
          <a:xfrm rot="10800000">
            <a:off x="8415525" y="0"/>
            <a:ext cx="728475" cy="5163250"/>
            <a:chOff x="-8400" y="0"/>
            <a:chExt cx="728475" cy="5163250"/>
          </a:xfrm>
        </p:grpSpPr>
        <p:sp>
          <p:nvSpPr>
            <p:cNvPr id="92" name="Google Shape;92;p15"/>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3" name="Google Shape;93;p15"/>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
        <p:cNvGrpSpPr/>
        <p:nvPr/>
      </p:nvGrpSpPr>
      <p:grpSpPr>
        <a:xfrm>
          <a:off x="0" y="0"/>
          <a:ext cx="0" cy="0"/>
          <a:chOff x="0" y="0"/>
          <a:chExt cx="0" cy="0"/>
        </a:xfrm>
      </p:grpSpPr>
      <p:grpSp>
        <p:nvGrpSpPr>
          <p:cNvPr id="95" name="Google Shape;95;p16"/>
          <p:cNvGrpSpPr/>
          <p:nvPr/>
        </p:nvGrpSpPr>
        <p:grpSpPr>
          <a:xfrm rot="10800000">
            <a:off x="0" y="4830900"/>
            <a:ext cx="9144000" cy="312600"/>
            <a:chOff x="0" y="0"/>
            <a:chExt cx="9144000" cy="312600"/>
          </a:xfrm>
        </p:grpSpPr>
        <p:sp>
          <p:nvSpPr>
            <p:cNvPr id="96" name="Google Shape;96;p1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7" name="Google Shape;97;p1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1pPr>
            <a:lvl2pPr lvl="1"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2pPr>
            <a:lvl3pPr lvl="2"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3pPr>
            <a:lvl4pPr lvl="3"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4pPr>
            <a:lvl5pPr lvl="4"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5pPr>
            <a:lvl6pPr lvl="5"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6pPr>
            <a:lvl7pPr lvl="6"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7pPr>
            <a:lvl8pPr lvl="7"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8pPr>
            <a:lvl9pPr lvl="8" rtl="0">
              <a:spcBef>
                <a:spcPts val="0"/>
              </a:spcBef>
              <a:spcAft>
                <a:spcPts val="0"/>
              </a:spcAft>
              <a:buClr>
                <a:schemeClr val="dk1"/>
              </a:buClr>
              <a:buSzPts val="2800"/>
              <a:buFont typeface="Poppins" panose="00000500000000000000"/>
              <a:buNone/>
              <a:defRPr sz="2800" b="1">
                <a:solidFill>
                  <a:schemeClr val="dk1"/>
                </a:solidFill>
                <a:latin typeface="Poppins" panose="00000500000000000000"/>
                <a:ea typeface="Poppins" panose="00000500000000000000"/>
                <a:cs typeface="Poppins" panose="00000500000000000000"/>
                <a:sym typeface="Poppins" panose="00000500000000000000"/>
              </a:defRPr>
            </a:lvl9pPr>
          </a:lstStyle>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marL="914400" lvl="1"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marL="1371600" lvl="2"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marL="1828800" lvl="3"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marL="2286000" lvl="4"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marL="2743200" lvl="5"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marL="3200400" lvl="6"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marL="3657600" lvl="7"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marL="4114800" lvl="8" indent="-304800">
              <a:lnSpc>
                <a:spcPct val="100000"/>
              </a:lnSpc>
              <a:spcBef>
                <a:spcPts val="0"/>
              </a:spcBef>
              <a:spcAft>
                <a:spcPts val="0"/>
              </a:spcAft>
              <a:buClr>
                <a:schemeClr val="dk1"/>
              </a:buClr>
              <a:buSzPts val="1200"/>
              <a:buFont typeface="Didact Gothic" panose="00000500000000000000"/>
              <a:buChar char="■"/>
              <a:defRPr sz="1200">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hyperlink" Target="https://github.com/wen2111/Mineria.git"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hyperlink" Target="https://docs.google.com/spreadsheets/d/18gkdJarOZ79z3jslKR75xZv-rDIFEC87KTDdDdfIytM/edit?usp=sharing" TargetMode="Externa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4.xml"/><Relationship Id="rId6" Type="http://schemas.openxmlformats.org/officeDocument/2006/relationships/image" Target="../media/image2.pn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4.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13.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4.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xml"/><Relationship Id="rId2" Type="http://schemas.openxmlformats.org/officeDocument/2006/relationships/image" Target="../media/image20.png"/><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p:cNvGrpSpPr/>
        <p:nvPr/>
      </p:nvGrpSpPr>
      <p:grpSpPr>
        <a:xfrm>
          <a:off x="0" y="0"/>
          <a:ext cx="0" cy="0"/>
          <a:chOff x="0" y="0"/>
          <a:chExt cx="0" cy="0"/>
        </a:xfrm>
      </p:grpSpPr>
      <p:sp>
        <p:nvSpPr>
          <p:cNvPr id="108" name="Google Shape;108;p20"/>
          <p:cNvSpPr txBox="1">
            <a:spLocks noGrp="1"/>
          </p:cNvSpPr>
          <p:nvPr>
            <p:ph type="ctrTitle"/>
          </p:nvPr>
        </p:nvSpPr>
        <p:spPr>
          <a:xfrm>
            <a:off x="817580" y="-573274"/>
            <a:ext cx="8509299" cy="2607900"/>
          </a:xfrm>
          <a:prstGeom prst="rect">
            <a:avLst/>
          </a:prstGeom>
        </p:spPr>
        <p:txBody>
          <a:bodyPr spcFirstLastPara="1" wrap="square" lIns="91425" tIns="91425" rIns="91425" bIns="91425" anchor="b" anchorCtr="0">
            <a:noAutofit/>
          </a:bodyPr>
          <a:lstStyle/>
          <a:p>
            <a:pPr lvl="0"/>
            <a:r>
              <a:rPr lang="es-ES" sz="4800" dirty="0"/>
              <a:t>Modelo de clasificación  GRUPO 5</a:t>
            </a:r>
            <a:endParaRPr sz="4800" b="0" dirty="0"/>
          </a:p>
        </p:txBody>
      </p:sp>
      <p:sp>
        <p:nvSpPr>
          <p:cNvPr id="4" name="Subtítulo 2"/>
          <p:cNvSpPr txBox="1"/>
          <p:nvPr/>
        </p:nvSpPr>
        <p:spPr>
          <a:xfrm>
            <a:off x="896340" y="2292556"/>
            <a:ext cx="8116888" cy="3390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panose="00000500000000000000"/>
              <a:buNone/>
              <a:defRPr sz="16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marL="914400" marR="0" lvl="1"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marL="1371600" marR="0" lvl="2"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marL="1828800" marR="0" lvl="3"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marL="2286000" marR="0" lvl="4"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marL="2743200" marR="0" lvl="5"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marL="3200400" marR="0" lvl="6"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marL="3657600" marR="0" lvl="7"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marL="4114800" marR="0" lvl="8" indent="-304800" algn="ctr" rtl="0">
              <a:lnSpc>
                <a:spcPct val="100000"/>
              </a:lnSpc>
              <a:spcBef>
                <a:spcPts val="0"/>
              </a:spcBef>
              <a:spcAft>
                <a:spcPts val="0"/>
              </a:spcAft>
              <a:buClr>
                <a:schemeClr val="dk1"/>
              </a:buClr>
              <a:buSzPts val="1800"/>
              <a:buFont typeface="Didact Gothic" panose="00000500000000000000"/>
              <a:buNone/>
              <a:defRPr sz="1800" b="0" i="0" u="none" strike="noStrike" cap="none">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r>
              <a:rPr lang="es-ES" dirty="0">
                <a:solidFill>
                  <a:schemeClr val="tx1"/>
                </a:solidFill>
              </a:rPr>
              <a:t>- Mario Aragón (maragonvalderrama@gmail.com)</a:t>
            </a:r>
            <a:endParaRPr lang="es-ES" dirty="0">
              <a:solidFill>
                <a:schemeClr val="tx1"/>
              </a:solidFill>
            </a:endParaRPr>
          </a:p>
          <a:p>
            <a:r>
              <a:rPr lang="es-ES" dirty="0">
                <a:solidFill>
                  <a:schemeClr val="tx1"/>
                </a:solidFill>
              </a:rPr>
              <a:t>- Laura Belmonte (Laura.Belmonte@estudiantat.upc.edu)</a:t>
            </a:r>
            <a:endParaRPr lang="es-ES" dirty="0">
              <a:solidFill>
                <a:schemeClr val="tx1"/>
              </a:solidFill>
            </a:endParaRPr>
          </a:p>
          <a:p>
            <a:r>
              <a:rPr lang="es-ES" dirty="0">
                <a:solidFill>
                  <a:schemeClr val="tx1"/>
                </a:solidFill>
              </a:rPr>
              <a:t>- </a:t>
            </a:r>
            <a:r>
              <a:rPr lang="es-ES" dirty="0" err="1">
                <a:solidFill>
                  <a:schemeClr val="tx1"/>
                </a:solidFill>
              </a:rPr>
              <a:t>Siling</a:t>
            </a:r>
            <a:r>
              <a:rPr lang="es-ES" dirty="0">
                <a:solidFill>
                  <a:schemeClr val="tx1"/>
                </a:solidFill>
              </a:rPr>
              <a:t> </a:t>
            </a:r>
            <a:r>
              <a:rPr lang="es-ES" dirty="0" err="1">
                <a:solidFill>
                  <a:schemeClr val="tx1"/>
                </a:solidFill>
              </a:rPr>
              <a:t>Guo</a:t>
            </a:r>
            <a:r>
              <a:rPr lang="es-ES" dirty="0">
                <a:solidFill>
                  <a:schemeClr val="tx1"/>
                </a:solidFill>
              </a:rPr>
              <a:t> (siling.guo@estudiantat.ub.edu)</a:t>
            </a:r>
            <a:endParaRPr lang="es-ES" dirty="0">
              <a:solidFill>
                <a:schemeClr val="tx1"/>
              </a:solidFill>
            </a:endParaRPr>
          </a:p>
          <a:p>
            <a:r>
              <a:rPr lang="es-ES" dirty="0">
                <a:solidFill>
                  <a:schemeClr val="tx1"/>
                </a:solidFill>
              </a:rPr>
              <a:t>- Melissa Vargas (melissa.Vargas@estudiantat.upc.edu)</a:t>
            </a:r>
            <a:endParaRPr lang="es-ES" dirty="0">
              <a:solidFill>
                <a:schemeClr val="tx1"/>
              </a:solidFill>
            </a:endParaRPr>
          </a:p>
          <a:p>
            <a:r>
              <a:rPr lang="es-ES" dirty="0">
                <a:solidFill>
                  <a:schemeClr val="tx1"/>
                </a:solidFill>
              </a:rPr>
              <a:t>- </a:t>
            </a:r>
            <a:r>
              <a:rPr lang="es-ES" dirty="0" err="1">
                <a:solidFill>
                  <a:schemeClr val="tx1"/>
                </a:solidFill>
              </a:rPr>
              <a:t>Wenjia</a:t>
            </a:r>
            <a:r>
              <a:rPr lang="es-ES" dirty="0">
                <a:solidFill>
                  <a:schemeClr val="tx1"/>
                </a:solidFill>
              </a:rPr>
              <a:t> Ye (wenjia.ye@estudiantat.upc.edu)</a:t>
            </a:r>
            <a:endParaRPr lang="es-ES" dirty="0">
              <a:solidFill>
                <a:schemeClr val="tx1"/>
              </a:solidFill>
            </a:endParaRPr>
          </a:p>
          <a:p>
            <a:pPr marL="342900" indent="-342900">
              <a:buFontTx/>
              <a:buChar char="-"/>
            </a:pPr>
            <a:endParaRPr lang="es-ES" dirty="0">
              <a:solidFill>
                <a:schemeClr val="tx1"/>
              </a:solidFill>
            </a:endParaRPr>
          </a:p>
          <a:p>
            <a:r>
              <a:rPr lang="es-ES" dirty="0">
                <a:solidFill>
                  <a:schemeClr val="tx1"/>
                </a:solidFill>
                <a:highlight>
                  <a:srgbClr val="FFFF00"/>
                </a:highlight>
                <a:hlinkClick r:id="rId1"/>
              </a:rPr>
              <a:t>Enlace </a:t>
            </a:r>
            <a:r>
              <a:rPr lang="es-ES" dirty="0" err="1">
                <a:solidFill>
                  <a:schemeClr val="tx1"/>
                </a:solidFill>
                <a:highlight>
                  <a:srgbClr val="FFFF00"/>
                </a:highlight>
                <a:hlinkClick r:id="rId1"/>
              </a:rPr>
              <a:t>Github</a:t>
            </a:r>
            <a:endParaRPr lang="es-ES" dirty="0">
              <a:solidFill>
                <a:schemeClr val="tx1"/>
              </a:solidFill>
              <a:highlight>
                <a:srgbClr val="FFFF00"/>
              </a:highlight>
            </a:endParaRPr>
          </a:p>
          <a:p>
            <a:endParaRPr lang="es-ES" dirty="0">
              <a:solidFill>
                <a:schemeClr val="tx1"/>
              </a:solidFill>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4820" y="3502587"/>
            <a:ext cx="3227162" cy="970838"/>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p:cNvSpPr txBox="1"/>
          <p:nvPr/>
        </p:nvSpPr>
        <p:spPr>
          <a:xfrm>
            <a:off x="6367347" y="4288759"/>
            <a:ext cx="4352925" cy="369332"/>
          </a:xfrm>
          <a:prstGeom prst="rect">
            <a:avLst/>
          </a:prstGeom>
          <a:noFill/>
        </p:spPr>
        <p:txBody>
          <a:bodyPr wrap="square" rtlCol="0">
            <a:spAutoFit/>
          </a:bodyPr>
          <a:lstStyle/>
          <a:p>
            <a:r>
              <a:rPr lang="es-ES" dirty="0">
                <a:latin typeface="Arial Black" panose="020B0A04020102020204" pitchFamily="34" charset="0"/>
              </a:rPr>
              <a:t>Grado de Estadística</a:t>
            </a:r>
            <a:endParaRPr lang="es-ES" dirty="0">
              <a:latin typeface="Arial Black" panose="020B0A04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ENTENDIMIENTO DE NEGOCIO</a:t>
            </a:r>
            <a:endParaRPr dirty="0"/>
          </a:p>
        </p:txBody>
      </p:sp>
      <p:sp>
        <p:nvSpPr>
          <p:cNvPr id="2" name="CuadroTexto 1"/>
          <p:cNvSpPr txBox="1"/>
          <p:nvPr/>
        </p:nvSpPr>
        <p:spPr>
          <a:xfrm>
            <a:off x="462579" y="1112200"/>
            <a:ext cx="8218842" cy="4247317"/>
          </a:xfrm>
          <a:prstGeom prst="rect">
            <a:avLst/>
          </a:prstGeom>
          <a:noFill/>
        </p:spPr>
        <p:txBody>
          <a:bodyPr wrap="square" rtlCol="0">
            <a:spAutoFit/>
          </a:bodyPr>
          <a:lstStyle/>
          <a:p>
            <a:pPr marL="285750" indent="-285750">
              <a:buFont typeface="Wingdings" panose="05000000000000000000" pitchFamily="2" charset="2"/>
              <a:buChar char="§"/>
            </a:pPr>
            <a:r>
              <a:rPr lang="es-ES" sz="1200" b="1" dirty="0"/>
              <a:t>Contexto de aplicación:</a:t>
            </a:r>
            <a:br>
              <a:rPr lang="es-ES" sz="1200" dirty="0"/>
            </a:br>
            <a:r>
              <a:rPr lang="es-ES" sz="1200" dirty="0"/>
              <a:t>Entidad bancaria que busca entender las circunstancias que hacen que un cliente tome la decisión de abandonar el banco.</a:t>
            </a:r>
            <a:endParaRPr lang="es-ES" sz="1200" dirty="0"/>
          </a:p>
          <a:p>
            <a:endParaRPr lang="es-ES" sz="1200" dirty="0"/>
          </a:p>
          <a:p>
            <a:pPr marL="285750" indent="-285750">
              <a:buFont typeface="Wingdings" panose="05000000000000000000" pitchFamily="2" charset="2"/>
              <a:buChar char="§"/>
            </a:pPr>
            <a:r>
              <a:rPr lang="es-ES" sz="1200" b="1" dirty="0"/>
              <a:t>Resumen del problema: </a:t>
            </a:r>
            <a:endParaRPr lang="es-ES" sz="1200" b="1" dirty="0"/>
          </a:p>
          <a:p>
            <a:pPr lvl="3"/>
            <a:r>
              <a:rPr lang="es-ES" sz="1200" dirty="0"/>
              <a:t>Construir un modelo predictivo que ayude a clasificar los clientes de un banco en función de su riesgo de abandono a partir de una serie de variables sobre el mismo cliente.</a:t>
            </a:r>
            <a:endParaRPr lang="es-ES" sz="1200" dirty="0"/>
          </a:p>
          <a:p>
            <a:endParaRPr lang="es-ES" sz="1200" dirty="0"/>
          </a:p>
          <a:p>
            <a:pPr marL="285750" indent="-285750">
              <a:buFont typeface="Wingdings" panose="05000000000000000000" pitchFamily="2" charset="2"/>
              <a:buChar char="§"/>
            </a:pPr>
            <a:r>
              <a:rPr lang="es-ES" sz="1200" b="1" dirty="0"/>
              <a:t>Objetivo principal:</a:t>
            </a:r>
            <a:br>
              <a:rPr lang="es-ES" sz="1200" dirty="0"/>
            </a:br>
            <a:r>
              <a:rPr lang="es-ES" sz="1200" dirty="0"/>
              <a:t>Modelizar la pérdida de clientes en función de ciertas variables sobre el usuario</a:t>
            </a:r>
            <a:endParaRPr lang="es-ES" sz="1200" dirty="0"/>
          </a:p>
          <a:p>
            <a:pPr marL="285750" indent="-285750">
              <a:buFont typeface="Wingdings" panose="05000000000000000000" pitchFamily="2" charset="2"/>
              <a:buChar char="§"/>
            </a:pPr>
            <a:endParaRPr lang="es-ES" sz="1200" dirty="0"/>
          </a:p>
          <a:p>
            <a:pPr marL="285750" indent="-285750">
              <a:buFont typeface="Wingdings" panose="05000000000000000000" pitchFamily="2" charset="2"/>
              <a:buChar char="§"/>
            </a:pPr>
            <a:r>
              <a:rPr lang="es-ES" sz="1200" b="1" dirty="0"/>
              <a:t>Objetivos secundarios:</a:t>
            </a:r>
            <a:endParaRPr lang="es-ES" sz="1200" dirty="0"/>
          </a:p>
          <a:p>
            <a:r>
              <a:rPr lang="es-ES" sz="1200" dirty="0"/>
              <a:t>Análisis estructural de los datos: búsqueda de relaciones entre variables y influencia en la permanencia del cliente.</a:t>
            </a:r>
            <a:endParaRPr lang="es-ES" sz="1200" dirty="0"/>
          </a:p>
          <a:p>
            <a:endParaRPr lang="es-ES" sz="1200" dirty="0"/>
          </a:p>
          <a:p>
            <a:pPr marL="285750" indent="-285750">
              <a:buFont typeface="Wingdings" panose="05000000000000000000" pitchFamily="2" charset="2"/>
              <a:buChar char="§"/>
            </a:pPr>
            <a:r>
              <a:rPr lang="es-ES" sz="1200" b="1" dirty="0" err="1"/>
              <a:t>KPIs</a:t>
            </a:r>
            <a:r>
              <a:rPr lang="es-ES" sz="1200" b="1" dirty="0"/>
              <a:t> de control:</a:t>
            </a:r>
            <a:endParaRPr lang="es-ES" sz="1200" dirty="0"/>
          </a:p>
          <a:p>
            <a:r>
              <a:rPr lang="es-ES" sz="1200" dirty="0" err="1"/>
              <a:t>Accuracy</a:t>
            </a:r>
            <a:r>
              <a:rPr lang="es-ES" sz="1200" dirty="0"/>
              <a:t>, </a:t>
            </a:r>
            <a:r>
              <a:rPr lang="es-ES" sz="1200" dirty="0" err="1"/>
              <a:t>Precision</a:t>
            </a:r>
            <a:r>
              <a:rPr lang="es-ES" sz="1200" dirty="0"/>
              <a:t> / </a:t>
            </a:r>
            <a:r>
              <a:rPr lang="es-ES" sz="1200" dirty="0" err="1"/>
              <a:t>Recall</a:t>
            </a:r>
            <a:r>
              <a:rPr lang="es-ES" sz="1200" dirty="0"/>
              <a:t>, </a:t>
            </a:r>
            <a:r>
              <a:rPr lang="es-ES" sz="1600" b="1" dirty="0"/>
              <a:t>F1-Score</a:t>
            </a:r>
            <a:r>
              <a:rPr lang="es-ES" sz="1200" dirty="0"/>
              <a:t>, AUC-ROC</a:t>
            </a:r>
            <a:endParaRPr lang="es-ES" sz="1200" dirty="0"/>
          </a:p>
          <a:p>
            <a:endParaRPr lang="es-ES" sz="1200" dirty="0"/>
          </a:p>
          <a:p>
            <a:pPr marL="285750" indent="-285750">
              <a:buFont typeface="Wingdings" panose="05000000000000000000" pitchFamily="2" charset="2"/>
              <a:buChar char="§"/>
            </a:pPr>
            <a:r>
              <a:rPr lang="es-ES" sz="1200" b="1" strike="sngStrike" dirty="0"/>
              <a:t>KPI de negocio:</a:t>
            </a:r>
            <a:endParaRPr lang="es-ES" sz="1200" b="1" strike="sngStrike" dirty="0"/>
          </a:p>
          <a:p>
            <a:r>
              <a:rPr lang="es-ES" sz="1200" strike="sngStrike" dirty="0"/>
              <a:t>Tasa de retención</a:t>
            </a:r>
            <a:endParaRPr lang="es-ES" sz="1200" strike="sngStrike" dirty="0"/>
          </a:p>
          <a:p>
            <a:endParaRPr lang="es-ES" sz="1200" dirty="0"/>
          </a:p>
          <a:p>
            <a:endParaRPr lang="es-ES" sz="1200" dirty="0"/>
          </a:p>
          <a:p>
            <a:endParaRPr lang="es-E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ENTENDIMIENTO DE DATOS</a:t>
            </a:r>
            <a:endParaRPr dirty="0"/>
          </a:p>
        </p:txBody>
      </p:sp>
      <p:sp>
        <p:nvSpPr>
          <p:cNvPr id="7" name="CuadroTexto 6"/>
          <p:cNvSpPr txBox="1"/>
          <p:nvPr/>
        </p:nvSpPr>
        <p:spPr>
          <a:xfrm>
            <a:off x="720000" y="1269402"/>
            <a:ext cx="7154598" cy="3139321"/>
          </a:xfrm>
          <a:prstGeom prst="rect">
            <a:avLst/>
          </a:prstGeom>
          <a:noFill/>
        </p:spPr>
        <p:txBody>
          <a:bodyPr wrap="square" rtlCol="0">
            <a:spAutoFit/>
          </a:bodyPr>
          <a:lstStyle/>
          <a:p>
            <a:r>
              <a:rPr lang="es-ES" dirty="0"/>
              <a:t>La base de datos cuenta inicialmente con </a:t>
            </a:r>
            <a:r>
              <a:rPr lang="es-ES" b="1" dirty="0"/>
              <a:t>23 variables</a:t>
            </a:r>
            <a:r>
              <a:rPr lang="es-ES" dirty="0"/>
              <a:t>:</a:t>
            </a:r>
            <a:endParaRPr lang="es-ES" dirty="0"/>
          </a:p>
          <a:p>
            <a:pPr marL="285750" indent="-285750">
              <a:buFontTx/>
              <a:buChar char="-"/>
            </a:pPr>
            <a:r>
              <a:rPr lang="es-ES" b="1" dirty="0"/>
              <a:t>12 numéricas</a:t>
            </a:r>
            <a:endParaRPr lang="es-ES" b="1" dirty="0"/>
          </a:p>
          <a:p>
            <a:pPr marL="285750" indent="-285750">
              <a:buFontTx/>
              <a:buChar char="-"/>
            </a:pPr>
            <a:r>
              <a:rPr lang="es-ES" b="1" dirty="0"/>
              <a:t>11 categóricas</a:t>
            </a:r>
            <a:r>
              <a:rPr lang="es-ES" dirty="0"/>
              <a:t>, de las cuales:	</a:t>
            </a:r>
            <a:endParaRPr lang="es-ES" dirty="0"/>
          </a:p>
          <a:p>
            <a:pPr lvl="1"/>
            <a:r>
              <a:rPr lang="es-ES" dirty="0"/>
              <a:t>	- </a:t>
            </a:r>
            <a:r>
              <a:rPr lang="es-ES" b="1" dirty="0"/>
              <a:t>5 binarias</a:t>
            </a:r>
            <a:endParaRPr lang="es-ES" b="1" dirty="0"/>
          </a:p>
          <a:p>
            <a:pPr lvl="1"/>
            <a:r>
              <a:rPr lang="es-ES" dirty="0"/>
              <a:t>		- Una de ellas es la variable a predecir (</a:t>
            </a:r>
            <a:r>
              <a:rPr lang="es-ES" dirty="0" err="1"/>
              <a:t>Exited</a:t>
            </a:r>
            <a:r>
              <a:rPr lang="es-ES" dirty="0"/>
              <a:t>)</a:t>
            </a:r>
            <a:endParaRPr lang="es-ES" dirty="0"/>
          </a:p>
          <a:p>
            <a:pPr lvl="1"/>
            <a:r>
              <a:rPr lang="es-ES" dirty="0"/>
              <a:t>	- </a:t>
            </a:r>
            <a:r>
              <a:rPr lang="es-ES" b="1" dirty="0"/>
              <a:t>2 identificadoras </a:t>
            </a:r>
            <a:r>
              <a:rPr lang="es-ES" dirty="0"/>
              <a:t>(ID, </a:t>
            </a:r>
            <a:r>
              <a:rPr lang="es-ES" dirty="0" err="1"/>
              <a:t>Surname</a:t>
            </a:r>
            <a:r>
              <a:rPr lang="es-ES" dirty="0"/>
              <a:t>)</a:t>
            </a:r>
            <a:endParaRPr lang="es-ES" dirty="0"/>
          </a:p>
          <a:p>
            <a:pPr lvl="1"/>
            <a:endParaRPr lang="es-ES" dirty="0"/>
          </a:p>
          <a:p>
            <a:pPr lvl="1"/>
            <a:r>
              <a:rPr lang="es-ES" dirty="0"/>
              <a:t>En el siguiente enlace se incluye un </a:t>
            </a:r>
            <a:r>
              <a:rPr lang="es-ES" dirty="0" err="1"/>
              <a:t>Metadata</a:t>
            </a:r>
            <a:r>
              <a:rPr lang="es-ES" dirty="0"/>
              <a:t> más extenso donde se incluye información específica para cada variable (Nombre, tipología, rango, </a:t>
            </a:r>
            <a:r>
              <a:rPr lang="es-ES" dirty="0" err="1"/>
              <a:t>business</a:t>
            </a:r>
            <a:r>
              <a:rPr lang="es-ES" dirty="0"/>
              <a:t> </a:t>
            </a:r>
            <a:r>
              <a:rPr lang="es-ES" dirty="0" err="1"/>
              <a:t>category</a:t>
            </a:r>
            <a:r>
              <a:rPr lang="es-ES" dirty="0"/>
              <a:t> y una pequeña descripción de su significado)</a:t>
            </a:r>
            <a:r>
              <a:rPr lang="es-ES" dirty="0">
                <a:solidFill>
                  <a:srgbClr val="0070C0"/>
                </a:solidFill>
              </a:rPr>
              <a:t>: </a:t>
            </a:r>
            <a:r>
              <a:rPr lang="es-ES" dirty="0" err="1">
                <a:solidFill>
                  <a:srgbClr val="0070C0"/>
                </a:solidFill>
                <a:hlinkClick r:id="rId1"/>
              </a:rPr>
              <a:t>Metadata</a:t>
            </a:r>
            <a:endParaRPr lang="es-ES" dirty="0">
              <a:solidFill>
                <a:srgbClr val="0070C0"/>
              </a:solidFill>
            </a:endParaRPr>
          </a:p>
          <a:p>
            <a:pPr lvl="1"/>
            <a:endParaRPr lang="es-ES" dirty="0">
              <a:solidFill>
                <a:srgbClr val="0070C0"/>
              </a:solidFill>
            </a:endParaRPr>
          </a:p>
          <a:p>
            <a:pPr lvl="1"/>
            <a:r>
              <a:rPr lang="es-ES" dirty="0"/>
              <a:t>Un primer análisis exploratorio de los NA evidenció que todas las variables (excepto ID) </a:t>
            </a:r>
            <a:r>
              <a:rPr lang="es-ES" sz="1600" b="1" dirty="0"/>
              <a:t>tenían un 30% de valores faltantes.</a:t>
            </a:r>
            <a:endParaRPr lang="es-ES" sz="1600" b="1" dirty="0">
              <a:solidFill>
                <a:srgbClr val="0070C0"/>
              </a:solidFill>
            </a:endParaRPr>
          </a:p>
          <a:p>
            <a:pPr lvl="1"/>
            <a:endParaRPr lang="es-ES" dirty="0"/>
          </a:p>
        </p:txBody>
      </p:sp>
      <p:sp>
        <p:nvSpPr>
          <p:cNvPr id="8" name="CuadroTexto 7"/>
          <p:cNvSpPr txBox="1"/>
          <p:nvPr/>
        </p:nvSpPr>
        <p:spPr>
          <a:xfrm>
            <a:off x="811821" y="4234668"/>
            <a:ext cx="6970955" cy="738664"/>
          </a:xfrm>
          <a:prstGeom prst="rect">
            <a:avLst/>
          </a:prstGeom>
          <a:noFill/>
        </p:spPr>
        <p:txBody>
          <a:bodyPr wrap="square" rtlCol="0">
            <a:spAutoFit/>
          </a:bodyPr>
          <a:lstStyle/>
          <a:p>
            <a:pPr marL="285750" indent="-285750">
              <a:buFont typeface="Wingdings" panose="05000000000000000000" pitchFamily="2" charset="2"/>
              <a:buChar char="q"/>
            </a:pPr>
            <a:r>
              <a:rPr lang="es-ES" b="1" i="1" dirty="0"/>
              <a:t>Importante</a:t>
            </a:r>
            <a:r>
              <a:rPr lang="es-ES" dirty="0"/>
              <a:t>: Este es el </a:t>
            </a:r>
            <a:r>
              <a:rPr lang="es-ES" dirty="0" err="1"/>
              <a:t>Metadata</a:t>
            </a:r>
            <a:r>
              <a:rPr lang="es-ES" dirty="0"/>
              <a:t> propio del entendimiento de los datos. Es susceptible a cambios en etapas futuras del proyecto como en ingeniería de variables.</a:t>
            </a:r>
            <a:endParaRPr lang="es-E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FRAMEWORK METODOLÓGICO</a:t>
            </a:r>
            <a:endParaRPr dirty="0"/>
          </a:p>
        </p:txBody>
      </p:sp>
      <p:graphicFrame>
        <p:nvGraphicFramePr>
          <p:cNvPr id="2" name="Diagrama 1"/>
          <p:cNvGraphicFramePr/>
          <p:nvPr/>
        </p:nvGraphicFramePr>
        <p:xfrm>
          <a:off x="3571539" y="1112201"/>
          <a:ext cx="5013063" cy="368571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CuadroTexto 4"/>
          <p:cNvSpPr txBox="1"/>
          <p:nvPr/>
        </p:nvSpPr>
        <p:spPr>
          <a:xfrm>
            <a:off x="279699" y="1194099"/>
            <a:ext cx="2990626" cy="1169551"/>
          </a:xfrm>
          <a:prstGeom prst="rect">
            <a:avLst/>
          </a:prstGeom>
          <a:noFill/>
        </p:spPr>
        <p:txBody>
          <a:bodyPr wrap="square" rtlCol="0">
            <a:spAutoFit/>
          </a:bodyPr>
          <a:lstStyle/>
          <a:p>
            <a:r>
              <a:rPr lang="es-ES" dirty="0"/>
              <a:t>Se ha utilizado la metodología estándar para trabajo en equipo en el ámbito de Data </a:t>
            </a:r>
            <a:r>
              <a:rPr lang="es-ES" dirty="0" err="1"/>
              <a:t>Science</a:t>
            </a:r>
            <a:r>
              <a:rPr lang="es-ES" dirty="0"/>
              <a:t>: </a:t>
            </a:r>
            <a:r>
              <a:rPr lang="es-ES" b="1" dirty="0"/>
              <a:t>Cross </a:t>
            </a:r>
            <a:r>
              <a:rPr lang="es-ES" b="1" dirty="0" err="1"/>
              <a:t>Industry</a:t>
            </a:r>
            <a:r>
              <a:rPr lang="es-ES" b="1" dirty="0"/>
              <a:t> Standard </a:t>
            </a:r>
            <a:r>
              <a:rPr lang="es-ES" b="1" dirty="0" err="1"/>
              <a:t>Process</a:t>
            </a:r>
            <a:r>
              <a:rPr lang="es-ES" b="1" dirty="0"/>
              <a:t> </a:t>
            </a:r>
            <a:r>
              <a:rPr lang="es-ES" b="1" dirty="0" err="1"/>
              <a:t>for</a:t>
            </a:r>
            <a:r>
              <a:rPr lang="es-ES" b="1" dirty="0"/>
              <a:t> Data </a:t>
            </a:r>
            <a:r>
              <a:rPr lang="es-ES" b="1" dirty="0" err="1"/>
              <a:t>Mining</a:t>
            </a:r>
            <a:endParaRPr lang="es-ES" b="1" dirty="0"/>
          </a:p>
        </p:txBody>
      </p:sp>
      <p:pic>
        <p:nvPicPr>
          <p:cNvPr id="9" name="Imagen 8"/>
          <p:cNvPicPr>
            <a:picLocks noChangeAspect="1"/>
          </p:cNvPicPr>
          <p:nvPr/>
        </p:nvPicPr>
        <p:blipFill>
          <a:blip r:embed="rId6"/>
          <a:stretch>
            <a:fillRect/>
          </a:stretch>
        </p:blipFill>
        <p:spPr>
          <a:xfrm>
            <a:off x="381994" y="2363650"/>
            <a:ext cx="2750004" cy="266352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err="1"/>
              <a:t>Exploratory</a:t>
            </a:r>
            <a:r>
              <a:rPr lang="es-ES" dirty="0"/>
              <a:t> Data </a:t>
            </a:r>
            <a:r>
              <a:rPr lang="es-ES" dirty="0" err="1"/>
              <a:t>Analysis</a:t>
            </a:r>
            <a:r>
              <a:rPr lang="es-ES" dirty="0"/>
              <a:t> (EDA) 1/2</a:t>
            </a:r>
            <a:endParaRPr dirty="0"/>
          </a:p>
        </p:txBody>
      </p:sp>
      <p:pic>
        <p:nvPicPr>
          <p:cNvPr id="3" name="Imagen 2"/>
          <p:cNvPicPr>
            <a:picLocks noChangeAspect="1"/>
          </p:cNvPicPr>
          <p:nvPr/>
        </p:nvPicPr>
        <p:blipFill>
          <a:blip r:embed="rId1"/>
          <a:stretch>
            <a:fillRect/>
          </a:stretch>
        </p:blipFill>
        <p:spPr>
          <a:xfrm>
            <a:off x="860611" y="1244318"/>
            <a:ext cx="3369761" cy="1745784"/>
          </a:xfrm>
          <a:prstGeom prst="rect">
            <a:avLst/>
          </a:prstGeom>
        </p:spPr>
      </p:pic>
      <p:sp>
        <p:nvSpPr>
          <p:cNvPr id="4" name="CuadroTexto 3"/>
          <p:cNvSpPr txBox="1"/>
          <p:nvPr/>
        </p:nvSpPr>
        <p:spPr>
          <a:xfrm>
            <a:off x="4572001" y="1674840"/>
            <a:ext cx="3852000" cy="954107"/>
          </a:xfrm>
          <a:prstGeom prst="rect">
            <a:avLst/>
          </a:prstGeom>
          <a:noFill/>
        </p:spPr>
        <p:txBody>
          <a:bodyPr wrap="square" rtlCol="0">
            <a:spAutoFit/>
          </a:bodyPr>
          <a:lstStyle/>
          <a:p>
            <a:pPr algn="just"/>
            <a:r>
              <a:rPr lang="es-ES" dirty="0"/>
              <a:t>Entre variables numéricas únicamente se ha encontrado correlaciones significativas entre </a:t>
            </a:r>
            <a:r>
              <a:rPr lang="es-ES" b="1" dirty="0">
                <a:solidFill>
                  <a:srgbClr val="0070C0"/>
                </a:solidFill>
              </a:rPr>
              <a:t>número de quejas – satisfacción </a:t>
            </a:r>
            <a:r>
              <a:rPr lang="es-ES" dirty="0"/>
              <a:t>del cliente y </a:t>
            </a:r>
            <a:r>
              <a:rPr lang="es-ES" b="1" dirty="0">
                <a:solidFill>
                  <a:srgbClr val="00B050"/>
                </a:solidFill>
              </a:rPr>
              <a:t>número de productos – balance</a:t>
            </a:r>
            <a:r>
              <a:rPr lang="es-ES" dirty="0"/>
              <a:t>.</a:t>
            </a:r>
            <a:endParaRPr lang="es-ES" dirty="0"/>
          </a:p>
        </p:txBody>
      </p:sp>
      <p:sp>
        <p:nvSpPr>
          <p:cNvPr id="9" name="CuadroTexto 8"/>
          <p:cNvSpPr txBox="1"/>
          <p:nvPr/>
        </p:nvSpPr>
        <p:spPr>
          <a:xfrm>
            <a:off x="4572000" y="3191587"/>
            <a:ext cx="3706368" cy="1600438"/>
          </a:xfrm>
          <a:prstGeom prst="rect">
            <a:avLst/>
          </a:prstGeom>
          <a:noFill/>
        </p:spPr>
        <p:txBody>
          <a:bodyPr wrap="square" rtlCol="0">
            <a:spAutoFit/>
          </a:bodyPr>
          <a:lstStyle/>
          <a:p>
            <a:pPr algn="just"/>
            <a:r>
              <a:rPr lang="es-ES" sz="1200" dirty="0"/>
              <a:t>Respecto a un </a:t>
            </a:r>
            <a:r>
              <a:rPr lang="es-ES" sz="1200" b="1" dirty="0"/>
              <a:t>análisis bivariante </a:t>
            </a:r>
            <a:r>
              <a:rPr lang="es-ES" sz="1200" dirty="0"/>
              <a:t>de </a:t>
            </a:r>
            <a:r>
              <a:rPr lang="es-ES" sz="1200" dirty="0" err="1"/>
              <a:t>Exited</a:t>
            </a:r>
            <a:r>
              <a:rPr lang="es-ES" sz="1200" dirty="0"/>
              <a:t> con las categóricas, únicamente se ha encontrado diferencias proporcionales en las variables </a:t>
            </a:r>
            <a:r>
              <a:rPr lang="es-ES" b="1" dirty="0" err="1">
                <a:solidFill>
                  <a:srgbClr val="FF0000"/>
                </a:solidFill>
              </a:rPr>
              <a:t>Geography</a:t>
            </a:r>
            <a:r>
              <a:rPr lang="es-ES" b="1" dirty="0">
                <a:solidFill>
                  <a:srgbClr val="FF0000"/>
                </a:solidFill>
              </a:rPr>
              <a:t>, </a:t>
            </a:r>
            <a:r>
              <a:rPr lang="es-ES" b="1" dirty="0" err="1">
                <a:solidFill>
                  <a:srgbClr val="FF0000"/>
                </a:solidFill>
              </a:rPr>
              <a:t>Gender</a:t>
            </a:r>
            <a:r>
              <a:rPr lang="es-ES" b="1" dirty="0">
                <a:solidFill>
                  <a:srgbClr val="FF0000"/>
                </a:solidFill>
              </a:rPr>
              <a:t> e </a:t>
            </a:r>
            <a:r>
              <a:rPr lang="es-ES" b="1" dirty="0" err="1">
                <a:solidFill>
                  <a:srgbClr val="FF0000"/>
                </a:solidFill>
              </a:rPr>
              <a:t>IsAcativeMember</a:t>
            </a:r>
            <a:r>
              <a:rPr lang="es-ES" dirty="0">
                <a:solidFill>
                  <a:srgbClr val="FF0000"/>
                </a:solidFill>
              </a:rPr>
              <a:t>.</a:t>
            </a:r>
            <a:r>
              <a:rPr lang="es-ES" sz="1200" dirty="0"/>
              <a:t> La columna gris es diferente para las categorías dentro de cada variable. Habrá que </a:t>
            </a:r>
            <a:r>
              <a:rPr lang="es-ES" sz="1200" dirty="0" err="1"/>
              <a:t>corrovorar</a:t>
            </a:r>
            <a:r>
              <a:rPr lang="es-ES" sz="1200" dirty="0"/>
              <a:t> esto mediante </a:t>
            </a:r>
            <a:r>
              <a:rPr lang="es-ES" sz="1200" dirty="0" err="1"/>
              <a:t>tests</a:t>
            </a:r>
            <a:r>
              <a:rPr lang="es-ES" sz="1200" dirty="0"/>
              <a:t> estadísticos.</a:t>
            </a:r>
            <a:endParaRPr lang="es-ES" sz="1200" dirty="0"/>
          </a:p>
          <a:p>
            <a:endParaRPr lang="es-ES" sz="1200" dirty="0"/>
          </a:p>
        </p:txBody>
      </p:sp>
      <p:pic>
        <p:nvPicPr>
          <p:cNvPr id="5" name="Imagen 4"/>
          <p:cNvPicPr>
            <a:picLocks noChangeAspect="1"/>
          </p:cNvPicPr>
          <p:nvPr/>
        </p:nvPicPr>
        <p:blipFill>
          <a:blip r:embed="rId2"/>
          <a:stretch>
            <a:fillRect/>
          </a:stretch>
        </p:blipFill>
        <p:spPr>
          <a:xfrm>
            <a:off x="302361" y="3053286"/>
            <a:ext cx="1804845" cy="964034"/>
          </a:xfrm>
          <a:prstGeom prst="rect">
            <a:avLst/>
          </a:prstGeom>
        </p:spPr>
      </p:pic>
      <p:pic>
        <p:nvPicPr>
          <p:cNvPr id="10" name="Imagen 9"/>
          <p:cNvPicPr>
            <a:picLocks noChangeAspect="1"/>
          </p:cNvPicPr>
          <p:nvPr/>
        </p:nvPicPr>
        <p:blipFill>
          <a:blip r:embed="rId3"/>
          <a:stretch>
            <a:fillRect/>
          </a:stretch>
        </p:blipFill>
        <p:spPr>
          <a:xfrm>
            <a:off x="2411940" y="3070352"/>
            <a:ext cx="1653298" cy="860097"/>
          </a:xfrm>
          <a:prstGeom prst="rect">
            <a:avLst/>
          </a:prstGeom>
        </p:spPr>
      </p:pic>
      <p:pic>
        <p:nvPicPr>
          <p:cNvPr id="14" name="Imagen 13"/>
          <p:cNvPicPr>
            <a:picLocks noChangeAspect="1"/>
          </p:cNvPicPr>
          <p:nvPr/>
        </p:nvPicPr>
        <p:blipFill>
          <a:blip r:embed="rId4"/>
          <a:stretch>
            <a:fillRect/>
          </a:stretch>
        </p:blipFill>
        <p:spPr>
          <a:xfrm>
            <a:off x="1381045" y="4017320"/>
            <a:ext cx="1857544" cy="98199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err="1"/>
              <a:t>Exploratory</a:t>
            </a:r>
            <a:r>
              <a:rPr lang="es-ES" dirty="0"/>
              <a:t> Data </a:t>
            </a:r>
            <a:r>
              <a:rPr lang="es-ES" dirty="0" err="1"/>
              <a:t>Analysis</a:t>
            </a:r>
            <a:r>
              <a:rPr lang="es-ES" dirty="0"/>
              <a:t> (EDA) 2/2</a:t>
            </a:r>
            <a:endParaRPr dirty="0"/>
          </a:p>
        </p:txBody>
      </p:sp>
      <p:pic>
        <p:nvPicPr>
          <p:cNvPr id="3" name="Imagen 2"/>
          <p:cNvPicPr>
            <a:picLocks noChangeAspect="1"/>
          </p:cNvPicPr>
          <p:nvPr/>
        </p:nvPicPr>
        <p:blipFill>
          <a:blip r:embed="rId1"/>
          <a:stretch>
            <a:fillRect/>
          </a:stretch>
        </p:blipFill>
        <p:spPr>
          <a:xfrm>
            <a:off x="475842" y="1360783"/>
            <a:ext cx="2472872" cy="1710193"/>
          </a:xfrm>
          <a:prstGeom prst="rect">
            <a:avLst/>
          </a:prstGeom>
        </p:spPr>
      </p:pic>
      <p:pic>
        <p:nvPicPr>
          <p:cNvPr id="5" name="Imagen 4"/>
          <p:cNvPicPr>
            <a:picLocks noChangeAspect="1"/>
          </p:cNvPicPr>
          <p:nvPr/>
        </p:nvPicPr>
        <p:blipFill>
          <a:blip r:embed="rId2"/>
          <a:stretch>
            <a:fillRect/>
          </a:stretch>
        </p:blipFill>
        <p:spPr>
          <a:xfrm>
            <a:off x="3149613" y="1360783"/>
            <a:ext cx="2539822" cy="1710192"/>
          </a:xfrm>
          <a:prstGeom prst="rect">
            <a:avLst/>
          </a:prstGeom>
        </p:spPr>
      </p:pic>
      <p:sp>
        <p:nvSpPr>
          <p:cNvPr id="6" name="CuadroTexto 5"/>
          <p:cNvSpPr txBox="1"/>
          <p:nvPr/>
        </p:nvSpPr>
        <p:spPr>
          <a:xfrm>
            <a:off x="6013526" y="1360783"/>
            <a:ext cx="2539822" cy="1384995"/>
          </a:xfrm>
          <a:prstGeom prst="rect">
            <a:avLst/>
          </a:prstGeom>
          <a:noFill/>
        </p:spPr>
        <p:txBody>
          <a:bodyPr wrap="square" rtlCol="0">
            <a:spAutoFit/>
          </a:bodyPr>
          <a:lstStyle/>
          <a:p>
            <a:pPr algn="just"/>
            <a:r>
              <a:rPr lang="es-ES" dirty="0"/>
              <a:t>Estos </a:t>
            </a:r>
            <a:r>
              <a:rPr lang="es-ES" dirty="0" err="1"/>
              <a:t>boxplots</a:t>
            </a:r>
            <a:r>
              <a:rPr lang="es-ES" dirty="0"/>
              <a:t> son ejemplos de variables numéricas con relaciones que (por ahora visualmente) sospechamos significativas para Explicar </a:t>
            </a:r>
            <a:r>
              <a:rPr lang="es-ES" dirty="0" err="1"/>
              <a:t>Exited</a:t>
            </a:r>
            <a:r>
              <a:rPr lang="es-ES" dirty="0"/>
              <a:t>. Son </a:t>
            </a:r>
            <a:r>
              <a:rPr lang="es-ES" b="1" dirty="0"/>
              <a:t>Edad</a:t>
            </a:r>
            <a:r>
              <a:rPr lang="es-ES" dirty="0"/>
              <a:t> y </a:t>
            </a:r>
            <a:r>
              <a:rPr lang="es-ES" b="1" dirty="0"/>
              <a:t>Balance</a:t>
            </a:r>
            <a:r>
              <a:rPr lang="es-ES" dirty="0"/>
              <a:t>.</a:t>
            </a:r>
            <a:endParaRPr lang="es-ES" dirty="0"/>
          </a:p>
        </p:txBody>
      </p:sp>
      <p:pic>
        <p:nvPicPr>
          <p:cNvPr id="8" name="Imagen 7"/>
          <p:cNvPicPr>
            <a:picLocks noChangeAspect="1"/>
          </p:cNvPicPr>
          <p:nvPr/>
        </p:nvPicPr>
        <p:blipFill>
          <a:blip r:embed="rId3"/>
          <a:stretch>
            <a:fillRect/>
          </a:stretch>
        </p:blipFill>
        <p:spPr>
          <a:xfrm>
            <a:off x="519100" y="3398329"/>
            <a:ext cx="1576073" cy="957106"/>
          </a:xfrm>
          <a:prstGeom prst="rect">
            <a:avLst/>
          </a:prstGeom>
        </p:spPr>
      </p:pic>
      <p:pic>
        <p:nvPicPr>
          <p:cNvPr id="10" name="Imagen 9"/>
          <p:cNvPicPr>
            <a:picLocks noChangeAspect="1"/>
          </p:cNvPicPr>
          <p:nvPr/>
        </p:nvPicPr>
        <p:blipFill>
          <a:blip r:embed="rId4"/>
          <a:stretch>
            <a:fillRect/>
          </a:stretch>
        </p:blipFill>
        <p:spPr>
          <a:xfrm>
            <a:off x="3958413" y="3398329"/>
            <a:ext cx="1653314" cy="957106"/>
          </a:xfrm>
          <a:prstGeom prst="rect">
            <a:avLst/>
          </a:prstGeom>
        </p:spPr>
      </p:pic>
      <p:sp>
        <p:nvSpPr>
          <p:cNvPr id="11" name="CuadroTexto 10"/>
          <p:cNvSpPr txBox="1"/>
          <p:nvPr/>
        </p:nvSpPr>
        <p:spPr>
          <a:xfrm>
            <a:off x="6013525" y="3070976"/>
            <a:ext cx="2926080" cy="1815882"/>
          </a:xfrm>
          <a:prstGeom prst="rect">
            <a:avLst/>
          </a:prstGeom>
          <a:noFill/>
        </p:spPr>
        <p:txBody>
          <a:bodyPr wrap="square" rtlCol="0">
            <a:spAutoFit/>
          </a:bodyPr>
          <a:lstStyle/>
          <a:p>
            <a:pPr algn="just"/>
            <a:r>
              <a:rPr lang="es-ES" dirty="0"/>
              <a:t>Estos son algunos ejemplos de relaciones de variables que solo pueden ser explicados desde la </a:t>
            </a:r>
            <a:r>
              <a:rPr lang="es-ES" b="1" dirty="0"/>
              <a:t>artificialidad</a:t>
            </a:r>
            <a:r>
              <a:rPr lang="es-ES" dirty="0"/>
              <a:t> de la base de datos: una variable se ha creado a partir de la otra y por tanto sabemos que es imposible que ambas sean significativas conjuntamente.</a:t>
            </a:r>
            <a:endParaRPr lang="es-ES" dirty="0"/>
          </a:p>
        </p:txBody>
      </p:sp>
      <p:pic>
        <p:nvPicPr>
          <p:cNvPr id="13" name="Imagen 12"/>
          <p:cNvPicPr>
            <a:picLocks noChangeAspect="1"/>
          </p:cNvPicPr>
          <p:nvPr/>
        </p:nvPicPr>
        <p:blipFill>
          <a:blip r:embed="rId5"/>
          <a:stretch>
            <a:fillRect/>
          </a:stretch>
        </p:blipFill>
        <p:spPr>
          <a:xfrm>
            <a:off x="2296072" y="3398329"/>
            <a:ext cx="1531433" cy="9056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184498"/>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Missing</a:t>
            </a:r>
            <a:endParaRPr dirty="0"/>
          </a:p>
        </p:txBody>
      </p:sp>
      <p:sp>
        <p:nvSpPr>
          <p:cNvPr id="2" name="CuadroTexto 1"/>
          <p:cNvSpPr txBox="1"/>
          <p:nvPr/>
        </p:nvSpPr>
        <p:spPr>
          <a:xfrm>
            <a:off x="392653" y="757198"/>
            <a:ext cx="8358693" cy="1554272"/>
          </a:xfrm>
          <a:prstGeom prst="rect">
            <a:avLst/>
          </a:prstGeom>
          <a:noFill/>
        </p:spPr>
        <p:txBody>
          <a:bodyPr wrap="square" rtlCol="0">
            <a:spAutoFit/>
          </a:bodyPr>
          <a:lstStyle/>
          <a:p>
            <a:pPr algn="just"/>
            <a:r>
              <a:rPr lang="es-ES" sz="1100" dirty="0"/>
              <a:t>El test de MCAR nos permitió constatar que eran </a:t>
            </a:r>
            <a:r>
              <a:rPr lang="es-ES" sz="1200" b="1" dirty="0"/>
              <a:t>fruto de la aleatoriedad (pvalor~0.39).</a:t>
            </a:r>
            <a:endParaRPr lang="es-ES" sz="1200" b="1" dirty="0"/>
          </a:p>
          <a:p>
            <a:pPr algn="just"/>
            <a:endParaRPr lang="es-ES" sz="1200" b="1" dirty="0"/>
          </a:p>
          <a:p>
            <a:pPr algn="just"/>
            <a:r>
              <a:rPr lang="es-ES" sz="1100" dirty="0"/>
              <a:t>Se probó métodos como imputación por media/mediana para numéricas y moda para categóricas, o  imputación por media según variable target </a:t>
            </a:r>
            <a:r>
              <a:rPr lang="es-ES" sz="1100" dirty="0" err="1"/>
              <a:t>Exited</a:t>
            </a:r>
            <a:r>
              <a:rPr lang="es-ES" sz="1100" dirty="0"/>
              <a:t>. Se obtuvieron resultados muy malos, dado que las distribuciones pre y post imputación diferían significativamente. También se probó KNN como técnica multivariante, y aunque el ajuste era mucho mejor, todavía era mejorable</a:t>
            </a:r>
            <a:endParaRPr lang="es-ES" sz="1100" dirty="0"/>
          </a:p>
          <a:p>
            <a:pPr algn="just"/>
            <a:endParaRPr lang="es-ES" sz="1100" dirty="0"/>
          </a:p>
          <a:p>
            <a:pPr algn="just"/>
            <a:r>
              <a:rPr lang="es-ES" sz="1100" dirty="0"/>
              <a:t>Finalmente, tras aplicar el método </a:t>
            </a:r>
            <a:r>
              <a:rPr lang="es-ES" sz="1600" b="1" dirty="0"/>
              <a:t>MICE</a:t>
            </a:r>
            <a:r>
              <a:rPr lang="es-ES" sz="1100" dirty="0"/>
              <a:t> (multivariante), llegamos a unos resultados muy buenos, encontrando un ajuste prácticamente perfecto de las distribuciones. Se decidió validar el método y la base de datos imputada por MICE.</a:t>
            </a:r>
            <a:endParaRPr lang="es-ES" sz="1100" dirty="0"/>
          </a:p>
        </p:txBody>
      </p:sp>
      <p:pic>
        <p:nvPicPr>
          <p:cNvPr id="6" name="Imagen 5"/>
          <p:cNvPicPr>
            <a:picLocks noChangeAspect="1"/>
          </p:cNvPicPr>
          <p:nvPr/>
        </p:nvPicPr>
        <p:blipFill>
          <a:blip r:embed="rId1"/>
          <a:stretch>
            <a:fillRect/>
          </a:stretch>
        </p:blipFill>
        <p:spPr>
          <a:xfrm>
            <a:off x="392653" y="2394289"/>
            <a:ext cx="4132816" cy="2770475"/>
          </a:xfrm>
          <a:prstGeom prst="rect">
            <a:avLst/>
          </a:prstGeom>
        </p:spPr>
      </p:pic>
      <p:pic>
        <p:nvPicPr>
          <p:cNvPr id="8" name="Imagen 7"/>
          <p:cNvPicPr>
            <a:picLocks noChangeAspect="1"/>
          </p:cNvPicPr>
          <p:nvPr/>
        </p:nvPicPr>
        <p:blipFill>
          <a:blip r:embed="rId2"/>
          <a:stretch>
            <a:fillRect/>
          </a:stretch>
        </p:blipFill>
        <p:spPr>
          <a:xfrm>
            <a:off x="4571998" y="2387201"/>
            <a:ext cx="4182526" cy="27704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265525"/>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Outliers</a:t>
            </a:r>
            <a:endParaRPr dirty="0"/>
          </a:p>
        </p:txBody>
      </p:sp>
      <p:sp>
        <p:nvSpPr>
          <p:cNvPr id="2" name="CuadroTexto 1"/>
          <p:cNvSpPr txBox="1"/>
          <p:nvPr/>
        </p:nvSpPr>
        <p:spPr>
          <a:xfrm>
            <a:off x="580912" y="742295"/>
            <a:ext cx="8272631" cy="3847207"/>
          </a:xfrm>
          <a:prstGeom prst="rect">
            <a:avLst/>
          </a:prstGeom>
          <a:noFill/>
        </p:spPr>
        <p:txBody>
          <a:bodyPr wrap="square" rtlCol="0">
            <a:spAutoFit/>
          </a:bodyPr>
          <a:lstStyle/>
          <a:p>
            <a:pPr algn="just"/>
            <a:r>
              <a:rPr lang="es-ES" sz="1200" dirty="0"/>
              <a:t>A nivel univariante se detectó para algunas variables cierto número de </a:t>
            </a:r>
            <a:r>
              <a:rPr lang="es-ES" sz="1200" dirty="0" err="1"/>
              <a:t>outliers</a:t>
            </a:r>
            <a:r>
              <a:rPr lang="es-ES" sz="1200" dirty="0"/>
              <a:t>.</a:t>
            </a:r>
            <a:endParaRPr lang="es-ES" sz="1200" dirty="0"/>
          </a:p>
          <a:p>
            <a:pPr algn="just"/>
            <a:r>
              <a:rPr lang="es-ES" sz="1200" dirty="0"/>
              <a:t>Univariante numérica: </a:t>
            </a:r>
            <a:r>
              <a:rPr lang="es-ES" sz="1200" b="1" i="1" dirty="0"/>
              <a:t>variables simétricas -&gt; Método IQR (1.5), </a:t>
            </a:r>
            <a:endParaRPr lang="es-ES" sz="1200" b="1" i="1" dirty="0"/>
          </a:p>
          <a:p>
            <a:pPr algn="just"/>
            <a:r>
              <a:rPr lang="es-ES" sz="1200" b="1" i="1" dirty="0"/>
              <a:t>variables no simétricas -&gt; </a:t>
            </a:r>
            <a:r>
              <a:rPr lang="es-ES" sz="1200" b="1" i="1" dirty="0" err="1"/>
              <a:t>Hampel</a:t>
            </a:r>
            <a:r>
              <a:rPr lang="es-ES" sz="1200" b="1" i="1" dirty="0"/>
              <a:t> </a:t>
            </a:r>
            <a:r>
              <a:rPr lang="es-ES" sz="1200" b="1" i="1" dirty="0" err="1"/>
              <a:t>identifier</a:t>
            </a:r>
            <a:r>
              <a:rPr lang="es-ES" sz="1200" b="1" i="1" dirty="0"/>
              <a:t> (trabaja con mediana y Median Absolute </a:t>
            </a:r>
            <a:r>
              <a:rPr lang="es-ES" sz="1200" b="1" i="1" dirty="0" err="1"/>
              <a:t>Deviation</a:t>
            </a:r>
            <a:r>
              <a:rPr lang="es-ES" sz="1200" b="1" i="1" dirty="0"/>
              <a:t>)</a:t>
            </a:r>
            <a:endParaRPr lang="es-ES" sz="1200" b="1" i="1" dirty="0"/>
          </a:p>
          <a:p>
            <a:pPr algn="just"/>
            <a:r>
              <a:rPr lang="es-ES" sz="1200" b="1" i="1" dirty="0"/>
              <a:t>Univariante categórica: frecuencias relativas</a:t>
            </a:r>
            <a:endParaRPr lang="es-ES" sz="1200" b="1" i="1" dirty="0"/>
          </a:p>
          <a:p>
            <a:pPr algn="just"/>
            <a:r>
              <a:rPr lang="es-ES" sz="1200" dirty="0"/>
              <a:t>- Su proporción respecto al total de la variable (&lt;5% en todos los casos)</a:t>
            </a:r>
            <a:endParaRPr lang="es-ES" sz="1200" dirty="0"/>
          </a:p>
          <a:p>
            <a:pPr algn="just"/>
            <a:r>
              <a:rPr lang="es-ES" sz="1200" dirty="0"/>
              <a:t>- Su valor (no había valores imposibles </a:t>
            </a:r>
            <a:r>
              <a:rPr lang="es-ES" sz="1200" dirty="0" err="1"/>
              <a:t>ej</a:t>
            </a:r>
            <a:r>
              <a:rPr lang="es-ES" sz="1200" dirty="0"/>
              <a:t>: edad=999)</a:t>
            </a:r>
            <a:endParaRPr lang="es-ES" sz="1200" dirty="0"/>
          </a:p>
          <a:p>
            <a:pPr algn="just"/>
            <a:endParaRPr lang="es-ES" sz="1200" dirty="0"/>
          </a:p>
          <a:p>
            <a:pPr algn="just"/>
            <a:r>
              <a:rPr lang="es-ES" sz="1200" dirty="0"/>
              <a:t>A nivel multivariante: se utilizó </a:t>
            </a:r>
            <a:r>
              <a:rPr lang="es-ES" b="1" dirty="0"/>
              <a:t>distancia de </a:t>
            </a:r>
            <a:r>
              <a:rPr lang="es-ES" b="1" dirty="0" err="1"/>
              <a:t>Mahalanobis</a:t>
            </a:r>
            <a:r>
              <a:rPr lang="es-ES" b="1" dirty="0"/>
              <a:t> </a:t>
            </a:r>
            <a:r>
              <a:rPr lang="es-ES" sz="1200" dirty="0"/>
              <a:t>acompañada de algunos </a:t>
            </a:r>
            <a:r>
              <a:rPr lang="es-ES" b="1" dirty="0"/>
              <a:t>gráficos bivariantes</a:t>
            </a:r>
            <a:r>
              <a:rPr lang="es-ES" sz="1200" b="1" dirty="0"/>
              <a:t>.</a:t>
            </a:r>
            <a:endParaRPr lang="es-ES" sz="1200" b="1" dirty="0"/>
          </a:p>
          <a:p>
            <a:pPr algn="just"/>
            <a:endParaRPr lang="es-ES" sz="1200" dirty="0"/>
          </a:p>
          <a:p>
            <a:pPr algn="just"/>
            <a:r>
              <a:rPr lang="es-ES" sz="1200" dirty="0"/>
              <a:t>- La mayoría de las observaciones presentan distancias de </a:t>
            </a:r>
            <a:r>
              <a:rPr lang="es-ES" sz="1200" dirty="0" err="1"/>
              <a:t>Mahalanobis</a:t>
            </a:r>
            <a:r>
              <a:rPr lang="es-ES" sz="1200" dirty="0"/>
              <a:t> dentro del rango esperado</a:t>
            </a:r>
            <a:endParaRPr lang="es-ES" sz="1200" dirty="0"/>
          </a:p>
          <a:p>
            <a:pPr algn="just"/>
            <a:endParaRPr lang="es-ES" sz="1200" dirty="0"/>
          </a:p>
          <a:p>
            <a:pPr algn="just"/>
            <a:r>
              <a:rPr lang="es-ES" sz="1200" dirty="0"/>
              <a:t>- Se detectaron unas pocas observaciones con distancias significativamente mayores, situadas en la cola derecha de la distribución. Corresponden a puntos de edad, salario estimado y balance. </a:t>
            </a:r>
            <a:endParaRPr lang="es-ES" sz="1200" dirty="0"/>
          </a:p>
          <a:p>
            <a:pPr algn="just"/>
            <a:endParaRPr lang="es-ES" sz="1200" dirty="0"/>
          </a:p>
          <a:p>
            <a:pPr algn="just"/>
            <a:r>
              <a:rPr lang="es-ES" sz="1200" dirty="0"/>
              <a:t>Tras analizar las distribuciones y los valores extremos de dichas variables se concluye que no son valores imposibles, y que pueden haber aparecido fruto de la aleatoriedad. </a:t>
            </a:r>
            <a:r>
              <a:rPr lang="es-ES" sz="1600" b="1" u="sng" dirty="0"/>
              <a:t>Se decide mantener los </a:t>
            </a:r>
            <a:r>
              <a:rPr lang="es-ES" sz="1600" b="1" u="sng" dirty="0" err="1"/>
              <a:t>outliers</a:t>
            </a:r>
            <a:r>
              <a:rPr lang="es-ES" sz="1600" b="1" u="sng" dirty="0"/>
              <a:t>.</a:t>
            </a:r>
            <a:endParaRPr lang="es-ES" sz="1600" b="1" u="sng" dirty="0"/>
          </a:p>
          <a:p>
            <a:pPr algn="just"/>
            <a:endParaRPr lang="es-ES" sz="1200" dirty="0"/>
          </a:p>
          <a:p>
            <a:pPr algn="just"/>
            <a:endParaRPr lang="es-ES" sz="1200" dirty="0"/>
          </a:p>
          <a:p>
            <a:pPr algn="just"/>
            <a:endParaRPr lang="es-ES" sz="1200" dirty="0"/>
          </a:p>
          <a:p>
            <a:endParaRPr lang="es-ES" sz="1200" dirty="0"/>
          </a:p>
        </p:txBody>
      </p:sp>
      <p:sp>
        <p:nvSpPr>
          <p:cNvPr id="3" name="CuadroTexto 2"/>
          <p:cNvSpPr txBox="1"/>
          <p:nvPr/>
        </p:nvSpPr>
        <p:spPr>
          <a:xfrm>
            <a:off x="580912" y="4031873"/>
            <a:ext cx="8025967" cy="738664"/>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just"/>
            <a:r>
              <a:rPr lang="es-ES" dirty="0"/>
              <a:t>Se realizó un estudio de outliers previo y posterior a la imputación, obteniendo los mismos resultados tanto a nivel univariante como multivariante, por lo que se decidió no tratar los outliers y aceptarlos como fruto de la normalidad.</a:t>
            </a:r>
            <a:endParaRPr lang="es-E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139087" y="514239"/>
            <a:ext cx="9004913" cy="572700"/>
          </a:xfrm>
          <a:prstGeom prst="rect">
            <a:avLst/>
          </a:prstGeom>
        </p:spPr>
        <p:txBody>
          <a:bodyPr spcFirstLastPara="1" wrap="square" lIns="91425" tIns="91425" rIns="91425" bIns="91425" anchor="t" anchorCtr="0">
            <a:noAutofit/>
          </a:bodyPr>
          <a:lstStyle/>
          <a:p>
            <a:pPr lvl="0"/>
            <a:r>
              <a:rPr lang="es-ES" sz="2400" dirty="0"/>
              <a:t>Ingeniería de Variables ½: transformación</a:t>
            </a:r>
            <a:endParaRPr sz="2400" dirty="0"/>
          </a:p>
        </p:txBody>
      </p:sp>
      <p:sp>
        <p:nvSpPr>
          <p:cNvPr id="2" name="CuadroTexto 1"/>
          <p:cNvSpPr txBox="1"/>
          <p:nvPr/>
        </p:nvSpPr>
        <p:spPr>
          <a:xfrm>
            <a:off x="349607" y="1114861"/>
            <a:ext cx="3948057" cy="1169551"/>
          </a:xfrm>
          <a:prstGeom prst="rect">
            <a:avLst/>
          </a:prstGeom>
          <a:noFill/>
        </p:spPr>
        <p:txBody>
          <a:bodyPr wrap="square" rtlCol="0">
            <a:spAutoFit/>
          </a:bodyPr>
          <a:lstStyle/>
          <a:p>
            <a:pPr algn="just"/>
            <a:r>
              <a:rPr lang="es-ES" b="1" dirty="0" err="1"/>
              <a:t>ComplaintsCount</a:t>
            </a:r>
            <a:endParaRPr lang="es-ES" b="1" dirty="0"/>
          </a:p>
          <a:p>
            <a:pPr algn="just"/>
            <a:r>
              <a:rPr lang="es-ES" dirty="0"/>
              <a:t>Se ha optado por </a:t>
            </a:r>
            <a:r>
              <a:rPr lang="es-ES" dirty="0" err="1"/>
              <a:t>dummyficar</a:t>
            </a:r>
            <a:r>
              <a:rPr lang="es-ES" dirty="0"/>
              <a:t> esta variable, de modo que la información se reduce a si el cliente ha emitido alguna queja o no. Pasa de numérica a factor binario.</a:t>
            </a:r>
            <a:endParaRPr lang="es-ES" dirty="0"/>
          </a:p>
        </p:txBody>
      </p:sp>
      <p:pic>
        <p:nvPicPr>
          <p:cNvPr id="6" name="Imagen 5"/>
          <p:cNvPicPr>
            <a:picLocks noChangeAspect="1"/>
          </p:cNvPicPr>
          <p:nvPr/>
        </p:nvPicPr>
        <p:blipFill>
          <a:blip r:embed="rId1"/>
          <a:stretch>
            <a:fillRect/>
          </a:stretch>
        </p:blipFill>
        <p:spPr>
          <a:xfrm>
            <a:off x="139086" y="2274261"/>
            <a:ext cx="1794612" cy="2110462"/>
          </a:xfrm>
          <a:prstGeom prst="rect">
            <a:avLst/>
          </a:prstGeom>
        </p:spPr>
      </p:pic>
      <p:pic>
        <p:nvPicPr>
          <p:cNvPr id="8" name="Imagen 7"/>
          <p:cNvPicPr>
            <a:picLocks noChangeAspect="1"/>
          </p:cNvPicPr>
          <p:nvPr/>
        </p:nvPicPr>
        <p:blipFill>
          <a:blip r:embed="rId2"/>
          <a:stretch>
            <a:fillRect/>
          </a:stretch>
        </p:blipFill>
        <p:spPr>
          <a:xfrm>
            <a:off x="2586585" y="2274261"/>
            <a:ext cx="1776956" cy="2315110"/>
          </a:xfrm>
          <a:prstGeom prst="rect">
            <a:avLst/>
          </a:prstGeom>
        </p:spPr>
      </p:pic>
      <p:sp>
        <p:nvSpPr>
          <p:cNvPr id="9" name="Flecha: a la derecha 8"/>
          <p:cNvSpPr/>
          <p:nvPr/>
        </p:nvSpPr>
        <p:spPr>
          <a:xfrm>
            <a:off x="2091624" y="3195186"/>
            <a:ext cx="445766"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p:cNvSpPr txBox="1"/>
          <p:nvPr/>
        </p:nvSpPr>
        <p:spPr>
          <a:xfrm>
            <a:off x="5030976" y="1086939"/>
            <a:ext cx="3948057" cy="1169551"/>
          </a:xfrm>
          <a:prstGeom prst="rect">
            <a:avLst/>
          </a:prstGeom>
          <a:noFill/>
        </p:spPr>
        <p:txBody>
          <a:bodyPr wrap="square" rtlCol="0">
            <a:spAutoFit/>
          </a:bodyPr>
          <a:lstStyle/>
          <a:p>
            <a:pPr algn="just"/>
            <a:r>
              <a:rPr lang="es-ES" b="1" dirty="0" err="1"/>
              <a:t>NumOfProducts</a:t>
            </a:r>
            <a:endParaRPr lang="es-ES" b="1" dirty="0"/>
          </a:p>
          <a:p>
            <a:pPr algn="just"/>
            <a:r>
              <a:rPr lang="es-ES" dirty="0"/>
              <a:t>Tras observar que la mayoría de clientes tienen 1 o 2 productos, y que una minoría tiene 3 o más, se ha decidido categorizar la variable con las categorías 1,2 y +3 productos.</a:t>
            </a:r>
            <a:endParaRPr lang="es-ES" dirty="0"/>
          </a:p>
        </p:txBody>
      </p:sp>
      <p:sp>
        <p:nvSpPr>
          <p:cNvPr id="11" name="Elipse 10"/>
          <p:cNvSpPr/>
          <p:nvPr/>
        </p:nvSpPr>
        <p:spPr>
          <a:xfrm>
            <a:off x="4503028" y="1114861"/>
            <a:ext cx="91823" cy="368305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ES"/>
          </a:p>
        </p:txBody>
      </p:sp>
      <p:pic>
        <p:nvPicPr>
          <p:cNvPr id="13" name="Imagen 12"/>
          <p:cNvPicPr>
            <a:picLocks noChangeAspect="1"/>
          </p:cNvPicPr>
          <p:nvPr/>
        </p:nvPicPr>
        <p:blipFill>
          <a:blip r:embed="rId3"/>
          <a:stretch>
            <a:fillRect/>
          </a:stretch>
        </p:blipFill>
        <p:spPr>
          <a:xfrm>
            <a:off x="7052376" y="2182859"/>
            <a:ext cx="2022543" cy="2315110"/>
          </a:xfrm>
          <a:prstGeom prst="rect">
            <a:avLst/>
          </a:prstGeom>
        </p:spPr>
      </p:pic>
      <p:pic>
        <p:nvPicPr>
          <p:cNvPr id="15" name="Imagen 14"/>
          <p:cNvPicPr>
            <a:picLocks noChangeAspect="1"/>
          </p:cNvPicPr>
          <p:nvPr/>
        </p:nvPicPr>
        <p:blipFill>
          <a:blip r:embed="rId4"/>
          <a:stretch>
            <a:fillRect/>
          </a:stretch>
        </p:blipFill>
        <p:spPr>
          <a:xfrm>
            <a:off x="4799666" y="2256490"/>
            <a:ext cx="1878076" cy="2280143"/>
          </a:xfrm>
          <a:prstGeom prst="rect">
            <a:avLst/>
          </a:prstGeom>
        </p:spPr>
      </p:pic>
      <p:sp>
        <p:nvSpPr>
          <p:cNvPr id="16" name="Flecha: a la derecha 15"/>
          <p:cNvSpPr/>
          <p:nvPr/>
        </p:nvSpPr>
        <p:spPr>
          <a:xfrm>
            <a:off x="6604147" y="3232001"/>
            <a:ext cx="400857"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2" name="Google Shape;633;p34"/>
          <p:cNvSpPr txBox="1">
            <a:spLocks noGrp="1"/>
          </p:cNvSpPr>
          <p:nvPr>
            <p:ph type="title"/>
          </p:nvPr>
        </p:nvSpPr>
        <p:spPr>
          <a:xfrm>
            <a:off x="720725" y="539750"/>
            <a:ext cx="7702550" cy="573088"/>
          </a:xfrm>
          <a:prstGeom prst="rect">
            <a:avLst/>
          </a:prstGeom>
        </p:spPr>
        <p:txBody>
          <a:bodyPr spcFirstLastPara="1" wrap="square" lIns="91425" tIns="91425" rIns="91425" bIns="91425" anchor="t" anchorCtr="0">
            <a:noAutofit/>
          </a:bodyPr>
          <a:lstStyle/>
          <a:p>
            <a:pPr lvl="0"/>
            <a:r>
              <a:rPr lang="es-ES" sz="2400" dirty="0"/>
              <a:t>Ingeniería de Variables 2/2: selección</a:t>
            </a:r>
            <a:endParaRPr sz="2400" dirty="0"/>
          </a:p>
        </p:txBody>
      </p:sp>
      <p:sp>
        <p:nvSpPr>
          <p:cNvPr id="3" name="CuadroTexto 2"/>
          <p:cNvSpPr txBox="1"/>
          <p:nvPr/>
        </p:nvSpPr>
        <p:spPr>
          <a:xfrm>
            <a:off x="408790" y="1001614"/>
            <a:ext cx="7842325" cy="1631216"/>
          </a:xfrm>
          <a:prstGeom prst="rect">
            <a:avLst/>
          </a:prstGeom>
          <a:noFill/>
        </p:spPr>
        <p:txBody>
          <a:bodyPr wrap="square" rtlCol="0">
            <a:spAutoFit/>
          </a:bodyPr>
          <a:lstStyle/>
          <a:p>
            <a:pPr algn="just"/>
            <a:r>
              <a:rPr lang="es-ES" sz="1200" dirty="0"/>
              <a:t>Sobre la base de datos imputada y transformada se realizaron </a:t>
            </a:r>
            <a:r>
              <a:rPr lang="es-ES" sz="1200" dirty="0" err="1"/>
              <a:t>tests</a:t>
            </a:r>
            <a:r>
              <a:rPr lang="es-ES" sz="1200" dirty="0"/>
              <a:t> de significancia para determinar qué variables son importantes para describir el comportamiento de la variable </a:t>
            </a:r>
            <a:r>
              <a:rPr lang="es-ES" sz="1200" dirty="0" err="1"/>
              <a:t>Exited</a:t>
            </a:r>
            <a:r>
              <a:rPr lang="es-ES" sz="1200" dirty="0"/>
              <a:t>.</a:t>
            </a:r>
            <a:endParaRPr lang="es-ES" sz="1200" dirty="0"/>
          </a:p>
          <a:p>
            <a:endParaRPr lang="es-ES" sz="1200" dirty="0"/>
          </a:p>
          <a:p>
            <a:r>
              <a:rPr lang="es-ES" sz="1200" dirty="0"/>
              <a:t>Variables numéricas: Test de mediana</a:t>
            </a:r>
            <a:endParaRPr lang="es-ES" sz="1200" dirty="0"/>
          </a:p>
          <a:p>
            <a:r>
              <a:rPr lang="es-ES" sz="1200" dirty="0"/>
              <a:t>Variables categóricas: Test de Chi-cuadrado</a:t>
            </a:r>
            <a:endParaRPr lang="es-ES" sz="1200" dirty="0"/>
          </a:p>
          <a:p>
            <a:endParaRPr lang="es-ES" sz="1200" dirty="0"/>
          </a:p>
          <a:p>
            <a:r>
              <a:rPr lang="es-ES" sz="1200" dirty="0"/>
              <a:t>Las variables con un p-valor inferior a 0.05 han sido las siguientes:</a:t>
            </a:r>
            <a:endParaRPr lang="es-ES" sz="1200" dirty="0"/>
          </a:p>
          <a:p>
            <a:endParaRPr lang="es-ES" sz="1200" dirty="0"/>
          </a:p>
        </p:txBody>
      </p:sp>
      <p:pic>
        <p:nvPicPr>
          <p:cNvPr id="7" name="Imagen 6"/>
          <p:cNvPicPr>
            <a:picLocks noChangeAspect="1"/>
          </p:cNvPicPr>
          <p:nvPr/>
        </p:nvPicPr>
        <p:blipFill>
          <a:blip r:embed="rId1"/>
          <a:stretch>
            <a:fillRect/>
          </a:stretch>
        </p:blipFill>
        <p:spPr>
          <a:xfrm>
            <a:off x="408790" y="2434793"/>
            <a:ext cx="4677428" cy="1524213"/>
          </a:xfrm>
          <a:prstGeom prst="rect">
            <a:avLst/>
          </a:prstGeom>
        </p:spPr>
      </p:pic>
      <p:sp>
        <p:nvSpPr>
          <p:cNvPr id="8" name="CuadroTexto 7"/>
          <p:cNvSpPr txBox="1"/>
          <p:nvPr/>
        </p:nvSpPr>
        <p:spPr>
          <a:xfrm>
            <a:off x="408790" y="3959006"/>
            <a:ext cx="8326420" cy="1015663"/>
          </a:xfrm>
          <a:prstGeom prst="rect">
            <a:avLst/>
          </a:prstGeom>
          <a:noFill/>
        </p:spPr>
        <p:txBody>
          <a:bodyPr wrap="square" rtlCol="0">
            <a:spAutoFit/>
          </a:bodyPr>
          <a:lstStyle/>
          <a:p>
            <a:pPr algn="just"/>
            <a:r>
              <a:rPr lang="es-ES" sz="1200" dirty="0"/>
              <a:t>No obstante, ya se realizó este test antes de la imputación de NA, y las variables </a:t>
            </a:r>
            <a:r>
              <a:rPr lang="es-ES" sz="1200" dirty="0" err="1"/>
              <a:t>EstimatedSalary</a:t>
            </a:r>
            <a:r>
              <a:rPr lang="es-ES" sz="1200" dirty="0"/>
              <a:t> y </a:t>
            </a:r>
            <a:r>
              <a:rPr lang="es-ES" sz="1200" dirty="0" err="1"/>
              <a:t>CreditScore</a:t>
            </a:r>
            <a:r>
              <a:rPr lang="es-ES" sz="1200" dirty="0"/>
              <a:t> resultaban significativas con un p-valor muy cercano a 0.05. </a:t>
            </a:r>
            <a:endParaRPr lang="es-ES" sz="1200" dirty="0"/>
          </a:p>
          <a:p>
            <a:pPr algn="just"/>
            <a:r>
              <a:rPr lang="es-ES" sz="1200" dirty="0"/>
              <a:t>Este resultado no es inesperado, ya que anteriormente presentaban p-valores sólo ligeramente inferiores a 0,05, lo que ya indicaba una significación marginal. No obstante, se probará el modelo para la base de datos reducida con y sin esas dos variables para ver si realmente se obtienen resultados diferentes.</a:t>
            </a:r>
            <a:endParaRPr lang="es-E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666211" y="28302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dirty="0" err="1"/>
              <a:t>Association</a:t>
            </a:r>
            <a:r>
              <a:rPr lang="es-ES" dirty="0"/>
              <a:t> Rules 1/2</a:t>
            </a:r>
            <a:endParaRPr dirty="0"/>
          </a:p>
        </p:txBody>
      </p:sp>
      <p:sp>
        <p:nvSpPr>
          <p:cNvPr id="2" name="CuadroTexto 1"/>
          <p:cNvSpPr txBox="1"/>
          <p:nvPr/>
        </p:nvSpPr>
        <p:spPr>
          <a:xfrm>
            <a:off x="419547" y="890160"/>
            <a:ext cx="8197327" cy="3754874"/>
          </a:xfrm>
          <a:prstGeom prst="rect">
            <a:avLst/>
          </a:prstGeom>
          <a:noFill/>
        </p:spPr>
        <p:txBody>
          <a:bodyPr wrap="square" rtlCol="0">
            <a:spAutoFit/>
          </a:bodyPr>
          <a:lstStyle/>
          <a:p>
            <a:pPr algn="just"/>
            <a:r>
              <a:rPr lang="es-ES" b="1" dirty="0"/>
              <a:t>Sobre la preparación de los datos: </a:t>
            </a:r>
            <a:endParaRPr lang="es-ES" b="1" dirty="0"/>
          </a:p>
          <a:p>
            <a:pPr marL="285750" indent="-285750" algn="just">
              <a:buFontTx/>
              <a:buChar char="-"/>
            </a:pPr>
            <a:r>
              <a:rPr lang="es-ES" dirty="0"/>
              <a:t>Se categorizó las variables numéricas aplicando cortes lógicos ajustados a cada variable.</a:t>
            </a:r>
            <a:endParaRPr lang="es-ES" dirty="0"/>
          </a:p>
          <a:p>
            <a:pPr marL="285750" indent="-285750" algn="just">
              <a:buFontTx/>
              <a:buChar char="-"/>
            </a:pPr>
            <a:r>
              <a:rPr lang="es-ES" dirty="0"/>
              <a:t>Se trabajó únicamente con los datos Train debido a los NA para </a:t>
            </a:r>
            <a:r>
              <a:rPr lang="es-ES" dirty="0" err="1"/>
              <a:t>Exited</a:t>
            </a:r>
            <a:r>
              <a:rPr lang="es-ES" dirty="0"/>
              <a:t> en los datos test.</a:t>
            </a:r>
            <a:endParaRPr lang="es-ES" dirty="0"/>
          </a:p>
          <a:p>
            <a:pPr marL="285750" indent="-285750" algn="just">
              <a:buFontTx/>
              <a:buChar char="-"/>
            </a:pPr>
            <a:r>
              <a:rPr lang="es-ES" dirty="0"/>
              <a:t>La base de datos transaccional se compuso de 7000 filas y 73 ítems.</a:t>
            </a:r>
            <a:endParaRPr lang="es-ES" dirty="0"/>
          </a:p>
          <a:p>
            <a:pPr marL="285750" indent="-285750" algn="just">
              <a:buFontTx/>
              <a:buChar char="-"/>
            </a:pPr>
            <a:endParaRPr lang="es-ES" dirty="0"/>
          </a:p>
          <a:p>
            <a:pPr algn="just"/>
            <a:r>
              <a:rPr lang="es-ES" b="1" dirty="0"/>
              <a:t>Sobre la parametrización</a:t>
            </a:r>
            <a:endParaRPr lang="es-ES" b="1" dirty="0"/>
          </a:p>
          <a:p>
            <a:pPr algn="just"/>
            <a:r>
              <a:rPr lang="es-ES" dirty="0"/>
              <a:t>Se pretendía encontrar reglas asociativas donde </a:t>
            </a:r>
            <a:r>
              <a:rPr lang="es-ES" dirty="0" err="1"/>
              <a:t>Exited</a:t>
            </a:r>
            <a:r>
              <a:rPr lang="es-ES" dirty="0"/>
              <a:t> fuera el consecuente, y </a:t>
            </a:r>
            <a:r>
              <a:rPr lang="es-ES" dirty="0" err="1"/>
              <a:t>Exited</a:t>
            </a:r>
            <a:r>
              <a:rPr lang="es-ES" dirty="0"/>
              <a:t> es una variable claramente desbalanceada para las 7000 observaciones (20% </a:t>
            </a:r>
            <a:r>
              <a:rPr lang="es-ES" dirty="0" err="1"/>
              <a:t>Exited</a:t>
            </a:r>
            <a:r>
              <a:rPr lang="es-ES" dirty="0"/>
              <a:t>=1, 80% </a:t>
            </a:r>
            <a:r>
              <a:rPr lang="es-ES" dirty="0" err="1"/>
              <a:t>Exited</a:t>
            </a:r>
            <a:r>
              <a:rPr lang="es-ES" dirty="0"/>
              <a:t>=0).</a:t>
            </a:r>
            <a:endParaRPr lang="es-ES" dirty="0"/>
          </a:p>
          <a:p>
            <a:pPr algn="just"/>
            <a:endParaRPr lang="es-ES" dirty="0"/>
          </a:p>
          <a:p>
            <a:pPr algn="just"/>
            <a:r>
              <a:rPr lang="es-ES" dirty="0"/>
              <a:t>Esta circunstancia derivó en la elección de un soporte mínimo extremadamente bajo, de modo que se pudiera obtener reglas significativas asociadas al abandono del banco. En los valores LIFT se podrá ver que el hecho de reducir el soporte no impide obtener reglas muy significativas que expliquen tendencias dentro de ese 20% de la muestra. </a:t>
            </a:r>
            <a:r>
              <a:rPr lang="es-ES" b="1" i="1" dirty="0"/>
              <a:t>El soporte mínimo elegido fue de 0.0125. </a:t>
            </a:r>
            <a:r>
              <a:rPr lang="es-ES" dirty="0"/>
              <a:t>Esto supone que solo se considerarán reglas que ocurran en al menos el 1.25% de las transacciones.</a:t>
            </a:r>
            <a:endParaRPr lang="es-ES" b="1" i="1" dirty="0"/>
          </a:p>
          <a:p>
            <a:pPr algn="just"/>
            <a:endParaRPr lang="es-ES" dirty="0"/>
          </a:p>
          <a:p>
            <a:pPr algn="just"/>
            <a:r>
              <a:rPr lang="es-ES" dirty="0"/>
              <a:t>Esto también afecta a la elección de la confianza: Se ha escogido </a:t>
            </a:r>
            <a:r>
              <a:rPr lang="es-ES" b="1" dirty="0"/>
              <a:t>confianza=0.6</a:t>
            </a:r>
            <a:r>
              <a:rPr lang="es-ES" dirty="0"/>
              <a:t>, lo que significa que cuando se da la condición del antecedente, en el 60% de los casos se cumple el consecuente.</a:t>
            </a:r>
            <a:endParaRPr lang="es-E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23656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sz="2400" dirty="0" err="1"/>
              <a:t>Association</a:t>
            </a:r>
            <a:r>
              <a:rPr lang="es-ES" sz="2400" dirty="0"/>
              <a:t> Rules 2/2: resultados</a:t>
            </a:r>
            <a:endParaRPr sz="2400" dirty="0"/>
          </a:p>
        </p:txBody>
      </p:sp>
      <p:grpSp>
        <p:nvGrpSpPr>
          <p:cNvPr id="616" name="Google Shape;894;p25"/>
          <p:cNvGrpSpPr/>
          <p:nvPr/>
        </p:nvGrpSpPr>
        <p:grpSpPr>
          <a:xfrm>
            <a:off x="1263704" y="2892821"/>
            <a:ext cx="362991" cy="290018"/>
            <a:chOff x="3049653" y="2321468"/>
            <a:chExt cx="362991" cy="290018"/>
          </a:xfrm>
        </p:grpSpPr>
        <p:sp>
          <p:nvSpPr>
            <p:cNvPr id="617" name="Google Shape;895;p25"/>
            <p:cNvSpPr/>
            <p:nvPr/>
          </p:nvSpPr>
          <p:spPr>
            <a:xfrm>
              <a:off x="3280290" y="2429690"/>
              <a:ext cx="29913" cy="73957"/>
            </a:xfrm>
            <a:custGeom>
              <a:avLst/>
              <a:gdLst/>
              <a:ahLst/>
              <a:cxnLst/>
              <a:rect l="l" t="t" r="r" b="b"/>
              <a:pathLst>
                <a:path w="942" h="2329" extrusionOk="0">
                  <a:moveTo>
                    <a:pt x="200" y="1"/>
                  </a:moveTo>
                  <a:cubicBezTo>
                    <a:pt x="158" y="1"/>
                    <a:pt x="114" y="16"/>
                    <a:pt x="72" y="45"/>
                  </a:cubicBezTo>
                  <a:cubicBezTo>
                    <a:pt x="13" y="93"/>
                    <a:pt x="13" y="200"/>
                    <a:pt x="72" y="283"/>
                  </a:cubicBezTo>
                  <a:cubicBezTo>
                    <a:pt x="572" y="772"/>
                    <a:pt x="572" y="1569"/>
                    <a:pt x="72" y="2046"/>
                  </a:cubicBezTo>
                  <a:cubicBezTo>
                    <a:pt x="1" y="2129"/>
                    <a:pt x="1" y="2224"/>
                    <a:pt x="72" y="2284"/>
                  </a:cubicBezTo>
                  <a:cubicBezTo>
                    <a:pt x="102" y="2313"/>
                    <a:pt x="144" y="2328"/>
                    <a:pt x="187" y="2328"/>
                  </a:cubicBezTo>
                  <a:cubicBezTo>
                    <a:pt x="230" y="2328"/>
                    <a:pt x="275" y="2313"/>
                    <a:pt x="310" y="2284"/>
                  </a:cubicBezTo>
                  <a:cubicBezTo>
                    <a:pt x="941" y="1665"/>
                    <a:pt x="941" y="664"/>
                    <a:pt x="310" y="45"/>
                  </a:cubicBezTo>
                  <a:cubicBezTo>
                    <a:pt x="280" y="16"/>
                    <a:pt x="242" y="1"/>
                    <a:pt x="2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8" name="Google Shape;896;p25"/>
            <p:cNvSpPr/>
            <p:nvPr/>
          </p:nvSpPr>
          <p:spPr>
            <a:xfrm>
              <a:off x="3317729" y="2392250"/>
              <a:ext cx="49570" cy="148836"/>
            </a:xfrm>
            <a:custGeom>
              <a:avLst/>
              <a:gdLst/>
              <a:ahLst/>
              <a:cxnLst/>
              <a:rect l="l" t="t" r="r" b="b"/>
              <a:pathLst>
                <a:path w="1561" h="4687" extrusionOk="0">
                  <a:moveTo>
                    <a:pt x="183" y="1"/>
                  </a:moveTo>
                  <a:cubicBezTo>
                    <a:pt x="140" y="1"/>
                    <a:pt x="96" y="16"/>
                    <a:pt x="60" y="46"/>
                  </a:cubicBezTo>
                  <a:cubicBezTo>
                    <a:pt x="0" y="105"/>
                    <a:pt x="0" y="212"/>
                    <a:pt x="60" y="284"/>
                  </a:cubicBezTo>
                  <a:cubicBezTo>
                    <a:pt x="1191" y="1415"/>
                    <a:pt x="1191" y="3272"/>
                    <a:pt x="60" y="4403"/>
                  </a:cubicBezTo>
                  <a:cubicBezTo>
                    <a:pt x="0" y="4475"/>
                    <a:pt x="0" y="4582"/>
                    <a:pt x="60" y="4641"/>
                  </a:cubicBezTo>
                  <a:cubicBezTo>
                    <a:pt x="90" y="4671"/>
                    <a:pt x="131" y="4686"/>
                    <a:pt x="175" y="4686"/>
                  </a:cubicBezTo>
                  <a:cubicBezTo>
                    <a:pt x="218" y="4686"/>
                    <a:pt x="262" y="4671"/>
                    <a:pt x="298" y="4641"/>
                  </a:cubicBezTo>
                  <a:cubicBezTo>
                    <a:pt x="1560" y="3379"/>
                    <a:pt x="1560" y="1308"/>
                    <a:pt x="298" y="46"/>
                  </a:cubicBezTo>
                  <a:cubicBezTo>
                    <a:pt x="268" y="16"/>
                    <a:pt x="227" y="1"/>
                    <a:pt x="1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9" name="Google Shape;897;p25"/>
            <p:cNvSpPr/>
            <p:nvPr/>
          </p:nvSpPr>
          <p:spPr>
            <a:xfrm>
              <a:off x="3354406" y="2355954"/>
              <a:ext cx="58239" cy="222317"/>
            </a:xfrm>
            <a:custGeom>
              <a:avLst/>
              <a:gdLst/>
              <a:ahLst/>
              <a:cxnLst/>
              <a:rect l="l" t="t" r="r" b="b"/>
              <a:pathLst>
                <a:path w="1834" h="7001" extrusionOk="0">
                  <a:moveTo>
                    <a:pt x="174" y="1"/>
                  </a:moveTo>
                  <a:cubicBezTo>
                    <a:pt x="131" y="1"/>
                    <a:pt x="90" y="16"/>
                    <a:pt x="60" y="46"/>
                  </a:cubicBezTo>
                  <a:cubicBezTo>
                    <a:pt x="0" y="105"/>
                    <a:pt x="0" y="200"/>
                    <a:pt x="60" y="284"/>
                  </a:cubicBezTo>
                  <a:cubicBezTo>
                    <a:pt x="1834" y="2046"/>
                    <a:pt x="1834" y="4939"/>
                    <a:pt x="60" y="6713"/>
                  </a:cubicBezTo>
                  <a:cubicBezTo>
                    <a:pt x="0" y="6773"/>
                    <a:pt x="0" y="6868"/>
                    <a:pt x="60" y="6951"/>
                  </a:cubicBezTo>
                  <a:cubicBezTo>
                    <a:pt x="88" y="6985"/>
                    <a:pt x="128" y="7000"/>
                    <a:pt x="169" y="7000"/>
                  </a:cubicBezTo>
                  <a:cubicBezTo>
                    <a:pt x="214" y="7000"/>
                    <a:pt x="261" y="6982"/>
                    <a:pt x="298" y="6951"/>
                  </a:cubicBezTo>
                  <a:cubicBezTo>
                    <a:pt x="1227" y="6023"/>
                    <a:pt x="1727" y="4808"/>
                    <a:pt x="1727" y="3498"/>
                  </a:cubicBezTo>
                  <a:cubicBezTo>
                    <a:pt x="1727" y="2189"/>
                    <a:pt x="1227" y="962"/>
                    <a:pt x="298" y="46"/>
                  </a:cubicBezTo>
                  <a:cubicBezTo>
                    <a:pt x="262" y="16"/>
                    <a:pt x="218" y="1"/>
                    <a:pt x="1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0" name="Google Shape;898;p25"/>
            <p:cNvSpPr/>
            <p:nvPr/>
          </p:nvSpPr>
          <p:spPr>
            <a:xfrm>
              <a:off x="3049653" y="2321468"/>
              <a:ext cx="210250" cy="290018"/>
            </a:xfrm>
            <a:custGeom>
              <a:avLst/>
              <a:gdLst/>
              <a:ahLst/>
              <a:cxnLst/>
              <a:rect l="l" t="t" r="r" b="b"/>
              <a:pathLst>
                <a:path w="6621" h="9133" extrusionOk="0">
                  <a:moveTo>
                    <a:pt x="5216" y="1072"/>
                  </a:moveTo>
                  <a:lnTo>
                    <a:pt x="5216" y="8097"/>
                  </a:lnTo>
                  <a:cubicBezTo>
                    <a:pt x="4156" y="7751"/>
                    <a:pt x="3287" y="7037"/>
                    <a:pt x="2739" y="6061"/>
                  </a:cubicBezTo>
                  <a:lnTo>
                    <a:pt x="2739" y="3084"/>
                  </a:lnTo>
                  <a:cubicBezTo>
                    <a:pt x="3275" y="2120"/>
                    <a:pt x="4156" y="1405"/>
                    <a:pt x="5216" y="1072"/>
                  </a:cubicBezTo>
                  <a:close/>
                  <a:moveTo>
                    <a:pt x="5716" y="0"/>
                  </a:moveTo>
                  <a:cubicBezTo>
                    <a:pt x="5430" y="0"/>
                    <a:pt x="5216" y="215"/>
                    <a:pt x="5216" y="501"/>
                  </a:cubicBezTo>
                  <a:lnTo>
                    <a:pt x="5216" y="691"/>
                  </a:lnTo>
                  <a:cubicBezTo>
                    <a:pt x="4049" y="1048"/>
                    <a:pt x="3096" y="1810"/>
                    <a:pt x="2489" y="2858"/>
                  </a:cubicBezTo>
                  <a:lnTo>
                    <a:pt x="1227" y="2858"/>
                  </a:lnTo>
                  <a:cubicBezTo>
                    <a:pt x="549" y="2858"/>
                    <a:pt x="13" y="3394"/>
                    <a:pt x="13" y="4061"/>
                  </a:cubicBezTo>
                  <a:lnTo>
                    <a:pt x="13" y="5037"/>
                  </a:lnTo>
                  <a:cubicBezTo>
                    <a:pt x="1" y="5692"/>
                    <a:pt x="489" y="6227"/>
                    <a:pt x="1120" y="6275"/>
                  </a:cubicBezTo>
                  <a:cubicBezTo>
                    <a:pt x="1203" y="6275"/>
                    <a:pt x="1287" y="6216"/>
                    <a:pt x="1299" y="6132"/>
                  </a:cubicBezTo>
                  <a:cubicBezTo>
                    <a:pt x="1299" y="6037"/>
                    <a:pt x="1239" y="5966"/>
                    <a:pt x="1144" y="5954"/>
                  </a:cubicBezTo>
                  <a:cubicBezTo>
                    <a:pt x="703" y="5918"/>
                    <a:pt x="346" y="5537"/>
                    <a:pt x="346" y="5073"/>
                  </a:cubicBezTo>
                  <a:lnTo>
                    <a:pt x="346" y="4084"/>
                  </a:lnTo>
                  <a:cubicBezTo>
                    <a:pt x="346" y="3608"/>
                    <a:pt x="727" y="3215"/>
                    <a:pt x="1227" y="3215"/>
                  </a:cubicBezTo>
                  <a:lnTo>
                    <a:pt x="2418" y="3215"/>
                  </a:lnTo>
                  <a:lnTo>
                    <a:pt x="2418" y="5954"/>
                  </a:lnTo>
                  <a:lnTo>
                    <a:pt x="1918" y="5954"/>
                  </a:lnTo>
                  <a:cubicBezTo>
                    <a:pt x="1834" y="5954"/>
                    <a:pt x="1763" y="6025"/>
                    <a:pt x="1763" y="6108"/>
                  </a:cubicBezTo>
                  <a:cubicBezTo>
                    <a:pt x="1763" y="6204"/>
                    <a:pt x="1834" y="6275"/>
                    <a:pt x="1918" y="6275"/>
                  </a:cubicBezTo>
                  <a:lnTo>
                    <a:pt x="2489" y="6275"/>
                  </a:lnTo>
                  <a:cubicBezTo>
                    <a:pt x="3096" y="7323"/>
                    <a:pt x="4049" y="8097"/>
                    <a:pt x="5216" y="8430"/>
                  </a:cubicBezTo>
                  <a:lnTo>
                    <a:pt x="5216" y="8633"/>
                  </a:lnTo>
                  <a:cubicBezTo>
                    <a:pt x="5216" y="8906"/>
                    <a:pt x="5430" y="9133"/>
                    <a:pt x="5716" y="9133"/>
                  </a:cubicBezTo>
                  <a:lnTo>
                    <a:pt x="6121" y="9133"/>
                  </a:lnTo>
                  <a:cubicBezTo>
                    <a:pt x="6406" y="9133"/>
                    <a:pt x="6621" y="8906"/>
                    <a:pt x="6621" y="8633"/>
                  </a:cubicBezTo>
                  <a:lnTo>
                    <a:pt x="6621" y="4953"/>
                  </a:lnTo>
                  <a:cubicBezTo>
                    <a:pt x="6621" y="4858"/>
                    <a:pt x="6549" y="4787"/>
                    <a:pt x="6466" y="4787"/>
                  </a:cubicBezTo>
                  <a:cubicBezTo>
                    <a:pt x="6371" y="4787"/>
                    <a:pt x="6299" y="4858"/>
                    <a:pt x="6299" y="4953"/>
                  </a:cubicBezTo>
                  <a:lnTo>
                    <a:pt x="6299" y="8633"/>
                  </a:lnTo>
                  <a:cubicBezTo>
                    <a:pt x="6299" y="8728"/>
                    <a:pt x="6228" y="8811"/>
                    <a:pt x="6121" y="8811"/>
                  </a:cubicBezTo>
                  <a:lnTo>
                    <a:pt x="5716" y="8811"/>
                  </a:lnTo>
                  <a:cubicBezTo>
                    <a:pt x="5609" y="8811"/>
                    <a:pt x="5537" y="8728"/>
                    <a:pt x="5537" y="8633"/>
                  </a:cubicBezTo>
                  <a:lnTo>
                    <a:pt x="5537" y="501"/>
                  </a:lnTo>
                  <a:cubicBezTo>
                    <a:pt x="5537" y="393"/>
                    <a:pt x="5609" y="322"/>
                    <a:pt x="5716" y="322"/>
                  </a:cubicBezTo>
                  <a:lnTo>
                    <a:pt x="6121" y="322"/>
                  </a:lnTo>
                  <a:cubicBezTo>
                    <a:pt x="6228" y="322"/>
                    <a:pt x="6299" y="393"/>
                    <a:pt x="6299" y="501"/>
                  </a:cubicBezTo>
                  <a:lnTo>
                    <a:pt x="6299" y="4180"/>
                  </a:lnTo>
                  <a:cubicBezTo>
                    <a:pt x="6299" y="4263"/>
                    <a:pt x="6371" y="4346"/>
                    <a:pt x="6466" y="4346"/>
                  </a:cubicBezTo>
                  <a:cubicBezTo>
                    <a:pt x="6549" y="4346"/>
                    <a:pt x="6621" y="4263"/>
                    <a:pt x="6621" y="4180"/>
                  </a:cubicBezTo>
                  <a:lnTo>
                    <a:pt x="6621" y="501"/>
                  </a:lnTo>
                  <a:cubicBezTo>
                    <a:pt x="6621" y="215"/>
                    <a:pt x="6406" y="0"/>
                    <a:pt x="6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pic>
        <p:nvPicPr>
          <p:cNvPr id="628" name="Imagen 627"/>
          <p:cNvPicPr>
            <a:picLocks noChangeAspect="1"/>
          </p:cNvPicPr>
          <p:nvPr/>
        </p:nvPicPr>
        <p:blipFill>
          <a:blip r:embed="rId1"/>
          <a:stretch>
            <a:fillRect/>
          </a:stretch>
        </p:blipFill>
        <p:spPr>
          <a:xfrm>
            <a:off x="221950" y="970344"/>
            <a:ext cx="3952017" cy="2329037"/>
          </a:xfrm>
          <a:prstGeom prst="rect">
            <a:avLst/>
          </a:prstGeom>
        </p:spPr>
      </p:pic>
      <p:sp>
        <p:nvSpPr>
          <p:cNvPr id="59" name="Google Shape;849;p25"/>
          <p:cNvSpPr/>
          <p:nvPr/>
        </p:nvSpPr>
        <p:spPr>
          <a:xfrm>
            <a:off x="221951" y="884749"/>
            <a:ext cx="4101022" cy="2441196"/>
          </a:xfrm>
          <a:prstGeom prst="roundRect">
            <a:avLst>
              <a:gd name="adj" fmla="val 5989"/>
            </a:avLst>
          </a:prstGeom>
          <a:no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highlight>
                <a:srgbClr val="000080"/>
              </a:highlight>
            </a:endParaRPr>
          </a:p>
        </p:txBody>
      </p:sp>
      <p:sp>
        <p:nvSpPr>
          <p:cNvPr id="63" name="Google Shape;853;p25"/>
          <p:cNvSpPr/>
          <p:nvPr/>
        </p:nvSpPr>
        <p:spPr>
          <a:xfrm>
            <a:off x="221949" y="741395"/>
            <a:ext cx="2379842" cy="275159"/>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=0</a:t>
            </a:r>
            <a:endParaRPr dirty="0">
              <a:latin typeface="Arial Rounded MT Bold" panose="020F0704030504030204" pitchFamily="34" charset="0"/>
            </a:endParaRPr>
          </a:p>
        </p:txBody>
      </p:sp>
      <p:pic>
        <p:nvPicPr>
          <p:cNvPr id="630" name="Imagen 629"/>
          <p:cNvPicPr>
            <a:picLocks noChangeAspect="1"/>
          </p:cNvPicPr>
          <p:nvPr/>
        </p:nvPicPr>
        <p:blipFill>
          <a:blip r:embed="rId2"/>
          <a:stretch>
            <a:fillRect/>
          </a:stretch>
        </p:blipFill>
        <p:spPr>
          <a:xfrm>
            <a:off x="4649663" y="1051342"/>
            <a:ext cx="4101022" cy="2248039"/>
          </a:xfrm>
          <a:prstGeom prst="rect">
            <a:avLst/>
          </a:prstGeom>
        </p:spPr>
      </p:pic>
      <p:sp>
        <p:nvSpPr>
          <p:cNvPr id="631" name="CuadroTexto 630"/>
          <p:cNvSpPr txBox="1"/>
          <p:nvPr/>
        </p:nvSpPr>
        <p:spPr>
          <a:xfrm>
            <a:off x="147827" y="3350032"/>
            <a:ext cx="4249270" cy="1107996"/>
          </a:xfrm>
          <a:prstGeom prst="rect">
            <a:avLst/>
          </a:prstGeom>
          <a:noFill/>
        </p:spPr>
        <p:txBody>
          <a:bodyPr wrap="square" rtlCol="0">
            <a:spAutoFit/>
          </a:bodyPr>
          <a:lstStyle/>
          <a:p>
            <a:r>
              <a:rPr lang="es-ES" sz="1100" dirty="0"/>
              <a:t>Confianza de 1 o ~1: </a:t>
            </a:r>
            <a:r>
              <a:rPr lang="es-ES" sz="1100" b="1" dirty="0"/>
              <a:t>siempre que ha sucedido el antecedente se da el consecuente</a:t>
            </a:r>
            <a:endParaRPr lang="es-ES" sz="1100" dirty="0"/>
          </a:p>
          <a:p>
            <a:endParaRPr lang="es-ES" sz="1100" dirty="0"/>
          </a:p>
          <a:p>
            <a:r>
              <a:rPr lang="es-ES" sz="1100" dirty="0"/>
              <a:t>Diversas reglas refuerzan la tesis de que clientes de entre 18-35 años, con 2 productos y casados o con solvencia para pedir préstamos es prácticamente seguro que se quedarán en el banco</a:t>
            </a:r>
            <a:endParaRPr lang="es-ES" sz="1100" dirty="0"/>
          </a:p>
        </p:txBody>
      </p:sp>
      <p:sp>
        <p:nvSpPr>
          <p:cNvPr id="632" name="CuadroTexto 631"/>
          <p:cNvSpPr txBox="1"/>
          <p:nvPr/>
        </p:nvSpPr>
        <p:spPr>
          <a:xfrm>
            <a:off x="4649663" y="3357394"/>
            <a:ext cx="4431491" cy="1277273"/>
          </a:xfrm>
          <a:prstGeom prst="rect">
            <a:avLst/>
          </a:prstGeom>
          <a:noFill/>
        </p:spPr>
        <p:txBody>
          <a:bodyPr wrap="square" rtlCol="0">
            <a:spAutoFit/>
          </a:bodyPr>
          <a:lstStyle/>
          <a:p>
            <a:pPr algn="just"/>
            <a:r>
              <a:rPr lang="es-ES" sz="1100" dirty="0" err="1"/>
              <a:t>Lift</a:t>
            </a:r>
            <a:r>
              <a:rPr lang="es-ES" sz="1100" dirty="0"/>
              <a:t> de ~3 el consecuente es </a:t>
            </a:r>
            <a:r>
              <a:rPr lang="es-ES" sz="1100" b="1" dirty="0"/>
              <a:t>3 veces más probable cuando ocurre el antecedente</a:t>
            </a:r>
            <a:r>
              <a:rPr lang="es-ES" sz="1100" dirty="0"/>
              <a:t> que si fueran independientes.</a:t>
            </a:r>
            <a:endParaRPr lang="es-ES" sz="1100" dirty="0"/>
          </a:p>
          <a:p>
            <a:pPr algn="just"/>
            <a:endParaRPr lang="es-ES" sz="1100" dirty="0"/>
          </a:p>
          <a:p>
            <a:pPr algn="just"/>
            <a:r>
              <a:rPr lang="es-ES" sz="1100" dirty="0"/>
              <a:t>Preocupante segmento de edad 46-55 años en mujeres y nacionalidad alemana.</a:t>
            </a:r>
            <a:endParaRPr lang="es-ES" sz="1100" dirty="0"/>
          </a:p>
          <a:p>
            <a:pPr algn="just"/>
            <a:r>
              <a:rPr lang="es-ES" sz="1100" dirty="0"/>
              <a:t>Revisar las condiciones que ofrece el banco a clientes con 3 productos o más.</a:t>
            </a:r>
            <a:endParaRPr lang="es-ES" sz="1100" dirty="0"/>
          </a:p>
        </p:txBody>
      </p:sp>
      <p:sp>
        <p:nvSpPr>
          <p:cNvPr id="583" name="Google Shape;861;p25"/>
          <p:cNvSpPr/>
          <p:nvPr/>
        </p:nvSpPr>
        <p:spPr>
          <a:xfrm>
            <a:off x="4649663" y="878974"/>
            <a:ext cx="4397517" cy="2441196"/>
          </a:xfrm>
          <a:prstGeom prst="roundRect">
            <a:avLst>
              <a:gd name="adj" fmla="val 5989"/>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7" name="Google Shape;865;p25"/>
          <p:cNvSpPr/>
          <p:nvPr/>
        </p:nvSpPr>
        <p:spPr>
          <a:xfrm>
            <a:off x="4649663" y="809266"/>
            <a:ext cx="2379842" cy="264401"/>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lvl="0"/>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=1</a:t>
            </a:r>
            <a:endParaRPr lang="es-ES" dirty="0">
              <a:latin typeface="Arial Rounded MT Bold" panose="020F0704030504030204" pitchFamily="34" charset="0"/>
            </a:endParaRPr>
          </a:p>
        </p:txBody>
      </p:sp>
      <p:sp>
        <p:nvSpPr>
          <p:cNvPr id="634" name="CuadroTexto 633"/>
          <p:cNvSpPr txBox="1"/>
          <p:nvPr/>
        </p:nvSpPr>
        <p:spPr>
          <a:xfrm>
            <a:off x="118335" y="4594319"/>
            <a:ext cx="8928845" cy="461665"/>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s-ES" sz="1200" b="1" i="1" dirty="0">
                <a:solidFill>
                  <a:schemeClr val="tx1"/>
                </a:solidFill>
              </a:rPr>
              <a:t>Variables declaradas previamente como significativas concuerdan con las que aparecen en las reglas más informativas: </a:t>
            </a:r>
            <a:r>
              <a:rPr lang="es-ES" sz="1200" b="1" i="1" u="sng" dirty="0">
                <a:solidFill>
                  <a:schemeClr val="tx1"/>
                </a:solidFill>
              </a:rPr>
              <a:t>Validación de la significancia</a:t>
            </a:r>
            <a:endParaRPr lang="es-ES" sz="1200" b="1" i="1" u="sng"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a:t>PREPARACIÓN PARA EL MODELADO</a:t>
            </a:r>
            <a:endParaRPr dirty="0"/>
          </a:p>
        </p:txBody>
      </p:sp>
      <p:sp>
        <p:nvSpPr>
          <p:cNvPr id="3" name="CuadroTexto 2"/>
          <p:cNvSpPr txBox="1"/>
          <p:nvPr/>
        </p:nvSpPr>
        <p:spPr>
          <a:xfrm>
            <a:off x="1027299" y="1112200"/>
            <a:ext cx="7089401" cy="3169285"/>
          </a:xfrm>
          <a:prstGeom prst="rect">
            <a:avLst/>
          </a:prstGeom>
          <a:noFill/>
        </p:spPr>
        <p:txBody>
          <a:bodyPr wrap="square" rtlCol="0">
            <a:spAutoFit/>
          </a:bodyPr>
          <a:lstStyle/>
          <a:p>
            <a:pPr algn="just"/>
            <a:r>
              <a:rPr lang="es-ES" sz="1200" dirty="0"/>
              <a:t>Dado que los datos presentan un desbalance de clases —con un 80% de observaciones negativas (clientes que no se marchan del banco) y un 20% de observaciones positivas (clientes que sí se marchan), se aplicaron</a:t>
            </a:r>
            <a:r>
              <a:rPr lang="es-ES" sz="1600" dirty="0"/>
              <a:t> </a:t>
            </a:r>
            <a:r>
              <a:rPr lang="es-ES" sz="1200" dirty="0"/>
              <a:t>tres</a:t>
            </a:r>
            <a:r>
              <a:rPr lang="es-ES" sz="1600" b="1" dirty="0"/>
              <a:t> </a:t>
            </a:r>
            <a:r>
              <a:rPr lang="es-ES" sz="1600" b="1" u="sng" dirty="0"/>
              <a:t>técnicas de balanceo</a:t>
            </a:r>
            <a:r>
              <a:rPr lang="es-ES" sz="1600" b="1" dirty="0"/>
              <a:t> </a:t>
            </a:r>
            <a:r>
              <a:rPr lang="es-ES" sz="1200" dirty="0"/>
              <a:t>distintas: </a:t>
            </a:r>
            <a:r>
              <a:rPr lang="es-ES" sz="1200" dirty="0" err="1"/>
              <a:t>over-sampling</a:t>
            </a:r>
            <a:r>
              <a:rPr lang="es-ES" sz="1200" dirty="0"/>
              <a:t>, </a:t>
            </a:r>
            <a:r>
              <a:rPr lang="es-ES" sz="1200" dirty="0" err="1"/>
              <a:t>under-sampling</a:t>
            </a:r>
            <a:r>
              <a:rPr lang="en-US" altLang="es-ES" sz="1200" dirty="0" err="1"/>
              <a:t>, SMOTE</a:t>
            </a:r>
            <a:endParaRPr lang="en-US" altLang="es-ES" sz="1200" dirty="0" err="1"/>
          </a:p>
          <a:p>
            <a:pPr algn="just"/>
            <a:r>
              <a:rPr lang="es-ES" sz="1200" dirty="0"/>
              <a:t> y ROSE. Los resultados obtenidos </a:t>
            </a:r>
            <a:r>
              <a:rPr lang="es-ES" sz="1200" b="1" dirty="0"/>
              <a:t>no muestran diferencias </a:t>
            </a:r>
            <a:r>
              <a:rPr lang="es-ES" sz="1200" dirty="0"/>
              <a:t>significativas entre estos métodos.  Se ha comprobado que una vez balanceado los datos, se obtienen mejores resultados.</a:t>
            </a:r>
            <a:endParaRPr lang="es-ES" sz="1200" dirty="0"/>
          </a:p>
          <a:p>
            <a:pPr algn="just"/>
            <a:endParaRPr lang="es-ES" sz="1200" dirty="0"/>
          </a:p>
          <a:p>
            <a:pPr algn="just"/>
            <a:r>
              <a:rPr lang="es-ES" sz="1200" dirty="0"/>
              <a:t>Para el modelado mediante KNN se empleó la técnica </a:t>
            </a:r>
            <a:r>
              <a:rPr lang="es-ES" sz="1600" b="1" u="sng" dirty="0"/>
              <a:t>FAMD</a:t>
            </a:r>
            <a:r>
              <a:rPr lang="es-ES" sz="1200" b="1" dirty="0"/>
              <a:t> </a:t>
            </a:r>
            <a:r>
              <a:rPr lang="es-ES" sz="1200" dirty="0"/>
              <a:t>(Factor </a:t>
            </a:r>
            <a:r>
              <a:rPr lang="es-ES" sz="1200" dirty="0" err="1"/>
              <a:t>Analysis</a:t>
            </a:r>
            <a:r>
              <a:rPr lang="es-ES" sz="1200" dirty="0"/>
              <a:t> </a:t>
            </a:r>
            <a:r>
              <a:rPr lang="es-ES" sz="1200" dirty="0" err="1"/>
              <a:t>of</a:t>
            </a:r>
            <a:r>
              <a:rPr lang="es-ES" sz="1200" dirty="0"/>
              <a:t> </a:t>
            </a:r>
            <a:r>
              <a:rPr lang="es-ES" sz="1200" dirty="0" err="1"/>
              <a:t>Mixed</a:t>
            </a:r>
            <a:r>
              <a:rPr lang="es-ES" sz="1200" dirty="0"/>
              <a:t> Data), ya que este método solo puede trabajar con variables numéricas. De esta manera, el uso de FAMD permitió transformar el conjunto de datos original —que contenía variables mixtas— en un espacio de dimensiones numéricas, posibilitando así el uso de KNN sobre dichas dimensiones en lugar de las variables originales.</a:t>
            </a:r>
            <a:endParaRPr lang="es-ES" sz="1200" dirty="0"/>
          </a:p>
          <a:p>
            <a:pPr algn="just"/>
            <a:endParaRPr lang="es-ES" sz="1200" dirty="0"/>
          </a:p>
          <a:p>
            <a:pPr algn="just"/>
            <a:r>
              <a:rPr lang="es-ES" sz="1200" dirty="0"/>
              <a:t>De los datos que disponemos de la variable respuesta, se dividió en </a:t>
            </a:r>
            <a:r>
              <a:rPr lang="es-ES" sz="1200" b="1" dirty="0"/>
              <a:t>TRAIN (70%) i TEST (30%).</a:t>
            </a:r>
            <a:endParaRPr lang="es-ES" sz="1200" b="1" dirty="0"/>
          </a:p>
          <a:p>
            <a:pPr algn="just"/>
            <a:r>
              <a:rPr lang="es-ES" sz="1200" dirty="0"/>
              <a:t>Se ha comprobado que la proporcionalidad de las clases positivas y negativas sea la misma en ambos grupos.</a:t>
            </a:r>
            <a:endParaRPr lang="es-E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290457" y="539500"/>
            <a:ext cx="8638390" cy="572700"/>
          </a:xfrm>
          <a:prstGeom prst="rect">
            <a:avLst/>
          </a:prstGeom>
        </p:spPr>
        <p:txBody>
          <a:bodyPr spcFirstLastPara="1" wrap="square" lIns="91425" tIns="91425" rIns="91425" bIns="91425" anchor="t" anchorCtr="0">
            <a:noAutofit/>
          </a:bodyPr>
          <a:lstStyle/>
          <a:p>
            <a:pPr lvl="0"/>
            <a:r>
              <a:rPr lang="es-ES" dirty="0"/>
              <a:t>PRIMEROS MODELOS – KNN y </a:t>
            </a:r>
            <a:r>
              <a:rPr lang="es-ES" dirty="0" err="1"/>
              <a:t>Naive</a:t>
            </a:r>
            <a:r>
              <a:rPr lang="es-ES" dirty="0"/>
              <a:t> Bayes </a:t>
            </a:r>
            <a:endParaRPr dirty="0"/>
          </a:p>
        </p:txBody>
      </p:sp>
      <p:graphicFrame>
        <p:nvGraphicFramePr>
          <p:cNvPr id="4" name="Tabla 3"/>
          <p:cNvGraphicFramePr>
            <a:graphicFrameLocks noGrp="1"/>
          </p:cNvGraphicFramePr>
          <p:nvPr/>
        </p:nvGraphicFramePr>
        <p:xfrm>
          <a:off x="2107401" y="1515268"/>
          <a:ext cx="4929099" cy="650274"/>
        </p:xfrm>
        <a:graphic>
          <a:graphicData uri="http://schemas.openxmlformats.org/drawingml/2006/table">
            <a:tbl>
              <a:tblPr>
                <a:tableStyleId>{7FD54D1E-A07F-487E-B709-6B33F1453160}</a:tableStyleId>
              </a:tblPr>
              <a:tblGrid>
                <a:gridCol w="811597"/>
                <a:gridCol w="575379"/>
                <a:gridCol w="693488"/>
                <a:gridCol w="693488"/>
                <a:gridCol w="768171"/>
                <a:gridCol w="693488"/>
                <a:gridCol w="693488"/>
              </a:tblGrid>
              <a:tr h="216758">
                <a:tc>
                  <a:txBody>
                    <a:bodyPr/>
                    <a:p>
                      <a:pPr algn="l" fontAlgn="ctr">
                        <a:buNone/>
                      </a:pPr>
                      <a:endParaRPr lang="es-ES" altLang="en-US" sz="800" b="1" i="0" u="none" strike="noStrike" dirty="0">
                        <a:solidFill>
                          <a:schemeClr val="tx1">
                            <a:lumMod val="50000"/>
                            <a:lumOff val="50000"/>
                          </a:schemeClr>
                        </a:solidFill>
                        <a:effectLst/>
                        <a:latin typeface="Lucida Console" panose="020B0609040504020204" pitchFamily="49" charset="0"/>
                      </a:endParaRPr>
                    </a:p>
                  </a:txBody>
                  <a:tcPr marL="7620" marR="7620" marT="7620" marB="0" anchor="ctr"/>
                </a:tc>
                <a:tc>
                  <a:txBody>
                    <a:bodyPr/>
                    <a:p>
                      <a:pPr algn="l" fontAlgn="ctr">
                        <a:buNone/>
                      </a:pPr>
                      <a:r>
                        <a:rPr lang="en-US" altLang="es-ES" sz="800" b="1" i="0" u="none" strike="noStrike" dirty="0">
                          <a:solidFill>
                            <a:schemeClr val="tx1">
                              <a:lumMod val="50000"/>
                              <a:lumOff val="50000"/>
                            </a:schemeClr>
                          </a:solidFill>
                          <a:effectLst/>
                          <a:latin typeface="Lucida Console" panose="020B0609040504020204" pitchFamily="49" charset="0"/>
                        </a:rPr>
                        <a:t>Split</a:t>
                      </a:r>
                      <a:endParaRPr lang="en-US" altLang="es-ES" sz="800" b="1" i="0" u="none" strike="noStrike" dirty="0">
                        <a:solidFill>
                          <a:schemeClr val="tx1">
                            <a:lumMod val="50000"/>
                            <a:lumOff val="50000"/>
                          </a:schemeClr>
                        </a:solidFill>
                        <a:effectLst/>
                        <a:latin typeface="Lucida Console" panose="020B0609040504020204" pitchFamily="49" charset="0"/>
                      </a:endParaRPr>
                    </a:p>
                  </a:txBody>
                  <a:tcPr marL="7620" marR="7620" marT="7620" marB="0" anchor="ctr"/>
                </a:tc>
                <a:tc>
                  <a:txBody>
                    <a:bodyPr/>
                    <a:p>
                      <a:pPr algn="l" fontAlgn="ctr">
                        <a:buNone/>
                      </a:pPr>
                      <a:r>
                        <a:rPr lang="en-US" altLang="es-ES" sz="800" b="1" dirty="0">
                          <a:solidFill>
                            <a:schemeClr val="tx1">
                              <a:lumMod val="50000"/>
                              <a:lumOff val="50000"/>
                            </a:schemeClr>
                          </a:solidFill>
                          <a:effectLst/>
                          <a:latin typeface="Lucida Console" panose="020B0609040504020204" pitchFamily="49" charset="0"/>
                          <a:sym typeface="+mn-ea"/>
                        </a:rPr>
                        <a:t>Accuracy</a:t>
                      </a:r>
                      <a:endParaRPr lang="en-US" altLang="es-ES" sz="800" b="1" i="0" u="none" strike="noStrike" dirty="0">
                        <a:solidFill>
                          <a:schemeClr val="tx1">
                            <a:lumMod val="50000"/>
                            <a:lumOff val="50000"/>
                          </a:schemeClr>
                        </a:solidFill>
                        <a:effectLst/>
                        <a:latin typeface="Lucida Console" panose="020B0609040504020204" pitchFamily="49" charset="0"/>
                        <a:sym typeface="+mn-ea"/>
                      </a:endParaRPr>
                    </a:p>
                  </a:txBody>
                  <a:tcPr marL="7620" marR="7620" marT="7620" marB="0" anchor="ctr"/>
                </a:tc>
                <a:tc>
                  <a:txBody>
                    <a:bodyPr/>
                    <a:p>
                      <a:pPr algn="l" fontAlgn="ctr">
                        <a:buNone/>
                      </a:pPr>
                      <a:r>
                        <a:rPr lang="en-US" altLang="zh-CN" sz="800" b="1" i="0" u="none" strike="noStrike">
                          <a:solidFill>
                            <a:schemeClr val="tx1">
                              <a:lumMod val="50000"/>
                              <a:lumOff val="50000"/>
                            </a:schemeClr>
                          </a:solidFill>
                          <a:effectLst/>
                          <a:latin typeface="Lucida Console" panose="020B0609040504020204" pitchFamily="49" charset="0"/>
                        </a:rPr>
                        <a:t>Precision</a:t>
                      </a:r>
                      <a:endParaRPr lang="en-US" altLang="zh-CN" sz="800" b="1" i="0" u="none" strike="noStrike">
                        <a:solidFill>
                          <a:schemeClr val="tx1">
                            <a:lumMod val="50000"/>
                            <a:lumOff val="50000"/>
                          </a:schemeClr>
                        </a:solidFill>
                        <a:effectLst/>
                        <a:latin typeface="Lucida Console" panose="020B0609040504020204" pitchFamily="49" charset="0"/>
                      </a:endParaRPr>
                    </a:p>
                  </a:txBody>
                  <a:tcPr marL="7620" marR="7620" marT="7620" marB="0" anchor="ctr"/>
                </a:tc>
                <a:tc>
                  <a:txBody>
                    <a:bodyPr/>
                    <a:p>
                      <a:pPr algn="l" fontAlgn="ctr">
                        <a:buNone/>
                      </a:pPr>
                      <a:r>
                        <a:rPr lang="en-US" altLang="es-ES" sz="800" b="1">
                          <a:solidFill>
                            <a:schemeClr val="tx1">
                              <a:lumMod val="50000"/>
                              <a:lumOff val="50000"/>
                            </a:schemeClr>
                          </a:solidFill>
                          <a:effectLst/>
                          <a:latin typeface="Lucida Console" panose="020B0609040504020204" pitchFamily="49" charset="0"/>
                          <a:sym typeface="+mn-ea"/>
                        </a:rPr>
                        <a:t>Recall</a:t>
                      </a:r>
                      <a:endParaRPr lang="en-US" altLang="es-ES" sz="800" b="1" i="0" u="none" strike="noStrike">
                        <a:solidFill>
                          <a:schemeClr val="tx1">
                            <a:lumMod val="50000"/>
                            <a:lumOff val="50000"/>
                          </a:schemeClr>
                        </a:solidFill>
                        <a:effectLst/>
                        <a:latin typeface="Lucida Console" panose="020B0609040504020204" pitchFamily="49" charset="0"/>
                        <a:sym typeface="+mn-ea"/>
                      </a:endParaRPr>
                    </a:p>
                  </a:txBody>
                  <a:tcPr marL="7620" marR="7620" marT="7620" marB="0" anchor="ctr"/>
                </a:tc>
                <a:tc>
                  <a:txBody>
                    <a:bodyPr/>
                    <a:p>
                      <a:pPr algn="l" fontAlgn="ctr">
                        <a:buNone/>
                      </a:pPr>
                      <a:r>
                        <a:rPr lang="en-US" altLang="es-ES" sz="800" b="1" i="0" u="none" strike="noStrike">
                          <a:solidFill>
                            <a:schemeClr val="tx1">
                              <a:lumMod val="50000"/>
                              <a:lumOff val="50000"/>
                            </a:schemeClr>
                          </a:solidFill>
                          <a:effectLst/>
                          <a:latin typeface="Lucida Console" panose="020B0609040504020204" pitchFamily="49" charset="0"/>
                        </a:rPr>
                        <a:t>Specificity</a:t>
                      </a:r>
                      <a:endParaRPr lang="en-US" altLang="es-ES" sz="800" b="1" i="0" u="none" strike="noStrike">
                        <a:solidFill>
                          <a:schemeClr val="tx1">
                            <a:lumMod val="50000"/>
                            <a:lumOff val="50000"/>
                          </a:schemeClr>
                        </a:solidFill>
                        <a:effectLst/>
                        <a:latin typeface="Lucida Console" panose="020B0609040504020204" pitchFamily="49" charset="0"/>
                      </a:endParaRPr>
                    </a:p>
                  </a:txBody>
                  <a:tcPr marL="7620" marR="7620" marT="7620" marB="0" anchor="ctr"/>
                </a:tc>
                <a:tc>
                  <a:txBody>
                    <a:bodyPr/>
                    <a:p>
                      <a:pPr algn="l" fontAlgn="ctr">
                        <a:buNone/>
                      </a:pPr>
                      <a:r>
                        <a:rPr lang="en-US" altLang="es-ES" sz="800" b="1" i="0" u="none" strike="noStrike" dirty="0">
                          <a:solidFill>
                            <a:schemeClr val="tx1">
                              <a:lumMod val="50000"/>
                              <a:lumOff val="50000"/>
                            </a:schemeClr>
                          </a:solidFill>
                          <a:effectLst/>
                          <a:latin typeface="Lucida Console" panose="020B0609040504020204" pitchFamily="49" charset="0"/>
                        </a:rPr>
                        <a:t>F1-Score</a:t>
                      </a:r>
                      <a:endParaRPr lang="en-US" altLang="es-ES" sz="800" b="1" i="0" u="none" strike="noStrike" dirty="0">
                        <a:solidFill>
                          <a:schemeClr val="tx1">
                            <a:lumMod val="50000"/>
                            <a:lumOff val="50000"/>
                          </a:schemeClr>
                        </a:solidFill>
                        <a:effectLst/>
                        <a:latin typeface="Lucida Console" panose="020B0609040504020204" pitchFamily="49" charset="0"/>
                      </a:endParaRPr>
                    </a:p>
                  </a:txBody>
                  <a:tcPr marL="7620" marR="7620" marT="7620" marB="0" anchor="ctr"/>
                </a:tc>
              </a:tr>
              <a:tr h="216758">
                <a:tc>
                  <a:txBody>
                    <a:bodyPr/>
                    <a:lstStyle/>
                    <a:p>
                      <a:pPr algn="l" fontAlgn="ctr">
                        <a:buNone/>
                      </a:pPr>
                      <a:r>
                        <a:rPr lang="es-ES" sz="800" b="1" i="0" u="none" strike="noStrike" dirty="0">
                          <a:solidFill>
                            <a:srgbClr val="000000"/>
                          </a:solidFill>
                          <a:effectLst/>
                          <a:latin typeface="Lucida Console" panose="020B0609040504020204" pitchFamily="49" charset="0"/>
                        </a:rPr>
                        <a:t>NAIVE BAYES</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i="0" u="none" strike="noStrike" dirty="0">
                          <a:solidFill>
                            <a:srgbClr val="000000"/>
                          </a:solidFill>
                          <a:effectLst/>
                          <a:latin typeface="Lucida Console" panose="020B0609040504020204" pitchFamily="49" charset="0"/>
                        </a:rPr>
                        <a:t>TRAIN</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dirty="0">
                          <a:effectLst/>
                        </a:rPr>
                        <a:t>0.7477551</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0.4010743</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0.4413793</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0.8277992</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dirty="0">
                          <a:effectLst/>
                        </a:rPr>
                        <a:t>0.4202627</a:t>
                      </a:r>
                      <a:endParaRPr lang="es-ES" sz="800" b="1" i="0" u="none" strike="noStrike" dirty="0">
                        <a:solidFill>
                          <a:srgbClr val="000000"/>
                        </a:solidFill>
                        <a:effectLst/>
                        <a:latin typeface="Lucida Console" panose="020B0609040504020204" pitchFamily="49" charset="0"/>
                      </a:endParaRPr>
                    </a:p>
                  </a:txBody>
                  <a:tcPr marL="7620" marR="7620" marT="7620" marB="0" anchor="ctr"/>
                </a:tc>
              </a:tr>
              <a:tr h="216758">
                <a:tc>
                  <a:txBody>
                    <a:bodyPr/>
                    <a:lstStyle/>
                    <a:p>
                      <a:pPr algn="l" fontAlgn="ctr">
                        <a:buNone/>
                      </a:pP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i="0" u="none" strike="noStrike" dirty="0">
                          <a:solidFill>
                            <a:srgbClr val="000000"/>
                          </a:solidFill>
                          <a:effectLst/>
                          <a:latin typeface="Lucida Console" panose="020B0609040504020204" pitchFamily="49" charset="0"/>
                        </a:rPr>
                        <a:t>TEST</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dirty="0">
                          <a:effectLst/>
                        </a:rPr>
                        <a:t>0.7595238</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dirty="0">
                          <a:effectLst/>
                        </a:rPr>
                        <a:t>0.4264706</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0.4666667</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0.8360360</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dirty="0">
                          <a:effectLst/>
                        </a:rPr>
                        <a:t>0.4456641</a:t>
                      </a:r>
                      <a:endParaRPr lang="es-ES" sz="800" b="1" i="0" u="none" strike="noStrike" dirty="0">
                        <a:solidFill>
                          <a:srgbClr val="000000"/>
                        </a:solidFill>
                        <a:effectLst/>
                        <a:latin typeface="Lucida Console" panose="020B0609040504020204" pitchFamily="49" charset="0"/>
                      </a:endParaRPr>
                    </a:p>
                  </a:txBody>
                  <a:tcPr marL="7620" marR="7620" marT="7620" marB="0" anchor="ctr"/>
                </a:tc>
              </a:tr>
            </a:tbl>
          </a:graphicData>
        </a:graphic>
      </p:graphicFrame>
      <p:sp>
        <p:nvSpPr>
          <p:cNvPr id="3" name="CuadroTexto 2"/>
          <p:cNvSpPr txBox="1"/>
          <p:nvPr/>
        </p:nvSpPr>
        <p:spPr>
          <a:xfrm>
            <a:off x="678247" y="1117751"/>
            <a:ext cx="6788451" cy="276999"/>
          </a:xfrm>
          <a:prstGeom prst="rect">
            <a:avLst/>
          </a:prstGeom>
          <a:noFill/>
        </p:spPr>
        <p:txBody>
          <a:bodyPr wrap="square" rtlCol="0">
            <a:spAutoFit/>
          </a:bodyPr>
          <a:lstStyle/>
          <a:p>
            <a:r>
              <a:rPr lang="es-ES" sz="1200" dirty="0"/>
              <a:t>Se han probado varios modelos, de los cuales los mejores fueron los siguientes.</a:t>
            </a:r>
            <a:endParaRPr lang="ca-ES" dirty="0"/>
          </a:p>
        </p:txBody>
      </p:sp>
      <p:graphicFrame>
        <p:nvGraphicFramePr>
          <p:cNvPr id="5" name="Tabla 4"/>
          <p:cNvGraphicFramePr>
            <a:graphicFrameLocks noGrp="1"/>
          </p:cNvGraphicFramePr>
          <p:nvPr/>
        </p:nvGraphicFramePr>
        <p:xfrm>
          <a:off x="2107401" y="2213469"/>
          <a:ext cx="4929099" cy="466811"/>
        </p:xfrm>
        <a:graphic>
          <a:graphicData uri="http://schemas.openxmlformats.org/drawingml/2006/table">
            <a:tbl>
              <a:tblPr>
                <a:tableStyleId>{7FD54D1E-A07F-487E-B709-6B33F1453160}</a:tableStyleId>
              </a:tblPr>
              <a:tblGrid>
                <a:gridCol w="804722"/>
                <a:gridCol w="603592"/>
                <a:gridCol w="667907"/>
                <a:gridCol w="687153"/>
                <a:gridCol w="789955"/>
                <a:gridCol w="671613"/>
                <a:gridCol w="704157"/>
              </a:tblGrid>
              <a:tr h="254158">
                <a:tc>
                  <a:txBody>
                    <a:bodyPr/>
                    <a:lstStyle/>
                    <a:p>
                      <a:pPr algn="l" fontAlgn="ctr">
                        <a:buNone/>
                      </a:pPr>
                      <a:r>
                        <a:rPr lang="en-US" altLang="es-ES" sz="800" b="1" i="0" u="none" strike="noStrike" dirty="0">
                          <a:solidFill>
                            <a:srgbClr val="000000"/>
                          </a:solidFill>
                          <a:effectLst/>
                        </a:rPr>
                        <a:t>9</a:t>
                      </a:r>
                      <a:r>
                        <a:rPr lang="es-ES" sz="800" b="1" i="0" u="none" strike="noStrike" dirty="0">
                          <a:solidFill>
                            <a:srgbClr val="000000"/>
                          </a:solidFill>
                          <a:effectLst/>
                        </a:rPr>
                        <a:t>NN</a:t>
                      </a:r>
                      <a:endParaRPr lang="es-ES" sz="800" b="1" i="0" u="none" strike="noStrike" dirty="0">
                        <a:solidFill>
                          <a:srgbClr val="000000"/>
                        </a:solidFill>
                        <a:effectLst/>
                      </a:endParaRPr>
                    </a:p>
                  </a:txBody>
                  <a:tcPr marL="7620" marR="7620" marT="7620" marB="0" anchor="ctr"/>
                </a:tc>
                <a:tc>
                  <a:txBody>
                    <a:bodyPr/>
                    <a:lstStyle/>
                    <a:p>
                      <a:pPr algn="l" fontAlgn="ctr">
                        <a:buNone/>
                      </a:pPr>
                      <a:r>
                        <a:rPr lang="es-ES" sz="800" b="1" i="0" u="none" strike="noStrike" dirty="0">
                          <a:solidFill>
                            <a:srgbClr val="000000"/>
                          </a:solidFill>
                          <a:effectLst/>
                        </a:rPr>
                        <a:t>TRAIN</a:t>
                      </a:r>
                      <a:endParaRPr lang="es-ES" sz="800" b="1" i="0" u="none" strike="noStrike" dirty="0">
                        <a:solidFill>
                          <a:srgbClr val="000000"/>
                        </a:solidFill>
                        <a:effectLst/>
                      </a:endParaRPr>
                    </a:p>
                  </a:txBody>
                  <a:tcPr marL="7620" marR="7620" marT="7620" marB="0" anchor="ctr"/>
                </a:tc>
                <a:tc>
                  <a:txBody>
                    <a:bodyPr/>
                    <a:lstStyle/>
                    <a:p>
                      <a:pPr algn="l" fontAlgn="ctr"/>
                      <a:r>
                        <a:rPr lang="es-ES" sz="800" b="1" i="0" dirty="0">
                          <a:solidFill>
                            <a:srgbClr val="000000"/>
                          </a:solidFill>
                          <a:effectLst/>
                        </a:rPr>
                        <a:t>0.7708163</a:t>
                      </a:r>
                      <a:endParaRPr lang="es-ES" sz="800" b="1" i="0" dirty="0">
                        <a:solidFill>
                          <a:srgbClr val="000000"/>
                        </a:solidFill>
                        <a:effectLst/>
                      </a:endParaRPr>
                    </a:p>
                  </a:txBody>
                  <a:tcPr marL="9842" marR="9842" marT="9842" marB="0" anchor="ctr" anchorCtr="0"/>
                </a:tc>
                <a:tc>
                  <a:txBody>
                    <a:bodyPr/>
                    <a:lstStyle/>
                    <a:p>
                      <a:pPr algn="l" fontAlgn="ctr">
                        <a:buNone/>
                      </a:pPr>
                      <a:r>
                        <a:rPr lang="es-ES" sz="800" b="1" u="none" strike="noStrike" dirty="0">
                          <a:effectLst/>
                        </a:rPr>
                        <a:t>0.4686241</a:t>
                      </a:r>
                      <a:endParaRPr lang="es-ES" sz="800" b="1" u="none" strike="noStrike" dirty="0">
                        <a:effectLst/>
                      </a:endParaRPr>
                    </a:p>
                  </a:txBody>
                  <a:tcPr marL="7620" marR="7620" marT="7620" marB="0" anchor="ctr"/>
                </a:tc>
                <a:tc>
                  <a:txBody>
                    <a:bodyPr/>
                    <a:lstStyle/>
                    <a:p>
                      <a:pPr algn="l" fontAlgn="ctr"/>
                      <a:r>
                        <a:rPr lang="es-ES" sz="800" b="1" i="0" dirty="0">
                          <a:solidFill>
                            <a:srgbClr val="000000"/>
                          </a:solidFill>
                          <a:effectLst/>
                        </a:rPr>
                        <a:t>0.8027613</a:t>
                      </a:r>
                      <a:endParaRPr lang="es-ES" sz="800" b="1" i="0" dirty="0">
                        <a:solidFill>
                          <a:srgbClr val="000000"/>
                        </a:solidFill>
                        <a:effectLst/>
                      </a:endParaRPr>
                    </a:p>
                  </a:txBody>
                  <a:tcPr marL="9842" marR="9842" marT="9842" marB="0" anchor="ctr" anchorCtr="0"/>
                </a:tc>
                <a:tc>
                  <a:txBody>
                    <a:bodyPr/>
                    <a:lstStyle/>
                    <a:p>
                      <a:pPr algn="l" fontAlgn="ctr"/>
                      <a:r>
                        <a:rPr lang="es-ES" sz="800" b="1" i="0" dirty="0">
                          <a:solidFill>
                            <a:srgbClr val="000000"/>
                          </a:solidFill>
                          <a:effectLst/>
                        </a:rPr>
                        <a:t>0.7624807</a:t>
                      </a:r>
                      <a:endParaRPr lang="es-ES" sz="800" b="1" i="0" dirty="0">
                        <a:solidFill>
                          <a:srgbClr val="000000"/>
                        </a:solidFill>
                        <a:effectLst/>
                      </a:endParaRPr>
                    </a:p>
                  </a:txBody>
                  <a:tcPr marL="9842" marR="9842" marT="9842" marB="0" anchor="ctr" anchorCtr="0"/>
                </a:tc>
                <a:tc>
                  <a:txBody>
                    <a:bodyPr/>
                    <a:lstStyle/>
                    <a:p>
                      <a:pPr algn="l" fontAlgn="ctr"/>
                      <a:r>
                        <a:rPr lang="es-ES" sz="800" b="1" i="0" dirty="0">
                          <a:solidFill>
                            <a:srgbClr val="000000"/>
                          </a:solidFill>
                          <a:effectLst/>
                        </a:rPr>
                        <a:t>0.5917848</a:t>
                      </a:r>
                      <a:endParaRPr lang="es-ES" sz="800" b="1" i="0" dirty="0">
                        <a:solidFill>
                          <a:srgbClr val="000000"/>
                        </a:solidFill>
                        <a:effectLst/>
                      </a:endParaRPr>
                    </a:p>
                  </a:txBody>
                  <a:tcPr marL="9842" marR="9842" marT="9842" marB="0" anchor="ctr" anchorCtr="0"/>
                </a:tc>
              </a:tr>
              <a:tr h="212653">
                <a:tc>
                  <a:txBody>
                    <a:bodyPr/>
                    <a:lstStyle/>
                    <a:p>
                      <a:pPr algn="l" fontAlgn="ctr">
                        <a:buNone/>
                      </a:pPr>
                      <a:endParaRPr lang="es-ES" sz="800" b="1" i="0" u="none" strike="noStrike" dirty="0">
                        <a:solidFill>
                          <a:srgbClr val="000000"/>
                        </a:solidFill>
                        <a:effectLst/>
                      </a:endParaRPr>
                    </a:p>
                  </a:txBody>
                  <a:tcPr marL="7620" marR="7620" marT="7620" marB="0" anchor="ctr"/>
                </a:tc>
                <a:tc>
                  <a:txBody>
                    <a:bodyPr/>
                    <a:lstStyle/>
                    <a:p>
                      <a:pPr algn="l" fontAlgn="ctr">
                        <a:buNone/>
                      </a:pPr>
                      <a:r>
                        <a:rPr lang="es-ES" sz="800" b="1" i="0" u="none" strike="noStrike" dirty="0">
                          <a:solidFill>
                            <a:srgbClr val="000000"/>
                          </a:solidFill>
                          <a:effectLst/>
                        </a:rPr>
                        <a:t>TEST</a:t>
                      </a:r>
                      <a:endParaRPr lang="es-ES" sz="800" b="1" i="0" u="none" strike="noStrike" dirty="0">
                        <a:solidFill>
                          <a:srgbClr val="000000"/>
                        </a:solidFill>
                        <a:effectLst/>
                      </a:endParaRPr>
                    </a:p>
                  </a:txBody>
                  <a:tcPr marL="7620" marR="7620" marT="7620" marB="0" anchor="ctr"/>
                </a:tc>
                <a:tc>
                  <a:txBody>
                    <a:bodyPr/>
                    <a:lstStyle/>
                    <a:p>
                      <a:pPr algn="l" fontAlgn="b"/>
                      <a:r>
                        <a:rPr lang="es-ES" sz="800" b="1" i="0" dirty="0">
                          <a:solidFill>
                            <a:srgbClr val="000000"/>
                          </a:solidFill>
                          <a:effectLst/>
                        </a:rPr>
                        <a:t>0.6790476</a:t>
                      </a:r>
                      <a:endParaRPr lang="es-ES" sz="800" b="1" i="0" dirty="0">
                        <a:solidFill>
                          <a:srgbClr val="000000"/>
                        </a:solidFill>
                        <a:effectLst/>
                      </a:endParaRPr>
                    </a:p>
                  </a:txBody>
                  <a:tcPr marL="9842" marR="9842" marT="9842" marB="0" anchor="b" anchorCtr="0"/>
                </a:tc>
                <a:tc>
                  <a:txBody>
                    <a:bodyPr/>
                    <a:lstStyle/>
                    <a:p>
                      <a:pPr algn="l" fontAlgn="b"/>
                      <a:r>
                        <a:rPr lang="es-ES" sz="800" b="1" i="0" dirty="0">
                          <a:solidFill>
                            <a:srgbClr val="000000"/>
                          </a:solidFill>
                          <a:effectLst/>
                        </a:rPr>
                        <a:t>0.3342618</a:t>
                      </a:r>
                      <a:endParaRPr lang="es-ES" sz="800" b="1" i="0" dirty="0">
                        <a:solidFill>
                          <a:srgbClr val="000000"/>
                        </a:solidFill>
                        <a:effectLst/>
                      </a:endParaRPr>
                    </a:p>
                  </a:txBody>
                  <a:tcPr marL="9842" marR="9842" marT="9842" marB="0" anchor="b" anchorCtr="0"/>
                </a:tc>
                <a:tc>
                  <a:txBody>
                    <a:bodyPr/>
                    <a:lstStyle/>
                    <a:p>
                      <a:pPr algn="l" fontAlgn="b"/>
                      <a:r>
                        <a:rPr lang="es-ES" sz="800" b="1" i="0" dirty="0">
                          <a:solidFill>
                            <a:srgbClr val="000000"/>
                          </a:solidFill>
                          <a:effectLst/>
                        </a:rPr>
                        <a:t>0.5504587</a:t>
                      </a:r>
                      <a:endParaRPr lang="es-ES" sz="800" b="1" i="0" dirty="0">
                        <a:solidFill>
                          <a:srgbClr val="000000"/>
                        </a:solidFill>
                        <a:effectLst/>
                      </a:endParaRPr>
                    </a:p>
                  </a:txBody>
                  <a:tcPr marL="9842" marR="9842" marT="9842" marB="0" anchor="b" anchorCtr="0"/>
                </a:tc>
                <a:tc>
                  <a:txBody>
                    <a:bodyPr/>
                    <a:lstStyle/>
                    <a:p>
                      <a:pPr algn="l" fontAlgn="b"/>
                      <a:r>
                        <a:rPr lang="es-ES" sz="800" b="1" i="0" dirty="0">
                          <a:solidFill>
                            <a:srgbClr val="000000"/>
                          </a:solidFill>
                          <a:effectLst/>
                        </a:rPr>
                        <a:t>0.7127404</a:t>
                      </a:r>
                      <a:endParaRPr lang="es-ES" sz="800" b="1" i="0" dirty="0">
                        <a:solidFill>
                          <a:srgbClr val="000000"/>
                        </a:solidFill>
                        <a:effectLst/>
                      </a:endParaRPr>
                    </a:p>
                  </a:txBody>
                  <a:tcPr marL="9842" marR="9842" marT="9842" marB="0" anchor="b" anchorCtr="0"/>
                </a:tc>
                <a:tc>
                  <a:txBody>
                    <a:bodyPr/>
                    <a:lstStyle/>
                    <a:p>
                      <a:pPr algn="l" fontAlgn="b"/>
                      <a:r>
                        <a:rPr lang="es-ES" sz="800" b="1" i="0" dirty="0">
                          <a:solidFill>
                            <a:srgbClr val="000000"/>
                          </a:solidFill>
                          <a:effectLst/>
                        </a:rPr>
                        <a:t>0.4159445</a:t>
                      </a:r>
                      <a:endParaRPr lang="es-ES" sz="800" b="1" i="0" dirty="0">
                        <a:solidFill>
                          <a:srgbClr val="000000"/>
                        </a:solidFill>
                        <a:effectLst/>
                      </a:endParaRPr>
                    </a:p>
                  </a:txBody>
                  <a:tcPr marL="9842" marR="9842" marT="9842" marB="0" anchor="b" anchorCtr="0"/>
                </a:tc>
              </a:tr>
            </a:tbl>
          </a:graphicData>
        </a:graphic>
      </p:graphicFrame>
      <p:sp>
        <p:nvSpPr>
          <p:cNvPr id="7" name="CuadroTexto 6"/>
          <p:cNvSpPr txBox="1"/>
          <p:nvPr/>
        </p:nvSpPr>
        <p:spPr>
          <a:xfrm>
            <a:off x="880455" y="2952269"/>
            <a:ext cx="7726804" cy="1445260"/>
          </a:xfrm>
          <a:prstGeom prst="rect">
            <a:avLst/>
          </a:prstGeom>
          <a:noFill/>
        </p:spPr>
        <p:txBody>
          <a:bodyPr wrap="square">
            <a:spAutoFit/>
          </a:bodyPr>
          <a:lstStyle/>
          <a:p>
            <a:r>
              <a:rPr lang="es-ES" sz="1200" dirty="0"/>
              <a:t>Ambos fueron modelados aplicando técnicas de balanceo y FAMD sobre el </a:t>
            </a:r>
            <a:r>
              <a:rPr lang="es-ES" sz="1200" dirty="0" err="1"/>
              <a:t>dataset</a:t>
            </a:r>
            <a:r>
              <a:rPr lang="es-ES" sz="1200" dirty="0"/>
              <a:t> después de eliminar las variables no significativas. </a:t>
            </a:r>
            <a:r>
              <a:rPr lang="es-ES" b="1" dirty="0"/>
              <a:t>Se concluye que los datos balanceados y el </a:t>
            </a:r>
            <a:r>
              <a:rPr lang="es-ES" b="1" dirty="0" err="1"/>
              <a:t>dataset</a:t>
            </a:r>
            <a:r>
              <a:rPr lang="es-ES" b="1" dirty="0"/>
              <a:t> reducido permiten obtener mejores resultados.</a:t>
            </a:r>
            <a:br>
              <a:rPr lang="es-ES" b="1" dirty="0"/>
            </a:br>
            <a:r>
              <a:rPr lang="es-ES" sz="1200" dirty="0"/>
              <a:t>Asimismo, se aplicó FAMD en el modelo de </a:t>
            </a:r>
            <a:r>
              <a:rPr lang="es-ES" sz="1200" dirty="0" err="1"/>
              <a:t>Naive</a:t>
            </a:r>
            <a:r>
              <a:rPr lang="es-ES" sz="1200" dirty="0"/>
              <a:t> Bayes, donde se obtuvo una ligera mejora en las métricas.</a:t>
            </a:r>
            <a:endParaRPr lang="es-ES" sz="1200" dirty="0"/>
          </a:p>
          <a:p>
            <a:r>
              <a:rPr lang="en-US" altLang="zh-CN" sz="1200" dirty="0"/>
              <a:t>Con F1 en TEST como criterio, Naive Bayes (≈0,446) rinde mejor que KNN (≈0,416)</a:t>
            </a:r>
            <a:r>
              <a:rPr lang="es-ES" altLang="zh-CN" sz="1200" dirty="0"/>
              <a:t>.</a:t>
            </a:r>
            <a:r>
              <a:rPr lang="en-US" altLang="zh-CN" sz="1200" dirty="0"/>
              <a:t> KNN presenta </a:t>
            </a:r>
            <a:r>
              <a:rPr lang="es-ES" altLang="en-US" sz="1200" dirty="0"/>
              <a:t>una brecah de </a:t>
            </a:r>
            <a:r>
              <a:rPr lang="en-US" altLang="zh-CN" sz="1200" dirty="0"/>
              <a:t>train-test </a:t>
            </a:r>
            <a:r>
              <a:rPr lang="es-ES" altLang="en-US" sz="1200" dirty="0"/>
              <a:t>indicando el</a:t>
            </a:r>
            <a:r>
              <a:rPr lang="en-US" altLang="zh-CN" sz="1200" dirty="0"/>
              <a:t> sobreajuste, mientras que NB es m</a:t>
            </a:r>
            <a:r>
              <a:rPr lang="en-US" altLang="en-US" sz="1200" dirty="0"/>
              <a:t>á</a:t>
            </a:r>
            <a:r>
              <a:rPr lang="en-US" altLang="zh-CN" sz="1200" dirty="0"/>
              <a:t>s estable. </a:t>
            </a:r>
            <a:endParaRPr lang="en-US" altLang="zh-CN" sz="1200" dirty="0"/>
          </a:p>
          <a:p>
            <a:r>
              <a:rPr lang="es-ES" sz="1200" i="1" dirty="0"/>
              <a:t>Excel contiene todas las modelaciones.</a:t>
            </a:r>
            <a:endParaRPr lang="ca-ES" sz="1200" i="1" dirty="0"/>
          </a:p>
        </p:txBody>
      </p:sp>
      <p:sp>
        <p:nvSpPr>
          <p:cNvPr id="11" name="Flecha: hacia la izquierda 10"/>
          <p:cNvSpPr/>
          <p:nvPr/>
        </p:nvSpPr>
        <p:spPr>
          <a:xfrm>
            <a:off x="515620" y="1868805"/>
            <a:ext cx="1393825" cy="297815"/>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ca-ES" sz="900" dirty="0"/>
              <a:t>CROSS VALIDATION</a:t>
            </a:r>
            <a:endParaRPr lang="ca-ES" sz="900" dirty="0"/>
          </a:p>
        </p:txBody>
      </p:sp>
      <p:sp>
        <p:nvSpPr>
          <p:cNvPr id="10" name="Flecha: hacia la izquierda 9"/>
          <p:cNvSpPr/>
          <p:nvPr/>
        </p:nvSpPr>
        <p:spPr>
          <a:xfrm>
            <a:off x="546100" y="1651000"/>
            <a:ext cx="1363345" cy="303530"/>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ca-ES" sz="900" dirty="0" err="1">
                <a:solidFill>
                  <a:srgbClr val="FF0000"/>
                </a:solidFill>
              </a:rPr>
              <a:t>Bad</a:t>
            </a:r>
            <a:r>
              <a:rPr lang="ca-ES" sz="900" dirty="0">
                <a:solidFill>
                  <a:srgbClr val="FF0000"/>
                </a:solidFill>
              </a:rPr>
              <a:t> </a:t>
            </a:r>
            <a:r>
              <a:rPr lang="ca-ES" sz="900" dirty="0" err="1">
                <a:solidFill>
                  <a:srgbClr val="FF0000"/>
                </a:solidFill>
              </a:rPr>
              <a:t>results</a:t>
            </a:r>
            <a:r>
              <a:rPr lang="en-US" altLang="ca-ES" sz="900" dirty="0" err="1">
                <a:solidFill>
                  <a:srgbClr val="FF0000"/>
                </a:solidFill>
              </a:rPr>
              <a:t> </a:t>
            </a:r>
            <a:r>
              <a:rPr lang="ca-ES" sz="900" dirty="0">
                <a:solidFill>
                  <a:srgbClr val="FF0000"/>
                </a:solidFill>
              </a:rPr>
              <a:t>F1&lt;0,5</a:t>
            </a:r>
            <a:endParaRPr lang="ca-ES" sz="900" dirty="0">
              <a:solidFill>
                <a:srgbClr val="FF0000"/>
              </a:solidFill>
            </a:endParaRPr>
          </a:p>
        </p:txBody>
      </p:sp>
      <p:sp>
        <p:nvSpPr>
          <p:cNvPr id="2" name="右箭头 1"/>
          <p:cNvSpPr/>
          <p:nvPr/>
        </p:nvSpPr>
        <p:spPr>
          <a:xfrm>
            <a:off x="843280" y="1438910"/>
            <a:ext cx="1066165" cy="29781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No Overfittin</a:t>
            </a:r>
            <a:endParaRPr lang="en-US" altLang="zh-CN" sz="1000"/>
          </a:p>
        </p:txBody>
      </p:sp>
      <p:sp>
        <p:nvSpPr>
          <p:cNvPr id="12" name="Flecha: hacia la izquierda 10"/>
          <p:cNvSpPr/>
          <p:nvPr/>
        </p:nvSpPr>
        <p:spPr>
          <a:xfrm>
            <a:off x="7205980" y="2571750"/>
            <a:ext cx="1393825" cy="297815"/>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ca-ES" sz="900" dirty="0"/>
              <a:t>CROSS VALIDATION</a:t>
            </a:r>
            <a:endParaRPr lang="ca-ES" sz="900" dirty="0"/>
          </a:p>
        </p:txBody>
      </p:sp>
      <p:sp>
        <p:nvSpPr>
          <p:cNvPr id="13" name="Flecha: hacia la izquierda 9"/>
          <p:cNvSpPr/>
          <p:nvPr/>
        </p:nvSpPr>
        <p:spPr>
          <a:xfrm>
            <a:off x="7205980" y="2353945"/>
            <a:ext cx="1363345" cy="303530"/>
          </a:xfrm>
          <a:prstGeom prst="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ca-ES" sz="900" dirty="0" err="1">
                <a:solidFill>
                  <a:srgbClr val="FF0000"/>
                </a:solidFill>
              </a:rPr>
              <a:t>Bad</a:t>
            </a:r>
            <a:r>
              <a:rPr lang="ca-ES" sz="900" dirty="0">
                <a:solidFill>
                  <a:srgbClr val="FF0000"/>
                </a:solidFill>
              </a:rPr>
              <a:t> </a:t>
            </a:r>
            <a:r>
              <a:rPr lang="ca-ES" sz="900" dirty="0" err="1">
                <a:solidFill>
                  <a:srgbClr val="FF0000"/>
                </a:solidFill>
              </a:rPr>
              <a:t>results</a:t>
            </a:r>
            <a:r>
              <a:rPr lang="en-US" altLang="ca-ES" sz="900" dirty="0" err="1">
                <a:solidFill>
                  <a:srgbClr val="FF0000"/>
                </a:solidFill>
              </a:rPr>
              <a:t> </a:t>
            </a:r>
            <a:r>
              <a:rPr lang="ca-ES" sz="900" dirty="0">
                <a:solidFill>
                  <a:srgbClr val="FF0000"/>
                </a:solidFill>
              </a:rPr>
              <a:t>F1</a:t>
            </a:r>
            <a:r>
              <a:rPr lang="en-US" altLang="ca-ES" sz="900" dirty="0">
                <a:solidFill>
                  <a:srgbClr val="FF0000"/>
                </a:solidFill>
              </a:rPr>
              <a:t> </a:t>
            </a:r>
            <a:r>
              <a:rPr lang="en-US" altLang="zh-CN" sz="900" dirty="0">
                <a:solidFill>
                  <a:srgbClr val="FF0000"/>
                </a:solidFill>
              </a:rPr>
              <a:t>≈ </a:t>
            </a:r>
            <a:r>
              <a:rPr lang="ca-ES" sz="900" dirty="0">
                <a:solidFill>
                  <a:srgbClr val="FF0000"/>
                </a:solidFill>
              </a:rPr>
              <a:t>0,5</a:t>
            </a:r>
            <a:endParaRPr lang="ca-ES" sz="900" dirty="0">
              <a:solidFill>
                <a:srgbClr val="FF0000"/>
              </a:solidFill>
            </a:endParaRPr>
          </a:p>
        </p:txBody>
      </p:sp>
      <p:sp>
        <p:nvSpPr>
          <p:cNvPr id="14" name="左箭头 13"/>
          <p:cNvSpPr/>
          <p:nvPr/>
        </p:nvSpPr>
        <p:spPr>
          <a:xfrm>
            <a:off x="7205980" y="2141855"/>
            <a:ext cx="1066165" cy="297815"/>
          </a:xfrm>
          <a:prstGeom prst="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Overfittin</a:t>
            </a:r>
            <a:r>
              <a:rPr lang="en-US" altLang="zh-CN" sz="1000"/>
              <a:t>g</a:t>
            </a:r>
            <a:endParaRPr lang="en-US" altLang="zh-CN" sz="100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a:t>CONCLUSIONES y/o PRÓXIMOS PASOS</a:t>
            </a:r>
            <a:endParaRPr dirty="0"/>
          </a:p>
        </p:txBody>
      </p:sp>
      <p:sp>
        <p:nvSpPr>
          <p:cNvPr id="4" name="CuadroTexto 3"/>
          <p:cNvSpPr txBox="1"/>
          <p:nvPr/>
        </p:nvSpPr>
        <p:spPr>
          <a:xfrm>
            <a:off x="1027299" y="1310894"/>
            <a:ext cx="7089401" cy="2954655"/>
          </a:xfrm>
          <a:prstGeom prst="rect">
            <a:avLst/>
          </a:prstGeom>
          <a:noFill/>
        </p:spPr>
        <p:txBody>
          <a:bodyPr wrap="square" rtlCol="0">
            <a:spAutoFit/>
          </a:bodyPr>
          <a:lstStyle/>
          <a:p>
            <a:pPr algn="just"/>
            <a:r>
              <a:rPr lang="es-ES" dirty="0"/>
              <a:t>Tras analizar los resultados obtenidos con las dos técnicas previamente aplicadas, se concluye que el desempeño fue insatisfactorio, ya que los modelos no lograron una capacidad predictiva adecuada ni una clasificación precisa de los datos. Esto sugiere que dichos métodos no son óptimos para abordar el problema planteado.</a:t>
            </a:r>
            <a:endParaRPr lang="es-ES" dirty="0"/>
          </a:p>
          <a:p>
            <a:pPr algn="just"/>
            <a:endParaRPr lang="es-ES" dirty="0"/>
          </a:p>
          <a:p>
            <a:pPr algn="just"/>
            <a:r>
              <a:rPr lang="es-ES" dirty="0"/>
              <a:t>Por esta razón, se propone explorar nuevos enfoques que se adapten mejor a las características del conjunto de datos y que permitan mejorar el rendimiento del modelo. Como siguiente alternativa, se plantea implementar un </a:t>
            </a:r>
            <a:r>
              <a:rPr lang="es-ES" sz="1800" b="1" dirty="0"/>
              <a:t>árbol de decisión</a:t>
            </a:r>
            <a:r>
              <a:rPr lang="es-ES" dirty="0"/>
              <a:t>, dado que este método permite trabajar con variables tanto numéricas como categóricas y ofrece una interpretación clara del proceso de toma de decisiones. Además, se considera la posibilidad de evaluar otros algoritmos adicionales que aún están pendientes de selección, con el objetivo de identificar el método más adecuado para este caso de estudio.</a:t>
            </a:r>
            <a:endParaRPr lang="es-ES" dirty="0"/>
          </a:p>
        </p:txBody>
      </p:sp>
    </p:spTree>
  </p:cSld>
  <p:clrMapOvr>
    <a:masterClrMapping/>
  </p:clrMapOvr>
</p:sld>
</file>

<file path=ppt/theme/theme1.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11030</Words>
  <Application>WPS 演示</Application>
  <PresentationFormat>Presentación en pantalla (16:9)</PresentationFormat>
  <Paragraphs>250</Paragraphs>
  <Slides>15</Slides>
  <Notes>15</Notes>
  <HiddenSlides>1</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15</vt:i4>
      </vt:variant>
    </vt:vector>
  </HeadingPairs>
  <TitlesOfParts>
    <vt:vector size="30" baseType="lpstr">
      <vt:lpstr>Arial</vt:lpstr>
      <vt:lpstr>宋体</vt:lpstr>
      <vt:lpstr>Wingdings</vt:lpstr>
      <vt:lpstr>Arial</vt:lpstr>
      <vt:lpstr>Poppins</vt:lpstr>
      <vt:lpstr>Didact Gothic</vt:lpstr>
      <vt:lpstr>Libre Franklin</vt:lpstr>
      <vt:lpstr>Raleway</vt:lpstr>
      <vt:lpstr>Arial Black</vt:lpstr>
      <vt:lpstr>Arial Rounded MT Bold</vt:lpstr>
      <vt:lpstr>Lucida Console</vt:lpstr>
      <vt:lpstr>微软雅黑</vt:lpstr>
      <vt:lpstr>Arial Unicode MS</vt:lpstr>
      <vt:lpstr>Segoe Print</vt:lpstr>
      <vt:lpstr>Cycle Diagrams Theme for a Business Plan by Slidesgo</vt:lpstr>
      <vt:lpstr>Modelo de clasificación  GRUPO 5</vt:lpstr>
      <vt:lpstr>ENTENDIMIENTO DE NEGOCIO</vt:lpstr>
      <vt:lpstr>ENTENDIMIENTO DE DATOS</vt:lpstr>
      <vt:lpstr>FRAMEWORK METODOLÓGICO</vt:lpstr>
      <vt:lpstr>Exploratory Data Analysis (EDA) 1/2</vt:lpstr>
      <vt:lpstr>Exploratory Data Analysis (EDA) 2/2</vt:lpstr>
      <vt:lpstr>Tratamiento de Missing</vt:lpstr>
      <vt:lpstr>Tratamiento de Outliers</vt:lpstr>
      <vt:lpstr>Ingeniería de Variables ½: transformación</vt:lpstr>
      <vt:lpstr>Ingeniería de Variables 2/2: selección</vt:lpstr>
      <vt:lpstr>Association Rules 1/2</vt:lpstr>
      <vt:lpstr>Association Rules 2/2: resultados</vt:lpstr>
      <vt:lpstr>PREPARACIÓN PARA EL MODELADO</vt:lpstr>
      <vt:lpstr>PRIMEROS MODELOS – KNN y Naive Bayes </vt:lpstr>
      <vt:lpstr>CONCLUSIONES y/o PRÓXIMOS PASOS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de clasificación  GRUPO 5</dc:title>
  <dc:creator>Mario Aragón Valderrama</dc:creator>
  <cp:lastModifiedBy>Senri</cp:lastModifiedBy>
  <cp:revision>5</cp:revision>
  <dcterms:created xsi:type="dcterms:W3CDTF">2025-11-08T21:16:00Z</dcterms:created>
  <dcterms:modified xsi:type="dcterms:W3CDTF">2025-11-09T17:42:45Z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7FFCFDB189814E6785B456694060511A_12</vt:lpwstr>
  </property>
  <property fmtid="{D5CDD505-2E9C-101B-9397-08002B2CF9AE}" pid="3" name="KSOProductBuildVer">
    <vt:lpwstr>2052-12.1.0.23542</vt:lpwstr>
  </property>
</Properties>
</file>