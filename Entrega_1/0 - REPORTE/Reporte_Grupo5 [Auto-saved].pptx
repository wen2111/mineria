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8"/>
  </p:notesMasterIdLst>
  <p:sldIdLst>
    <p:sldId id="285" r:id="rId2"/>
    <p:sldId id="270" r:id="rId3"/>
    <p:sldId id="271" r:id="rId4"/>
    <p:sldId id="272" r:id="rId5"/>
    <p:sldId id="273" r:id="rId6"/>
    <p:sldId id="274" r:id="rId7"/>
    <p:sldId id="290" r:id="rId8"/>
    <p:sldId id="275" r:id="rId9"/>
    <p:sldId id="291" r:id="rId10"/>
    <p:sldId id="277" r:id="rId11"/>
    <p:sldId id="278" r:id="rId12"/>
    <p:sldId id="279" r:id="rId13"/>
    <p:sldId id="280" r:id="rId14"/>
    <p:sldId id="281" r:id="rId15"/>
    <p:sldId id="292" r:id="rId16"/>
    <p:sldId id="284" r:id="rId17"/>
  </p:sldIdLst>
  <p:sldSz cx="9144000" cy="5143500" type="screen16x9"/>
  <p:notesSz cx="6858000" cy="9144000"/>
  <p:embeddedFontLst>
    <p:embeddedFont>
      <p:font typeface="Arial Black" panose="020B0604020202020204" pitchFamily="34" charset="0"/>
      <p:bold r:id="rId19"/>
    </p:embeddedFont>
    <p:embeddedFont>
      <p:font typeface="Arial Rounded MT Bold" panose="020F0704030504030204" pitchFamily="34" charset="77"/>
      <p:regular r:id="rId20"/>
    </p:embeddedFont>
    <p:embeddedFont>
      <p:font typeface="Didact Gothic" pitchFamily="2" charset="0"/>
      <p:regular r:id="rId21"/>
    </p:embeddedFont>
    <p:embeddedFont>
      <p:font typeface="Libre Franklin" pitchFamily="2" charset="77"/>
      <p:regular r:id="rId22"/>
      <p:bold r:id="rId23"/>
      <p:italic r:id="rId24"/>
      <p:boldItalic r:id="rId25"/>
    </p:embeddedFont>
    <p:embeddedFont>
      <p:font typeface="Poppins" pitchFamily="2" charset="77"/>
      <p:regular r:id="rId26"/>
      <p:bold r:id="rId27"/>
      <p:italic r:id="rId28"/>
      <p:boldItalic r:id="rId29"/>
    </p:embeddedFont>
    <p:embeddedFont>
      <p:font typeface="Raleway" pitchFamily="2" charset="77"/>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extLst>
      <p:ext uri="{19B8F6BF-5375-455C-9EA6-DF929625EA0E}">
        <p15:presenceInfo xmlns:p15="http://schemas.microsoft.com/office/powerpoint/2012/main" userId="ab42593c9091a3c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D54D1E-A07F-487E-B709-6B33F1453160}">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89" autoAdjust="0"/>
    <p:restoredTop sz="94668"/>
  </p:normalViewPr>
  <p:slideViewPr>
    <p:cSldViewPr snapToGrid="0">
      <p:cViewPr varScale="1">
        <p:scale>
          <a:sx n="163" d="100"/>
          <a:sy n="163" d="100"/>
        </p:scale>
        <p:origin x="176"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	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type="parTrans" cxnId="{2FF3EB71-C7F5-4619-AB74-5943DE39CC10}">
      <dgm:prSet/>
      <dgm:spPr/>
      <dgm:t>
        <a:bodyPr/>
        <a:lstStyle/>
        <a:p>
          <a:endParaRPr lang="es-ES" sz="2400"/>
        </a:p>
      </dgm:t>
    </dgm:pt>
    <dgm:pt modelId="{2ABCB300-CCE9-44E7-999D-3B03628596E1}" type="sibTrans" cxnId="{2FF3EB71-C7F5-4619-AB74-5943DE39CC10}">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      	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  	Diseño del </a:t>
          </a:r>
          <a:r>
            <a:rPr lang="es-ES" sz="800" dirty="0" err="1"/>
            <a:t>metadata</a:t>
          </a:r>
          <a:r>
            <a:rPr lang="es-ES" sz="800" dirty="0"/>
            <a:t> – Melissa</a:t>
          </a:r>
        </a:p>
        <a:p>
          <a:r>
            <a:rPr lang="es-ES" sz="800" dirty="0"/>
            <a:t>     	EDA– </a:t>
          </a:r>
          <a:r>
            <a:rPr lang="es-ES" sz="800" dirty="0" err="1"/>
            <a:t>Wenjia</a:t>
          </a:r>
          <a:r>
            <a:rPr lang="es-ES" sz="800" dirty="0"/>
            <a:t> y </a:t>
          </a:r>
          <a:r>
            <a:rPr lang="es-ES" sz="800" dirty="0" err="1"/>
            <a:t>Siling</a:t>
          </a:r>
          <a:endParaRPr lang="es-ES" sz="800" dirty="0"/>
        </a:p>
        <a:p>
          <a:r>
            <a:rPr lang="es-ES" sz="800" dirty="0"/>
            <a:t>     	Análisis de </a:t>
          </a:r>
          <a:r>
            <a:rPr lang="es-ES" sz="800" dirty="0" err="1"/>
            <a:t>outliers</a:t>
          </a:r>
          <a:r>
            <a:rPr lang="es-ES" sz="800" dirty="0"/>
            <a:t> (pre-imputación): Mario, Laura y Melissa</a:t>
          </a:r>
        </a:p>
        <a:p>
          <a:endParaRPr lang="es-ES" sz="800" dirty="0"/>
        </a:p>
      </dgm:t>
    </dgm:pt>
    <dgm:pt modelId="{58D673D6-CE1A-45C9-8DE0-8248CFA91FFF}" type="parTrans" cxnId="{62EFD2D3-AE51-4D7B-AC9A-B557C95CFE85}">
      <dgm:prSet/>
      <dgm:spPr/>
      <dgm:t>
        <a:bodyPr/>
        <a:lstStyle/>
        <a:p>
          <a:endParaRPr lang="es-ES" sz="2400"/>
        </a:p>
      </dgm:t>
    </dgm:pt>
    <dgm:pt modelId="{F068E20D-9182-40E9-81D3-3D2119E9E208}" type="sibTrans" cxnId="{62EFD2D3-AE51-4D7B-AC9A-B557C95CFE85}">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 	Data </a:t>
          </a:r>
          <a:r>
            <a:rPr lang="es-ES" sz="800" b="1" dirty="0" err="1">
              <a:solidFill>
                <a:srgbClr val="002060"/>
              </a:solidFill>
            </a:rPr>
            <a:t>preparation</a:t>
          </a:r>
          <a:endParaRPr lang="es-ES" sz="800" b="1" dirty="0">
            <a:solidFill>
              <a:srgbClr val="002060"/>
            </a:solidFill>
          </a:endParaRPr>
        </a:p>
        <a:p>
          <a:r>
            <a:rPr lang="es-ES" sz="800" dirty="0"/>
            <a:t>	Imputación </a:t>
          </a:r>
          <a:r>
            <a:rPr lang="es-ES" sz="800" dirty="0" err="1"/>
            <a:t>missings</a:t>
          </a:r>
          <a:r>
            <a:rPr lang="es-ES" sz="800" dirty="0"/>
            <a:t> – Mario y Laura</a:t>
          </a:r>
        </a:p>
        <a:p>
          <a:r>
            <a:rPr lang="es-ES" sz="800" dirty="0"/>
            <a:t>	</a:t>
          </a:r>
          <a:r>
            <a:rPr lang="es-ES" sz="800" dirty="0" err="1"/>
            <a:t>Tratatamiento</a:t>
          </a:r>
          <a:r>
            <a:rPr lang="es-ES" sz="800" dirty="0"/>
            <a:t> </a:t>
          </a:r>
          <a:r>
            <a:rPr lang="es-ES" sz="800" dirty="0" err="1"/>
            <a:t>Outliers</a:t>
          </a:r>
          <a:r>
            <a:rPr lang="es-ES" sz="800" dirty="0"/>
            <a:t> – Mario, Laura y Melissa</a:t>
          </a:r>
        </a:p>
        <a:p>
          <a:r>
            <a:rPr lang="es-ES" sz="800" dirty="0"/>
            <a:t>	</a:t>
          </a:r>
          <a:r>
            <a:rPr lang="es-ES" sz="800" dirty="0" err="1"/>
            <a:t>Feature</a:t>
          </a:r>
          <a:r>
            <a:rPr lang="es-ES" sz="800" dirty="0"/>
            <a:t> </a:t>
          </a:r>
          <a:r>
            <a:rPr lang="es-ES" sz="800" dirty="0" err="1"/>
            <a:t>Engineering</a:t>
          </a:r>
          <a:r>
            <a:rPr lang="es-ES" sz="800" dirty="0"/>
            <a:t>– </a:t>
          </a:r>
          <a:r>
            <a:rPr lang="es-ES" sz="800" dirty="0" err="1"/>
            <a:t>Wenjia</a:t>
          </a:r>
          <a:r>
            <a:rPr lang="es-ES" sz="800" dirty="0"/>
            <a:t> </a:t>
          </a:r>
        </a:p>
      </dgm:t>
    </dgm:pt>
    <dgm:pt modelId="{9BCB12AF-3FDE-4ECC-9F8F-CED83AED7CCB}" type="parTrans" cxnId="{09CD5CFB-F57C-4EA7-9B86-AED2343EDF67}">
      <dgm:prSet/>
      <dgm:spPr/>
      <dgm:t>
        <a:bodyPr/>
        <a:lstStyle/>
        <a:p>
          <a:endParaRPr lang="es-ES" sz="2400"/>
        </a:p>
      </dgm:t>
    </dgm:pt>
    <dgm:pt modelId="{C16B64A7-40EB-4C86-BE64-8EBACDE653C3}" type="sibTrans" cxnId="{09CD5CFB-F57C-4EA7-9B86-AED2343EDF67}">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            	</a:t>
          </a:r>
          <a:r>
            <a:rPr lang="es-ES" sz="800" b="1" dirty="0" err="1">
              <a:solidFill>
                <a:srgbClr val="002060"/>
              </a:solidFill>
            </a:rPr>
            <a:t>Modeling</a:t>
          </a:r>
          <a:r>
            <a:rPr lang="es-ES" sz="800" b="1" dirty="0">
              <a:solidFill>
                <a:srgbClr val="002060"/>
              </a:solidFill>
            </a:rPr>
            <a:t> &amp; </a:t>
          </a:r>
          <a:r>
            <a:rPr lang="es-ES" sz="800" b="1" dirty="0" err="1">
              <a:solidFill>
                <a:srgbClr val="002060"/>
              </a:solidFill>
            </a:rPr>
            <a:t>Evaluation</a:t>
          </a:r>
          <a:endParaRPr lang="es-ES" sz="800" b="1" dirty="0">
            <a:solidFill>
              <a:srgbClr val="002060"/>
            </a:solidFill>
          </a:endParaRPr>
        </a:p>
        <a:p>
          <a:r>
            <a:rPr lang="es-ES" sz="700" dirty="0"/>
            <a:t>	KNN – </a:t>
          </a:r>
          <a:r>
            <a:rPr lang="es-ES" sz="700" dirty="0" err="1"/>
            <a:t>Siling</a:t>
          </a:r>
          <a:r>
            <a:rPr lang="es-ES" sz="700" dirty="0"/>
            <a:t> y Laura</a:t>
          </a:r>
        </a:p>
        <a:p>
          <a:r>
            <a:rPr lang="es-ES" sz="700" dirty="0"/>
            <a:t>               </a:t>
          </a:r>
          <a:r>
            <a:rPr lang="es-ES" sz="700" dirty="0" err="1"/>
            <a:t>Naive</a:t>
          </a:r>
          <a:r>
            <a:rPr lang="es-ES" sz="700" dirty="0"/>
            <a:t> Bayes – Melissa y </a:t>
          </a:r>
          <a:r>
            <a:rPr lang="es-ES" sz="700" dirty="0" err="1"/>
            <a:t>Wenjia</a:t>
          </a:r>
          <a:endParaRPr lang="es-ES" sz="700" dirty="0"/>
        </a:p>
        <a:p>
          <a:r>
            <a:rPr lang="es-ES" sz="700" dirty="0"/>
            <a:t>               </a:t>
          </a:r>
          <a:r>
            <a:rPr lang="es-ES" sz="700" dirty="0" err="1"/>
            <a:t>Testing</a:t>
          </a:r>
          <a:r>
            <a:rPr lang="es-ES" sz="700" dirty="0"/>
            <a:t> múltiples configuraciones de variables</a:t>
          </a:r>
          <a:endParaRPr lang="es-ES" sz="800" b="1" dirty="0">
            <a:solidFill>
              <a:srgbClr val="002060"/>
            </a:solidFill>
          </a:endParaRPr>
        </a:p>
      </dgm:t>
    </dgm:pt>
    <dgm:pt modelId="{3A914AC6-6594-4B0A-A5A2-C491F53EF95C}" type="parTrans" cxnId="{D2E0ED84-53E3-49A1-A292-3EA003DD3B1F}">
      <dgm:prSet/>
      <dgm:spPr/>
      <dgm:t>
        <a:bodyPr/>
        <a:lstStyle/>
        <a:p>
          <a:endParaRPr lang="es-ES" sz="2400"/>
        </a:p>
      </dgm:t>
    </dgm:pt>
    <dgm:pt modelId="{F982C1E6-BEEF-456A-A8F1-006AD67EDC6F}" type="sibTrans" cxnId="{D2E0ED84-53E3-49A1-A292-3EA003DD3B1F}">
      <dgm:prSet/>
      <dgm:spPr/>
      <dgm:t>
        <a:bodyPr/>
        <a:lstStyle/>
        <a:p>
          <a:endParaRPr lang="es-ES" sz="2400"/>
        </a:p>
      </dgm:t>
    </dgm:pt>
    <dgm:pt modelId="{B9802D42-76B7-4AE8-9963-A689582E6B35}">
      <dgm:prSet phldrT="[Texto]" phldr="0" custT="1"/>
      <dgm:spPr/>
      <dgm:t>
        <a:bodyPr/>
        <a:lstStyle/>
        <a:p>
          <a:r>
            <a:rPr lang="es-ES" sz="800" b="1" dirty="0">
              <a:solidFill>
                <a:srgbClr val="002060"/>
              </a:solidFill>
            </a:rPr>
            <a:t>            	</a:t>
          </a:r>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type="parTrans" cxnId="{A44658AC-B46F-4B08-B962-B06FFFD99B33}">
      <dgm:prSet/>
      <dgm:spPr/>
      <dgm:t>
        <a:bodyPr/>
        <a:lstStyle/>
        <a:p>
          <a:endParaRPr lang="es-ES" sz="2400"/>
        </a:p>
      </dgm:t>
    </dgm:pt>
    <dgm:pt modelId="{1B62F6DE-B574-43AD-B04F-ABDF9E20E863}" type="sibTrans" cxnId="{A44658AC-B46F-4B08-B962-B06FFFD99B33}">
      <dgm:prSet/>
      <dgm:spPr/>
      <dgm:t>
        <a:bodyPr/>
        <a:lstStyle/>
        <a:p>
          <a:endParaRPr lang="es-ES" sz="2400"/>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2"/>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DF5B256E-1BCA-468C-AF06-39814118FCEF}" type="presOf" srcId="{B0A54B65-E829-4553-8B45-B4EBDAF3C233}" destId="{B12AE6C0-B4ED-4A08-98AA-6732B6DC385E}" srcOrd="0" destOrd="0"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712DF1A2-9649-4A26-A0DA-529186D8E53F}" type="presOf" srcId="{D3DB2985-286F-4E1B-A3EF-B67DCD1C08F6}" destId="{9368D843-76C1-42B0-834B-2DA28FCB0771}" srcOrd="0" destOrd="0" presId="urn:microsoft.com/office/officeart/2005/8/layout/vList4"/>
    <dgm:cxn modelId="{A44658AC-B46F-4B08-B962-B06FFFD99B33}" srcId="{E0DBD592-C900-4D5D-A79A-93A58E8DA172}" destId="{B9802D42-76B7-4AE8-9963-A689582E6B35}" srcOrd="4" destOrd="0" parTransId="{5522CECA-745D-4D76-A87A-0DA536D5330D}" sibTransId="{1B62F6DE-B574-43AD-B04F-ABDF9E20E863}"/>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0F9E5-841B-FF4D-9CB5-2F1286FB0B81}" type="doc">
      <dgm:prSet loTypeId="urn:microsoft.com/office/officeart/2005/8/layout/chevron1" loCatId="list" qsTypeId="urn:microsoft.com/office/officeart/2005/8/quickstyle/simple1" qsCatId="simple" csTypeId="urn:microsoft.com/office/officeart/2005/8/colors/accent1_2" csCatId="accent1" phldr="1"/>
      <dgm:spPr/>
      <dgm:t>
        <a:bodyPr/>
        <a:lstStyle/>
        <a:p>
          <a:endParaRPr lang="en-GB"/>
        </a:p>
      </dgm:t>
    </dgm:pt>
    <dgm:pt modelId="{4B7548F0-E499-254C-9C9F-E02382EEB5E9}">
      <dgm:prSet/>
      <dgm:spPr/>
      <dgm:t>
        <a:bodyPr/>
        <a:lstStyle/>
        <a:p>
          <a:r>
            <a:rPr lang="es-ES" b="1" i="0" dirty="0"/>
            <a:t>9NN</a:t>
          </a:r>
          <a:endParaRPr lang="en-ES" dirty="0"/>
        </a:p>
      </dgm:t>
    </dgm:pt>
    <dgm:pt modelId="{C262CEBB-7006-A242-ADD3-B9235EF8735C}" type="parTrans" cxnId="{702EFC95-8543-6E42-8059-09D9E582B607}">
      <dgm:prSet/>
      <dgm:spPr/>
      <dgm:t>
        <a:bodyPr/>
        <a:lstStyle/>
        <a:p>
          <a:endParaRPr lang="en-GB"/>
        </a:p>
      </dgm:t>
    </dgm:pt>
    <dgm:pt modelId="{82304106-D479-C64E-9799-69BDAE43ED77}" type="sibTrans" cxnId="{702EFC95-8543-6E42-8059-09D9E582B607}">
      <dgm:prSet/>
      <dgm:spPr/>
      <dgm:t>
        <a:bodyPr/>
        <a:lstStyle/>
        <a:p>
          <a:endParaRPr lang="en-GB"/>
        </a:p>
      </dgm:t>
    </dgm:pt>
    <dgm:pt modelId="{67E4A056-504D-AF46-98B0-70C35D9DA4E2}" type="pres">
      <dgm:prSet presAssocID="{9DF0F9E5-841B-FF4D-9CB5-2F1286FB0B81}" presName="Name0" presStyleCnt="0">
        <dgm:presLayoutVars>
          <dgm:dir/>
          <dgm:animLvl val="lvl"/>
          <dgm:resizeHandles val="exact"/>
        </dgm:presLayoutVars>
      </dgm:prSet>
      <dgm:spPr/>
    </dgm:pt>
    <dgm:pt modelId="{73A4D826-B1A8-D24F-BF3E-D0DBA84542CC}" type="pres">
      <dgm:prSet presAssocID="{4B7548F0-E499-254C-9C9F-E02382EEB5E9}" presName="parTxOnly" presStyleLbl="node1" presStyleIdx="0" presStyleCnt="1" custScaleY="100359" custLinFactY="20531" custLinFactNeighborX="-24777" custLinFactNeighborY="100000">
        <dgm:presLayoutVars>
          <dgm:chMax val="0"/>
          <dgm:chPref val="0"/>
          <dgm:bulletEnabled val="1"/>
        </dgm:presLayoutVars>
      </dgm:prSet>
      <dgm:spPr/>
    </dgm:pt>
  </dgm:ptLst>
  <dgm:cxnLst>
    <dgm:cxn modelId="{1002DE02-5ED3-4342-BDE1-FA3F312D68AD}" type="presOf" srcId="{4B7548F0-E499-254C-9C9F-E02382EEB5E9}" destId="{73A4D826-B1A8-D24F-BF3E-D0DBA84542CC}" srcOrd="0" destOrd="0" presId="urn:microsoft.com/office/officeart/2005/8/layout/chevron1"/>
    <dgm:cxn modelId="{F9CE3E5F-7A8A-9343-B18D-8C94EFA95159}" type="presOf" srcId="{9DF0F9E5-841B-FF4D-9CB5-2F1286FB0B81}" destId="{67E4A056-504D-AF46-98B0-70C35D9DA4E2}" srcOrd="0" destOrd="0" presId="urn:microsoft.com/office/officeart/2005/8/layout/chevron1"/>
    <dgm:cxn modelId="{702EFC95-8543-6E42-8059-09D9E582B607}" srcId="{9DF0F9E5-841B-FF4D-9CB5-2F1286FB0B81}" destId="{4B7548F0-E499-254C-9C9F-E02382EEB5E9}" srcOrd="0" destOrd="0" parTransId="{C262CEBB-7006-A242-ADD3-B9235EF8735C}" sibTransId="{82304106-D479-C64E-9799-69BDAE43ED77}"/>
    <dgm:cxn modelId="{69D04B74-A752-5042-9CF7-6117575B75E6}" type="presParOf" srcId="{67E4A056-504D-AF46-98B0-70C35D9DA4E2}" destId="{73A4D826-B1A8-D24F-BF3E-D0DBA84542CC}" srcOrd="0"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A8F40A-6895-D54A-891B-0666CD46C550}"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GB"/>
        </a:p>
      </dgm:t>
    </dgm:pt>
    <dgm:pt modelId="{C1C1743D-B186-F748-A62C-FD5A8898EAD1}">
      <dgm:prSet/>
      <dgm:spPr/>
      <dgm:t>
        <a:bodyPr/>
        <a:lstStyle/>
        <a:p>
          <a:r>
            <a:rPr lang="es-ES" b="1" i="0" dirty="0" err="1"/>
            <a:t>Naive</a:t>
          </a:r>
          <a:r>
            <a:rPr lang="es-ES" b="1" i="0" dirty="0"/>
            <a:t> Bayes</a:t>
          </a:r>
          <a:endParaRPr lang="en-ES" dirty="0"/>
        </a:p>
      </dgm:t>
    </dgm:pt>
    <dgm:pt modelId="{BFDED490-0320-3A44-AD14-229EFAEF53D6}" type="parTrans" cxnId="{67CFEEEF-B575-2949-97D0-9FE1107E538B}">
      <dgm:prSet/>
      <dgm:spPr/>
      <dgm:t>
        <a:bodyPr/>
        <a:lstStyle/>
        <a:p>
          <a:endParaRPr lang="en-GB"/>
        </a:p>
      </dgm:t>
    </dgm:pt>
    <dgm:pt modelId="{4D310E4D-EC3C-4D47-A9BB-A0B136EAB064}" type="sibTrans" cxnId="{67CFEEEF-B575-2949-97D0-9FE1107E538B}">
      <dgm:prSet/>
      <dgm:spPr/>
      <dgm:t>
        <a:bodyPr/>
        <a:lstStyle/>
        <a:p>
          <a:endParaRPr lang="en-GB"/>
        </a:p>
      </dgm:t>
    </dgm:pt>
    <dgm:pt modelId="{801AE17F-C31F-CA43-BC84-69CE827808FD}" type="pres">
      <dgm:prSet presAssocID="{06A8F40A-6895-D54A-891B-0666CD46C550}" presName="Name0" presStyleCnt="0">
        <dgm:presLayoutVars>
          <dgm:chPref val="3"/>
          <dgm:dir/>
          <dgm:animLvl val="lvl"/>
          <dgm:resizeHandles/>
        </dgm:presLayoutVars>
      </dgm:prSet>
      <dgm:spPr/>
    </dgm:pt>
    <dgm:pt modelId="{06EE72E4-7873-9447-9BF1-5DC88BD79E5B}" type="pres">
      <dgm:prSet presAssocID="{C1C1743D-B186-F748-A62C-FD5A8898EAD1}" presName="horFlow" presStyleCnt="0"/>
      <dgm:spPr/>
    </dgm:pt>
    <dgm:pt modelId="{259A7068-6F6F-9B4D-894D-518C62EBCA00}" type="pres">
      <dgm:prSet presAssocID="{C1C1743D-B186-F748-A62C-FD5A8898EAD1}" presName="bigChev" presStyleLbl="node1" presStyleIdx="0" presStyleCnt="1" custAng="0" custScaleX="137387" custLinFactNeighborX="23488" custLinFactNeighborY="44"/>
      <dgm:spPr/>
    </dgm:pt>
  </dgm:ptLst>
  <dgm:cxnLst>
    <dgm:cxn modelId="{5CCA5F2A-4954-FF43-8687-2DC8E689D82F}" type="presOf" srcId="{06A8F40A-6895-D54A-891B-0666CD46C550}" destId="{801AE17F-C31F-CA43-BC84-69CE827808FD}" srcOrd="0" destOrd="0" presId="urn:microsoft.com/office/officeart/2005/8/layout/lProcess3"/>
    <dgm:cxn modelId="{556D64A5-CEA6-3040-B2B1-568B85FB8AA7}" type="presOf" srcId="{C1C1743D-B186-F748-A62C-FD5A8898EAD1}" destId="{259A7068-6F6F-9B4D-894D-518C62EBCA00}" srcOrd="0" destOrd="0" presId="urn:microsoft.com/office/officeart/2005/8/layout/lProcess3"/>
    <dgm:cxn modelId="{67CFEEEF-B575-2949-97D0-9FE1107E538B}" srcId="{06A8F40A-6895-D54A-891B-0666CD46C550}" destId="{C1C1743D-B186-F748-A62C-FD5A8898EAD1}" srcOrd="0" destOrd="0" parTransId="{BFDED490-0320-3A44-AD14-229EFAEF53D6}" sibTransId="{4D310E4D-EC3C-4D47-A9BB-A0B136EAB064}"/>
    <dgm:cxn modelId="{FB2D6210-190A-204E-B71F-517859FDEE68}" type="presParOf" srcId="{801AE17F-C31F-CA43-BC84-69CE827808FD}" destId="{06EE72E4-7873-9447-9BF1-5DC88BD79E5B}" srcOrd="0" destOrd="0" presId="urn:microsoft.com/office/officeart/2005/8/layout/lProcess3"/>
    <dgm:cxn modelId="{FB235A8D-837A-A841-8A54-20EA48662ADC}" type="presParOf" srcId="{06EE72E4-7873-9447-9BF1-5DC88BD79E5B}" destId="{259A7068-6F6F-9B4D-894D-518C62EBCA00}" srcOrd="0" destOrd="0" presId="urn:microsoft.com/office/officeart/2005/8/layout/lProcess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CE2B-3BA2-48DB-B768-70EF00B4488D}">
      <dsp:nvSpPr>
        <dsp:cNvPr id="0" name=""/>
        <dsp:cNvSpPr/>
      </dsp:nvSpPr>
      <dsp:spPr>
        <a:xfrm>
          <a:off x="0" y="0"/>
          <a:ext cx="5013062" cy="4921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s-ES" sz="900" b="1" kern="1200" dirty="0">
              <a:solidFill>
                <a:srgbClr val="002060"/>
              </a:solidFill>
            </a:rPr>
            <a:t>	Business </a:t>
          </a:r>
          <a:r>
            <a:rPr lang="es-ES" sz="900" b="1" kern="1200" dirty="0" err="1">
              <a:solidFill>
                <a:srgbClr val="002060"/>
              </a:solidFill>
            </a:rPr>
            <a:t>understanding</a:t>
          </a:r>
          <a:r>
            <a:rPr lang="es-ES" sz="900" b="1" kern="1200" dirty="0">
              <a:solidFill>
                <a:srgbClr val="002060"/>
              </a:solidFill>
            </a:rPr>
            <a:t> </a:t>
          </a:r>
          <a:r>
            <a:rPr lang="es-ES" sz="900" kern="1200" dirty="0"/>
            <a:t>– Todo el equipo</a:t>
          </a:r>
        </a:p>
      </dsp:txBody>
      <dsp:txXfrm>
        <a:off x="1071719" y="0"/>
        <a:ext cx="3941343" cy="492118"/>
      </dsp:txXfrm>
    </dsp:sp>
    <dsp:sp modelId="{EF2D8EC3-8FE2-4E7C-B86A-83EDAF07162F}">
      <dsp:nvSpPr>
        <dsp:cNvPr id="0" name=""/>
        <dsp:cNvSpPr/>
      </dsp:nvSpPr>
      <dsp:spPr>
        <a:xfrm>
          <a:off x="69107" y="53767"/>
          <a:ext cx="1002612" cy="384583"/>
        </a:xfrm>
        <a:prstGeom prst="roundRect">
          <a:avLst>
            <a:gd name="adj" fmla="val 10000"/>
          </a:avLst>
        </a:prstGeom>
        <a:blipFill>
          <a:blip xmlns:r="http://schemas.openxmlformats.org/officeDocument/2006/relationships" r:embed="rId1"/>
          <a:srcRect/>
          <a:stretch>
            <a:fillRect t="-84000" b="-8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2AE6C0-B4ED-4A08-98AA-6732B6DC385E}">
      <dsp:nvSpPr>
        <dsp:cNvPr id="0" name=""/>
        <dsp:cNvSpPr/>
      </dsp:nvSpPr>
      <dsp:spPr>
        <a:xfrm>
          <a:off x="0" y="561225"/>
          <a:ext cx="5013062" cy="8236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understanding</a:t>
          </a:r>
          <a:r>
            <a:rPr lang="es-ES" sz="800" b="1" kern="1200" dirty="0">
              <a:solidFill>
                <a:srgbClr val="002060"/>
              </a:solidFill>
            </a:rPr>
            <a:t> </a:t>
          </a:r>
          <a:r>
            <a:rPr lang="es-ES" sz="800" b="1" kern="1200" dirty="0"/>
            <a:t>-</a:t>
          </a:r>
          <a:r>
            <a:rPr lang="es-ES" sz="800" kern="1200" dirty="0"/>
            <a:t>  Todo el equipo</a:t>
          </a:r>
        </a:p>
        <a:p>
          <a:pPr marL="0" lvl="0" indent="0" algn="l" defTabSz="355600">
            <a:lnSpc>
              <a:spcPct val="90000"/>
            </a:lnSpc>
            <a:spcBef>
              <a:spcPct val="0"/>
            </a:spcBef>
            <a:spcAft>
              <a:spcPct val="35000"/>
            </a:spcAft>
            <a:buNone/>
          </a:pPr>
          <a:r>
            <a:rPr lang="es-ES" sz="800" kern="1200" dirty="0"/>
            <a:t>  	Diseño del </a:t>
          </a:r>
          <a:r>
            <a:rPr lang="es-ES" sz="800" kern="1200" dirty="0" err="1"/>
            <a:t>metadata</a:t>
          </a:r>
          <a:r>
            <a:rPr lang="es-ES" sz="800" kern="1200" dirty="0"/>
            <a:t> – Melissa</a:t>
          </a:r>
        </a:p>
        <a:p>
          <a:pPr marL="0" lvl="0" indent="0" algn="l" defTabSz="355600">
            <a:lnSpc>
              <a:spcPct val="90000"/>
            </a:lnSpc>
            <a:spcBef>
              <a:spcPct val="0"/>
            </a:spcBef>
            <a:spcAft>
              <a:spcPct val="35000"/>
            </a:spcAft>
            <a:buNone/>
          </a:pPr>
          <a:r>
            <a:rPr lang="es-ES" sz="800" kern="1200" dirty="0"/>
            <a:t>     	EDA– </a:t>
          </a:r>
          <a:r>
            <a:rPr lang="es-ES" sz="800" kern="1200" dirty="0" err="1"/>
            <a:t>Wenjia</a:t>
          </a:r>
          <a:r>
            <a:rPr lang="es-ES" sz="800" kern="1200" dirty="0"/>
            <a:t> y </a:t>
          </a:r>
          <a:r>
            <a:rPr lang="es-ES" sz="800" kern="1200" dirty="0" err="1"/>
            <a:t>Siling</a:t>
          </a:r>
          <a:endParaRPr lang="es-ES" sz="800" kern="1200" dirty="0"/>
        </a:p>
        <a:p>
          <a:pPr marL="0" lvl="0" indent="0" algn="l" defTabSz="355600">
            <a:lnSpc>
              <a:spcPct val="90000"/>
            </a:lnSpc>
            <a:spcBef>
              <a:spcPct val="0"/>
            </a:spcBef>
            <a:spcAft>
              <a:spcPct val="35000"/>
            </a:spcAft>
            <a:buNone/>
          </a:pPr>
          <a:r>
            <a:rPr lang="es-ES" sz="800" kern="1200" dirty="0"/>
            <a:t>     	Análisis de </a:t>
          </a:r>
          <a:r>
            <a:rPr lang="es-ES" sz="800" kern="1200" dirty="0" err="1"/>
            <a:t>outliers</a:t>
          </a:r>
          <a:r>
            <a:rPr lang="es-ES" sz="800" kern="1200" dirty="0"/>
            <a:t> (pre-imputación): Mario, Laura y Melissa</a:t>
          </a:r>
        </a:p>
        <a:p>
          <a:pPr marL="0" lvl="0" indent="0" algn="l" defTabSz="355600">
            <a:lnSpc>
              <a:spcPct val="90000"/>
            </a:lnSpc>
            <a:spcBef>
              <a:spcPct val="0"/>
            </a:spcBef>
            <a:spcAft>
              <a:spcPct val="35000"/>
            </a:spcAft>
            <a:buNone/>
          </a:pPr>
          <a:endParaRPr lang="es-ES" sz="800" kern="1200" dirty="0"/>
        </a:p>
      </dsp:txBody>
      <dsp:txXfrm>
        <a:off x="1071719" y="561225"/>
        <a:ext cx="3941343" cy="823604"/>
      </dsp:txXfrm>
    </dsp:sp>
    <dsp:sp modelId="{C9E8AD8B-B134-4129-BD9A-C060E9DACAFC}">
      <dsp:nvSpPr>
        <dsp:cNvPr id="0" name=""/>
        <dsp:cNvSpPr/>
      </dsp:nvSpPr>
      <dsp:spPr>
        <a:xfrm>
          <a:off x="69107" y="639732"/>
          <a:ext cx="1002612" cy="666590"/>
        </a:xfrm>
        <a:prstGeom prst="roundRect">
          <a:avLst>
            <a:gd name="adj" fmla="val 10000"/>
          </a:avLst>
        </a:prstGeom>
        <a:blipFill>
          <a:blip xmlns:r="http://schemas.openxmlformats.org/officeDocument/2006/relationships" r:embed="rId2"/>
          <a:srcRect/>
          <a:stretch>
            <a:fillRect l="-9000" r="-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452C4A-60F5-47BC-8505-428BC48A03CB}">
      <dsp:nvSpPr>
        <dsp:cNvPr id="0" name=""/>
        <dsp:cNvSpPr/>
      </dsp:nvSpPr>
      <dsp:spPr>
        <a:xfrm>
          <a:off x="0" y="1453936"/>
          <a:ext cx="5013062" cy="904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preparation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800" kern="1200" dirty="0"/>
            <a:t>	Imputación </a:t>
          </a:r>
          <a:r>
            <a:rPr lang="es-ES" sz="800" kern="1200" dirty="0" err="1"/>
            <a:t>missings</a:t>
          </a:r>
          <a:r>
            <a:rPr lang="es-ES" sz="800" kern="1200" dirty="0"/>
            <a:t> – Mario y Laura</a:t>
          </a:r>
        </a:p>
        <a:p>
          <a:pPr marL="0" lvl="0" indent="0" algn="l" defTabSz="355600">
            <a:lnSpc>
              <a:spcPct val="90000"/>
            </a:lnSpc>
            <a:spcBef>
              <a:spcPct val="0"/>
            </a:spcBef>
            <a:spcAft>
              <a:spcPct val="35000"/>
            </a:spcAft>
            <a:buNone/>
          </a:pPr>
          <a:r>
            <a:rPr lang="es-ES" sz="800" kern="1200" dirty="0"/>
            <a:t>	</a:t>
          </a:r>
          <a:r>
            <a:rPr lang="es-ES" sz="800" kern="1200" dirty="0" err="1"/>
            <a:t>Tratatamiento</a:t>
          </a:r>
          <a:r>
            <a:rPr lang="es-ES" sz="800" kern="1200" dirty="0"/>
            <a:t> </a:t>
          </a:r>
          <a:r>
            <a:rPr lang="es-ES" sz="800" kern="1200" dirty="0" err="1"/>
            <a:t>Outliers</a:t>
          </a:r>
          <a:r>
            <a:rPr lang="es-ES" sz="800" kern="1200" dirty="0"/>
            <a:t> – Mario, Laura y Melissa</a:t>
          </a:r>
        </a:p>
        <a:p>
          <a:pPr marL="0" lvl="0" indent="0" algn="l" defTabSz="355600">
            <a:lnSpc>
              <a:spcPct val="90000"/>
            </a:lnSpc>
            <a:spcBef>
              <a:spcPct val="0"/>
            </a:spcBef>
            <a:spcAft>
              <a:spcPct val="35000"/>
            </a:spcAft>
            <a:buNone/>
          </a:pPr>
          <a:r>
            <a:rPr lang="es-ES" sz="800" kern="1200" dirty="0"/>
            <a:t>	</a:t>
          </a:r>
          <a:r>
            <a:rPr lang="es-ES" sz="800" kern="1200" dirty="0" err="1"/>
            <a:t>Feature</a:t>
          </a:r>
          <a:r>
            <a:rPr lang="es-ES" sz="800" kern="1200" dirty="0"/>
            <a:t> </a:t>
          </a:r>
          <a:r>
            <a:rPr lang="es-ES" sz="800" kern="1200" dirty="0" err="1"/>
            <a:t>Engineering</a:t>
          </a:r>
          <a:r>
            <a:rPr lang="es-ES" sz="800" kern="1200" dirty="0"/>
            <a:t>– </a:t>
          </a:r>
          <a:r>
            <a:rPr lang="es-ES" sz="800" kern="1200" dirty="0" err="1"/>
            <a:t>Wenjia</a:t>
          </a:r>
          <a:r>
            <a:rPr lang="es-ES" sz="800" kern="1200" dirty="0"/>
            <a:t> </a:t>
          </a:r>
        </a:p>
      </dsp:txBody>
      <dsp:txXfrm>
        <a:off x="1071719" y="1453936"/>
        <a:ext cx="3941343" cy="904673"/>
      </dsp:txXfrm>
    </dsp:sp>
    <dsp:sp modelId="{D306C488-315E-46F7-B989-FFF5212BF6E2}">
      <dsp:nvSpPr>
        <dsp:cNvPr id="0" name=""/>
        <dsp:cNvSpPr/>
      </dsp:nvSpPr>
      <dsp:spPr>
        <a:xfrm>
          <a:off x="69107" y="1577210"/>
          <a:ext cx="1002612" cy="658125"/>
        </a:xfrm>
        <a:prstGeom prst="roundRect">
          <a:avLst>
            <a:gd name="adj" fmla="val 10000"/>
          </a:avLst>
        </a:prstGeom>
        <a:blipFill>
          <a:blip xmlns:r="http://schemas.openxmlformats.org/officeDocument/2006/relationships" r:embed="rId3"/>
          <a:srcRect/>
          <a:stretch>
            <a:fillRect t="-8000" b="-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68D843-76C1-42B0-834B-2DA28FCB0771}">
      <dsp:nvSpPr>
        <dsp:cNvPr id="0" name=""/>
        <dsp:cNvSpPr/>
      </dsp:nvSpPr>
      <dsp:spPr>
        <a:xfrm>
          <a:off x="0" y="2427717"/>
          <a:ext cx="5013062" cy="6910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Modeling</a:t>
          </a:r>
          <a:r>
            <a:rPr lang="es-ES" sz="800" b="1" kern="1200" dirty="0">
              <a:solidFill>
                <a:srgbClr val="002060"/>
              </a:solidFill>
            </a:rPr>
            <a:t> &amp; </a:t>
          </a:r>
          <a:r>
            <a:rPr lang="es-ES" sz="800" b="1" kern="1200" dirty="0" err="1">
              <a:solidFill>
                <a:srgbClr val="002060"/>
              </a:solidFill>
            </a:rPr>
            <a:t>Evaluation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700" kern="1200" dirty="0"/>
            <a:t>	KNN – </a:t>
          </a:r>
          <a:r>
            <a:rPr lang="es-ES" sz="700" kern="1200" dirty="0" err="1"/>
            <a:t>Siling</a:t>
          </a:r>
          <a:r>
            <a:rPr lang="es-ES" sz="700" kern="1200" dirty="0"/>
            <a:t> y Laura</a:t>
          </a:r>
        </a:p>
        <a:p>
          <a:pPr marL="0" lvl="0" indent="0" algn="l" defTabSz="355600">
            <a:lnSpc>
              <a:spcPct val="90000"/>
            </a:lnSpc>
            <a:spcBef>
              <a:spcPct val="0"/>
            </a:spcBef>
            <a:spcAft>
              <a:spcPct val="35000"/>
            </a:spcAft>
            <a:buNone/>
          </a:pPr>
          <a:r>
            <a:rPr lang="es-ES" sz="700" kern="1200" dirty="0"/>
            <a:t>               </a:t>
          </a:r>
          <a:r>
            <a:rPr lang="es-ES" sz="700" kern="1200" dirty="0" err="1"/>
            <a:t>Naive</a:t>
          </a:r>
          <a:r>
            <a:rPr lang="es-ES" sz="700" kern="1200" dirty="0"/>
            <a:t> Bayes – Melissa y </a:t>
          </a:r>
          <a:r>
            <a:rPr lang="es-ES" sz="700" kern="1200" dirty="0" err="1"/>
            <a:t>Wenjia</a:t>
          </a:r>
          <a:endParaRPr lang="es-ES" sz="700" kern="1200" dirty="0"/>
        </a:p>
        <a:p>
          <a:pPr marL="0" lvl="0" indent="0" algn="l" defTabSz="355600">
            <a:lnSpc>
              <a:spcPct val="90000"/>
            </a:lnSpc>
            <a:spcBef>
              <a:spcPct val="0"/>
            </a:spcBef>
            <a:spcAft>
              <a:spcPct val="35000"/>
            </a:spcAft>
            <a:buNone/>
          </a:pPr>
          <a:r>
            <a:rPr lang="es-ES" sz="700" kern="1200" dirty="0"/>
            <a:t>               </a:t>
          </a:r>
          <a:r>
            <a:rPr lang="es-ES" sz="700" kern="1200" dirty="0" err="1"/>
            <a:t>Testing</a:t>
          </a:r>
          <a:r>
            <a:rPr lang="es-ES" sz="700" kern="1200" dirty="0"/>
            <a:t> múltiples configuraciones de variables</a:t>
          </a:r>
          <a:endParaRPr lang="es-ES" sz="800" b="1" kern="1200" dirty="0">
            <a:solidFill>
              <a:srgbClr val="002060"/>
            </a:solidFill>
          </a:endParaRPr>
        </a:p>
      </dsp:txBody>
      <dsp:txXfrm>
        <a:off x="1071719" y="2427717"/>
        <a:ext cx="3941343" cy="691070"/>
      </dsp:txXfrm>
    </dsp:sp>
    <dsp:sp modelId="{D58F51A8-C9AC-49A7-BF07-49E56398E46B}">
      <dsp:nvSpPr>
        <dsp:cNvPr id="0" name=""/>
        <dsp:cNvSpPr/>
      </dsp:nvSpPr>
      <dsp:spPr>
        <a:xfrm>
          <a:off x="69107" y="2496824"/>
          <a:ext cx="1002612" cy="552856"/>
        </a:xfrm>
        <a:prstGeom prst="roundRect">
          <a:avLst>
            <a:gd name="adj" fmla="val 10000"/>
          </a:avLst>
        </a:prstGeom>
        <a:blipFill>
          <a:blip xmlns:r="http://schemas.openxmlformats.org/officeDocument/2006/relationships" r:embed="rId4"/>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B88185-A619-4D08-836A-F611598437A8}">
      <dsp:nvSpPr>
        <dsp:cNvPr id="0" name=""/>
        <dsp:cNvSpPr/>
      </dsp:nvSpPr>
      <dsp:spPr>
        <a:xfrm>
          <a:off x="0" y="3188498"/>
          <a:ext cx="5013062" cy="497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Association</a:t>
          </a:r>
          <a:r>
            <a:rPr lang="es-ES" sz="800" b="1" kern="1200" dirty="0">
              <a:solidFill>
                <a:srgbClr val="002060"/>
              </a:solidFill>
            </a:rPr>
            <a:t> Rules </a:t>
          </a:r>
          <a:r>
            <a:rPr lang="es-ES" sz="800" kern="1200" dirty="0"/>
            <a:t>- Mario</a:t>
          </a:r>
        </a:p>
      </dsp:txBody>
      <dsp:txXfrm>
        <a:off x="1071719" y="3188498"/>
        <a:ext cx="3941343" cy="497211"/>
      </dsp:txXfrm>
    </dsp:sp>
    <dsp:sp modelId="{F2ED9228-CFBA-4661-8996-A0E7EA7BA1F7}">
      <dsp:nvSpPr>
        <dsp:cNvPr id="0" name=""/>
        <dsp:cNvSpPr/>
      </dsp:nvSpPr>
      <dsp:spPr>
        <a:xfrm rot="10800000" flipV="1">
          <a:off x="69107" y="3247680"/>
          <a:ext cx="1002612" cy="377639"/>
        </a:xfrm>
        <a:prstGeom prst="roundRect">
          <a:avLst>
            <a:gd name="adj" fmla="val 10000"/>
          </a:avLst>
        </a:prstGeom>
        <a:blipFill>
          <a:blip xmlns:r="http://schemas.openxmlformats.org/officeDocument/2006/relationships" r:embed="rId5"/>
          <a:srcRect/>
          <a:stretch>
            <a:fillRect t="-17000" b="-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A4D826-B1A8-D24F-BF3E-D0DBA84542CC}">
      <dsp:nvSpPr>
        <dsp:cNvPr id="0" name=""/>
        <dsp:cNvSpPr/>
      </dsp:nvSpPr>
      <dsp:spPr>
        <a:xfrm>
          <a:off x="0" y="0"/>
          <a:ext cx="1615465" cy="5727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s-ES" sz="3100" b="1" i="0" kern="1200" dirty="0"/>
            <a:t>9NN</a:t>
          </a:r>
          <a:endParaRPr lang="en-ES" sz="3100" kern="1200" dirty="0"/>
        </a:p>
      </dsp:txBody>
      <dsp:txXfrm>
        <a:off x="286350" y="0"/>
        <a:ext cx="1042765" cy="572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A7068-6F6F-9B4D-894D-518C62EBCA00}">
      <dsp:nvSpPr>
        <dsp:cNvPr id="0" name=""/>
        <dsp:cNvSpPr/>
      </dsp:nvSpPr>
      <dsp:spPr>
        <a:xfrm>
          <a:off x="626215" y="327"/>
          <a:ext cx="1822240" cy="53054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s-ES" sz="1900" b="1" i="0" kern="1200" dirty="0" err="1"/>
            <a:t>Naive</a:t>
          </a:r>
          <a:r>
            <a:rPr lang="es-ES" sz="1900" b="1" i="0" kern="1200" dirty="0"/>
            <a:t> Bayes</a:t>
          </a:r>
          <a:endParaRPr lang="en-ES" sz="1900" kern="1200" dirty="0"/>
        </a:p>
      </dsp:txBody>
      <dsp:txXfrm>
        <a:off x="891486" y="327"/>
        <a:ext cx="1291698" cy="530542"/>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8028E81-57C6-1593-64D2-2F9447AD23EC}"/>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C822796-AAF9-416D-5813-7287F66C1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7386DF6-5036-A24C-2C47-0359D52DB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13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FAE2499-CEA9-C50F-7E2C-06B6B87A96C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6381296F-49E2-EE6C-3B09-49888440D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D2C2C34E-F03D-18C8-1847-DE6DBC220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83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8B8C9B7-18DD-2BF4-511B-900F390F325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9B241DD-A987-248E-17DC-E7330DC68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2D2273CD-E9BA-18FA-CB69-57EED9CB8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636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EB3F05F5-AFD5-4819-92DF-C01A028C6B4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973B723A-2D58-5398-7EF2-65EBE7AED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2654BD5-B16D-A160-4C56-0DFAE8F6A3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825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59820B26-AA19-A094-D8E3-7F42E68FE30E}"/>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8157F4D-12C7-6B4B-C378-F6CC2A6BF0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E3FE745A-9DB6-8F30-15C1-2A4BF20C3D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904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E712297-7568-3729-6473-F9FC483D3C0A}"/>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33E3917D-884B-6864-A41F-BA0A081BB7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14A1270-1F1A-8795-C7F7-2B597898F0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1925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F9D095C8-0226-BB72-3FBD-4A88C0CA70E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3697108-8F75-1B30-720A-F59CA12EB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87F9B2AB-71BC-76D2-6C4F-C7B524AF4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502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68FCBE4-F2E5-AA70-0ABE-AD515DDC407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ECD27E3D-0CCC-0820-F83E-254D8F8AE7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FFA0AC-1456-5561-8CB2-12B73D497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874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4B1B9DB9-1E0B-BE5D-FEDC-94181AFC7BB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35E1531-89BA-8AA5-4E7C-7B1F2496C6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D6D8473-DDC8-333E-DE7B-CB6A9A883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32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BAAC2AE-CB48-76B4-F98C-D7A460C3A079}"/>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6113192-CD14-8B92-B9EC-FB04141643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5F33D6C-291A-B078-5F59-57BC62888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539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7FB33C63-1A5C-C0F6-91D7-501B73FFFBD1}"/>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A048CA35-E7A9-3E8B-3DEF-5D6CAA6BF1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3F1EFDE-20CB-955A-9875-81497B1F0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029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BE759C5-4FE1-D61C-0652-7568C91FD2A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2B7CF05-6148-D979-4E69-7B9B5FD30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069D085-9D1B-631D-B0C1-611F2F509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6221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6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wen2111/Mineria.git" TargetMode="External"/><Relationship Id="rId3" Type="http://schemas.openxmlformats.org/officeDocument/2006/relationships/hyperlink" Target="mailto:maragonvalderrama@gmail.com" TargetMode="External"/><Relationship Id="rId7" Type="http://schemas.openxmlformats.org/officeDocument/2006/relationships/hyperlink" Target="mailto:wenjia.ye@estudiantat.upc.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melissa.Vargas@estudiantat.upc.edu" TargetMode="External"/><Relationship Id="rId5" Type="http://schemas.openxmlformats.org/officeDocument/2006/relationships/hyperlink" Target="mailto:siling.guo@estudiantat.ub.edu" TargetMode="External"/><Relationship Id="rId10" Type="http://schemas.openxmlformats.org/officeDocument/2006/relationships/image" Target="../media/image2.png"/><Relationship Id="rId4" Type="http://schemas.openxmlformats.org/officeDocument/2006/relationships/hyperlink" Target="mailto:laura.Belmonte@estudiantat.upc.edu"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8gkdJarOZ79z3jslKR75xZv-rDIFEC87KTDdDdfIytM/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4.sv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jpeg"/><Relationship Id="rId4" Type="http://schemas.openxmlformats.org/officeDocument/2006/relationships/image" Target="../media/image33.jpeg"/></Relationships>
</file>

<file path=ppt/slides/_rels/slide15.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hyperlink" Target="https://github.com/wen2111/Mineria" TargetMode="External"/><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a:extLst>
              <a:ext uri="{FF2B5EF4-FFF2-40B4-BE49-F238E27FC236}">
                <a16:creationId xmlns:a16="http://schemas.microsoft.com/office/drawing/2014/main" id="{4AA276FC-05B9-D88D-F05D-EE88303AD2E8}"/>
              </a:ext>
            </a:extLst>
          </p:cNvPr>
          <p:cNvSpPr txBox="1">
            <a:spLocks/>
          </p:cNvSpPr>
          <p:nvPr/>
        </p:nvSpPr>
        <p:spPr>
          <a:xfrm>
            <a:off x="817580" y="203462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None/>
              <a:defRPr sz="1600" b="0" i="0" u="none" strike="noStrike" cap="none">
                <a:solidFill>
                  <a:schemeClr val="dk1"/>
                </a:solidFill>
                <a:latin typeface="Didact Gothic"/>
                <a:ea typeface="Didact Gothic"/>
                <a:cs typeface="Didact Gothic"/>
                <a:sym typeface="Didact Gothic"/>
              </a:defRPr>
            </a:lvl1pPr>
            <a:lvl2pPr marL="914400" marR="0" lvl="1"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2pPr>
            <a:lvl3pPr marL="1371600" marR="0" lvl="2"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3pPr>
            <a:lvl4pPr marL="1828800" marR="0" lvl="3"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4pPr>
            <a:lvl5pPr marL="2286000" marR="0" lvl="4"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5pPr>
            <a:lvl6pPr marL="2743200" marR="0" lvl="5"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6pPr>
            <a:lvl7pPr marL="3200400" marR="0" lvl="6"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7pPr>
            <a:lvl8pPr marL="3657600" marR="0" lvl="7"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8pPr>
            <a:lvl9pPr marL="4114800" marR="0" lvl="8"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9pPr>
          </a:lstStyle>
          <a:p>
            <a:r>
              <a:rPr lang="es-ES" dirty="0">
                <a:solidFill>
                  <a:schemeClr val="tx1"/>
                </a:solidFill>
              </a:rPr>
              <a:t>- Mario Aragón (</a:t>
            </a:r>
            <a:r>
              <a:rPr lang="es-ES" dirty="0">
                <a:solidFill>
                  <a:schemeClr val="tx1"/>
                </a:solidFill>
                <a:hlinkClick r:id="rId3"/>
              </a:rPr>
              <a:t>maragonvalderrama@gmail.com</a:t>
            </a:r>
            <a:r>
              <a:rPr lang="es-ES" dirty="0">
                <a:solidFill>
                  <a:schemeClr val="tx1"/>
                </a:solidFill>
              </a:rPr>
              <a:t>), (G05 </a:t>
            </a:r>
            <a:r>
              <a:rPr lang="es-ES" dirty="0" err="1">
                <a:solidFill>
                  <a:schemeClr val="tx1"/>
                </a:solidFill>
              </a:rPr>
              <a:t>mariovalde</a:t>
            </a:r>
            <a:r>
              <a:rPr lang="es-ES" dirty="0">
                <a:solidFill>
                  <a:schemeClr val="tx1"/>
                </a:solidFill>
              </a:rPr>
              <a:t>)</a:t>
            </a:r>
          </a:p>
          <a:p>
            <a:r>
              <a:rPr lang="es-ES" dirty="0">
                <a:solidFill>
                  <a:schemeClr val="tx1"/>
                </a:solidFill>
              </a:rPr>
              <a:t>- Laura Belmonte (</a:t>
            </a:r>
            <a:r>
              <a:rPr lang="es-ES" dirty="0">
                <a:solidFill>
                  <a:schemeClr val="tx1"/>
                </a:solidFill>
                <a:hlinkClick r:id="rId4"/>
              </a:rPr>
              <a:t>laura.Belmonte@estudiantat.upc.edu</a:t>
            </a:r>
            <a:r>
              <a:rPr lang="es-ES" dirty="0">
                <a:solidFill>
                  <a:schemeClr val="tx1"/>
                </a:solidFill>
              </a:rPr>
              <a:t>), (G05, </a:t>
            </a:r>
            <a:r>
              <a:rPr lang="es-ES" dirty="0" err="1">
                <a:solidFill>
                  <a:schemeClr val="tx1"/>
                </a:solidFill>
              </a:rPr>
              <a:t>laurabelvel</a:t>
            </a:r>
            <a:r>
              <a:rPr lang="es-ES" dirty="0">
                <a:solidFill>
                  <a:schemeClr val="tx1"/>
                </a:solidFill>
              </a:rPr>
              <a:t>)</a:t>
            </a: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dirty="0">
                <a:solidFill>
                  <a:schemeClr val="tx1"/>
                </a:solidFill>
              </a:rPr>
              <a:t> (</a:t>
            </a:r>
            <a:r>
              <a:rPr lang="es-ES" dirty="0">
                <a:solidFill>
                  <a:schemeClr val="tx1"/>
                </a:solidFill>
                <a:hlinkClick r:id="rId5"/>
              </a:rPr>
              <a:t>siling.guo@estudiantat.ub.edu</a:t>
            </a:r>
            <a:r>
              <a:rPr lang="es-ES" dirty="0">
                <a:solidFill>
                  <a:schemeClr val="tx1"/>
                </a:solidFill>
              </a:rPr>
              <a:t>), (G05, </a:t>
            </a:r>
            <a:r>
              <a:rPr lang="es-ES" dirty="0" err="1">
                <a:solidFill>
                  <a:schemeClr val="tx1"/>
                </a:solidFill>
              </a:rPr>
              <a:t>silinguo</a:t>
            </a:r>
            <a:r>
              <a:rPr lang="es-ES" dirty="0">
                <a:solidFill>
                  <a:schemeClr val="tx1"/>
                </a:solidFill>
              </a:rPr>
              <a:t>)</a:t>
            </a:r>
          </a:p>
          <a:p>
            <a:r>
              <a:rPr lang="es-ES" dirty="0">
                <a:solidFill>
                  <a:schemeClr val="tx1"/>
                </a:solidFill>
              </a:rPr>
              <a:t>- Melissa Vargas (</a:t>
            </a:r>
            <a:r>
              <a:rPr lang="es-ES" dirty="0">
                <a:solidFill>
                  <a:schemeClr val="tx1"/>
                </a:solidFill>
                <a:hlinkClick r:id="rId6"/>
              </a:rPr>
              <a:t>melissa.Vargas@estudiantat.upc.edu</a:t>
            </a:r>
            <a:r>
              <a:rPr lang="es-ES" dirty="0">
                <a:solidFill>
                  <a:schemeClr val="tx1"/>
                </a:solidFill>
              </a:rPr>
              <a:t>), (G05, </a:t>
            </a:r>
            <a:r>
              <a:rPr lang="es-ES" dirty="0" err="1">
                <a:solidFill>
                  <a:schemeClr val="tx1"/>
                </a:solidFill>
              </a:rPr>
              <a:t>matildasanchez</a:t>
            </a:r>
            <a:r>
              <a:rPr lang="es-ES" dirty="0">
                <a:solidFill>
                  <a:schemeClr val="tx1"/>
                </a:solidFill>
              </a:rPr>
              <a:t>)</a:t>
            </a:r>
          </a:p>
          <a:p>
            <a:r>
              <a:rPr lang="es-ES" dirty="0">
                <a:solidFill>
                  <a:schemeClr val="tx1"/>
                </a:solidFill>
              </a:rPr>
              <a:t>- </a:t>
            </a:r>
            <a:r>
              <a:rPr lang="es-ES" dirty="0" err="1">
                <a:solidFill>
                  <a:schemeClr val="tx1"/>
                </a:solidFill>
              </a:rPr>
              <a:t>Wenjia</a:t>
            </a:r>
            <a:r>
              <a:rPr lang="es-ES" dirty="0">
                <a:solidFill>
                  <a:schemeClr val="tx1"/>
                </a:solidFill>
              </a:rPr>
              <a:t> Ye (</a:t>
            </a:r>
            <a:r>
              <a:rPr lang="es-ES" dirty="0">
                <a:solidFill>
                  <a:schemeClr val="tx1"/>
                </a:solidFill>
                <a:hlinkClick r:id="rId7"/>
              </a:rPr>
              <a:t>wenjia.ye@estudiantat.upc.edu</a:t>
            </a:r>
            <a:r>
              <a:rPr lang="es-ES" dirty="0">
                <a:solidFill>
                  <a:schemeClr val="tx1"/>
                </a:solidFill>
              </a:rPr>
              <a:t>), (G05, wenjiaye03)</a:t>
            </a:r>
          </a:p>
          <a:p>
            <a:pPr marL="342900" indent="-342900">
              <a:buFontTx/>
              <a:buChar char="-"/>
            </a:pPr>
            <a:endParaRPr lang="es-ES" dirty="0">
              <a:solidFill>
                <a:schemeClr val="tx1"/>
              </a:solidFill>
            </a:endParaRPr>
          </a:p>
          <a:p>
            <a:r>
              <a:rPr lang="es-ES" dirty="0">
                <a:solidFill>
                  <a:schemeClr val="tx1"/>
                </a:solidFill>
                <a:highlight>
                  <a:srgbClr val="C0C0C0"/>
                </a:highlight>
                <a:hlinkClick r:id="rId8"/>
              </a:rPr>
              <a:t>Enlace </a:t>
            </a:r>
            <a:r>
              <a:rPr lang="es-ES" dirty="0" err="1">
                <a:solidFill>
                  <a:schemeClr val="tx1"/>
                </a:solidFill>
                <a:highlight>
                  <a:srgbClr val="C0C0C0"/>
                </a:highlight>
                <a:hlinkClick r:id="rId8"/>
              </a:rPr>
              <a:t>Github</a:t>
            </a:r>
            <a:endParaRPr lang="es-ES" dirty="0">
              <a:solidFill>
                <a:schemeClr val="tx1"/>
              </a:solidFill>
              <a:highlight>
                <a:srgbClr val="C0C0C0"/>
              </a:highlight>
            </a:endParaRPr>
          </a:p>
          <a:p>
            <a:endParaRPr lang="es-ES" dirty="0">
              <a:solidFill>
                <a:schemeClr val="tx1"/>
              </a:solidFill>
            </a:endParaRPr>
          </a:p>
        </p:txBody>
      </p:sp>
      <p:pic>
        <p:nvPicPr>
          <p:cNvPr id="5" name="Picture 2">
            <a:extLst>
              <a:ext uri="{FF2B5EF4-FFF2-40B4-BE49-F238E27FC236}">
                <a16:creationId xmlns:a16="http://schemas.microsoft.com/office/drawing/2014/main" id="{DAEF8B93-ACE2-20E9-0CD8-1E1CD9551B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24585" y="3919863"/>
            <a:ext cx="2794142" cy="8405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5544264-51CF-5110-A0FC-FF649F66C6A8}"/>
              </a:ext>
            </a:extLst>
          </p:cNvPr>
          <p:cNvSpPr txBox="1"/>
          <p:nvPr/>
        </p:nvSpPr>
        <p:spPr>
          <a:xfrm>
            <a:off x="5924585" y="92108"/>
            <a:ext cx="2254050" cy="307777"/>
          </a:xfrm>
          <a:prstGeom prst="rect">
            <a:avLst/>
          </a:prstGeom>
          <a:noFill/>
        </p:spPr>
        <p:txBody>
          <a:bodyPr wrap="square" rtlCol="0">
            <a:spAutoFit/>
          </a:bodyPr>
          <a:lstStyle/>
          <a:p>
            <a:r>
              <a:rPr lang="es-ES" dirty="0">
                <a:latin typeface="Arial Black" panose="020B0A04020102020204" pitchFamily="34" charset="0"/>
              </a:rPr>
              <a:t>Grado en Estadística</a:t>
            </a:r>
          </a:p>
        </p:txBody>
      </p:sp>
      <p:pic>
        <p:nvPicPr>
          <p:cNvPr id="3" name="Picture 2" descr="Blue text on a white background&#10;&#10;Description automatically generated">
            <a:extLst>
              <a:ext uri="{FF2B5EF4-FFF2-40B4-BE49-F238E27FC236}">
                <a16:creationId xmlns:a16="http://schemas.microsoft.com/office/drawing/2014/main" id="{4190149F-5BE5-2724-2BF0-29C1E8FFDF3D}"/>
              </a:ext>
            </a:extLst>
          </p:cNvPr>
          <p:cNvPicPr>
            <a:picLocks noChangeAspect="1"/>
          </p:cNvPicPr>
          <p:nvPr/>
        </p:nvPicPr>
        <p:blipFill>
          <a:blip r:embed="rId10"/>
          <a:stretch>
            <a:fillRect/>
          </a:stretch>
        </p:blipFill>
        <p:spPr>
          <a:xfrm>
            <a:off x="1189265" y="3988006"/>
            <a:ext cx="2603500" cy="781050"/>
          </a:xfrm>
          <a:prstGeom prst="rect">
            <a:avLst/>
          </a:prstGeom>
        </p:spPr>
      </p:pic>
      <p:sp>
        <p:nvSpPr>
          <p:cNvPr id="7" name="CuadroTexto 5">
            <a:extLst>
              <a:ext uri="{FF2B5EF4-FFF2-40B4-BE49-F238E27FC236}">
                <a16:creationId xmlns:a16="http://schemas.microsoft.com/office/drawing/2014/main" id="{2406FEDD-85BD-5DD4-065C-516FA724A815}"/>
              </a:ext>
            </a:extLst>
          </p:cNvPr>
          <p:cNvSpPr txBox="1"/>
          <p:nvPr/>
        </p:nvSpPr>
        <p:spPr>
          <a:xfrm>
            <a:off x="874163" y="92109"/>
            <a:ext cx="2254050" cy="307777"/>
          </a:xfrm>
          <a:prstGeom prst="rect">
            <a:avLst/>
          </a:prstGeom>
          <a:noFill/>
        </p:spPr>
        <p:txBody>
          <a:bodyPr wrap="square" rtlCol="0">
            <a:spAutoFit/>
          </a:bodyPr>
          <a:lstStyle/>
          <a:p>
            <a:r>
              <a:rPr lang="es-ES" dirty="0">
                <a:latin typeface="Arial Black" panose="020B0A04020102020204" pitchFamily="34" charset="0"/>
              </a:rPr>
              <a:t>Minería de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1003002" y="25989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graphicFrame>
        <p:nvGraphicFramePr>
          <p:cNvPr id="3" name="Table 2">
            <a:extLst>
              <a:ext uri="{FF2B5EF4-FFF2-40B4-BE49-F238E27FC236}">
                <a16:creationId xmlns:a16="http://schemas.microsoft.com/office/drawing/2014/main" id="{792EB573-F103-5ABA-06F9-E7F7227DCADD}"/>
              </a:ext>
            </a:extLst>
          </p:cNvPr>
          <p:cNvGraphicFramePr>
            <a:graphicFrameLocks noGrp="1"/>
          </p:cNvGraphicFramePr>
          <p:nvPr>
            <p:extLst>
              <p:ext uri="{D42A27DB-BD31-4B8C-83A1-F6EECF244321}">
                <p14:modId xmlns:p14="http://schemas.microsoft.com/office/powerpoint/2010/main" val="2465489480"/>
              </p:ext>
            </p:extLst>
          </p:nvPr>
        </p:nvGraphicFramePr>
        <p:xfrm>
          <a:off x="170035" y="914400"/>
          <a:ext cx="7318978" cy="3682224"/>
        </p:xfrm>
        <a:graphic>
          <a:graphicData uri="http://schemas.openxmlformats.org/drawingml/2006/table">
            <a:tbl>
              <a:tblPr firstRow="1" bandRow="1">
                <a:tableStyleId>{5C22544A-7EE6-4342-B048-85BDC9FD1C3A}</a:tableStyleId>
              </a:tblPr>
              <a:tblGrid>
                <a:gridCol w="2172643">
                  <a:extLst>
                    <a:ext uri="{9D8B030D-6E8A-4147-A177-3AD203B41FA5}">
                      <a16:colId xmlns:a16="http://schemas.microsoft.com/office/drawing/2014/main" val="20000"/>
                    </a:ext>
                  </a:extLst>
                </a:gridCol>
                <a:gridCol w="5146335">
                  <a:extLst>
                    <a:ext uri="{9D8B030D-6E8A-4147-A177-3AD203B41FA5}">
                      <a16:colId xmlns:a16="http://schemas.microsoft.com/office/drawing/2014/main" val="20001"/>
                    </a:ext>
                  </a:extLst>
                </a:gridCol>
              </a:tblGrid>
              <a:tr h="554796">
                <a:tc>
                  <a:txBody>
                    <a:bodyPr/>
                    <a:lstStyle/>
                    <a:p>
                      <a:pPr algn="l">
                        <a:defRPr sz="1400" b="1">
                          <a:solidFill>
                            <a:srgbClr val="00468C"/>
                          </a:solidFill>
                        </a:defRPr>
                      </a:pPr>
                      <a:r>
                        <a:rPr sz="1200" dirty="0" err="1"/>
                        <a:t>Resumen</a:t>
                      </a:r>
                      <a:r>
                        <a:rPr sz="1200" dirty="0"/>
                        <a:t> del </a:t>
                      </a:r>
                      <a:r>
                        <a:rPr sz="1200" dirty="0" err="1"/>
                        <a:t>problema</a:t>
                      </a:r>
                      <a:endParaRPr sz="1200" dirty="0"/>
                    </a:p>
                  </a:txBody>
                  <a:tcPr/>
                </a:tc>
                <a:tc>
                  <a:txBody>
                    <a:bodyPr/>
                    <a:lstStyle/>
                    <a:p>
                      <a:pPr algn="l">
                        <a:defRPr sz="1200"/>
                      </a:pPr>
                      <a:r>
                        <a:rPr lang="en-GB" i="1" dirty="0" err="1">
                          <a:solidFill>
                            <a:schemeClr val="tx1"/>
                          </a:solidFill>
                        </a:rPr>
                        <a:t>Clasificar</a:t>
                      </a:r>
                      <a:r>
                        <a:rPr lang="en-GB" i="1" dirty="0">
                          <a:solidFill>
                            <a:schemeClr val="tx1"/>
                          </a:solidFill>
                        </a:rPr>
                        <a:t> </a:t>
                      </a:r>
                      <a:r>
                        <a:rPr lang="en-GB" i="1" dirty="0" err="1">
                          <a:solidFill>
                            <a:schemeClr val="tx1"/>
                          </a:solidFill>
                        </a:rPr>
                        <a:t>clientes</a:t>
                      </a:r>
                      <a:r>
                        <a:rPr lang="en-GB" i="1" dirty="0">
                          <a:solidFill>
                            <a:schemeClr val="tx1"/>
                          </a:solidFill>
                        </a:rPr>
                        <a:t> </a:t>
                      </a:r>
                      <a:r>
                        <a:rPr lang="en-GB" i="1" dirty="0" err="1">
                          <a:solidFill>
                            <a:schemeClr val="tx1"/>
                          </a:solidFill>
                        </a:rPr>
                        <a:t>bancarios</a:t>
                      </a:r>
                      <a:r>
                        <a:rPr lang="en-GB" i="1" dirty="0">
                          <a:solidFill>
                            <a:schemeClr val="tx1"/>
                          </a:solidFill>
                        </a:rPr>
                        <a:t> </a:t>
                      </a:r>
                      <a:r>
                        <a:rPr lang="en-GB" i="1" dirty="0" err="1">
                          <a:solidFill>
                            <a:schemeClr val="tx1"/>
                          </a:solidFill>
                        </a:rPr>
                        <a:t>según</a:t>
                      </a:r>
                      <a:r>
                        <a:rPr lang="en-GB" i="1" dirty="0">
                          <a:solidFill>
                            <a:schemeClr val="tx1"/>
                          </a:solidFill>
                        </a:rPr>
                        <a:t> </a:t>
                      </a:r>
                      <a:r>
                        <a:rPr lang="en-GB" i="1" dirty="0" err="1">
                          <a:solidFill>
                            <a:schemeClr val="tx1"/>
                          </a:solidFill>
                        </a:rPr>
                        <a:t>riesgo</a:t>
                      </a:r>
                      <a:r>
                        <a:rPr lang="en-GB" i="1" dirty="0">
                          <a:solidFill>
                            <a:schemeClr val="tx1"/>
                          </a:solidFill>
                        </a:rPr>
                        <a:t> de </a:t>
                      </a:r>
                      <a:r>
                        <a:rPr lang="en-GB" i="1" dirty="0" err="1">
                          <a:solidFill>
                            <a:schemeClr val="tx1"/>
                          </a:solidFill>
                        </a:rPr>
                        <a:t>abandono</a:t>
                      </a:r>
                      <a:r>
                        <a:rPr lang="en-GB" i="1" dirty="0">
                          <a:solidFill>
                            <a:schemeClr val="tx1"/>
                          </a:solidFill>
                        </a:rPr>
                        <a:t> </a:t>
                      </a:r>
                      <a:r>
                        <a:rPr lang="en-GB" i="1" dirty="0" err="1">
                          <a:solidFill>
                            <a:schemeClr val="tx1"/>
                          </a:solidFill>
                        </a:rPr>
                        <a:t>mediante</a:t>
                      </a:r>
                      <a:r>
                        <a:rPr lang="en-GB" i="1" dirty="0">
                          <a:solidFill>
                            <a:schemeClr val="tx1"/>
                          </a:solidFill>
                        </a:rPr>
                        <a:t> variables del </a:t>
                      </a:r>
                      <a:r>
                        <a:rPr lang="en-GB" i="1" dirty="0" err="1">
                          <a:solidFill>
                            <a:schemeClr val="tx1"/>
                          </a:solidFill>
                        </a:rPr>
                        <a:t>usuario</a:t>
                      </a:r>
                      <a:r>
                        <a:rPr lang="en-GB" dirty="0">
                          <a:solidFill>
                            <a:schemeClr val="tx1"/>
                          </a:solidFill>
                        </a:rPr>
                        <a:t>.</a:t>
                      </a:r>
                      <a:endParaRPr dirty="0">
                        <a:solidFill>
                          <a:schemeClr val="tx1"/>
                        </a:solidFill>
                      </a:endParaRPr>
                    </a:p>
                  </a:txBody>
                  <a:tcPr/>
                </a:tc>
                <a:extLst>
                  <a:ext uri="{0D108BD9-81ED-4DB2-BD59-A6C34878D82A}">
                    <a16:rowId xmlns:a16="http://schemas.microsoft.com/office/drawing/2014/main" val="10000"/>
                  </a:ext>
                </a:extLst>
              </a:tr>
              <a:tr h="554796">
                <a:tc>
                  <a:txBody>
                    <a:bodyPr/>
                    <a:lstStyle/>
                    <a:p>
                      <a:pPr algn="l">
                        <a:defRPr sz="1400" b="1">
                          <a:solidFill>
                            <a:srgbClr val="00468C"/>
                          </a:solidFill>
                        </a:defRPr>
                      </a:pPr>
                      <a:r>
                        <a:rPr dirty="0" err="1"/>
                        <a:t>Contexto</a:t>
                      </a:r>
                      <a:r>
                        <a:rPr dirty="0"/>
                        <a:t> de </a:t>
                      </a:r>
                      <a:r>
                        <a:rPr dirty="0" err="1"/>
                        <a:t>aplicación</a:t>
                      </a:r>
                      <a:endParaRPr dirty="0"/>
                    </a:p>
                  </a:txBody>
                  <a:tcPr/>
                </a:tc>
                <a:tc>
                  <a:txBody>
                    <a:bodyPr/>
                    <a:lstStyle/>
                    <a:p>
                      <a:pPr algn="l">
                        <a:defRPr sz="1200"/>
                      </a:pPr>
                      <a:r>
                        <a:rPr lang="en-GB" dirty="0"/>
                        <a:t>Identidad </a:t>
                      </a:r>
                      <a:r>
                        <a:rPr lang="en-GB" dirty="0" err="1"/>
                        <a:t>Bancaria</a:t>
                      </a:r>
                      <a:r>
                        <a:rPr lang="en-GB" dirty="0"/>
                        <a:t>           </a:t>
                      </a:r>
                      <a:r>
                        <a:rPr lang="en-GB" dirty="0" err="1"/>
                        <a:t>busca</a:t>
                      </a:r>
                      <a:r>
                        <a:rPr lang="en-GB" dirty="0"/>
                        <a:t> </a:t>
                      </a:r>
                      <a:r>
                        <a:rPr lang="en-GB" dirty="0" err="1"/>
                        <a:t>identificar</a:t>
                      </a:r>
                      <a:r>
                        <a:rPr lang="en-GB" dirty="0"/>
                        <a:t> </a:t>
                      </a:r>
                      <a:r>
                        <a:rPr lang="en-GB" dirty="0" err="1"/>
                        <a:t>causas</a:t>
                      </a:r>
                      <a:r>
                        <a:rPr lang="en-GB" dirty="0"/>
                        <a:t> del </a:t>
                      </a:r>
                      <a:r>
                        <a:rPr lang="en-GB" dirty="0" err="1"/>
                        <a:t>abandono</a:t>
                      </a:r>
                      <a:r>
                        <a:rPr lang="en-GB" dirty="0"/>
                        <a:t> de sus </a:t>
                      </a:r>
                      <a:r>
                        <a:rPr lang="en-GB" dirty="0" err="1"/>
                        <a:t>clientes</a:t>
                      </a:r>
                      <a:endParaRPr dirty="0"/>
                    </a:p>
                  </a:txBody>
                  <a:tcPr/>
                </a:tc>
                <a:extLst>
                  <a:ext uri="{0D108BD9-81ED-4DB2-BD59-A6C34878D82A}">
                    <a16:rowId xmlns:a16="http://schemas.microsoft.com/office/drawing/2014/main" val="10001"/>
                  </a:ext>
                </a:extLst>
              </a:tr>
              <a:tr h="554796">
                <a:tc>
                  <a:txBody>
                    <a:bodyPr/>
                    <a:lstStyle/>
                    <a:p>
                      <a:pPr algn="l">
                        <a:defRPr sz="1400" b="1">
                          <a:solidFill>
                            <a:srgbClr val="00468C"/>
                          </a:solidFill>
                        </a:defRPr>
                      </a:pPr>
                      <a:r>
                        <a:t>Objetivo principal</a:t>
                      </a:r>
                    </a:p>
                  </a:txBody>
                  <a:tcPr/>
                </a:tc>
                <a:tc>
                  <a:txBody>
                    <a:bodyPr/>
                    <a:lstStyle/>
                    <a:p>
                      <a:pPr algn="l">
                        <a:defRPr sz="1200"/>
                      </a:pPr>
                      <a:r>
                        <a:rPr dirty="0" err="1"/>
                        <a:t>Modelizar</a:t>
                      </a:r>
                      <a:r>
                        <a:rPr dirty="0"/>
                        <a:t> la </a:t>
                      </a:r>
                      <a:r>
                        <a:rPr dirty="0" err="1"/>
                        <a:t>pérdida</a:t>
                      </a:r>
                      <a:r>
                        <a:rPr dirty="0"/>
                        <a:t> de </a:t>
                      </a:r>
                      <a:r>
                        <a:rPr dirty="0" err="1"/>
                        <a:t>clientes</a:t>
                      </a:r>
                      <a:r>
                        <a:rPr dirty="0"/>
                        <a:t> (churn) </a:t>
                      </a:r>
                      <a:r>
                        <a:rPr dirty="0" err="1"/>
                        <a:t>en</a:t>
                      </a:r>
                      <a:r>
                        <a:rPr dirty="0"/>
                        <a:t> </a:t>
                      </a:r>
                      <a:r>
                        <a:rPr dirty="0" err="1"/>
                        <a:t>función</a:t>
                      </a:r>
                      <a:r>
                        <a:rPr dirty="0"/>
                        <a:t> de variables del </a:t>
                      </a:r>
                      <a:r>
                        <a:rPr dirty="0" err="1"/>
                        <a:t>usuario</a:t>
                      </a:r>
                      <a:r>
                        <a:rPr dirty="0"/>
                        <a:t>.</a:t>
                      </a:r>
                    </a:p>
                  </a:txBody>
                  <a:tcPr/>
                </a:tc>
                <a:extLst>
                  <a:ext uri="{0D108BD9-81ED-4DB2-BD59-A6C34878D82A}">
                    <a16:rowId xmlns:a16="http://schemas.microsoft.com/office/drawing/2014/main" val="10002"/>
                  </a:ext>
                </a:extLst>
              </a:tr>
              <a:tr h="612776">
                <a:tc>
                  <a:txBody>
                    <a:bodyPr/>
                    <a:lstStyle/>
                    <a:p>
                      <a:pPr algn="l">
                        <a:defRPr sz="1400" b="1">
                          <a:solidFill>
                            <a:srgbClr val="00468C"/>
                          </a:solidFill>
                        </a:defRPr>
                      </a:pPr>
                      <a:r>
                        <a:t>Objetivos secundarios</a:t>
                      </a:r>
                    </a:p>
                  </a:txBody>
                  <a:tcPr/>
                </a:tc>
                <a:tc>
                  <a:txBody>
                    <a:bodyPr/>
                    <a:lstStyle/>
                    <a:p>
                      <a:pPr algn="l">
                        <a:defRPr sz="1200"/>
                      </a:pPr>
                      <a:r>
                        <a:rPr dirty="0"/>
                        <a:t>• </a:t>
                      </a:r>
                      <a:r>
                        <a:rPr dirty="0" err="1"/>
                        <a:t>Analizar</a:t>
                      </a:r>
                      <a:r>
                        <a:rPr dirty="0"/>
                        <a:t> la </a:t>
                      </a:r>
                      <a:r>
                        <a:rPr dirty="0" err="1"/>
                        <a:t>estructura</a:t>
                      </a:r>
                      <a:r>
                        <a:rPr dirty="0"/>
                        <a:t> de </a:t>
                      </a:r>
                      <a:r>
                        <a:rPr dirty="0" err="1"/>
                        <a:t>los</a:t>
                      </a:r>
                      <a:r>
                        <a:rPr dirty="0"/>
                        <a:t> </a:t>
                      </a:r>
                      <a:r>
                        <a:rPr dirty="0" err="1"/>
                        <a:t>datos</a:t>
                      </a:r>
                      <a:r>
                        <a:rPr dirty="0"/>
                        <a:t>.</a:t>
                      </a:r>
                      <a:br>
                        <a:rPr dirty="0"/>
                      </a:br>
                      <a:r>
                        <a:rPr dirty="0"/>
                        <a:t>• </a:t>
                      </a:r>
                      <a:r>
                        <a:rPr dirty="0" err="1"/>
                        <a:t>Identificar</a:t>
                      </a:r>
                      <a:r>
                        <a:rPr dirty="0"/>
                        <a:t> </a:t>
                      </a:r>
                      <a:r>
                        <a:rPr dirty="0" err="1"/>
                        <a:t>relaciones</a:t>
                      </a:r>
                      <a:r>
                        <a:rPr dirty="0"/>
                        <a:t> entre variables.</a:t>
                      </a:r>
                      <a:br>
                        <a:rPr dirty="0"/>
                      </a:br>
                      <a:r>
                        <a:rPr dirty="0"/>
                        <a:t>• </a:t>
                      </a:r>
                      <a:r>
                        <a:rPr dirty="0" err="1"/>
                        <a:t>Evaluar</a:t>
                      </a:r>
                      <a:r>
                        <a:rPr dirty="0"/>
                        <a:t> la </a:t>
                      </a:r>
                      <a:r>
                        <a:rPr dirty="0" err="1"/>
                        <a:t>influencia</a:t>
                      </a:r>
                      <a:r>
                        <a:rPr dirty="0"/>
                        <a:t> de las variables </a:t>
                      </a:r>
                      <a:r>
                        <a:rPr dirty="0" err="1"/>
                        <a:t>en</a:t>
                      </a:r>
                      <a:r>
                        <a:rPr dirty="0"/>
                        <a:t> la </a:t>
                      </a:r>
                      <a:r>
                        <a:rPr dirty="0" err="1"/>
                        <a:t>permanencia</a:t>
                      </a:r>
                      <a:r>
                        <a:rPr dirty="0"/>
                        <a:t> del </a:t>
                      </a:r>
                      <a:r>
                        <a:rPr dirty="0" err="1"/>
                        <a:t>cliente</a:t>
                      </a:r>
                      <a:r>
                        <a:rPr dirty="0"/>
                        <a:t>.</a:t>
                      </a:r>
                    </a:p>
                  </a:txBody>
                  <a:tcPr/>
                </a:tc>
                <a:extLst>
                  <a:ext uri="{0D108BD9-81ED-4DB2-BD59-A6C34878D82A}">
                    <a16:rowId xmlns:a16="http://schemas.microsoft.com/office/drawing/2014/main" val="10003"/>
                  </a:ext>
                </a:extLst>
              </a:tr>
              <a:tr h="787855">
                <a:tc>
                  <a:txBody>
                    <a:bodyPr/>
                    <a:lstStyle/>
                    <a:p>
                      <a:pPr algn="l">
                        <a:defRPr sz="1400" b="1">
                          <a:solidFill>
                            <a:srgbClr val="00468C"/>
                          </a:solidFill>
                        </a:defRPr>
                      </a:pPr>
                      <a:r>
                        <a:t>KPIs de control (modelo)</a:t>
                      </a:r>
                    </a:p>
                  </a:txBody>
                  <a:tcPr/>
                </a:tc>
                <a:tc>
                  <a:txBody>
                    <a:bodyPr/>
                    <a:lstStyle/>
                    <a:p>
                      <a:pPr algn="l">
                        <a:defRPr sz="1200"/>
                      </a:pPr>
                      <a:r>
                        <a:rPr dirty="0"/>
                        <a:t>• Accuracy</a:t>
                      </a:r>
                      <a:br>
                        <a:rPr dirty="0"/>
                      </a:br>
                      <a:r>
                        <a:rPr dirty="0"/>
                        <a:t>• Precision / Recall</a:t>
                      </a:r>
                      <a:br>
                        <a:rPr dirty="0"/>
                      </a:br>
                      <a:r>
                        <a:rPr dirty="0"/>
                        <a:t>• F1-Score</a:t>
                      </a:r>
                      <a:br>
                        <a:rPr dirty="0"/>
                      </a:br>
                      <a:r>
                        <a:rPr dirty="0"/>
                        <a:t>• AUC-ROC</a:t>
                      </a:r>
                    </a:p>
                  </a:txBody>
                  <a:tcPr/>
                </a:tc>
                <a:extLst>
                  <a:ext uri="{0D108BD9-81ED-4DB2-BD59-A6C34878D82A}">
                    <a16:rowId xmlns:a16="http://schemas.microsoft.com/office/drawing/2014/main" val="10004"/>
                  </a:ext>
                </a:extLst>
              </a:tr>
              <a:tr h="554796">
                <a:tc>
                  <a:txBody>
                    <a:bodyPr/>
                    <a:lstStyle/>
                    <a:p>
                      <a:pPr algn="l">
                        <a:defRPr sz="1400" b="1">
                          <a:solidFill>
                            <a:srgbClr val="00468C"/>
                          </a:solidFill>
                        </a:defRPr>
                      </a:pPr>
                      <a:r>
                        <a:t>KPI de negocio</a:t>
                      </a:r>
                    </a:p>
                  </a:txBody>
                  <a:tcPr/>
                </a:tc>
                <a:tc>
                  <a:txBody>
                    <a:bodyPr/>
                    <a:lstStyle/>
                    <a:p>
                      <a:pPr algn="l">
                        <a:defRPr sz="1200"/>
                      </a:pPr>
                      <a:r>
                        <a:rPr dirty="0"/>
                        <a:t>Tasa de </a:t>
                      </a:r>
                      <a:r>
                        <a:rPr dirty="0" err="1"/>
                        <a:t>retención</a:t>
                      </a:r>
                      <a:r>
                        <a:rPr dirty="0"/>
                        <a:t> de </a:t>
                      </a:r>
                      <a:r>
                        <a:rPr dirty="0" err="1"/>
                        <a:t>clientes</a:t>
                      </a:r>
                      <a:r>
                        <a:rPr dirty="0"/>
                        <a:t>.</a:t>
                      </a:r>
                    </a:p>
                  </a:txBody>
                  <a:tcPr/>
                </a:tc>
                <a:extLst>
                  <a:ext uri="{0D108BD9-81ED-4DB2-BD59-A6C34878D82A}">
                    <a16:rowId xmlns:a16="http://schemas.microsoft.com/office/drawing/2014/main" val="10005"/>
                  </a:ext>
                </a:extLst>
              </a:tr>
            </a:tbl>
          </a:graphicData>
        </a:graphic>
      </p:graphicFrame>
      <p:cxnSp>
        <p:nvCxnSpPr>
          <p:cNvPr id="5" name="Straight Arrow Connector 4">
            <a:extLst>
              <a:ext uri="{FF2B5EF4-FFF2-40B4-BE49-F238E27FC236}">
                <a16:creationId xmlns:a16="http://schemas.microsoft.com/office/drawing/2014/main" id="{0F658CDA-9847-DA7E-FDD6-1BC6CE6CDF57}"/>
              </a:ext>
            </a:extLst>
          </p:cNvPr>
          <p:cNvCxnSpPr>
            <a:cxnSpLocks/>
          </p:cNvCxnSpPr>
          <p:nvPr/>
        </p:nvCxnSpPr>
        <p:spPr>
          <a:xfrm>
            <a:off x="3829524" y="1636004"/>
            <a:ext cx="3022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black and white logo&#10;&#10;AI-generated content may be incorrect.">
            <a:extLst>
              <a:ext uri="{FF2B5EF4-FFF2-40B4-BE49-F238E27FC236}">
                <a16:creationId xmlns:a16="http://schemas.microsoft.com/office/drawing/2014/main" id="{6664B0D6-20C8-9600-1FDB-D0932C2A16BC}"/>
              </a:ext>
            </a:extLst>
          </p:cNvPr>
          <p:cNvPicPr>
            <a:picLocks noChangeAspect="1"/>
          </p:cNvPicPr>
          <p:nvPr/>
        </p:nvPicPr>
        <p:blipFill>
          <a:blip r:embed="rId3"/>
          <a:stretch>
            <a:fillRect/>
          </a:stretch>
        </p:blipFill>
        <p:spPr>
          <a:xfrm>
            <a:off x="7489013" y="332509"/>
            <a:ext cx="1566241" cy="1300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9D671E-736D-BBE5-2753-B44018DB6EB4}"/>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160F062-DB37-F0CE-0930-D313103DAB13}"/>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DATOS</a:t>
            </a:r>
            <a:endParaRPr dirty="0"/>
          </a:p>
        </p:txBody>
      </p:sp>
      <p:sp>
        <p:nvSpPr>
          <p:cNvPr id="7" name="CuadroTexto 6">
            <a:extLst>
              <a:ext uri="{FF2B5EF4-FFF2-40B4-BE49-F238E27FC236}">
                <a16:creationId xmlns:a16="http://schemas.microsoft.com/office/drawing/2014/main" id="{47FF6C25-282A-B6CB-A67C-33E161E8763F}"/>
              </a:ext>
            </a:extLst>
          </p:cNvPr>
          <p:cNvSpPr txBox="1"/>
          <p:nvPr/>
        </p:nvSpPr>
        <p:spPr>
          <a:xfrm>
            <a:off x="720000" y="1269402"/>
            <a:ext cx="7154598" cy="2462213"/>
          </a:xfrm>
          <a:prstGeom prst="rect">
            <a:avLst/>
          </a:prstGeom>
          <a:noFill/>
        </p:spPr>
        <p:txBody>
          <a:bodyPr wrap="square" rtlCol="0">
            <a:spAutoFit/>
          </a:bodyPr>
          <a:lstStyle/>
          <a:p>
            <a:r>
              <a:rPr lang="es-ES" dirty="0"/>
              <a:t>La base de datos cuenta inicialmente con </a:t>
            </a:r>
            <a:r>
              <a:rPr lang="es-ES" b="1" dirty="0"/>
              <a:t>23 variables</a:t>
            </a:r>
            <a:r>
              <a:rPr lang="es-ES" dirty="0"/>
              <a:t>:</a:t>
            </a:r>
          </a:p>
          <a:p>
            <a:pPr marL="285750" indent="-285750">
              <a:buFontTx/>
              <a:buChar char="-"/>
            </a:pPr>
            <a:r>
              <a:rPr lang="es-ES" b="1" dirty="0"/>
              <a:t>12 numéricas</a:t>
            </a:r>
          </a:p>
          <a:p>
            <a:pPr marL="285750" indent="-285750">
              <a:buFontTx/>
              <a:buChar char="-"/>
            </a:pPr>
            <a:r>
              <a:rPr lang="es-ES" b="1" dirty="0"/>
              <a:t>11 categóricas</a:t>
            </a:r>
            <a:r>
              <a:rPr lang="es-ES" dirty="0"/>
              <a:t>, de las cuales:	</a:t>
            </a:r>
          </a:p>
          <a:p>
            <a:pPr lvl="1"/>
            <a:r>
              <a:rPr lang="es-ES" dirty="0"/>
              <a:t>	- </a:t>
            </a:r>
            <a:r>
              <a:rPr lang="es-ES" b="1" dirty="0"/>
              <a:t>5 binarias</a:t>
            </a:r>
          </a:p>
          <a:p>
            <a:pPr lvl="1"/>
            <a:r>
              <a:rPr lang="es-ES" dirty="0"/>
              <a:t>		- Una de ellas es la variable a predecir (</a:t>
            </a:r>
            <a:r>
              <a:rPr lang="es-ES" dirty="0" err="1"/>
              <a:t>Exited</a:t>
            </a:r>
            <a:r>
              <a:rPr lang="es-ES" dirty="0"/>
              <a:t>)</a:t>
            </a:r>
          </a:p>
          <a:p>
            <a:pPr lvl="1"/>
            <a:r>
              <a:rPr lang="es-ES" dirty="0"/>
              <a:t>	- </a:t>
            </a:r>
            <a:r>
              <a:rPr lang="es-ES" b="1" dirty="0"/>
              <a:t>2 identificadoras </a:t>
            </a:r>
            <a:r>
              <a:rPr lang="es-ES" dirty="0"/>
              <a:t>(ID, </a:t>
            </a:r>
            <a:r>
              <a:rPr lang="es-ES" dirty="0" err="1"/>
              <a:t>Surname</a:t>
            </a:r>
            <a:r>
              <a:rPr lang="es-ES" dirty="0"/>
              <a:t>)</a:t>
            </a:r>
          </a:p>
          <a:p>
            <a:pPr lvl="1"/>
            <a:endParaRPr lang="es-ES" dirty="0"/>
          </a:p>
          <a:p>
            <a:pPr lvl="1"/>
            <a:r>
              <a:rPr lang="es-ES" dirty="0"/>
              <a:t>En el siguiente enlace se incluye un </a:t>
            </a:r>
            <a:r>
              <a:rPr lang="es-ES" dirty="0" err="1"/>
              <a:t>Metadata</a:t>
            </a:r>
            <a:r>
              <a:rPr lang="es-ES" dirty="0"/>
              <a:t> más extenso donde se incluye información específica para cada variable (Nombre, tipología, rango, </a:t>
            </a:r>
            <a:r>
              <a:rPr lang="es-ES" dirty="0" err="1"/>
              <a:t>business</a:t>
            </a:r>
            <a:r>
              <a:rPr lang="es-ES" dirty="0"/>
              <a:t> </a:t>
            </a:r>
            <a:r>
              <a:rPr lang="es-ES" dirty="0" err="1"/>
              <a:t>category</a:t>
            </a:r>
            <a:r>
              <a:rPr lang="es-ES" dirty="0"/>
              <a:t> y una pequeña descripción de su significado)</a:t>
            </a:r>
            <a:r>
              <a:rPr lang="es-ES" dirty="0">
                <a:solidFill>
                  <a:srgbClr val="0070C0"/>
                </a:solidFill>
              </a:rPr>
              <a:t>: </a:t>
            </a:r>
            <a:r>
              <a:rPr lang="es-ES" dirty="0" err="1">
                <a:solidFill>
                  <a:srgbClr val="0070C0"/>
                </a:solidFill>
                <a:hlinkClick r:id="rId3">
                  <a:extLst>
                    <a:ext uri="{A12FA001-AC4F-418D-AE19-62706E023703}">
                      <ahyp:hlinkClr xmlns:ahyp="http://schemas.microsoft.com/office/drawing/2018/hyperlinkcolor" val="tx"/>
                    </a:ext>
                  </a:extLst>
                </a:hlinkClick>
              </a:rPr>
              <a:t>Metadata</a:t>
            </a:r>
            <a:endParaRPr lang="es-ES" dirty="0">
              <a:solidFill>
                <a:srgbClr val="0070C0"/>
              </a:solidFill>
            </a:endParaRPr>
          </a:p>
          <a:p>
            <a:pPr lvl="1"/>
            <a:endParaRPr lang="es-ES" dirty="0"/>
          </a:p>
        </p:txBody>
      </p:sp>
      <p:sp>
        <p:nvSpPr>
          <p:cNvPr id="8" name="CuadroTexto 7">
            <a:extLst>
              <a:ext uri="{FF2B5EF4-FFF2-40B4-BE49-F238E27FC236}">
                <a16:creationId xmlns:a16="http://schemas.microsoft.com/office/drawing/2014/main" id="{1007598B-E9E1-3C48-B750-DD200F51AA4F}"/>
              </a:ext>
            </a:extLst>
          </p:cNvPr>
          <p:cNvSpPr txBox="1"/>
          <p:nvPr/>
        </p:nvSpPr>
        <p:spPr>
          <a:xfrm>
            <a:off x="817581" y="3861995"/>
            <a:ext cx="6970955" cy="738664"/>
          </a:xfrm>
          <a:prstGeom prst="rect">
            <a:avLst/>
          </a:prstGeom>
          <a:noFill/>
        </p:spPr>
        <p:txBody>
          <a:bodyPr wrap="square" rtlCol="0">
            <a:spAutoFit/>
          </a:bodyPr>
          <a:lstStyle/>
          <a:p>
            <a:pPr marL="285750" indent="-285750">
              <a:buFont typeface="Wingdings" panose="05000000000000000000" pitchFamily="2" charset="2"/>
              <a:buChar char="q"/>
            </a:pPr>
            <a:r>
              <a:rPr lang="es-ES" b="1" i="1" dirty="0"/>
              <a:t>Importante</a:t>
            </a:r>
            <a:r>
              <a:rPr lang="es-ES" dirty="0"/>
              <a:t>: Este es el </a:t>
            </a:r>
            <a:r>
              <a:rPr lang="es-ES" dirty="0" err="1"/>
              <a:t>Metadata</a:t>
            </a:r>
            <a:r>
              <a:rPr lang="es-ES" dirty="0"/>
              <a:t> propio del entendimiento de los datos. Es susceptible a cambios en etapas futuras del proyecto como en ingeniería de variables.</a:t>
            </a:r>
          </a:p>
        </p:txBody>
      </p:sp>
    </p:spTree>
    <p:extLst>
      <p:ext uri="{BB962C8B-B14F-4D97-AF65-F5344CB8AC3E}">
        <p14:creationId xmlns:p14="http://schemas.microsoft.com/office/powerpoint/2010/main" val="187869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AE743641-168A-62A7-64C4-12B21E9AC8FC}"/>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14CE457C-56DB-B4B3-1828-5D8139674A5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a:extLst>
              <a:ext uri="{FF2B5EF4-FFF2-40B4-BE49-F238E27FC236}">
                <a16:creationId xmlns:a16="http://schemas.microsoft.com/office/drawing/2014/main" id="{CBD4D518-7DAA-184B-0314-92BDAE637D38}"/>
              </a:ext>
            </a:extLst>
          </p:cNvPr>
          <p:cNvGraphicFramePr/>
          <p:nvPr>
            <p:extLst>
              <p:ext uri="{D42A27DB-BD31-4B8C-83A1-F6EECF244321}">
                <p14:modId xmlns:p14="http://schemas.microsoft.com/office/powerpoint/2010/main" val="53099396"/>
              </p:ext>
            </p:extLst>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EAFFC7C5-F970-1FD5-95CA-A319822DB911}"/>
              </a:ext>
            </a:extLst>
          </p:cNvPr>
          <p:cNvSpPr txBox="1"/>
          <p:nvPr/>
        </p:nvSpPr>
        <p:spPr>
          <a:xfrm>
            <a:off x="279699" y="1112200"/>
            <a:ext cx="3131238" cy="1231106"/>
          </a:xfrm>
          <a:prstGeom prst="rect">
            <a:avLst/>
          </a:prstGeom>
          <a:noFill/>
        </p:spPr>
        <p:txBody>
          <a:bodyPr wrap="square" rtlCol="0">
            <a:spAutoFit/>
          </a:bodyPr>
          <a:lstStyle/>
          <a:p>
            <a:pPr marL="285750" indent="-285750">
              <a:buFont typeface="Arial" panose="020B0604020202020204" pitchFamily="34" charset="0"/>
              <a:buChar char="•"/>
            </a:pPr>
            <a:r>
              <a:rPr lang="en-GB" sz="1200" dirty="0" err="1"/>
              <a:t>Metodología</a:t>
            </a:r>
            <a:r>
              <a:rPr lang="en-GB" sz="1200" dirty="0"/>
              <a:t>: CRISP-DM (Cross Industry Standard Process for Data Mining)</a:t>
            </a:r>
          </a:p>
          <a:p>
            <a:pPr marL="285750" indent="-285750">
              <a:buFont typeface="Arial" panose="020B0604020202020204" pitchFamily="34" charset="0"/>
              <a:buChar char="•"/>
            </a:pPr>
            <a:r>
              <a:rPr lang="en-GB" sz="1200" dirty="0" err="1"/>
              <a:t>Enfoque</a:t>
            </a:r>
            <a:r>
              <a:rPr lang="en-GB" sz="1200" dirty="0"/>
              <a:t>: </a:t>
            </a:r>
            <a:r>
              <a:rPr lang="en-GB" sz="1200" dirty="0" err="1"/>
              <a:t>Trabajo</a:t>
            </a:r>
            <a:r>
              <a:rPr lang="en-GB" sz="1200" dirty="0"/>
              <a:t> </a:t>
            </a:r>
            <a:r>
              <a:rPr lang="en-GB" sz="1200" dirty="0" err="1"/>
              <a:t>colaborativo</a:t>
            </a:r>
            <a:r>
              <a:rPr lang="en-GB" sz="1200" dirty="0"/>
              <a:t> con </a:t>
            </a:r>
            <a:r>
              <a:rPr lang="en-GB" sz="1200" dirty="0" err="1"/>
              <a:t>asignación</a:t>
            </a:r>
            <a:r>
              <a:rPr lang="en-GB" sz="1200" dirty="0"/>
              <a:t> de </a:t>
            </a:r>
            <a:r>
              <a:rPr lang="en-GB" sz="1200" dirty="0" err="1"/>
              <a:t>responsables</a:t>
            </a:r>
            <a:r>
              <a:rPr lang="en-GB" sz="1200" dirty="0"/>
              <a:t> </a:t>
            </a:r>
            <a:r>
              <a:rPr lang="en-GB" sz="1200" dirty="0" err="1"/>
              <a:t>por</a:t>
            </a:r>
            <a:r>
              <a:rPr lang="en-GB" sz="1200" dirty="0"/>
              <a:t> </a:t>
            </a:r>
            <a:r>
              <a:rPr lang="en-GB" sz="1200" dirty="0" err="1"/>
              <a:t>fase</a:t>
            </a:r>
            <a:endParaRPr lang="en-GB" sz="1200" dirty="0"/>
          </a:p>
          <a:p>
            <a:pPr marL="285750" indent="-285750">
              <a:buFont typeface="Arial" panose="020B0604020202020204" pitchFamily="34" charset="0"/>
              <a:buChar char="•"/>
            </a:pPr>
            <a:endParaRPr lang="es-ES" b="1" dirty="0"/>
          </a:p>
        </p:txBody>
      </p:sp>
      <p:pic>
        <p:nvPicPr>
          <p:cNvPr id="9" name="Imagen 8">
            <a:extLst>
              <a:ext uri="{FF2B5EF4-FFF2-40B4-BE49-F238E27FC236}">
                <a16:creationId xmlns:a16="http://schemas.microsoft.com/office/drawing/2014/main" id="{ABFADC3A-F2D8-BABA-DD31-F0770B4C9B46}"/>
              </a:ext>
            </a:extLst>
          </p:cNvPr>
          <p:cNvPicPr>
            <a:picLocks noChangeAspect="1"/>
          </p:cNvPicPr>
          <p:nvPr/>
        </p:nvPicPr>
        <p:blipFill>
          <a:blip r:embed="rId8"/>
          <a:stretch>
            <a:fillRect/>
          </a:stretch>
        </p:blipFill>
        <p:spPr>
          <a:xfrm>
            <a:off x="374437" y="2250295"/>
            <a:ext cx="2750004" cy="2663526"/>
          </a:xfrm>
          <a:prstGeom prst="rect">
            <a:avLst/>
          </a:prstGeom>
          <a:ln>
            <a:solidFill>
              <a:schemeClr val="bg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1713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F0A1012-ECEC-8BC8-0063-D473929D3D2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946C38A-D74B-A3C1-5985-7F466699436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1/2</a:t>
            </a:r>
            <a:endParaRPr dirty="0"/>
          </a:p>
        </p:txBody>
      </p:sp>
      <p:pic>
        <p:nvPicPr>
          <p:cNvPr id="3" name="Imagen 2">
            <a:extLst>
              <a:ext uri="{FF2B5EF4-FFF2-40B4-BE49-F238E27FC236}">
                <a16:creationId xmlns:a16="http://schemas.microsoft.com/office/drawing/2014/main" id="{1D516515-DA42-9655-BB01-518323B33C34}"/>
              </a:ext>
            </a:extLst>
          </p:cNvPr>
          <p:cNvPicPr>
            <a:picLocks noChangeAspect="1"/>
          </p:cNvPicPr>
          <p:nvPr/>
        </p:nvPicPr>
        <p:blipFill>
          <a:blip r:embed="rId3"/>
          <a:stretch>
            <a:fillRect/>
          </a:stretch>
        </p:blipFill>
        <p:spPr>
          <a:xfrm>
            <a:off x="720000" y="1209851"/>
            <a:ext cx="3369761" cy="1745784"/>
          </a:xfrm>
          <a:prstGeom prst="rect">
            <a:avLst/>
          </a:prstGeom>
        </p:spPr>
      </p:pic>
      <p:sp>
        <p:nvSpPr>
          <p:cNvPr id="4" name="CuadroTexto 3">
            <a:extLst>
              <a:ext uri="{FF2B5EF4-FFF2-40B4-BE49-F238E27FC236}">
                <a16:creationId xmlns:a16="http://schemas.microsoft.com/office/drawing/2014/main" id="{3A063028-BC82-FA0D-BF4A-CD1689F34D4C}"/>
              </a:ext>
            </a:extLst>
          </p:cNvPr>
          <p:cNvSpPr txBox="1"/>
          <p:nvPr/>
        </p:nvSpPr>
        <p:spPr>
          <a:xfrm>
            <a:off x="4572000" y="1370384"/>
            <a:ext cx="4227755" cy="1031051"/>
          </a:xfrm>
          <a:prstGeom prst="rect">
            <a:avLst/>
          </a:prstGeom>
          <a:noFill/>
        </p:spPr>
        <p:txBody>
          <a:bodyPr wrap="square" rtlCol="0">
            <a:spAutoFit/>
          </a:bodyPr>
          <a:lstStyle/>
          <a:p>
            <a:r>
              <a:rPr lang="en-GB" sz="1100" dirty="0"/>
              <a:t>Entre las variables </a:t>
            </a:r>
            <a:r>
              <a:rPr lang="en-GB" sz="1100" dirty="0" err="1"/>
              <a:t>numéricas</a:t>
            </a:r>
            <a:r>
              <a:rPr lang="en-GB" sz="1100" dirty="0"/>
              <a:t> se </a:t>
            </a:r>
            <a:r>
              <a:rPr lang="en-GB" sz="1100" dirty="0" err="1"/>
              <a:t>han</a:t>
            </a:r>
            <a:r>
              <a:rPr lang="en-GB" sz="1100" dirty="0"/>
              <a:t> </a:t>
            </a:r>
            <a:r>
              <a:rPr lang="en-GB" sz="1100" dirty="0" err="1"/>
              <a:t>identificado</a:t>
            </a:r>
            <a:r>
              <a:rPr lang="en-GB" sz="1100" dirty="0"/>
              <a:t> </a:t>
            </a:r>
            <a:r>
              <a:rPr lang="en-GB" sz="1100" dirty="0" err="1"/>
              <a:t>correlaciones</a:t>
            </a:r>
            <a:r>
              <a:rPr lang="en-GB" sz="1100" dirty="0"/>
              <a:t> </a:t>
            </a:r>
            <a:r>
              <a:rPr lang="en-GB" sz="1100" dirty="0" err="1"/>
              <a:t>significativas</a:t>
            </a:r>
            <a:r>
              <a:rPr lang="en-GB" sz="1100" dirty="0"/>
              <a:t> entre</a:t>
            </a:r>
          </a:p>
          <a:p>
            <a:endParaRPr lang="en-GB" sz="1100" dirty="0"/>
          </a:p>
          <a:p>
            <a:r>
              <a:rPr lang="es-ES" b="1" dirty="0">
                <a:solidFill>
                  <a:srgbClr val="0070C0"/>
                </a:solidFill>
              </a:rPr>
              <a:t>número de quejas – satisfacción (</a:t>
            </a:r>
            <a:r>
              <a:rPr lang="en-GB" b="1" dirty="0">
                <a:solidFill>
                  <a:srgbClr val="0070C0"/>
                </a:solidFill>
              </a:rPr>
              <a:t>r = -0.31)</a:t>
            </a:r>
            <a:endParaRPr lang="es-ES" b="1" dirty="0">
              <a:solidFill>
                <a:srgbClr val="0070C0"/>
              </a:solidFill>
            </a:endParaRPr>
          </a:p>
          <a:p>
            <a:r>
              <a:rPr lang="es-ES" b="1" dirty="0">
                <a:solidFill>
                  <a:srgbClr val="00B050"/>
                </a:solidFill>
              </a:rPr>
              <a:t>número de productos – balance (r = -0.69)</a:t>
            </a:r>
            <a:endParaRPr lang="es-ES" dirty="0"/>
          </a:p>
        </p:txBody>
      </p:sp>
      <p:sp>
        <p:nvSpPr>
          <p:cNvPr id="9" name="CuadroTexto 8">
            <a:extLst>
              <a:ext uri="{FF2B5EF4-FFF2-40B4-BE49-F238E27FC236}">
                <a16:creationId xmlns:a16="http://schemas.microsoft.com/office/drawing/2014/main" id="{DF775A01-8C66-64FB-3CC2-F9073BE005FF}"/>
              </a:ext>
            </a:extLst>
          </p:cNvPr>
          <p:cNvSpPr txBox="1"/>
          <p:nvPr/>
        </p:nvSpPr>
        <p:spPr>
          <a:xfrm>
            <a:off x="4356845" y="3077091"/>
            <a:ext cx="4628648" cy="1938992"/>
          </a:xfrm>
          <a:prstGeom prst="rect">
            <a:avLst/>
          </a:prstGeom>
          <a:noFill/>
        </p:spPr>
        <p:txBody>
          <a:bodyPr wrap="square" rtlCol="0">
            <a:spAutoFit/>
          </a:bodyPr>
          <a:lstStyle/>
          <a:p>
            <a:r>
              <a:rPr lang="es-ES" sz="1200" b="1" dirty="0"/>
              <a:t>Respecto a un análisis bivariante, (</a:t>
            </a:r>
            <a:r>
              <a:rPr lang="es-ES" sz="1200" b="1" dirty="0" err="1"/>
              <a:t>Exited</a:t>
            </a:r>
            <a:r>
              <a:rPr lang="es-ES" sz="1200" b="1" dirty="0"/>
              <a:t> vs </a:t>
            </a:r>
            <a:r>
              <a:rPr lang="es-ES" sz="1200" b="1" dirty="0" err="1"/>
              <a:t>var.categóricas</a:t>
            </a:r>
            <a:r>
              <a:rPr lang="es-ES" sz="1200" b="1" dirty="0"/>
              <a:t>) </a:t>
            </a:r>
          </a:p>
          <a:p>
            <a:r>
              <a:rPr lang="en-GB" sz="1200" dirty="0"/>
              <a:t>Se </a:t>
            </a:r>
            <a:r>
              <a:rPr lang="en-GB" sz="1200" dirty="0" err="1"/>
              <a:t>han</a:t>
            </a:r>
            <a:r>
              <a:rPr lang="en-GB" sz="1200" dirty="0"/>
              <a:t> </a:t>
            </a:r>
            <a:r>
              <a:rPr lang="en-GB" sz="1200" dirty="0" err="1"/>
              <a:t>detectado</a:t>
            </a:r>
            <a:r>
              <a:rPr lang="en-GB" sz="1200" dirty="0"/>
              <a:t> </a:t>
            </a:r>
            <a:r>
              <a:rPr lang="en-GB" sz="1200" dirty="0" err="1"/>
              <a:t>diferencias</a:t>
            </a:r>
            <a:r>
              <a:rPr lang="en-GB" sz="1200" dirty="0"/>
              <a:t> </a:t>
            </a:r>
            <a:r>
              <a:rPr lang="en-GB" sz="1200" dirty="0" err="1"/>
              <a:t>proporcionales</a:t>
            </a:r>
            <a:r>
              <a:rPr lang="en-GB" sz="1200" dirty="0"/>
              <a:t>: </a:t>
            </a:r>
          </a:p>
          <a:p>
            <a:pPr marL="171450" indent="-171450">
              <a:buFont typeface="Arial" panose="020B0604020202020204" pitchFamily="34" charset="0"/>
              <a:buChar char="•"/>
            </a:pPr>
            <a:r>
              <a:rPr lang="en-ES" altLang="en-ES" sz="1200" dirty="0">
                <a:solidFill>
                  <a:schemeClr val="tx1"/>
                </a:solidFill>
                <a:latin typeface="Arial" panose="020B0604020202020204" pitchFamily="34" charset="0"/>
              </a:rPr>
              <a:t>Geography </a:t>
            </a:r>
          </a:p>
          <a:p>
            <a:pPr marL="171450" indent="-171450">
              <a:buFont typeface="Arial" panose="020B0604020202020204" pitchFamily="34" charset="0"/>
              <a:buChar char="•"/>
            </a:pPr>
            <a:r>
              <a:rPr lang="es-ES" sz="1200" dirty="0" err="1"/>
              <a:t>Gender</a:t>
            </a:r>
            <a:endParaRPr lang="es-ES" sz="1200" dirty="0"/>
          </a:p>
          <a:p>
            <a:pPr marL="171450" indent="-171450">
              <a:buFont typeface="Arial" panose="020B0604020202020204" pitchFamily="34" charset="0"/>
              <a:buChar char="•"/>
            </a:pPr>
            <a:r>
              <a:rPr lang="es-ES" sz="1200" dirty="0" err="1"/>
              <a:t>IsActiveMemeber</a:t>
            </a:r>
            <a:r>
              <a:rPr lang="es-ES" sz="1200" dirty="0"/>
              <a:t>         </a:t>
            </a:r>
          </a:p>
          <a:p>
            <a:r>
              <a:rPr lang="es-ES" sz="1200" dirty="0"/>
              <a:t> </a:t>
            </a:r>
          </a:p>
          <a:p>
            <a:r>
              <a:rPr lang="es-ES" sz="1200" dirty="0"/>
              <a:t>                 </a:t>
            </a:r>
            <a:r>
              <a:rPr lang="es-ES" sz="1200" dirty="0" err="1"/>
              <a:t>Corrovorar</a:t>
            </a:r>
            <a:r>
              <a:rPr lang="es-ES" sz="1200" dirty="0"/>
              <a:t> </a:t>
            </a:r>
            <a:r>
              <a:rPr lang="es-ES" sz="1200" dirty="0" err="1"/>
              <a:t>via</a:t>
            </a:r>
            <a:r>
              <a:rPr lang="es-ES" sz="1200" dirty="0"/>
              <a:t> </a:t>
            </a:r>
            <a:r>
              <a:rPr lang="es-ES" sz="1200" b="1" i="1" dirty="0"/>
              <a:t>Test estadísticos adecuados</a:t>
            </a:r>
          </a:p>
          <a:p>
            <a:endParaRPr lang="es-ES" sz="1200" dirty="0"/>
          </a:p>
          <a:p>
            <a:endParaRPr lang="es-ES" sz="1200" dirty="0"/>
          </a:p>
          <a:p>
            <a:endParaRPr lang="es-ES" sz="1200" dirty="0"/>
          </a:p>
        </p:txBody>
      </p:sp>
      <p:cxnSp>
        <p:nvCxnSpPr>
          <p:cNvPr id="5" name="Curved Connector 4">
            <a:extLst>
              <a:ext uri="{FF2B5EF4-FFF2-40B4-BE49-F238E27FC236}">
                <a16:creationId xmlns:a16="http://schemas.microsoft.com/office/drawing/2014/main" id="{ACB4AEF4-7734-6E9C-EF8D-E044C2E4D183}"/>
              </a:ext>
            </a:extLst>
          </p:cNvPr>
          <p:cNvCxnSpPr/>
          <p:nvPr/>
        </p:nvCxnSpPr>
        <p:spPr>
          <a:xfrm>
            <a:off x="2750288" y="1885507"/>
            <a:ext cx="1906772" cy="15594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F7245195-70DF-C069-823F-B48FE94A48BB}"/>
              </a:ext>
            </a:extLst>
          </p:cNvPr>
          <p:cNvCxnSpPr/>
          <p:nvPr/>
        </p:nvCxnSpPr>
        <p:spPr>
          <a:xfrm flipV="1">
            <a:off x="3629247" y="2232837"/>
            <a:ext cx="1027813" cy="16859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Imagen 4">
            <a:extLst>
              <a:ext uri="{FF2B5EF4-FFF2-40B4-BE49-F238E27FC236}">
                <a16:creationId xmlns:a16="http://schemas.microsoft.com/office/drawing/2014/main" id="{B1173316-6AF7-67D0-107C-20CBA466E19B}"/>
              </a:ext>
            </a:extLst>
          </p:cNvPr>
          <p:cNvPicPr>
            <a:picLocks noChangeAspect="1"/>
          </p:cNvPicPr>
          <p:nvPr/>
        </p:nvPicPr>
        <p:blipFill>
          <a:blip r:embed="rId4"/>
          <a:stretch>
            <a:fillRect/>
          </a:stretch>
        </p:blipFill>
        <p:spPr>
          <a:xfrm>
            <a:off x="341107" y="3174886"/>
            <a:ext cx="1804845" cy="964034"/>
          </a:xfrm>
          <a:prstGeom prst="rect">
            <a:avLst/>
          </a:prstGeom>
        </p:spPr>
      </p:pic>
      <p:pic>
        <p:nvPicPr>
          <p:cNvPr id="7" name="Imagen 9">
            <a:extLst>
              <a:ext uri="{FF2B5EF4-FFF2-40B4-BE49-F238E27FC236}">
                <a16:creationId xmlns:a16="http://schemas.microsoft.com/office/drawing/2014/main" id="{E0ACC5E0-C09A-511E-E3EE-39E091D80290}"/>
              </a:ext>
            </a:extLst>
          </p:cNvPr>
          <p:cNvPicPr>
            <a:picLocks noChangeAspect="1"/>
          </p:cNvPicPr>
          <p:nvPr/>
        </p:nvPicPr>
        <p:blipFill>
          <a:blip r:embed="rId5"/>
          <a:stretch>
            <a:fillRect/>
          </a:stretch>
        </p:blipFill>
        <p:spPr>
          <a:xfrm>
            <a:off x="2145952" y="3174886"/>
            <a:ext cx="1853088" cy="964034"/>
          </a:xfrm>
          <a:prstGeom prst="rect">
            <a:avLst/>
          </a:prstGeom>
        </p:spPr>
      </p:pic>
      <p:pic>
        <p:nvPicPr>
          <p:cNvPr id="12" name="Imagen 13">
            <a:extLst>
              <a:ext uri="{FF2B5EF4-FFF2-40B4-BE49-F238E27FC236}">
                <a16:creationId xmlns:a16="http://schemas.microsoft.com/office/drawing/2014/main" id="{3C5C6799-154C-7AEC-6A8B-086B5E1D4CFB}"/>
              </a:ext>
            </a:extLst>
          </p:cNvPr>
          <p:cNvPicPr>
            <a:picLocks noChangeAspect="1"/>
          </p:cNvPicPr>
          <p:nvPr/>
        </p:nvPicPr>
        <p:blipFill>
          <a:blip r:embed="rId6"/>
          <a:stretch>
            <a:fillRect/>
          </a:stretch>
        </p:blipFill>
        <p:spPr>
          <a:xfrm>
            <a:off x="1273962" y="4036329"/>
            <a:ext cx="1857544" cy="981992"/>
          </a:xfrm>
          <a:prstGeom prst="rect">
            <a:avLst/>
          </a:prstGeom>
        </p:spPr>
      </p:pic>
      <p:sp>
        <p:nvSpPr>
          <p:cNvPr id="15" name="Right Arrow 14">
            <a:extLst>
              <a:ext uri="{FF2B5EF4-FFF2-40B4-BE49-F238E27FC236}">
                <a16:creationId xmlns:a16="http://schemas.microsoft.com/office/drawing/2014/main" id="{B4E95F88-065C-E7E8-A4BC-B72B44F1B180}"/>
              </a:ext>
            </a:extLst>
          </p:cNvPr>
          <p:cNvSpPr/>
          <p:nvPr/>
        </p:nvSpPr>
        <p:spPr>
          <a:xfrm>
            <a:off x="4633632" y="4218586"/>
            <a:ext cx="482009" cy="1994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Tree>
    <p:extLst>
      <p:ext uri="{BB962C8B-B14F-4D97-AF65-F5344CB8AC3E}">
        <p14:creationId xmlns:p14="http://schemas.microsoft.com/office/powerpoint/2010/main" val="133201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28C3B4C-E20E-20D4-B769-65E63C51F2F3}"/>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356984D3-ED96-A90B-DBCF-B2F56FDAE2B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r>
              <a:rPr lang="en-GB" dirty="0" err="1"/>
              <a:t>Resultados</a:t>
            </a:r>
            <a:r>
              <a:rPr lang="en-GB" dirty="0"/>
              <a:t> Clave </a:t>
            </a:r>
            <a:r>
              <a:rPr lang="es-ES" dirty="0"/>
              <a:t>(EDA) 2/2</a:t>
            </a:r>
            <a:endParaRPr dirty="0"/>
          </a:p>
        </p:txBody>
      </p:sp>
      <p:pic>
        <p:nvPicPr>
          <p:cNvPr id="3" name="Imagen 2">
            <a:extLst>
              <a:ext uri="{FF2B5EF4-FFF2-40B4-BE49-F238E27FC236}">
                <a16:creationId xmlns:a16="http://schemas.microsoft.com/office/drawing/2014/main" id="{F8B308B3-606D-5693-7118-602F333524E5}"/>
              </a:ext>
            </a:extLst>
          </p:cNvPr>
          <p:cNvPicPr>
            <a:picLocks noChangeAspect="1"/>
          </p:cNvPicPr>
          <p:nvPr/>
        </p:nvPicPr>
        <p:blipFill>
          <a:blip r:embed="rId3"/>
          <a:stretch>
            <a:fillRect/>
          </a:stretch>
        </p:blipFill>
        <p:spPr>
          <a:xfrm>
            <a:off x="364108" y="1380864"/>
            <a:ext cx="2045586" cy="1414690"/>
          </a:xfrm>
          <a:prstGeom prst="rect">
            <a:avLst/>
          </a:prstGeom>
        </p:spPr>
      </p:pic>
      <p:pic>
        <p:nvPicPr>
          <p:cNvPr id="5" name="Imagen 4">
            <a:extLst>
              <a:ext uri="{FF2B5EF4-FFF2-40B4-BE49-F238E27FC236}">
                <a16:creationId xmlns:a16="http://schemas.microsoft.com/office/drawing/2014/main" id="{178624F4-D358-A55A-7284-21B1DCA028A0}"/>
              </a:ext>
            </a:extLst>
          </p:cNvPr>
          <p:cNvPicPr>
            <a:picLocks noChangeAspect="1"/>
          </p:cNvPicPr>
          <p:nvPr/>
        </p:nvPicPr>
        <p:blipFill>
          <a:blip r:embed="rId4"/>
          <a:stretch>
            <a:fillRect/>
          </a:stretch>
        </p:blipFill>
        <p:spPr>
          <a:xfrm>
            <a:off x="3734585" y="1441794"/>
            <a:ext cx="2100969" cy="1414690"/>
          </a:xfrm>
          <a:prstGeom prst="rect">
            <a:avLst/>
          </a:prstGeom>
        </p:spPr>
      </p:pic>
      <p:sp>
        <p:nvSpPr>
          <p:cNvPr id="6" name="CuadroTexto 5">
            <a:extLst>
              <a:ext uri="{FF2B5EF4-FFF2-40B4-BE49-F238E27FC236}">
                <a16:creationId xmlns:a16="http://schemas.microsoft.com/office/drawing/2014/main" id="{BD19327A-FEC8-2546-D5CE-E67AF2C8E686}"/>
              </a:ext>
            </a:extLst>
          </p:cNvPr>
          <p:cNvSpPr txBox="1"/>
          <p:nvPr/>
        </p:nvSpPr>
        <p:spPr>
          <a:xfrm>
            <a:off x="5865497" y="1044845"/>
            <a:ext cx="2689411" cy="2646878"/>
          </a:xfrm>
          <a:prstGeom prst="rect">
            <a:avLst/>
          </a:prstGeom>
          <a:solidFill>
            <a:schemeClr val="lt1"/>
          </a:solidFill>
        </p:spPr>
        <p:txBody>
          <a:bodyPr wrap="square" lIns="90000" rtlCol="0">
            <a:spAutoFit/>
          </a:bodyPr>
          <a:lstStyle/>
          <a:p>
            <a:r>
              <a:rPr lang="en-GB" sz="1000" b="1" dirty="0" err="1"/>
              <a:t>Segmentación</a:t>
            </a:r>
            <a:r>
              <a:rPr lang="en-GB" sz="1000" b="1" dirty="0"/>
              <a:t> </a:t>
            </a:r>
            <a:r>
              <a:rPr lang="en-GB" sz="1000" b="1" dirty="0" err="1"/>
              <a:t>Detectada</a:t>
            </a:r>
            <a:endParaRPr lang="en-GB" sz="1000" b="1" dirty="0"/>
          </a:p>
          <a:p>
            <a:pPr marL="171450" indent="-171450">
              <a:buFontTx/>
              <a:buChar char="-"/>
            </a:pPr>
            <a:r>
              <a:rPr lang="en-GB" sz="1000" dirty="0" err="1"/>
              <a:t>Muestran</a:t>
            </a:r>
            <a:r>
              <a:rPr lang="en-GB" sz="1000" dirty="0"/>
              <a:t> </a:t>
            </a:r>
            <a:r>
              <a:rPr lang="en-GB" sz="1000" dirty="0" err="1"/>
              <a:t>patrones</a:t>
            </a:r>
            <a:r>
              <a:rPr lang="en-GB" sz="1000" dirty="0"/>
              <a:t> </a:t>
            </a:r>
            <a:r>
              <a:rPr lang="en-GB" sz="1000" dirty="0" err="1"/>
              <a:t>diferenciados</a:t>
            </a:r>
            <a:r>
              <a:rPr lang="en-GB" sz="1000" dirty="0"/>
              <a:t> </a:t>
            </a:r>
            <a:r>
              <a:rPr lang="en-GB" sz="1000" dirty="0" err="1"/>
              <a:t>según</a:t>
            </a:r>
            <a:r>
              <a:rPr lang="en-GB" sz="1000" dirty="0"/>
              <a:t> </a:t>
            </a:r>
            <a:r>
              <a:rPr lang="en-GB" sz="1000" b="1" dirty="0"/>
              <a:t>Exited</a:t>
            </a:r>
            <a:r>
              <a:rPr lang="en-GB" sz="1000" dirty="0"/>
              <a:t> → </a:t>
            </a:r>
            <a:r>
              <a:rPr lang="en-GB" sz="1000" dirty="0" err="1"/>
              <a:t>alta</a:t>
            </a:r>
            <a:r>
              <a:rPr lang="en-GB" sz="1000" dirty="0"/>
              <a:t> </a:t>
            </a:r>
            <a:r>
              <a:rPr lang="en-GB" sz="1000" dirty="0" err="1"/>
              <a:t>capacidad</a:t>
            </a:r>
            <a:r>
              <a:rPr lang="en-GB" sz="1000" dirty="0"/>
              <a:t> predictive</a:t>
            </a:r>
          </a:p>
          <a:p>
            <a:endParaRPr lang="en-GB" sz="1000" dirty="0"/>
          </a:p>
          <a:p>
            <a:r>
              <a:rPr lang="es-ES" sz="1000" b="1" dirty="0"/>
              <a:t>Respecto a un análisis univariante, </a:t>
            </a:r>
            <a:r>
              <a:rPr lang="es-ES" sz="1000" b="1" dirty="0" err="1"/>
              <a:t>númericas</a:t>
            </a:r>
            <a:r>
              <a:rPr lang="es-ES" sz="1000" b="1" dirty="0"/>
              <a:t> </a:t>
            </a:r>
            <a:endParaRPr lang="es-ES" sz="1000" dirty="0"/>
          </a:p>
          <a:p>
            <a:pPr marL="285750" indent="-285750">
              <a:buFontTx/>
              <a:buChar char="-"/>
            </a:pPr>
            <a:r>
              <a:rPr lang="es-ES" sz="1000" dirty="0"/>
              <a:t>Balance</a:t>
            </a:r>
          </a:p>
          <a:p>
            <a:pPr marL="285750" indent="-285750">
              <a:buFontTx/>
              <a:buChar char="-"/>
            </a:pPr>
            <a:r>
              <a:rPr lang="es-ES" sz="1000" dirty="0"/>
              <a:t>Age </a:t>
            </a:r>
          </a:p>
          <a:p>
            <a:pPr marL="285750" indent="-285750">
              <a:buFontTx/>
              <a:buChar char="-"/>
            </a:pPr>
            <a:r>
              <a:rPr lang="es-ES" sz="1000" dirty="0" err="1"/>
              <a:t>NumOfProducts</a:t>
            </a:r>
            <a:endParaRPr lang="es-ES" sz="1000" dirty="0"/>
          </a:p>
          <a:p>
            <a:pPr marL="285750" indent="-285750">
              <a:buFontTx/>
              <a:buChar char="-"/>
            </a:pPr>
            <a:r>
              <a:rPr lang="es-ES" sz="1000" dirty="0" err="1"/>
              <a:t>CreditScore</a:t>
            </a:r>
            <a:endParaRPr lang="es-ES" sz="1000" dirty="0"/>
          </a:p>
          <a:p>
            <a:endParaRPr lang="es-ES" sz="1000" dirty="0"/>
          </a:p>
          <a:p>
            <a:r>
              <a:rPr lang="es-ES" sz="1000" dirty="0"/>
              <a:t>               </a:t>
            </a:r>
            <a:r>
              <a:rPr lang="es-ES" sz="1000" b="1" i="1" dirty="0"/>
              <a:t>Test estadísticos adecuados</a:t>
            </a:r>
            <a:endParaRPr lang="es-ES" sz="1000" dirty="0"/>
          </a:p>
          <a:p>
            <a:endParaRPr lang="en-GB" sz="1000" dirty="0"/>
          </a:p>
          <a:p>
            <a:endParaRPr lang="en-GB" sz="1000" dirty="0"/>
          </a:p>
          <a:p>
            <a:endParaRPr lang="es-ES" dirty="0"/>
          </a:p>
        </p:txBody>
      </p:sp>
      <p:pic>
        <p:nvPicPr>
          <p:cNvPr id="8" name="Imagen 7">
            <a:extLst>
              <a:ext uri="{FF2B5EF4-FFF2-40B4-BE49-F238E27FC236}">
                <a16:creationId xmlns:a16="http://schemas.microsoft.com/office/drawing/2014/main" id="{9914B39E-79EB-753D-3011-BFAAE635B912}"/>
              </a:ext>
            </a:extLst>
          </p:cNvPr>
          <p:cNvPicPr>
            <a:picLocks noChangeAspect="1"/>
          </p:cNvPicPr>
          <p:nvPr/>
        </p:nvPicPr>
        <p:blipFill>
          <a:blip r:embed="rId5"/>
          <a:stretch>
            <a:fillRect/>
          </a:stretch>
        </p:blipFill>
        <p:spPr>
          <a:xfrm>
            <a:off x="519100" y="3398329"/>
            <a:ext cx="1576073" cy="957106"/>
          </a:xfrm>
          <a:prstGeom prst="rect">
            <a:avLst/>
          </a:prstGeom>
        </p:spPr>
      </p:pic>
      <p:pic>
        <p:nvPicPr>
          <p:cNvPr id="10" name="Imagen 9">
            <a:extLst>
              <a:ext uri="{FF2B5EF4-FFF2-40B4-BE49-F238E27FC236}">
                <a16:creationId xmlns:a16="http://schemas.microsoft.com/office/drawing/2014/main" id="{7ADEFD04-076B-92BF-D182-BF801606BBEF}"/>
              </a:ext>
            </a:extLst>
          </p:cNvPr>
          <p:cNvPicPr>
            <a:picLocks noChangeAspect="1"/>
          </p:cNvPicPr>
          <p:nvPr/>
        </p:nvPicPr>
        <p:blipFill>
          <a:blip r:embed="rId6"/>
          <a:stretch>
            <a:fillRect/>
          </a:stretch>
        </p:blipFill>
        <p:spPr>
          <a:xfrm>
            <a:off x="3958413" y="3398329"/>
            <a:ext cx="1653314" cy="957106"/>
          </a:xfrm>
          <a:prstGeom prst="rect">
            <a:avLst/>
          </a:prstGeom>
        </p:spPr>
      </p:pic>
      <p:sp>
        <p:nvSpPr>
          <p:cNvPr id="11" name="CuadroTexto 10">
            <a:extLst>
              <a:ext uri="{FF2B5EF4-FFF2-40B4-BE49-F238E27FC236}">
                <a16:creationId xmlns:a16="http://schemas.microsoft.com/office/drawing/2014/main" id="{94A685DF-E20C-512D-21F4-4547D83672C6}"/>
              </a:ext>
            </a:extLst>
          </p:cNvPr>
          <p:cNvSpPr txBox="1"/>
          <p:nvPr/>
        </p:nvSpPr>
        <p:spPr>
          <a:xfrm>
            <a:off x="5698820" y="3255768"/>
            <a:ext cx="2926080" cy="1169551"/>
          </a:xfrm>
          <a:prstGeom prst="rect">
            <a:avLst/>
          </a:prstGeom>
          <a:solidFill>
            <a:schemeClr val="accent2"/>
          </a:solidFill>
        </p:spPr>
        <p:txBody>
          <a:bodyPr wrap="square" rtlCol="0">
            <a:spAutoFit/>
          </a:bodyPr>
          <a:lstStyle/>
          <a:p>
            <a:r>
              <a:rPr lang="en-GB" dirty="0" err="1"/>
              <a:t>Algunas</a:t>
            </a:r>
            <a:r>
              <a:rPr lang="en-GB" dirty="0"/>
              <a:t> variables </a:t>
            </a:r>
            <a:r>
              <a:rPr lang="en-GB" dirty="0" err="1"/>
              <a:t>están</a:t>
            </a:r>
            <a:r>
              <a:rPr lang="en-GB" dirty="0"/>
              <a:t> </a:t>
            </a:r>
            <a:r>
              <a:rPr lang="en-GB" dirty="0" err="1"/>
              <a:t>relacionadas</a:t>
            </a:r>
            <a:r>
              <a:rPr lang="en-GB" dirty="0"/>
              <a:t> de forma artificial, </a:t>
            </a:r>
            <a:r>
              <a:rPr lang="en-GB" dirty="0" err="1"/>
              <a:t>ya</a:t>
            </a:r>
            <a:r>
              <a:rPr lang="en-GB" dirty="0"/>
              <a:t> </a:t>
            </a:r>
            <a:r>
              <a:rPr lang="en-GB" dirty="0" err="1"/>
              <a:t>que</a:t>
            </a:r>
            <a:r>
              <a:rPr lang="en-GB" dirty="0"/>
              <a:t> </a:t>
            </a:r>
            <a:r>
              <a:rPr lang="en-GB" dirty="0" err="1"/>
              <a:t>una</a:t>
            </a:r>
            <a:r>
              <a:rPr lang="en-GB" dirty="0"/>
              <a:t> </a:t>
            </a:r>
            <a:r>
              <a:rPr lang="en-GB" dirty="0" err="1"/>
              <a:t>deriva</a:t>
            </a:r>
            <a:r>
              <a:rPr lang="en-GB" dirty="0"/>
              <a:t> de </a:t>
            </a:r>
            <a:r>
              <a:rPr lang="en-GB" dirty="0" err="1"/>
              <a:t>otra</a:t>
            </a:r>
            <a:r>
              <a:rPr lang="en-GB" dirty="0"/>
              <a:t>; </a:t>
            </a:r>
            <a:r>
              <a:rPr lang="en-GB" dirty="0" err="1"/>
              <a:t>por</a:t>
            </a:r>
            <a:r>
              <a:rPr lang="en-GB" dirty="0"/>
              <a:t> </a:t>
            </a:r>
            <a:r>
              <a:rPr lang="en-GB" dirty="0" err="1"/>
              <a:t>ello</a:t>
            </a:r>
            <a:r>
              <a:rPr lang="en-GB" dirty="0"/>
              <a:t>, no </a:t>
            </a:r>
            <a:r>
              <a:rPr lang="en-GB" dirty="0" err="1"/>
              <a:t>pueden</a:t>
            </a:r>
            <a:r>
              <a:rPr lang="en-GB" dirty="0"/>
              <a:t> ser </a:t>
            </a:r>
            <a:r>
              <a:rPr lang="en-GB" dirty="0" err="1"/>
              <a:t>significativas</a:t>
            </a:r>
            <a:r>
              <a:rPr lang="en-GB" dirty="0"/>
              <a:t> al </a:t>
            </a:r>
            <a:r>
              <a:rPr lang="en-GB" dirty="0" err="1"/>
              <a:t>mismo</a:t>
            </a:r>
            <a:r>
              <a:rPr lang="en-GB" dirty="0"/>
              <a:t> </a:t>
            </a:r>
            <a:r>
              <a:rPr lang="en-GB" dirty="0" err="1"/>
              <a:t>tiempo</a:t>
            </a:r>
            <a:r>
              <a:rPr lang="en-GB" dirty="0"/>
              <a:t>.</a:t>
            </a:r>
            <a:endParaRPr lang="es-ES" dirty="0"/>
          </a:p>
        </p:txBody>
      </p:sp>
      <p:pic>
        <p:nvPicPr>
          <p:cNvPr id="13" name="Imagen 12">
            <a:extLst>
              <a:ext uri="{FF2B5EF4-FFF2-40B4-BE49-F238E27FC236}">
                <a16:creationId xmlns:a16="http://schemas.microsoft.com/office/drawing/2014/main" id="{7AA491D9-67AC-2F66-8CF6-52562D3A93F9}"/>
              </a:ext>
            </a:extLst>
          </p:cNvPr>
          <p:cNvPicPr>
            <a:picLocks noChangeAspect="1"/>
          </p:cNvPicPr>
          <p:nvPr/>
        </p:nvPicPr>
        <p:blipFill>
          <a:blip r:embed="rId7"/>
          <a:stretch>
            <a:fillRect/>
          </a:stretch>
        </p:blipFill>
        <p:spPr>
          <a:xfrm>
            <a:off x="2296072" y="3398329"/>
            <a:ext cx="1531433" cy="905696"/>
          </a:xfrm>
          <a:prstGeom prst="rect">
            <a:avLst/>
          </a:prstGeom>
        </p:spPr>
      </p:pic>
      <p:pic>
        <p:nvPicPr>
          <p:cNvPr id="4" name="Picture 3" descr="A black and white balance scale&#10;&#10;AI-generated content may be incorrect.">
            <a:extLst>
              <a:ext uri="{FF2B5EF4-FFF2-40B4-BE49-F238E27FC236}">
                <a16:creationId xmlns:a16="http://schemas.microsoft.com/office/drawing/2014/main" id="{13D621EE-205B-D93E-166E-144881D0EA80}"/>
              </a:ext>
            </a:extLst>
          </p:cNvPr>
          <p:cNvPicPr>
            <a:picLocks noChangeAspect="1"/>
          </p:cNvPicPr>
          <p:nvPr/>
        </p:nvPicPr>
        <p:blipFill>
          <a:blip r:embed="rId8"/>
          <a:stretch>
            <a:fillRect/>
          </a:stretch>
        </p:blipFill>
        <p:spPr>
          <a:xfrm>
            <a:off x="2632832" y="1622382"/>
            <a:ext cx="933999" cy="905696"/>
          </a:xfrm>
          <a:prstGeom prst="rect">
            <a:avLst/>
          </a:prstGeom>
        </p:spPr>
      </p:pic>
      <p:sp>
        <p:nvSpPr>
          <p:cNvPr id="7" name="TextBox 6">
            <a:extLst>
              <a:ext uri="{FF2B5EF4-FFF2-40B4-BE49-F238E27FC236}">
                <a16:creationId xmlns:a16="http://schemas.microsoft.com/office/drawing/2014/main" id="{A655FD26-B982-87C5-DF06-3F532B7F2DC6}"/>
              </a:ext>
            </a:extLst>
          </p:cNvPr>
          <p:cNvSpPr txBox="1"/>
          <p:nvPr/>
        </p:nvSpPr>
        <p:spPr>
          <a:xfrm>
            <a:off x="1907838" y="1138533"/>
            <a:ext cx="2383986" cy="307777"/>
          </a:xfrm>
          <a:prstGeom prst="rect">
            <a:avLst/>
          </a:prstGeom>
          <a:noFill/>
        </p:spPr>
        <p:txBody>
          <a:bodyPr wrap="none" rtlCol="0">
            <a:spAutoFit/>
          </a:bodyPr>
          <a:lstStyle/>
          <a:p>
            <a:r>
              <a:rPr lang="en-GB" dirty="0"/>
              <a:t>S</a:t>
            </a:r>
            <a:r>
              <a:rPr lang="en-ES" dirty="0"/>
              <a:t>eparación clara por Exited</a:t>
            </a:r>
          </a:p>
        </p:txBody>
      </p:sp>
      <p:sp>
        <p:nvSpPr>
          <p:cNvPr id="9" name="TextBox 8">
            <a:extLst>
              <a:ext uri="{FF2B5EF4-FFF2-40B4-BE49-F238E27FC236}">
                <a16:creationId xmlns:a16="http://schemas.microsoft.com/office/drawing/2014/main" id="{735269EF-2EBE-642D-98FA-E563E16D6C06}"/>
              </a:ext>
            </a:extLst>
          </p:cNvPr>
          <p:cNvSpPr txBox="1"/>
          <p:nvPr/>
        </p:nvSpPr>
        <p:spPr>
          <a:xfrm>
            <a:off x="400911" y="4355435"/>
            <a:ext cx="2908168" cy="307777"/>
          </a:xfrm>
          <a:prstGeom prst="rect">
            <a:avLst/>
          </a:prstGeom>
          <a:noFill/>
        </p:spPr>
        <p:txBody>
          <a:bodyPr wrap="none" rtlCol="0">
            <a:spAutoFit/>
          </a:bodyPr>
          <a:lstStyle/>
          <a:p>
            <a:r>
              <a:rPr lang="en-GB" b="1" dirty="0" err="1"/>
              <a:t>MaritalStatus</a:t>
            </a:r>
            <a:r>
              <a:rPr lang="en-GB" b="1" dirty="0"/>
              <a:t> ↔ </a:t>
            </a:r>
            <a:r>
              <a:rPr lang="en-GB" b="1" dirty="0" err="1"/>
              <a:t>EducationLevel</a:t>
            </a:r>
            <a:endParaRPr lang="en-ES" dirty="0"/>
          </a:p>
        </p:txBody>
      </p:sp>
      <p:sp>
        <p:nvSpPr>
          <p:cNvPr id="12" name="TextBox 11">
            <a:extLst>
              <a:ext uri="{FF2B5EF4-FFF2-40B4-BE49-F238E27FC236}">
                <a16:creationId xmlns:a16="http://schemas.microsoft.com/office/drawing/2014/main" id="{F60F9C31-DEE4-81DA-F297-2F845810FE30}"/>
              </a:ext>
            </a:extLst>
          </p:cNvPr>
          <p:cNvSpPr txBox="1"/>
          <p:nvPr/>
        </p:nvSpPr>
        <p:spPr>
          <a:xfrm>
            <a:off x="379179" y="4691981"/>
            <a:ext cx="3355406" cy="307777"/>
          </a:xfrm>
          <a:prstGeom prst="rect">
            <a:avLst/>
          </a:prstGeom>
          <a:noFill/>
        </p:spPr>
        <p:txBody>
          <a:bodyPr wrap="none" rtlCol="0">
            <a:spAutoFit/>
          </a:bodyPr>
          <a:lstStyle/>
          <a:p>
            <a:r>
              <a:rPr lang="en-GB" b="1" dirty="0" err="1"/>
              <a:t>SavingsAccountFlag</a:t>
            </a:r>
            <a:r>
              <a:rPr lang="en-GB" b="1" dirty="0"/>
              <a:t> ↔ </a:t>
            </a:r>
            <a:r>
              <a:rPr lang="en-GB" b="1" dirty="0" err="1"/>
              <a:t>MaritalStatus</a:t>
            </a:r>
            <a:endParaRPr lang="en-ES" dirty="0"/>
          </a:p>
        </p:txBody>
      </p:sp>
      <p:sp>
        <p:nvSpPr>
          <p:cNvPr id="15" name="TextBox 14">
            <a:extLst>
              <a:ext uri="{FF2B5EF4-FFF2-40B4-BE49-F238E27FC236}">
                <a16:creationId xmlns:a16="http://schemas.microsoft.com/office/drawing/2014/main" id="{77B2D105-8F00-228B-B13E-967360E901C0}"/>
              </a:ext>
            </a:extLst>
          </p:cNvPr>
          <p:cNvSpPr txBox="1"/>
          <p:nvPr/>
        </p:nvSpPr>
        <p:spPr>
          <a:xfrm>
            <a:off x="3734585" y="4465408"/>
            <a:ext cx="4572000" cy="307777"/>
          </a:xfrm>
          <a:prstGeom prst="rect">
            <a:avLst/>
          </a:prstGeom>
          <a:noFill/>
        </p:spPr>
        <p:txBody>
          <a:bodyPr wrap="square">
            <a:spAutoFit/>
          </a:bodyPr>
          <a:lstStyle/>
          <a:p>
            <a:r>
              <a:rPr lang="en-GB" b="1" i="0" dirty="0" err="1">
                <a:solidFill>
                  <a:srgbClr val="030712"/>
                </a:solidFill>
                <a:effectLst/>
                <a:latin typeface="ui-sans-serif"/>
              </a:rPr>
              <a:t>MaritalStatus</a:t>
            </a:r>
            <a:r>
              <a:rPr lang="en-GB" b="1" i="0" dirty="0">
                <a:solidFill>
                  <a:srgbClr val="030712"/>
                </a:solidFill>
                <a:effectLst/>
                <a:latin typeface="ui-sans-serif"/>
              </a:rPr>
              <a:t> ↔ </a:t>
            </a:r>
            <a:r>
              <a:rPr lang="en-GB" b="1" i="0" dirty="0" err="1">
                <a:solidFill>
                  <a:srgbClr val="030712"/>
                </a:solidFill>
                <a:effectLst/>
                <a:latin typeface="ui-sans-serif"/>
              </a:rPr>
              <a:t>CustomerSegment</a:t>
            </a:r>
            <a:endParaRPr lang="en-ES" dirty="0"/>
          </a:p>
        </p:txBody>
      </p:sp>
      <p:sp>
        <p:nvSpPr>
          <p:cNvPr id="2" name="Right Arrow 1">
            <a:extLst>
              <a:ext uri="{FF2B5EF4-FFF2-40B4-BE49-F238E27FC236}">
                <a16:creationId xmlns:a16="http://schemas.microsoft.com/office/drawing/2014/main" id="{ECF9AD90-B841-1332-2A25-B79D688CC163}"/>
              </a:ext>
            </a:extLst>
          </p:cNvPr>
          <p:cNvSpPr/>
          <p:nvPr/>
        </p:nvSpPr>
        <p:spPr>
          <a:xfrm>
            <a:off x="5865497" y="2909338"/>
            <a:ext cx="482009" cy="1994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Tree>
    <p:extLst>
      <p:ext uri="{BB962C8B-B14F-4D97-AF65-F5344CB8AC3E}">
        <p14:creationId xmlns:p14="http://schemas.microsoft.com/office/powerpoint/2010/main" val="1461310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07DF698-F9EC-1757-A445-D83603E11B09}"/>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2899A42E-A5F5-458B-1B04-D602FDAE3254}"/>
              </a:ext>
            </a:extLst>
          </p:cNvPr>
          <p:cNvSpPr txBox="1">
            <a:spLocks noGrp="1"/>
          </p:cNvSpPr>
          <p:nvPr>
            <p:ph type="title"/>
          </p:nvPr>
        </p:nvSpPr>
        <p:spPr>
          <a:xfrm>
            <a:off x="720000" y="227362"/>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Missings</a:t>
            </a:r>
            <a:endParaRPr dirty="0"/>
          </a:p>
        </p:txBody>
      </p:sp>
      <p:pic>
        <p:nvPicPr>
          <p:cNvPr id="6" name="Imagen 5">
            <a:extLst>
              <a:ext uri="{FF2B5EF4-FFF2-40B4-BE49-F238E27FC236}">
                <a16:creationId xmlns:a16="http://schemas.microsoft.com/office/drawing/2014/main" id="{5F92A851-FE02-6BF4-670C-99083B0FEB62}"/>
              </a:ext>
            </a:extLst>
          </p:cNvPr>
          <p:cNvPicPr>
            <a:picLocks noChangeAspect="1"/>
          </p:cNvPicPr>
          <p:nvPr/>
        </p:nvPicPr>
        <p:blipFill>
          <a:blip r:embed="rId3"/>
          <a:stretch>
            <a:fillRect/>
          </a:stretch>
        </p:blipFill>
        <p:spPr>
          <a:xfrm>
            <a:off x="231717" y="704478"/>
            <a:ext cx="3511123" cy="2353717"/>
          </a:xfrm>
          <a:prstGeom prst="rect">
            <a:avLst/>
          </a:prstGeom>
        </p:spPr>
      </p:pic>
      <p:pic>
        <p:nvPicPr>
          <p:cNvPr id="8" name="Imagen 7">
            <a:extLst>
              <a:ext uri="{FF2B5EF4-FFF2-40B4-BE49-F238E27FC236}">
                <a16:creationId xmlns:a16="http://schemas.microsoft.com/office/drawing/2014/main" id="{4A959802-F2AB-6370-7B58-E78D7098AE1B}"/>
              </a:ext>
            </a:extLst>
          </p:cNvPr>
          <p:cNvPicPr>
            <a:picLocks noChangeAspect="1"/>
          </p:cNvPicPr>
          <p:nvPr/>
        </p:nvPicPr>
        <p:blipFill>
          <a:blip r:embed="rId4"/>
          <a:stretch>
            <a:fillRect/>
          </a:stretch>
        </p:blipFill>
        <p:spPr>
          <a:xfrm>
            <a:off x="720000" y="3058195"/>
            <a:ext cx="3348390" cy="2217950"/>
          </a:xfrm>
          <a:prstGeom prst="rect">
            <a:avLst/>
          </a:prstGeom>
        </p:spPr>
      </p:pic>
      <p:sp>
        <p:nvSpPr>
          <p:cNvPr id="3" name="Rounded Rectangle 2">
            <a:extLst>
              <a:ext uri="{FF2B5EF4-FFF2-40B4-BE49-F238E27FC236}">
                <a16:creationId xmlns:a16="http://schemas.microsoft.com/office/drawing/2014/main" id="{80C9A3E0-81F8-A41F-C787-ECE02F73D8C0}"/>
              </a:ext>
            </a:extLst>
          </p:cNvPr>
          <p:cNvSpPr/>
          <p:nvPr/>
        </p:nvSpPr>
        <p:spPr>
          <a:xfrm>
            <a:off x="4272833" y="795622"/>
            <a:ext cx="2282342" cy="248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Detección</a:t>
            </a:r>
          </a:p>
        </p:txBody>
      </p:sp>
      <p:sp>
        <p:nvSpPr>
          <p:cNvPr id="4" name="TextBox 3">
            <a:extLst>
              <a:ext uri="{FF2B5EF4-FFF2-40B4-BE49-F238E27FC236}">
                <a16:creationId xmlns:a16="http://schemas.microsoft.com/office/drawing/2014/main" id="{B09C4AB6-E6F8-2CC6-4731-0E30548E7593}"/>
              </a:ext>
            </a:extLst>
          </p:cNvPr>
          <p:cNvSpPr txBox="1"/>
          <p:nvPr/>
        </p:nvSpPr>
        <p:spPr>
          <a:xfrm>
            <a:off x="4499603" y="1133979"/>
            <a:ext cx="2589581" cy="1231106"/>
          </a:xfrm>
          <a:prstGeom prst="rect">
            <a:avLst/>
          </a:prstGeom>
          <a:noFill/>
        </p:spPr>
        <p:txBody>
          <a:bodyPr wrap="square" rtlCol="0">
            <a:spAutoFit/>
          </a:bodyPr>
          <a:lstStyle/>
          <a:p>
            <a:r>
              <a:rPr lang="en-GB" sz="1200" b="1" dirty="0"/>
              <a:t>30% </a:t>
            </a:r>
            <a:r>
              <a:rPr lang="en-GB" sz="1200" dirty="0" err="1"/>
              <a:t>en</a:t>
            </a:r>
            <a:r>
              <a:rPr lang="en-GB" sz="1200" dirty="0"/>
              <a:t> </a:t>
            </a:r>
            <a:r>
              <a:rPr lang="en-GB" sz="1200" dirty="0" err="1"/>
              <a:t>todas</a:t>
            </a:r>
            <a:r>
              <a:rPr lang="en-GB" sz="1200" dirty="0"/>
              <a:t> las variables (</a:t>
            </a:r>
            <a:r>
              <a:rPr lang="en-GB" sz="1200" dirty="0" err="1"/>
              <a:t>excepto</a:t>
            </a:r>
            <a:r>
              <a:rPr lang="en-GB" sz="1200" dirty="0"/>
              <a:t> ID)</a:t>
            </a:r>
          </a:p>
          <a:p>
            <a:r>
              <a:rPr lang="en-GB" sz="1200" b="1" dirty="0">
                <a:highlight>
                  <a:srgbClr val="FFFF00"/>
                </a:highlight>
              </a:rPr>
              <a:t>Test MCAR</a:t>
            </a:r>
          </a:p>
          <a:p>
            <a:r>
              <a:rPr lang="en-GB" sz="1200" b="1" dirty="0"/>
              <a:t>p-</a:t>
            </a:r>
            <a:r>
              <a:rPr lang="en-GB" sz="1200" b="1" dirty="0" err="1"/>
              <a:t>valor</a:t>
            </a:r>
            <a:r>
              <a:rPr lang="en-GB" sz="1200" b="1" dirty="0"/>
              <a:t> = 0.39</a:t>
            </a:r>
          </a:p>
          <a:p>
            <a:r>
              <a:rPr lang="en-GB" sz="1200" dirty="0"/>
              <a:t>✓ </a:t>
            </a:r>
            <a:r>
              <a:rPr lang="en-GB" sz="1200" dirty="0" err="1"/>
              <a:t>Aleatoriedad</a:t>
            </a:r>
            <a:r>
              <a:rPr lang="en-GB" sz="1200" dirty="0"/>
              <a:t> </a:t>
            </a:r>
            <a:r>
              <a:rPr lang="en-GB" sz="1200" dirty="0" err="1"/>
              <a:t>confirmada</a:t>
            </a:r>
            <a:endParaRPr lang="en-GB" sz="1200" dirty="0"/>
          </a:p>
          <a:p>
            <a:endParaRPr lang="en-ES" dirty="0"/>
          </a:p>
        </p:txBody>
      </p:sp>
      <p:sp>
        <p:nvSpPr>
          <p:cNvPr id="7" name="TextBox 6">
            <a:extLst>
              <a:ext uri="{FF2B5EF4-FFF2-40B4-BE49-F238E27FC236}">
                <a16:creationId xmlns:a16="http://schemas.microsoft.com/office/drawing/2014/main" id="{12786B15-69B6-809E-8275-A012869310C1}"/>
              </a:ext>
            </a:extLst>
          </p:cNvPr>
          <p:cNvSpPr txBox="1"/>
          <p:nvPr/>
        </p:nvSpPr>
        <p:spPr>
          <a:xfrm>
            <a:off x="6689023" y="523899"/>
            <a:ext cx="2622821" cy="2546851"/>
          </a:xfrm>
          <a:prstGeom prst="rect">
            <a:avLst/>
          </a:prstGeom>
          <a:noFill/>
        </p:spPr>
        <p:txBody>
          <a:bodyPr wrap="square">
            <a:spAutoFit/>
          </a:bodyPr>
          <a:lstStyle/>
          <a:p>
            <a:pPr algn="l">
              <a:buNone/>
            </a:pPr>
            <a:br>
              <a:rPr lang="en-GB" b="1" i="0" dirty="0">
                <a:solidFill>
                  <a:srgbClr val="030712"/>
                </a:solidFill>
                <a:effectLst/>
                <a:latin typeface="ui-sans-serif"/>
              </a:rPr>
            </a:br>
            <a:r>
              <a:rPr lang="en-GB" sz="1200" b="1" i="0" dirty="0" err="1">
                <a:solidFill>
                  <a:srgbClr val="030712"/>
                </a:solidFill>
                <a:effectLst/>
                <a:latin typeface="ui-sans-serif"/>
              </a:rPr>
              <a:t>Métodos</a:t>
            </a:r>
            <a:r>
              <a:rPr lang="en-GB" sz="1200" b="1" i="0" dirty="0">
                <a:solidFill>
                  <a:srgbClr val="030712"/>
                </a:solidFill>
                <a:effectLst/>
                <a:latin typeface="ui-sans-serif"/>
              </a:rPr>
              <a:t> </a:t>
            </a:r>
            <a:r>
              <a:rPr lang="en-GB" sz="1200" b="1" i="0" dirty="0" err="1">
                <a:solidFill>
                  <a:srgbClr val="030712"/>
                </a:solidFill>
                <a:effectLst/>
                <a:latin typeface="ui-sans-serif"/>
              </a:rPr>
              <a:t>Probados</a:t>
            </a:r>
            <a:r>
              <a:rPr lang="en-GB" sz="1200" b="1" i="0" dirty="0">
                <a:solidFill>
                  <a:srgbClr val="030712"/>
                </a:solidFill>
                <a:effectLst/>
                <a:latin typeface="ui-sans-serif"/>
              </a:rPr>
              <a:t> </a:t>
            </a:r>
            <a:r>
              <a:rPr lang="en-GB" sz="1200" b="1" i="0" dirty="0" err="1">
                <a:solidFill>
                  <a:srgbClr val="030712"/>
                </a:solidFill>
                <a:effectLst/>
                <a:latin typeface="ui-sans-serif"/>
              </a:rPr>
              <a:t>Implementados</a:t>
            </a:r>
            <a:r>
              <a:rPr lang="en-GB" sz="1200" b="1" i="0" dirty="0">
                <a:solidFill>
                  <a:srgbClr val="030712"/>
                </a:solidFill>
                <a:effectLst/>
                <a:latin typeface="ui-sans-serif"/>
              </a:rPr>
              <a:t> </a:t>
            </a:r>
          </a:p>
          <a:p>
            <a:pPr algn="l">
              <a:buNone/>
            </a:pPr>
            <a:r>
              <a:rPr lang="en-GB" sz="1200" b="1" i="0" dirty="0">
                <a:solidFill>
                  <a:srgbClr val="7F1D1D"/>
                </a:solidFill>
                <a:effectLst/>
                <a:latin typeface="ui-sans-serif"/>
              </a:rPr>
              <a:t>- </a:t>
            </a:r>
            <a:r>
              <a:rPr lang="en-GB" sz="1200" b="1" i="0" dirty="0" err="1">
                <a:solidFill>
                  <a:srgbClr val="7F1D1D"/>
                </a:solidFill>
                <a:effectLst/>
                <a:latin typeface="ui-sans-serif"/>
              </a:rPr>
              <a:t>Imputación</a:t>
            </a:r>
            <a:r>
              <a:rPr lang="en-GB" sz="1200" b="1" i="0" dirty="0">
                <a:solidFill>
                  <a:srgbClr val="7F1D1D"/>
                </a:solidFill>
                <a:effectLst/>
                <a:latin typeface="ui-sans-serif"/>
              </a:rPr>
              <a:t> Simple</a:t>
            </a:r>
          </a:p>
          <a:p>
            <a:pPr algn="l">
              <a:buNone/>
            </a:pPr>
            <a:r>
              <a:rPr lang="en-GB" sz="1200" b="0" i="0" dirty="0">
                <a:solidFill>
                  <a:srgbClr val="4B5563"/>
                </a:solidFill>
                <a:effectLst/>
                <a:latin typeface="ui-sans-serif"/>
              </a:rPr>
              <a:t>Media/</a:t>
            </a:r>
            <a:r>
              <a:rPr lang="en-GB" sz="1200" b="0" i="0" dirty="0" err="1">
                <a:solidFill>
                  <a:srgbClr val="4B5563"/>
                </a:solidFill>
                <a:effectLst/>
                <a:latin typeface="ui-sans-serif"/>
              </a:rPr>
              <a:t>mediana</a:t>
            </a:r>
            <a:r>
              <a:rPr lang="en-GB" sz="1200" b="0" i="0" dirty="0">
                <a:solidFill>
                  <a:srgbClr val="4B5563"/>
                </a:solidFill>
                <a:effectLst/>
                <a:latin typeface="ui-sans-serif"/>
              </a:rPr>
              <a:t>/</a:t>
            </a:r>
            <a:r>
              <a:rPr lang="en-GB" sz="1200" b="0" i="0" dirty="0" err="1">
                <a:solidFill>
                  <a:srgbClr val="4B5563"/>
                </a:solidFill>
                <a:effectLst/>
                <a:latin typeface="ui-sans-serif"/>
              </a:rPr>
              <a:t>moda</a:t>
            </a:r>
            <a:endParaRPr lang="en-GB" sz="1200" b="0" i="0" dirty="0">
              <a:solidFill>
                <a:srgbClr val="4B5563"/>
              </a:solidFill>
              <a:effectLst/>
              <a:latin typeface="ui-sans-serif"/>
            </a:endParaRPr>
          </a:p>
          <a:p>
            <a:pPr algn="l">
              <a:buNone/>
            </a:pPr>
            <a:r>
              <a:rPr lang="en-GB" sz="1200" b="0" i="1" dirty="0" err="1">
                <a:solidFill>
                  <a:srgbClr val="B91C1C"/>
                </a:solidFill>
                <a:effectLst/>
                <a:latin typeface="ui-sans-serif"/>
              </a:rPr>
              <a:t>Distorsiona</a:t>
            </a:r>
            <a:r>
              <a:rPr lang="en-GB" sz="1200" b="0" i="1" dirty="0">
                <a:solidFill>
                  <a:srgbClr val="B91C1C"/>
                </a:solidFill>
                <a:effectLst/>
                <a:latin typeface="ui-sans-serif"/>
              </a:rPr>
              <a:t> </a:t>
            </a:r>
            <a:r>
              <a:rPr lang="en-GB" sz="1200" b="0" i="1" dirty="0" err="1">
                <a:solidFill>
                  <a:srgbClr val="B91C1C"/>
                </a:solidFill>
                <a:effectLst/>
                <a:latin typeface="ui-sans-serif"/>
              </a:rPr>
              <a:t>distribuciones</a:t>
            </a:r>
            <a:endParaRPr lang="en-GB" sz="1200" b="0" i="1" dirty="0">
              <a:solidFill>
                <a:srgbClr val="B91C1C"/>
              </a:solidFill>
              <a:effectLst/>
              <a:latin typeface="ui-sans-serif"/>
            </a:endParaRPr>
          </a:p>
          <a:p>
            <a:pPr marL="171450" indent="-171450" algn="l">
              <a:spcBef>
                <a:spcPts val="900"/>
              </a:spcBef>
              <a:buFontTx/>
              <a:buChar char="-"/>
            </a:pPr>
            <a:r>
              <a:rPr lang="en-GB" sz="1200" b="1" i="0" dirty="0">
                <a:solidFill>
                  <a:srgbClr val="713F12"/>
                </a:solidFill>
                <a:effectLst/>
                <a:latin typeface="ui-sans-serif"/>
              </a:rPr>
              <a:t>KNN </a:t>
            </a:r>
            <a:r>
              <a:rPr lang="en-GB" sz="1200" b="1" i="0" dirty="0" err="1">
                <a:solidFill>
                  <a:srgbClr val="713F12"/>
                </a:solidFill>
                <a:effectLst/>
                <a:latin typeface="ui-sans-serif"/>
              </a:rPr>
              <a:t>Multivariante</a:t>
            </a:r>
            <a:endParaRPr lang="en-GB" sz="1200" b="1" dirty="0">
              <a:solidFill>
                <a:srgbClr val="713F12"/>
              </a:solidFill>
              <a:latin typeface="ui-sans-serif"/>
            </a:endParaRPr>
          </a:p>
          <a:p>
            <a:pPr algn="l">
              <a:spcBef>
                <a:spcPts val="900"/>
              </a:spcBef>
            </a:pPr>
            <a:r>
              <a:rPr lang="en-GB" sz="1200" b="0" i="0" dirty="0">
                <a:solidFill>
                  <a:srgbClr val="4B5563"/>
                </a:solidFill>
                <a:effectLst/>
                <a:latin typeface="ui-sans-serif"/>
              </a:rPr>
              <a:t>Mejor </a:t>
            </a:r>
            <a:r>
              <a:rPr lang="en-GB" sz="1200" b="0" i="0" dirty="0" err="1">
                <a:solidFill>
                  <a:srgbClr val="4B5563"/>
                </a:solidFill>
                <a:effectLst/>
                <a:latin typeface="ui-sans-serif"/>
              </a:rPr>
              <a:t>ajuste</a:t>
            </a:r>
            <a:r>
              <a:rPr lang="en-GB" sz="1200" b="0" i="0" dirty="0">
                <a:solidFill>
                  <a:srgbClr val="4B5563"/>
                </a:solidFill>
                <a:effectLst/>
                <a:latin typeface="ui-sans-serif"/>
              </a:rPr>
              <a:t>, </a:t>
            </a:r>
            <a:r>
              <a:rPr lang="en-GB" sz="1200" b="0" i="0" dirty="0" err="1">
                <a:solidFill>
                  <a:srgbClr val="4B5563"/>
                </a:solidFill>
                <a:effectLst/>
                <a:latin typeface="ui-sans-serif"/>
              </a:rPr>
              <a:t>pero</a:t>
            </a:r>
            <a:r>
              <a:rPr lang="en-GB" sz="1200" b="0" i="0" dirty="0">
                <a:solidFill>
                  <a:srgbClr val="4B5563"/>
                </a:solidFill>
                <a:effectLst/>
                <a:latin typeface="ui-sans-serif"/>
              </a:rPr>
              <a:t> </a:t>
            </a:r>
            <a:r>
              <a:rPr lang="en-GB" sz="1200" b="0" i="0" dirty="0" err="1">
                <a:solidFill>
                  <a:srgbClr val="4B5563"/>
                </a:solidFill>
                <a:effectLst/>
                <a:latin typeface="ui-sans-serif"/>
              </a:rPr>
              <a:t>mejorable</a:t>
            </a:r>
            <a:endParaRPr lang="en-GB" sz="1200" b="0" i="0" dirty="0">
              <a:solidFill>
                <a:srgbClr val="4B5563"/>
              </a:solidFill>
              <a:effectLst/>
              <a:latin typeface="ui-sans-serif"/>
            </a:endParaRPr>
          </a:p>
          <a:p>
            <a:pPr algn="l">
              <a:spcBef>
                <a:spcPts val="900"/>
              </a:spcBef>
              <a:buNone/>
            </a:pPr>
            <a:r>
              <a:rPr lang="en-GB" sz="1200" b="1" i="0" dirty="0">
                <a:solidFill>
                  <a:srgbClr val="14532D"/>
                </a:solidFill>
                <a:effectLst/>
                <a:highlight>
                  <a:srgbClr val="FFFF00"/>
                </a:highlight>
                <a:latin typeface="ui-sans-serif"/>
              </a:rPr>
              <a:t>- MICE (</a:t>
            </a:r>
            <a:r>
              <a:rPr lang="en-GB" sz="1200" b="1" i="0" dirty="0" err="1">
                <a:solidFill>
                  <a:srgbClr val="14532D"/>
                </a:solidFill>
                <a:effectLst/>
                <a:highlight>
                  <a:srgbClr val="FFFF00"/>
                </a:highlight>
                <a:latin typeface="ui-sans-serif"/>
              </a:rPr>
              <a:t>Multivariante</a:t>
            </a:r>
            <a:r>
              <a:rPr lang="en-GB" sz="1200" b="1" i="0" dirty="0">
                <a:solidFill>
                  <a:srgbClr val="14532D"/>
                </a:solidFill>
                <a:effectLst/>
                <a:highlight>
                  <a:srgbClr val="FFFF00"/>
                </a:highlight>
                <a:latin typeface="ui-sans-serif"/>
              </a:rPr>
              <a:t>)</a:t>
            </a:r>
          </a:p>
          <a:p>
            <a:pPr algn="l">
              <a:spcBef>
                <a:spcPts val="900"/>
              </a:spcBef>
              <a:buNone/>
            </a:pPr>
            <a:r>
              <a:rPr lang="en-GB" sz="1200" b="0" i="0" dirty="0" err="1">
                <a:solidFill>
                  <a:srgbClr val="4B5563"/>
                </a:solidFill>
                <a:effectLst/>
                <a:latin typeface="ui-sans-serif"/>
              </a:rPr>
              <a:t>Ajuste</a:t>
            </a:r>
            <a:r>
              <a:rPr lang="en-GB" sz="1200" b="0" i="0" dirty="0">
                <a:solidFill>
                  <a:srgbClr val="4B5563"/>
                </a:solidFill>
                <a:effectLst/>
                <a:latin typeface="ui-sans-serif"/>
              </a:rPr>
              <a:t> perfecto de </a:t>
            </a:r>
            <a:r>
              <a:rPr lang="en-GB" sz="1200" b="0" i="0" dirty="0" err="1">
                <a:solidFill>
                  <a:srgbClr val="4B5563"/>
                </a:solidFill>
                <a:effectLst/>
                <a:latin typeface="ui-sans-serif"/>
              </a:rPr>
              <a:t>distribuciones</a:t>
            </a:r>
            <a:endParaRPr lang="en-GB" sz="1200" b="0" i="0" dirty="0">
              <a:solidFill>
                <a:srgbClr val="4B5563"/>
              </a:solidFill>
              <a:effectLst/>
              <a:latin typeface="ui-sans-serif"/>
            </a:endParaRPr>
          </a:p>
          <a:p>
            <a:pPr algn="l">
              <a:spcBef>
                <a:spcPts val="900"/>
              </a:spcBef>
              <a:buNone/>
            </a:pPr>
            <a:r>
              <a:rPr lang="en-GB" sz="1200" b="1" i="0" dirty="0">
                <a:solidFill>
                  <a:srgbClr val="166534"/>
                </a:solidFill>
                <a:effectLst/>
                <a:latin typeface="ui-sans-serif"/>
              </a:rPr>
              <a:t>✓ MÉTODO SELECCIONADO</a:t>
            </a:r>
          </a:p>
        </p:txBody>
      </p:sp>
      <p:sp>
        <p:nvSpPr>
          <p:cNvPr id="10" name="TextBox 9">
            <a:extLst>
              <a:ext uri="{FF2B5EF4-FFF2-40B4-BE49-F238E27FC236}">
                <a16:creationId xmlns:a16="http://schemas.microsoft.com/office/drawing/2014/main" id="{6B9214DE-8CE4-ADC1-4D89-4FDD571013F0}"/>
              </a:ext>
            </a:extLst>
          </p:cNvPr>
          <p:cNvSpPr txBox="1"/>
          <p:nvPr/>
        </p:nvSpPr>
        <p:spPr>
          <a:xfrm>
            <a:off x="5414004" y="3234606"/>
            <a:ext cx="3652383" cy="1384995"/>
          </a:xfrm>
          <a:prstGeom prst="rect">
            <a:avLst/>
          </a:prstGeom>
          <a:noFill/>
        </p:spPr>
        <p:txBody>
          <a:bodyPr wrap="square" rtlCol="0">
            <a:spAutoFit/>
          </a:bodyPr>
          <a:lstStyle/>
          <a:p>
            <a:pPr algn="just"/>
            <a:r>
              <a:rPr lang="es-ES" sz="1200" i="1" dirty="0"/>
              <a:t>Finalmente, tras aplicar el método </a:t>
            </a:r>
            <a:r>
              <a:rPr lang="es-ES" sz="1200" b="1" i="1" dirty="0"/>
              <a:t>MICE</a:t>
            </a:r>
            <a:r>
              <a:rPr lang="es-ES" sz="1200" i="1" dirty="0"/>
              <a:t> (multivariante), llegamos a unos resultados muy buenos, encontrando un ajuste prácticamente perfecto de las distribuciones. </a:t>
            </a:r>
          </a:p>
          <a:p>
            <a:pPr algn="just"/>
            <a:endParaRPr lang="es-ES" sz="1200" i="1" dirty="0"/>
          </a:p>
          <a:p>
            <a:pPr algn="just"/>
            <a:r>
              <a:rPr lang="es-ES" sz="1200" i="1" dirty="0"/>
              <a:t>Se decidió validar el método y la base de datos imputada por MICE.</a:t>
            </a:r>
          </a:p>
        </p:txBody>
      </p:sp>
    </p:spTree>
    <p:extLst>
      <p:ext uri="{BB962C8B-B14F-4D97-AF65-F5344CB8AC3E}">
        <p14:creationId xmlns:p14="http://schemas.microsoft.com/office/powerpoint/2010/main" val="1794189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184498"/>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a:t>
            </a:r>
            <a:endParaRPr dirty="0"/>
          </a:p>
        </p:txBody>
      </p:sp>
      <p:pic>
        <p:nvPicPr>
          <p:cNvPr id="6" name="Imagen 5"/>
          <p:cNvPicPr>
            <a:picLocks noChangeAspect="1"/>
          </p:cNvPicPr>
          <p:nvPr/>
        </p:nvPicPr>
        <p:blipFill>
          <a:blip r:embed="rId3"/>
          <a:stretch>
            <a:fillRect/>
          </a:stretch>
        </p:blipFill>
        <p:spPr>
          <a:xfrm>
            <a:off x="20443" y="2251639"/>
            <a:ext cx="4381801" cy="2848282"/>
          </a:xfrm>
          <a:prstGeom prst="rect">
            <a:avLst/>
          </a:prstGeom>
        </p:spPr>
      </p:pic>
      <p:pic>
        <p:nvPicPr>
          <p:cNvPr id="8" name="Imagen 7"/>
          <p:cNvPicPr>
            <a:picLocks noChangeAspect="1"/>
          </p:cNvPicPr>
          <p:nvPr/>
        </p:nvPicPr>
        <p:blipFill>
          <a:blip r:embed="rId4"/>
          <a:stretch>
            <a:fillRect/>
          </a:stretch>
        </p:blipFill>
        <p:spPr>
          <a:xfrm>
            <a:off x="4402244" y="2240217"/>
            <a:ext cx="4626707" cy="2872676"/>
          </a:xfrm>
          <a:prstGeom prst="rect">
            <a:avLst/>
          </a:prstGeom>
        </p:spPr>
      </p:pic>
      <p:sp>
        <p:nvSpPr>
          <p:cNvPr id="2" name="Rounded Rectangle 1">
            <a:extLst>
              <a:ext uri="{FF2B5EF4-FFF2-40B4-BE49-F238E27FC236}">
                <a16:creationId xmlns:a16="http://schemas.microsoft.com/office/drawing/2014/main" id="{FBFCB37C-4001-05C8-8D9E-DAB7D1D18255}"/>
              </a:ext>
            </a:extLst>
          </p:cNvPr>
          <p:cNvSpPr/>
          <p:nvPr/>
        </p:nvSpPr>
        <p:spPr>
          <a:xfrm>
            <a:off x="115049" y="709411"/>
            <a:ext cx="1432397" cy="248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Detección</a:t>
            </a:r>
          </a:p>
        </p:txBody>
      </p:sp>
      <p:sp>
        <p:nvSpPr>
          <p:cNvPr id="3" name="TextBox 2">
            <a:extLst>
              <a:ext uri="{FF2B5EF4-FFF2-40B4-BE49-F238E27FC236}">
                <a16:creationId xmlns:a16="http://schemas.microsoft.com/office/drawing/2014/main" id="{F0342EB7-A386-1AD3-0443-2B2E55CF4E59}"/>
              </a:ext>
            </a:extLst>
          </p:cNvPr>
          <p:cNvSpPr txBox="1"/>
          <p:nvPr/>
        </p:nvSpPr>
        <p:spPr>
          <a:xfrm>
            <a:off x="115049" y="1024623"/>
            <a:ext cx="2589581" cy="1231106"/>
          </a:xfrm>
          <a:prstGeom prst="rect">
            <a:avLst/>
          </a:prstGeom>
          <a:noFill/>
        </p:spPr>
        <p:txBody>
          <a:bodyPr wrap="square" rtlCol="0">
            <a:spAutoFit/>
          </a:bodyPr>
          <a:lstStyle/>
          <a:p>
            <a:r>
              <a:rPr lang="en-GB" sz="1200" b="1" dirty="0"/>
              <a:t>30% </a:t>
            </a:r>
            <a:r>
              <a:rPr lang="en-GB" sz="1200" dirty="0" err="1"/>
              <a:t>en</a:t>
            </a:r>
            <a:r>
              <a:rPr lang="en-GB" sz="1200" dirty="0"/>
              <a:t> </a:t>
            </a:r>
            <a:r>
              <a:rPr lang="en-GB" sz="1200" dirty="0" err="1"/>
              <a:t>todas</a:t>
            </a:r>
            <a:r>
              <a:rPr lang="en-GB" sz="1200" dirty="0"/>
              <a:t> las variables (</a:t>
            </a:r>
            <a:r>
              <a:rPr lang="en-GB" sz="1200" dirty="0" err="1"/>
              <a:t>excepto</a:t>
            </a:r>
            <a:r>
              <a:rPr lang="en-GB" sz="1200" dirty="0"/>
              <a:t> ID)</a:t>
            </a:r>
          </a:p>
          <a:p>
            <a:r>
              <a:rPr lang="en-GB" sz="1200" b="1" dirty="0">
                <a:highlight>
                  <a:srgbClr val="FFFF00"/>
                </a:highlight>
              </a:rPr>
              <a:t>Test MCAR</a:t>
            </a:r>
          </a:p>
          <a:p>
            <a:r>
              <a:rPr lang="en-GB" sz="1200" b="1" dirty="0"/>
              <a:t>p-</a:t>
            </a:r>
            <a:r>
              <a:rPr lang="en-GB" sz="1200" b="1" dirty="0" err="1"/>
              <a:t>valor</a:t>
            </a:r>
            <a:r>
              <a:rPr lang="en-GB" sz="1200" b="1" dirty="0"/>
              <a:t> = 0.39</a:t>
            </a:r>
          </a:p>
          <a:p>
            <a:r>
              <a:rPr lang="en-GB" sz="1200" dirty="0"/>
              <a:t>✓ </a:t>
            </a:r>
            <a:r>
              <a:rPr lang="en-GB" sz="1200" dirty="0" err="1"/>
              <a:t>Aleatoriedad</a:t>
            </a:r>
            <a:r>
              <a:rPr lang="en-GB" sz="1200" dirty="0"/>
              <a:t> </a:t>
            </a:r>
            <a:r>
              <a:rPr lang="en-GB" sz="1200" dirty="0" err="1"/>
              <a:t>confirmada</a:t>
            </a:r>
            <a:endParaRPr lang="en-GB" sz="1200" dirty="0"/>
          </a:p>
          <a:p>
            <a:endParaRPr lang="en-ES" dirty="0"/>
          </a:p>
        </p:txBody>
      </p:sp>
      <p:sp>
        <p:nvSpPr>
          <p:cNvPr id="4" name="TextBox 3">
            <a:extLst>
              <a:ext uri="{FF2B5EF4-FFF2-40B4-BE49-F238E27FC236}">
                <a16:creationId xmlns:a16="http://schemas.microsoft.com/office/drawing/2014/main" id="{DAF17CAC-247E-268B-7A5C-1A3385D97F3B}"/>
              </a:ext>
            </a:extLst>
          </p:cNvPr>
          <p:cNvSpPr txBox="1"/>
          <p:nvPr/>
        </p:nvSpPr>
        <p:spPr>
          <a:xfrm>
            <a:off x="2240937" y="605827"/>
            <a:ext cx="3391877" cy="1269578"/>
          </a:xfrm>
          <a:prstGeom prst="rect">
            <a:avLst/>
          </a:prstGeom>
          <a:noFill/>
        </p:spPr>
        <p:txBody>
          <a:bodyPr wrap="square">
            <a:spAutoFit/>
          </a:bodyPr>
          <a:lstStyle/>
          <a:p>
            <a:pPr algn="l">
              <a:buNone/>
            </a:pPr>
            <a:br>
              <a:rPr lang="en-GB" b="1" i="0" dirty="0">
                <a:solidFill>
                  <a:srgbClr val="030712"/>
                </a:solidFill>
                <a:effectLst/>
                <a:latin typeface="ui-sans-serif"/>
              </a:rPr>
            </a:br>
            <a:r>
              <a:rPr lang="en-GB" sz="1100" b="1" i="0" dirty="0" err="1">
                <a:solidFill>
                  <a:srgbClr val="030712"/>
                </a:solidFill>
                <a:effectLst/>
                <a:latin typeface="ui-sans-serif"/>
              </a:rPr>
              <a:t>Métodos</a:t>
            </a:r>
            <a:r>
              <a:rPr lang="en-GB" sz="1100" b="1" i="0" dirty="0">
                <a:solidFill>
                  <a:srgbClr val="030712"/>
                </a:solidFill>
                <a:effectLst/>
                <a:latin typeface="ui-sans-serif"/>
              </a:rPr>
              <a:t> </a:t>
            </a:r>
            <a:r>
              <a:rPr lang="en-GB" sz="1100" b="1" i="0" dirty="0" err="1">
                <a:solidFill>
                  <a:srgbClr val="030712"/>
                </a:solidFill>
                <a:effectLst/>
                <a:latin typeface="ui-sans-serif"/>
              </a:rPr>
              <a:t>Probados</a:t>
            </a:r>
            <a:r>
              <a:rPr lang="en-GB" sz="1100" b="1" i="0" dirty="0">
                <a:solidFill>
                  <a:srgbClr val="030712"/>
                </a:solidFill>
                <a:effectLst/>
                <a:latin typeface="ui-sans-serif"/>
              </a:rPr>
              <a:t> </a:t>
            </a:r>
            <a:r>
              <a:rPr lang="en-GB" sz="1100" b="1" i="0" dirty="0" err="1">
                <a:solidFill>
                  <a:srgbClr val="030712"/>
                </a:solidFill>
                <a:effectLst/>
                <a:latin typeface="ui-sans-serif"/>
              </a:rPr>
              <a:t>Implementados</a:t>
            </a:r>
            <a:r>
              <a:rPr lang="en-GB" sz="1100" b="1" i="0" dirty="0">
                <a:solidFill>
                  <a:srgbClr val="030712"/>
                </a:solidFill>
                <a:effectLst/>
                <a:latin typeface="ui-sans-serif"/>
              </a:rPr>
              <a:t> </a:t>
            </a:r>
          </a:p>
          <a:p>
            <a:pPr algn="l">
              <a:buNone/>
            </a:pPr>
            <a:r>
              <a:rPr lang="en-GB" sz="1100" b="1" i="0" dirty="0">
                <a:solidFill>
                  <a:srgbClr val="7F1D1D"/>
                </a:solidFill>
                <a:effectLst/>
                <a:latin typeface="ui-sans-serif"/>
              </a:rPr>
              <a:t>- </a:t>
            </a:r>
            <a:r>
              <a:rPr lang="en-GB" sz="1100" b="1" i="0" dirty="0" err="1">
                <a:solidFill>
                  <a:srgbClr val="7F1D1D"/>
                </a:solidFill>
                <a:effectLst/>
                <a:latin typeface="ui-sans-serif"/>
              </a:rPr>
              <a:t>Imputación</a:t>
            </a:r>
            <a:r>
              <a:rPr lang="en-GB" sz="1100" b="1" i="0" dirty="0">
                <a:solidFill>
                  <a:srgbClr val="7F1D1D"/>
                </a:solidFill>
                <a:effectLst/>
                <a:latin typeface="ui-sans-serif"/>
              </a:rPr>
              <a:t> Simple</a:t>
            </a:r>
          </a:p>
          <a:p>
            <a:pPr algn="l">
              <a:buNone/>
            </a:pPr>
            <a:r>
              <a:rPr lang="en-GB" sz="1100" b="0" i="0" dirty="0">
                <a:solidFill>
                  <a:srgbClr val="4B5563"/>
                </a:solidFill>
                <a:effectLst/>
                <a:latin typeface="ui-sans-serif"/>
              </a:rPr>
              <a:t>Media/</a:t>
            </a:r>
            <a:r>
              <a:rPr lang="en-GB" sz="1100" b="0" i="0" dirty="0" err="1">
                <a:solidFill>
                  <a:srgbClr val="4B5563"/>
                </a:solidFill>
                <a:effectLst/>
                <a:latin typeface="ui-sans-serif"/>
              </a:rPr>
              <a:t>mediana</a:t>
            </a:r>
            <a:r>
              <a:rPr lang="en-GB" sz="1100" b="0" i="0" dirty="0">
                <a:solidFill>
                  <a:srgbClr val="4B5563"/>
                </a:solidFill>
                <a:effectLst/>
                <a:latin typeface="ui-sans-serif"/>
              </a:rPr>
              <a:t>/</a:t>
            </a:r>
            <a:r>
              <a:rPr lang="en-GB" sz="1100" b="0" i="0" dirty="0" err="1">
                <a:solidFill>
                  <a:srgbClr val="4B5563"/>
                </a:solidFill>
                <a:effectLst/>
                <a:latin typeface="ui-sans-serif"/>
              </a:rPr>
              <a:t>moda</a:t>
            </a:r>
            <a:endParaRPr lang="en-GB" sz="1100" b="0" i="0" dirty="0">
              <a:solidFill>
                <a:srgbClr val="4B5563"/>
              </a:solidFill>
              <a:effectLst/>
              <a:latin typeface="ui-sans-serif"/>
            </a:endParaRPr>
          </a:p>
          <a:p>
            <a:pPr algn="l">
              <a:buNone/>
            </a:pPr>
            <a:r>
              <a:rPr lang="en-GB" sz="1100" b="0" i="1" dirty="0" err="1">
                <a:solidFill>
                  <a:srgbClr val="B91C1C"/>
                </a:solidFill>
                <a:effectLst/>
                <a:latin typeface="ui-sans-serif"/>
              </a:rPr>
              <a:t>Distorsiona</a:t>
            </a:r>
            <a:r>
              <a:rPr lang="en-GB" sz="1100" b="0" i="1" dirty="0">
                <a:solidFill>
                  <a:srgbClr val="B91C1C"/>
                </a:solidFill>
                <a:effectLst/>
                <a:latin typeface="ui-sans-serif"/>
              </a:rPr>
              <a:t> </a:t>
            </a:r>
            <a:r>
              <a:rPr lang="en-GB" sz="1100" b="0" i="1" dirty="0" err="1">
                <a:solidFill>
                  <a:srgbClr val="B91C1C"/>
                </a:solidFill>
                <a:effectLst/>
                <a:latin typeface="ui-sans-serif"/>
              </a:rPr>
              <a:t>distribuciones</a:t>
            </a:r>
            <a:endParaRPr lang="en-GB" sz="1100" b="0" i="1" dirty="0">
              <a:solidFill>
                <a:srgbClr val="B91C1C"/>
              </a:solidFill>
              <a:effectLst/>
              <a:latin typeface="ui-sans-serif"/>
            </a:endParaRPr>
          </a:p>
          <a:p>
            <a:pPr marL="171450" indent="-171450" algn="l">
              <a:spcBef>
                <a:spcPts val="900"/>
              </a:spcBef>
              <a:buFontTx/>
              <a:buChar char="-"/>
            </a:pPr>
            <a:r>
              <a:rPr lang="en-GB" sz="1100" b="1" i="0" dirty="0">
                <a:solidFill>
                  <a:srgbClr val="713F12"/>
                </a:solidFill>
                <a:effectLst/>
                <a:latin typeface="ui-sans-serif"/>
              </a:rPr>
              <a:t>KNN </a:t>
            </a:r>
            <a:r>
              <a:rPr lang="en-GB" sz="1100" b="1" i="0" dirty="0" err="1">
                <a:solidFill>
                  <a:srgbClr val="713F12"/>
                </a:solidFill>
                <a:effectLst/>
                <a:latin typeface="ui-sans-serif"/>
              </a:rPr>
              <a:t>Multivariante</a:t>
            </a:r>
            <a:endParaRPr lang="en-GB" sz="1100" b="1" dirty="0">
              <a:solidFill>
                <a:srgbClr val="713F12"/>
              </a:solidFill>
              <a:latin typeface="ui-sans-serif"/>
            </a:endParaRPr>
          </a:p>
        </p:txBody>
      </p:sp>
      <p:sp>
        <p:nvSpPr>
          <p:cNvPr id="5" name="TextBox 4">
            <a:extLst>
              <a:ext uri="{FF2B5EF4-FFF2-40B4-BE49-F238E27FC236}">
                <a16:creationId xmlns:a16="http://schemas.microsoft.com/office/drawing/2014/main" id="{AEDDF397-5179-1ABA-E497-DB8D79140BF9}"/>
              </a:ext>
            </a:extLst>
          </p:cNvPr>
          <p:cNvSpPr txBox="1"/>
          <p:nvPr/>
        </p:nvSpPr>
        <p:spPr>
          <a:xfrm>
            <a:off x="3832213" y="1046039"/>
            <a:ext cx="3321538" cy="1331134"/>
          </a:xfrm>
          <a:prstGeom prst="rect">
            <a:avLst/>
          </a:prstGeom>
          <a:noFill/>
        </p:spPr>
        <p:txBody>
          <a:bodyPr wrap="square" rtlCol="0">
            <a:spAutoFit/>
          </a:bodyPr>
          <a:lstStyle/>
          <a:p>
            <a:pPr>
              <a:spcBef>
                <a:spcPts val="900"/>
              </a:spcBef>
            </a:pPr>
            <a:r>
              <a:rPr lang="en-GB" sz="1100" dirty="0">
                <a:solidFill>
                  <a:srgbClr val="4B5563"/>
                </a:solidFill>
                <a:latin typeface="ui-sans-serif"/>
              </a:rPr>
              <a:t>Mejor </a:t>
            </a:r>
            <a:r>
              <a:rPr lang="en-GB" sz="1100" dirty="0" err="1">
                <a:solidFill>
                  <a:srgbClr val="4B5563"/>
                </a:solidFill>
                <a:latin typeface="ui-sans-serif"/>
              </a:rPr>
              <a:t>ajuste</a:t>
            </a:r>
            <a:r>
              <a:rPr lang="en-GB" sz="1100" dirty="0">
                <a:solidFill>
                  <a:srgbClr val="4B5563"/>
                </a:solidFill>
                <a:latin typeface="ui-sans-serif"/>
              </a:rPr>
              <a:t>, </a:t>
            </a:r>
            <a:r>
              <a:rPr lang="en-GB" sz="1100" dirty="0" err="1">
                <a:solidFill>
                  <a:srgbClr val="4B5563"/>
                </a:solidFill>
                <a:latin typeface="ui-sans-serif"/>
              </a:rPr>
              <a:t>pero</a:t>
            </a:r>
            <a:r>
              <a:rPr lang="en-GB" sz="1100" dirty="0">
                <a:solidFill>
                  <a:srgbClr val="4B5563"/>
                </a:solidFill>
                <a:latin typeface="ui-sans-serif"/>
              </a:rPr>
              <a:t> </a:t>
            </a:r>
            <a:r>
              <a:rPr lang="en-GB" sz="1100" dirty="0" err="1">
                <a:solidFill>
                  <a:srgbClr val="4B5563"/>
                </a:solidFill>
                <a:latin typeface="ui-sans-serif"/>
              </a:rPr>
              <a:t>mejorable</a:t>
            </a:r>
            <a:endParaRPr lang="en-GB" sz="1100" dirty="0">
              <a:solidFill>
                <a:srgbClr val="4B5563"/>
              </a:solidFill>
              <a:latin typeface="ui-sans-serif"/>
            </a:endParaRPr>
          </a:p>
          <a:p>
            <a:pPr>
              <a:spcBef>
                <a:spcPts val="900"/>
              </a:spcBef>
            </a:pPr>
            <a:r>
              <a:rPr lang="en-GB" sz="1100" b="1" dirty="0">
                <a:solidFill>
                  <a:srgbClr val="14532D"/>
                </a:solidFill>
                <a:highlight>
                  <a:srgbClr val="FFFF00"/>
                </a:highlight>
                <a:latin typeface="ui-sans-serif"/>
              </a:rPr>
              <a:t>- MICE (</a:t>
            </a:r>
            <a:r>
              <a:rPr lang="en-GB" sz="1100" b="1" dirty="0" err="1">
                <a:solidFill>
                  <a:srgbClr val="14532D"/>
                </a:solidFill>
                <a:highlight>
                  <a:srgbClr val="FFFF00"/>
                </a:highlight>
                <a:latin typeface="ui-sans-serif"/>
              </a:rPr>
              <a:t>Multivariante</a:t>
            </a:r>
            <a:r>
              <a:rPr lang="en-GB" sz="1100" b="1" dirty="0">
                <a:solidFill>
                  <a:srgbClr val="14532D"/>
                </a:solidFill>
                <a:highlight>
                  <a:srgbClr val="FFFF00"/>
                </a:highlight>
                <a:latin typeface="ui-sans-serif"/>
              </a:rPr>
              <a:t>)</a:t>
            </a:r>
          </a:p>
          <a:p>
            <a:pPr>
              <a:spcBef>
                <a:spcPts val="900"/>
              </a:spcBef>
            </a:pPr>
            <a:r>
              <a:rPr lang="en-GB" sz="1100" dirty="0" err="1">
                <a:solidFill>
                  <a:srgbClr val="4B5563"/>
                </a:solidFill>
                <a:latin typeface="ui-sans-serif"/>
              </a:rPr>
              <a:t>Ajuste</a:t>
            </a:r>
            <a:r>
              <a:rPr lang="en-GB" sz="1100" dirty="0">
                <a:solidFill>
                  <a:srgbClr val="4B5563"/>
                </a:solidFill>
                <a:latin typeface="ui-sans-serif"/>
              </a:rPr>
              <a:t> perfecto de </a:t>
            </a:r>
            <a:r>
              <a:rPr lang="en-GB" sz="1100" dirty="0" err="1">
                <a:solidFill>
                  <a:srgbClr val="4B5563"/>
                </a:solidFill>
                <a:latin typeface="ui-sans-serif"/>
              </a:rPr>
              <a:t>distribuciones</a:t>
            </a:r>
            <a:endParaRPr lang="en-GB" sz="1100" dirty="0">
              <a:solidFill>
                <a:srgbClr val="4B5563"/>
              </a:solidFill>
              <a:latin typeface="ui-sans-serif"/>
            </a:endParaRPr>
          </a:p>
          <a:p>
            <a:pPr>
              <a:spcBef>
                <a:spcPts val="900"/>
              </a:spcBef>
            </a:pPr>
            <a:r>
              <a:rPr lang="en-GB" sz="1100" b="1" dirty="0">
                <a:solidFill>
                  <a:srgbClr val="166534"/>
                </a:solidFill>
                <a:latin typeface="ui-sans-serif"/>
              </a:rPr>
              <a:t>✓ MÉTODO SELECCIONADO</a:t>
            </a:r>
          </a:p>
          <a:p>
            <a:endParaRPr lang="en-ES" dirty="0"/>
          </a:p>
        </p:txBody>
      </p:sp>
      <p:cxnSp>
        <p:nvCxnSpPr>
          <p:cNvPr id="9" name="Straight Connector 8">
            <a:extLst>
              <a:ext uri="{FF2B5EF4-FFF2-40B4-BE49-F238E27FC236}">
                <a16:creationId xmlns:a16="http://schemas.microsoft.com/office/drawing/2014/main" id="{8F4C9136-E073-6DF3-B808-213004673361}"/>
              </a:ext>
            </a:extLst>
          </p:cNvPr>
          <p:cNvCxnSpPr/>
          <p:nvPr/>
        </p:nvCxnSpPr>
        <p:spPr>
          <a:xfrm>
            <a:off x="2110153" y="590805"/>
            <a:ext cx="0" cy="1594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71651-6029-0F9E-9E3D-55948F1B663B}"/>
              </a:ext>
            </a:extLst>
          </p:cNvPr>
          <p:cNvCxnSpPr/>
          <p:nvPr/>
        </p:nvCxnSpPr>
        <p:spPr>
          <a:xfrm>
            <a:off x="5920153" y="661390"/>
            <a:ext cx="0" cy="159433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4F0584E-1220-C583-17A4-FF6564FB82C5}"/>
              </a:ext>
            </a:extLst>
          </p:cNvPr>
          <p:cNvSpPr txBox="1"/>
          <p:nvPr/>
        </p:nvSpPr>
        <p:spPr>
          <a:xfrm>
            <a:off x="5942367" y="674103"/>
            <a:ext cx="3044340" cy="1277273"/>
          </a:xfrm>
          <a:prstGeom prst="rect">
            <a:avLst/>
          </a:prstGeom>
          <a:noFill/>
        </p:spPr>
        <p:txBody>
          <a:bodyPr wrap="square" rtlCol="0">
            <a:spAutoFit/>
          </a:bodyPr>
          <a:lstStyle/>
          <a:p>
            <a:pPr algn="just"/>
            <a:r>
              <a:rPr lang="es-ES" sz="1100" i="1" dirty="0"/>
              <a:t>Finalmente, tras aplicar el método </a:t>
            </a:r>
            <a:r>
              <a:rPr lang="es-ES" sz="1100" b="1" i="1" dirty="0"/>
              <a:t>MICE</a:t>
            </a:r>
            <a:r>
              <a:rPr lang="es-ES" sz="1100" i="1" dirty="0"/>
              <a:t> (multivariante), llegamos a unos resultados muy buenos, encontrando un ajuste prácticamente perfecto de las distribuciones. </a:t>
            </a:r>
          </a:p>
          <a:p>
            <a:pPr algn="just"/>
            <a:endParaRPr lang="es-ES" sz="1100" i="1" dirty="0"/>
          </a:p>
          <a:p>
            <a:pPr algn="just"/>
            <a:r>
              <a:rPr lang="es-ES" sz="1100" i="1" dirty="0"/>
              <a:t>Se decidió validar el método y la base de datos imputada por MICE.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A066745-E63D-F2E0-F30F-FE27600A39A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CBC2E359-E539-DBD1-495A-0EE34D687FD3}"/>
              </a:ext>
            </a:extLst>
          </p:cNvPr>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3" name="CuadroTexto 2">
            <a:extLst>
              <a:ext uri="{FF2B5EF4-FFF2-40B4-BE49-F238E27FC236}">
                <a16:creationId xmlns:a16="http://schemas.microsoft.com/office/drawing/2014/main" id="{2EEF3947-4909-7EA1-9CA3-22FEB8ED7AAA}"/>
              </a:ext>
            </a:extLst>
          </p:cNvPr>
          <p:cNvSpPr txBox="1"/>
          <p:nvPr/>
        </p:nvSpPr>
        <p:spPr>
          <a:xfrm>
            <a:off x="299922" y="4096818"/>
            <a:ext cx="8306195" cy="93871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ES" sz="1100" dirty="0">
                <a:solidFill>
                  <a:schemeClr val="tx1"/>
                </a:solidFill>
              </a:rPr>
              <a:t>Se realizó un estudio de </a:t>
            </a:r>
            <a:r>
              <a:rPr lang="es-ES" sz="1100" dirty="0" err="1">
                <a:solidFill>
                  <a:schemeClr val="tx1"/>
                </a:solidFill>
              </a:rPr>
              <a:t>outliers</a:t>
            </a:r>
            <a:r>
              <a:rPr lang="es-ES" sz="1100" dirty="0">
                <a:solidFill>
                  <a:schemeClr val="tx1"/>
                </a:solidFill>
              </a:rPr>
              <a:t> previo y posterior a la imputación, obteniendo los mismos resultados tanto a nivel univariante como multivariante.</a:t>
            </a:r>
          </a:p>
          <a:p>
            <a:endParaRPr lang="es-ES" sz="1100" dirty="0">
              <a:solidFill>
                <a:schemeClr val="tx1"/>
              </a:solidFill>
            </a:endParaRPr>
          </a:p>
          <a:p>
            <a:r>
              <a:rPr lang="es-ES" sz="1100" dirty="0">
                <a:solidFill>
                  <a:schemeClr val="tx1"/>
                </a:solidFill>
              </a:rPr>
              <a:t>Se decidió mantenerlos en la base de datos, ya que suponían una proporción que se puede entender como normal (~4-5%) y no se observaron valores extremos </a:t>
            </a:r>
            <a:r>
              <a:rPr lang="es-ES" sz="1100">
                <a:solidFill>
                  <a:schemeClr val="tx1"/>
                </a:solidFill>
              </a:rPr>
              <a:t>o imposibles.</a:t>
            </a:r>
            <a:endParaRPr lang="es-ES" sz="1100" dirty="0">
              <a:solidFill>
                <a:schemeClr val="tx1"/>
              </a:solidFill>
            </a:endParaRPr>
          </a:p>
        </p:txBody>
      </p:sp>
      <p:graphicFrame>
        <p:nvGraphicFramePr>
          <p:cNvPr id="4" name="Table 3">
            <a:extLst>
              <a:ext uri="{FF2B5EF4-FFF2-40B4-BE49-F238E27FC236}">
                <a16:creationId xmlns:a16="http://schemas.microsoft.com/office/drawing/2014/main" id="{2F750F37-B68E-34B0-D8F6-AE79285CB33A}"/>
              </a:ext>
            </a:extLst>
          </p:cNvPr>
          <p:cNvGraphicFramePr>
            <a:graphicFrameLocks noGrp="1"/>
          </p:cNvGraphicFramePr>
          <p:nvPr>
            <p:extLst>
              <p:ext uri="{D42A27DB-BD31-4B8C-83A1-F6EECF244321}">
                <p14:modId xmlns:p14="http://schemas.microsoft.com/office/powerpoint/2010/main" val="454462927"/>
              </p:ext>
            </p:extLst>
          </p:nvPr>
        </p:nvGraphicFramePr>
        <p:xfrm>
          <a:off x="299923" y="1101572"/>
          <a:ext cx="5398617" cy="1630680"/>
        </p:xfrm>
        <a:graphic>
          <a:graphicData uri="http://schemas.openxmlformats.org/drawingml/2006/table">
            <a:tbl>
              <a:tblPr firstRow="1" bandRow="1">
                <a:tableStyleId>{7FD54D1E-A07F-487E-B709-6B33F1453160}</a:tableStyleId>
              </a:tblPr>
              <a:tblGrid>
                <a:gridCol w="1080507">
                  <a:extLst>
                    <a:ext uri="{9D8B030D-6E8A-4147-A177-3AD203B41FA5}">
                      <a16:colId xmlns:a16="http://schemas.microsoft.com/office/drawing/2014/main" val="2719349731"/>
                    </a:ext>
                  </a:extLst>
                </a:gridCol>
                <a:gridCol w="1439370">
                  <a:extLst>
                    <a:ext uri="{9D8B030D-6E8A-4147-A177-3AD203B41FA5}">
                      <a16:colId xmlns:a16="http://schemas.microsoft.com/office/drawing/2014/main" val="756193211"/>
                    </a:ext>
                  </a:extLst>
                </a:gridCol>
                <a:gridCol w="1439370">
                  <a:extLst>
                    <a:ext uri="{9D8B030D-6E8A-4147-A177-3AD203B41FA5}">
                      <a16:colId xmlns:a16="http://schemas.microsoft.com/office/drawing/2014/main" val="2269585124"/>
                    </a:ext>
                  </a:extLst>
                </a:gridCol>
                <a:gridCol w="1439370">
                  <a:extLst>
                    <a:ext uri="{9D8B030D-6E8A-4147-A177-3AD203B41FA5}">
                      <a16:colId xmlns:a16="http://schemas.microsoft.com/office/drawing/2014/main" val="2733211629"/>
                    </a:ext>
                  </a:extLst>
                </a:gridCol>
              </a:tblGrid>
              <a:tr h="251459">
                <a:tc>
                  <a:txBody>
                    <a:bodyPr/>
                    <a:lstStyle/>
                    <a:p>
                      <a:r>
                        <a:rPr lang="en-ES" sz="1100" b="1" dirty="0"/>
                        <a:t>Nivel</a:t>
                      </a:r>
                    </a:p>
                  </a:txBody>
                  <a:tcPr>
                    <a:solidFill>
                      <a:schemeClr val="accent2"/>
                    </a:solidFill>
                  </a:tcPr>
                </a:tc>
                <a:tc>
                  <a:txBody>
                    <a:bodyPr/>
                    <a:lstStyle/>
                    <a:p>
                      <a:r>
                        <a:rPr lang="en-ES" sz="1100" b="1" dirty="0"/>
                        <a:t>Tipo de Variable </a:t>
                      </a:r>
                    </a:p>
                  </a:txBody>
                  <a:tcPr>
                    <a:solidFill>
                      <a:schemeClr val="accent2"/>
                    </a:solidFill>
                  </a:tcPr>
                </a:tc>
                <a:tc>
                  <a:txBody>
                    <a:bodyPr/>
                    <a:lstStyle/>
                    <a:p>
                      <a:r>
                        <a:rPr lang="en-ES" sz="1100" b="1" dirty="0"/>
                        <a:t>Método</a:t>
                      </a:r>
                    </a:p>
                  </a:txBody>
                  <a:tcPr>
                    <a:solidFill>
                      <a:schemeClr val="accent2"/>
                    </a:solidFill>
                  </a:tcPr>
                </a:tc>
                <a:tc>
                  <a:txBody>
                    <a:bodyPr/>
                    <a:lstStyle/>
                    <a:p>
                      <a:r>
                        <a:rPr lang="en-ES" sz="1100" b="1" dirty="0"/>
                        <a:t>Criterio</a:t>
                      </a:r>
                    </a:p>
                  </a:txBody>
                  <a:tcPr>
                    <a:solidFill>
                      <a:schemeClr val="accent2"/>
                    </a:solidFill>
                  </a:tcPr>
                </a:tc>
                <a:extLst>
                  <a:ext uri="{0D108BD9-81ED-4DB2-BD59-A6C34878D82A}">
                    <a16:rowId xmlns:a16="http://schemas.microsoft.com/office/drawing/2014/main" val="2692643317"/>
                  </a:ext>
                </a:extLst>
              </a:tr>
              <a:tr h="251459">
                <a:tc>
                  <a:txBody>
                    <a:bodyPr/>
                    <a:lstStyle/>
                    <a:p>
                      <a:r>
                        <a:rPr lang="en-ES" sz="1100" dirty="0"/>
                        <a:t>Univariante</a:t>
                      </a:r>
                    </a:p>
                  </a:txBody>
                  <a:tcPr/>
                </a:tc>
                <a:tc>
                  <a:txBody>
                    <a:bodyPr/>
                    <a:lstStyle/>
                    <a:p>
                      <a:r>
                        <a:rPr lang="en-GB" sz="1100" dirty="0" err="1"/>
                        <a:t>Simétricas</a:t>
                      </a:r>
                      <a:endParaRPr lang="en-ES" sz="1100" dirty="0"/>
                    </a:p>
                  </a:txBody>
                  <a:tcPr/>
                </a:tc>
                <a:tc>
                  <a:txBody>
                    <a:bodyPr/>
                    <a:lstStyle/>
                    <a:p>
                      <a:r>
                        <a:rPr lang="en-ES" sz="1100" dirty="0"/>
                        <a:t>IQR</a:t>
                      </a:r>
                    </a:p>
                  </a:txBody>
                  <a:tcPr/>
                </a:tc>
                <a:tc>
                  <a:txBody>
                    <a:bodyPr/>
                    <a:lstStyle/>
                    <a:p>
                      <a:r>
                        <a:rPr lang="en-GB" sz="1100" dirty="0"/>
                        <a:t>1.5 × IQR</a:t>
                      </a:r>
                      <a:endParaRPr lang="en-ES" sz="1100" dirty="0"/>
                    </a:p>
                  </a:txBody>
                  <a:tcPr/>
                </a:tc>
                <a:extLst>
                  <a:ext uri="{0D108BD9-81ED-4DB2-BD59-A6C34878D82A}">
                    <a16:rowId xmlns:a16="http://schemas.microsoft.com/office/drawing/2014/main" val="776635213"/>
                  </a:ext>
                </a:extLst>
              </a:tr>
              <a:tr h="251459">
                <a:tc>
                  <a:txBody>
                    <a:bodyPr/>
                    <a:lstStyle/>
                    <a:p>
                      <a:r>
                        <a:rPr lang="en-ES" sz="1100" dirty="0"/>
                        <a:t>Univariante </a:t>
                      </a:r>
                    </a:p>
                  </a:txBody>
                  <a:tcPr/>
                </a:tc>
                <a:tc>
                  <a:txBody>
                    <a:bodyPr/>
                    <a:lstStyle/>
                    <a:p>
                      <a:r>
                        <a:rPr lang="en-GB" sz="1100" dirty="0"/>
                        <a:t>No </a:t>
                      </a:r>
                      <a:r>
                        <a:rPr lang="en-GB" sz="1100" dirty="0" err="1"/>
                        <a:t>simétricas</a:t>
                      </a:r>
                      <a:endParaRPr lang="en-ES" sz="1100" dirty="0"/>
                    </a:p>
                  </a:txBody>
                  <a:tcPr/>
                </a:tc>
                <a:tc>
                  <a:txBody>
                    <a:bodyPr/>
                    <a:lstStyle/>
                    <a:p>
                      <a:r>
                        <a:rPr lang="en-ES" sz="1100" dirty="0"/>
                        <a:t>Hampel</a:t>
                      </a:r>
                    </a:p>
                  </a:txBody>
                  <a:tcPr/>
                </a:tc>
                <a:tc>
                  <a:txBody>
                    <a:bodyPr/>
                    <a:lstStyle/>
                    <a:p>
                      <a:r>
                        <a:rPr lang="en-GB" sz="1100" dirty="0"/>
                        <a:t>Mediana + MAD</a:t>
                      </a:r>
                      <a:endParaRPr lang="en-ES" sz="1100" dirty="0"/>
                    </a:p>
                  </a:txBody>
                  <a:tcPr/>
                </a:tc>
                <a:extLst>
                  <a:ext uri="{0D108BD9-81ED-4DB2-BD59-A6C34878D82A}">
                    <a16:rowId xmlns:a16="http://schemas.microsoft.com/office/drawing/2014/main" val="2493077629"/>
                  </a:ext>
                </a:extLst>
              </a:tr>
              <a:tr h="251459">
                <a:tc>
                  <a:txBody>
                    <a:bodyPr/>
                    <a:lstStyle/>
                    <a:p>
                      <a:r>
                        <a:rPr lang="en-ES" sz="1100" dirty="0"/>
                        <a:t>Univariante </a:t>
                      </a:r>
                    </a:p>
                  </a:txBody>
                  <a:tcPr/>
                </a:tc>
                <a:tc>
                  <a:txBody>
                    <a:bodyPr/>
                    <a:lstStyle/>
                    <a:p>
                      <a:r>
                        <a:rPr lang="en-GB" sz="1100" dirty="0" err="1"/>
                        <a:t>Categóricas</a:t>
                      </a:r>
                      <a:endParaRPr lang="en-ES" sz="1100" dirty="0"/>
                    </a:p>
                  </a:txBody>
                  <a:tcPr/>
                </a:tc>
                <a:tc>
                  <a:txBody>
                    <a:bodyPr/>
                    <a:lstStyle/>
                    <a:p>
                      <a:r>
                        <a:rPr lang="en-GB" sz="1100" dirty="0" err="1"/>
                        <a:t>Frecuencias</a:t>
                      </a:r>
                      <a:r>
                        <a:rPr lang="en-GB" sz="1100" dirty="0"/>
                        <a:t> </a:t>
                      </a:r>
                      <a:r>
                        <a:rPr lang="en-GB" sz="1100" dirty="0" err="1"/>
                        <a:t>relativas</a:t>
                      </a:r>
                      <a:endParaRPr lang="en-ES" sz="1100" dirty="0"/>
                    </a:p>
                  </a:txBody>
                  <a:tcPr/>
                </a:tc>
                <a:tc>
                  <a:txBody>
                    <a:bodyPr/>
                    <a:lstStyle/>
                    <a:p>
                      <a:r>
                        <a:rPr lang="en-GB" sz="1100" dirty="0"/>
                        <a:t>&lt; 5% del total</a:t>
                      </a:r>
                      <a:endParaRPr lang="en-ES" sz="1100" dirty="0"/>
                    </a:p>
                  </a:txBody>
                  <a:tcPr/>
                </a:tc>
                <a:extLst>
                  <a:ext uri="{0D108BD9-81ED-4DB2-BD59-A6C34878D82A}">
                    <a16:rowId xmlns:a16="http://schemas.microsoft.com/office/drawing/2014/main" val="1462096888"/>
                  </a:ext>
                </a:extLst>
              </a:tr>
              <a:tr h="306609">
                <a:tc>
                  <a:txBody>
                    <a:bodyPr/>
                    <a:lstStyle/>
                    <a:p>
                      <a:r>
                        <a:rPr lang="en-ES" sz="1100" dirty="0"/>
                        <a:t>Multivariante</a:t>
                      </a:r>
                    </a:p>
                  </a:txBody>
                  <a:tcPr/>
                </a:tc>
                <a:tc>
                  <a:txBody>
                    <a:bodyPr/>
                    <a:lstStyle/>
                    <a:p>
                      <a:r>
                        <a:rPr lang="en-ES" sz="1100" dirty="0"/>
                        <a:t>Númericas</a:t>
                      </a:r>
                    </a:p>
                  </a:txBody>
                  <a:tcPr/>
                </a:tc>
                <a:tc>
                  <a:txBody>
                    <a:bodyPr/>
                    <a:lstStyle/>
                    <a:p>
                      <a:r>
                        <a:rPr lang="en-GB" sz="1100" dirty="0"/>
                        <a:t>Distancia </a:t>
                      </a:r>
                      <a:r>
                        <a:rPr lang="en-GB" sz="1100" dirty="0" err="1"/>
                        <a:t>Mahalanobis</a:t>
                      </a:r>
                      <a:r>
                        <a:rPr lang="en-GB" sz="1100" dirty="0"/>
                        <a:t> + LOF</a:t>
                      </a:r>
                      <a:endParaRPr lang="en-ES" sz="1100" dirty="0"/>
                    </a:p>
                  </a:txBody>
                  <a:tcPr/>
                </a:tc>
                <a:tc>
                  <a:txBody>
                    <a:bodyPr/>
                    <a:lstStyle/>
                    <a:p>
                      <a:r>
                        <a:rPr lang="en-ES" sz="1100" dirty="0"/>
                        <a:t>Gràficos </a:t>
                      </a:r>
                    </a:p>
                  </a:txBody>
                  <a:tcPr/>
                </a:tc>
                <a:extLst>
                  <a:ext uri="{0D108BD9-81ED-4DB2-BD59-A6C34878D82A}">
                    <a16:rowId xmlns:a16="http://schemas.microsoft.com/office/drawing/2014/main" val="407610777"/>
                  </a:ext>
                </a:extLst>
              </a:tr>
            </a:tbl>
          </a:graphicData>
        </a:graphic>
      </p:graphicFrame>
      <p:sp>
        <p:nvSpPr>
          <p:cNvPr id="5" name="Rounded Rectangle 4">
            <a:extLst>
              <a:ext uri="{FF2B5EF4-FFF2-40B4-BE49-F238E27FC236}">
                <a16:creationId xmlns:a16="http://schemas.microsoft.com/office/drawing/2014/main" id="{D0C42530-4C3A-B629-6B9C-E51BDE83B89A}"/>
              </a:ext>
            </a:extLst>
          </p:cNvPr>
          <p:cNvSpPr/>
          <p:nvPr/>
        </p:nvSpPr>
        <p:spPr>
          <a:xfrm>
            <a:off x="1338682" y="838225"/>
            <a:ext cx="2355494" cy="200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Métodos</a:t>
            </a:r>
          </a:p>
        </p:txBody>
      </p:sp>
      <p:pic>
        <p:nvPicPr>
          <p:cNvPr id="8" name="Picture 7" descr="A diagram of a graph&#10;&#10;AI-generated content may be incorrect.">
            <a:extLst>
              <a:ext uri="{FF2B5EF4-FFF2-40B4-BE49-F238E27FC236}">
                <a16:creationId xmlns:a16="http://schemas.microsoft.com/office/drawing/2014/main" id="{2ECA8A3C-C7DC-2583-8AF3-B7C2E64F951A}"/>
              </a:ext>
            </a:extLst>
          </p:cNvPr>
          <p:cNvPicPr>
            <a:picLocks noChangeAspect="1"/>
          </p:cNvPicPr>
          <p:nvPr/>
        </p:nvPicPr>
        <p:blipFill>
          <a:blip r:embed="rId3"/>
          <a:stretch>
            <a:fillRect/>
          </a:stretch>
        </p:blipFill>
        <p:spPr>
          <a:xfrm>
            <a:off x="5897580" y="1101572"/>
            <a:ext cx="2895290" cy="1630680"/>
          </a:xfrm>
          <a:prstGeom prst="rect">
            <a:avLst/>
          </a:prstGeom>
        </p:spPr>
      </p:pic>
      <p:graphicFrame>
        <p:nvGraphicFramePr>
          <p:cNvPr id="10" name="Table 9">
            <a:extLst>
              <a:ext uri="{FF2B5EF4-FFF2-40B4-BE49-F238E27FC236}">
                <a16:creationId xmlns:a16="http://schemas.microsoft.com/office/drawing/2014/main" id="{A794FB05-8280-D165-828F-4BBCE7FFCBB7}"/>
              </a:ext>
            </a:extLst>
          </p:cNvPr>
          <p:cNvGraphicFramePr>
            <a:graphicFrameLocks noGrp="1"/>
          </p:cNvGraphicFramePr>
          <p:nvPr>
            <p:extLst>
              <p:ext uri="{D42A27DB-BD31-4B8C-83A1-F6EECF244321}">
                <p14:modId xmlns:p14="http://schemas.microsoft.com/office/powerpoint/2010/main" val="2427930410"/>
              </p:ext>
            </p:extLst>
          </p:nvPr>
        </p:nvGraphicFramePr>
        <p:xfrm>
          <a:off x="204824" y="2795066"/>
          <a:ext cx="8219176" cy="1220012"/>
        </p:xfrm>
        <a:graphic>
          <a:graphicData uri="http://schemas.openxmlformats.org/drawingml/2006/table">
            <a:tbl>
              <a:tblPr firstRow="1" bandRow="1">
                <a:tableStyleId>{7FD54D1E-A07F-487E-B709-6B33F1453160}</a:tableStyleId>
              </a:tblPr>
              <a:tblGrid>
                <a:gridCol w="2054794">
                  <a:extLst>
                    <a:ext uri="{9D8B030D-6E8A-4147-A177-3AD203B41FA5}">
                      <a16:colId xmlns:a16="http://schemas.microsoft.com/office/drawing/2014/main" val="2409669532"/>
                    </a:ext>
                  </a:extLst>
                </a:gridCol>
                <a:gridCol w="2054794">
                  <a:extLst>
                    <a:ext uri="{9D8B030D-6E8A-4147-A177-3AD203B41FA5}">
                      <a16:colId xmlns:a16="http://schemas.microsoft.com/office/drawing/2014/main" val="3249999538"/>
                    </a:ext>
                  </a:extLst>
                </a:gridCol>
                <a:gridCol w="2054794">
                  <a:extLst>
                    <a:ext uri="{9D8B030D-6E8A-4147-A177-3AD203B41FA5}">
                      <a16:colId xmlns:a16="http://schemas.microsoft.com/office/drawing/2014/main" val="3747097040"/>
                    </a:ext>
                  </a:extLst>
                </a:gridCol>
                <a:gridCol w="2054794">
                  <a:extLst>
                    <a:ext uri="{9D8B030D-6E8A-4147-A177-3AD203B41FA5}">
                      <a16:colId xmlns:a16="http://schemas.microsoft.com/office/drawing/2014/main" val="2005427499"/>
                    </a:ext>
                  </a:extLst>
                </a:gridCol>
              </a:tblGrid>
              <a:tr h="305003">
                <a:tc>
                  <a:txBody>
                    <a:bodyPr/>
                    <a:lstStyle/>
                    <a:p>
                      <a:r>
                        <a:rPr lang="en-ES" dirty="0"/>
                        <a:t>Variable </a:t>
                      </a:r>
                    </a:p>
                  </a:txBody>
                  <a:tcPr/>
                </a:tc>
                <a:tc>
                  <a:txBody>
                    <a:bodyPr/>
                    <a:lstStyle/>
                    <a:p>
                      <a:r>
                        <a:rPr lang="en-ES" dirty="0"/>
                        <a:t>Outliers detected</a:t>
                      </a:r>
                    </a:p>
                  </a:txBody>
                  <a:tcPr/>
                </a:tc>
                <a:tc>
                  <a:txBody>
                    <a:bodyPr/>
                    <a:lstStyle/>
                    <a:p>
                      <a:r>
                        <a:rPr lang="en-ES" dirty="0"/>
                        <a:t>Ubicación</a:t>
                      </a:r>
                    </a:p>
                  </a:txBody>
                  <a:tcPr/>
                </a:tc>
                <a:tc>
                  <a:txBody>
                    <a:bodyPr/>
                    <a:lstStyle/>
                    <a:p>
                      <a:r>
                        <a:rPr lang="en-ES" dirty="0"/>
                        <a:t>Características</a:t>
                      </a:r>
                    </a:p>
                  </a:txBody>
                  <a:tcPr/>
                </a:tc>
                <a:extLst>
                  <a:ext uri="{0D108BD9-81ED-4DB2-BD59-A6C34878D82A}">
                    <a16:rowId xmlns:a16="http://schemas.microsoft.com/office/drawing/2014/main" val="402475729"/>
                  </a:ext>
                </a:extLst>
              </a:tr>
              <a:tr h="305003">
                <a:tc>
                  <a:txBody>
                    <a:bodyPr/>
                    <a:lstStyle/>
                    <a:p>
                      <a:r>
                        <a:rPr lang="en-ES" dirty="0"/>
                        <a:t>Age</a:t>
                      </a:r>
                    </a:p>
                  </a:txBody>
                  <a:tcPr/>
                </a:tc>
                <a:tc>
                  <a:txBody>
                    <a:bodyPr/>
                    <a:lstStyle/>
                    <a:p>
                      <a:endParaRPr lang="en-ES" dirty="0"/>
                    </a:p>
                  </a:txBody>
                  <a:tcPr/>
                </a:tc>
                <a:tc>
                  <a:txBody>
                    <a:bodyPr/>
                    <a:lstStyle/>
                    <a:p>
                      <a:r>
                        <a:rPr lang="en-ES" dirty="0"/>
                        <a:t>Cola Derecha</a:t>
                      </a:r>
                    </a:p>
                  </a:txBody>
                  <a:tcPr/>
                </a:tc>
                <a:tc>
                  <a:txBody>
                    <a:bodyPr/>
                    <a:lstStyle/>
                    <a:p>
                      <a:r>
                        <a:rPr lang="en-GB" dirty="0"/>
                        <a:t>Valores </a:t>
                      </a:r>
                      <a:r>
                        <a:rPr lang="en-GB" dirty="0" err="1"/>
                        <a:t>extremos</a:t>
                      </a:r>
                      <a:r>
                        <a:rPr lang="en-GB" dirty="0"/>
                        <a:t> altos</a:t>
                      </a:r>
                      <a:endParaRPr lang="en-ES" dirty="0"/>
                    </a:p>
                  </a:txBody>
                  <a:tcPr/>
                </a:tc>
                <a:extLst>
                  <a:ext uri="{0D108BD9-81ED-4DB2-BD59-A6C34878D82A}">
                    <a16:rowId xmlns:a16="http://schemas.microsoft.com/office/drawing/2014/main" val="565551124"/>
                  </a:ext>
                </a:extLst>
              </a:tr>
              <a:tr h="305003">
                <a:tc>
                  <a:txBody>
                    <a:bodyPr/>
                    <a:lstStyle/>
                    <a:p>
                      <a:r>
                        <a:rPr lang="en-ES" dirty="0"/>
                        <a:t>Estimated Salary</a:t>
                      </a:r>
                    </a:p>
                  </a:txBody>
                  <a:tcPr/>
                </a:tc>
                <a:tc>
                  <a:txBody>
                    <a:bodyPr/>
                    <a:lstStyle/>
                    <a:p>
                      <a:endParaRPr lang="en-ES" dirty="0"/>
                    </a:p>
                  </a:txBody>
                  <a:tcPr/>
                </a:tc>
                <a:tc>
                  <a:txBody>
                    <a:bodyPr/>
                    <a:lstStyle/>
                    <a:p>
                      <a:r>
                        <a:rPr lang="en-ES" dirty="0"/>
                        <a:t>Cola Derecha</a:t>
                      </a:r>
                    </a:p>
                  </a:txBody>
                  <a:tcPr/>
                </a:tc>
                <a:tc>
                  <a:txBody>
                    <a:bodyPr/>
                    <a:lstStyle/>
                    <a:p>
                      <a:r>
                        <a:rPr lang="en-GB" dirty="0" err="1"/>
                        <a:t>Salarios</a:t>
                      </a:r>
                      <a:r>
                        <a:rPr lang="en-GB" dirty="0"/>
                        <a:t> </a:t>
                      </a:r>
                      <a:r>
                        <a:rPr lang="en-GB" dirty="0" err="1"/>
                        <a:t>muy</a:t>
                      </a:r>
                      <a:r>
                        <a:rPr lang="en-GB" dirty="0"/>
                        <a:t> </a:t>
                      </a:r>
                      <a:r>
                        <a:rPr lang="en-GB" dirty="0" err="1"/>
                        <a:t>elevados</a:t>
                      </a:r>
                      <a:endParaRPr lang="en-ES" dirty="0"/>
                    </a:p>
                  </a:txBody>
                  <a:tcPr/>
                </a:tc>
                <a:extLst>
                  <a:ext uri="{0D108BD9-81ED-4DB2-BD59-A6C34878D82A}">
                    <a16:rowId xmlns:a16="http://schemas.microsoft.com/office/drawing/2014/main" val="465873272"/>
                  </a:ext>
                </a:extLst>
              </a:tr>
              <a:tr h="305003">
                <a:tc>
                  <a:txBody>
                    <a:bodyPr/>
                    <a:lstStyle/>
                    <a:p>
                      <a:r>
                        <a:rPr lang="en-ES" dirty="0"/>
                        <a:t>Balance</a:t>
                      </a:r>
                    </a:p>
                  </a:txBody>
                  <a:tcPr/>
                </a:tc>
                <a:tc>
                  <a:txBody>
                    <a:bodyPr/>
                    <a:lstStyle/>
                    <a:p>
                      <a:endParaRPr lang="en-ES" dirty="0"/>
                    </a:p>
                  </a:txBody>
                  <a:tcPr/>
                </a:tc>
                <a:tc>
                  <a:txBody>
                    <a:bodyPr/>
                    <a:lstStyle/>
                    <a:p>
                      <a:r>
                        <a:rPr lang="en-ES" dirty="0"/>
                        <a:t>Cola Derecha</a:t>
                      </a:r>
                    </a:p>
                  </a:txBody>
                  <a:tcPr/>
                </a:tc>
                <a:tc>
                  <a:txBody>
                    <a:bodyPr/>
                    <a:lstStyle/>
                    <a:p>
                      <a:r>
                        <a:rPr lang="en-GB" dirty="0"/>
                        <a:t>Balances </a:t>
                      </a:r>
                      <a:r>
                        <a:rPr lang="en-GB" dirty="0" err="1"/>
                        <a:t>superiores</a:t>
                      </a:r>
                      <a:endParaRPr lang="en-ES" dirty="0"/>
                    </a:p>
                  </a:txBody>
                  <a:tcPr/>
                </a:tc>
                <a:extLst>
                  <a:ext uri="{0D108BD9-81ED-4DB2-BD59-A6C34878D82A}">
                    <a16:rowId xmlns:a16="http://schemas.microsoft.com/office/drawing/2014/main" val="3727610031"/>
                  </a:ext>
                </a:extLst>
              </a:tr>
            </a:tbl>
          </a:graphicData>
        </a:graphic>
      </p:graphicFrame>
      <p:pic>
        <p:nvPicPr>
          <p:cNvPr id="12" name="Graphic 11" descr="Tick with solid fill">
            <a:extLst>
              <a:ext uri="{FF2B5EF4-FFF2-40B4-BE49-F238E27FC236}">
                <a16:creationId xmlns:a16="http://schemas.microsoft.com/office/drawing/2014/main" id="{1506EFA1-1C73-86D2-E716-CAB61E13A0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031540"/>
            <a:ext cx="373532" cy="373532"/>
          </a:xfrm>
          <a:prstGeom prst="rect">
            <a:avLst/>
          </a:prstGeom>
        </p:spPr>
      </p:pic>
      <p:pic>
        <p:nvPicPr>
          <p:cNvPr id="13" name="Graphic 12" descr="Tick with solid fill">
            <a:extLst>
              <a:ext uri="{FF2B5EF4-FFF2-40B4-BE49-F238E27FC236}">
                <a16:creationId xmlns:a16="http://schemas.microsoft.com/office/drawing/2014/main" id="{902C99F7-DF91-E1D0-C61D-1A0AC980FA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377413"/>
            <a:ext cx="373532" cy="373532"/>
          </a:xfrm>
          <a:prstGeom prst="rect">
            <a:avLst/>
          </a:prstGeom>
        </p:spPr>
      </p:pic>
      <p:pic>
        <p:nvPicPr>
          <p:cNvPr id="14" name="Graphic 13" descr="Tick with solid fill">
            <a:extLst>
              <a:ext uri="{FF2B5EF4-FFF2-40B4-BE49-F238E27FC236}">
                <a16:creationId xmlns:a16="http://schemas.microsoft.com/office/drawing/2014/main" id="{5EBBD3C2-A2ED-4479-7E26-B0D004755B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1112" y="3742158"/>
            <a:ext cx="221132" cy="281707"/>
          </a:xfrm>
          <a:prstGeom prst="rect">
            <a:avLst/>
          </a:prstGeom>
        </p:spPr>
      </p:pic>
    </p:spTree>
    <p:extLst>
      <p:ext uri="{BB962C8B-B14F-4D97-AF65-F5344CB8AC3E}">
        <p14:creationId xmlns:p14="http://schemas.microsoft.com/office/powerpoint/2010/main" val="3535935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FE2D535F-37DF-64AA-1CB5-D6B250DB290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C4B54FB-1DBD-071B-42BB-FDCCA4B52BAC}"/>
              </a:ext>
            </a:extLst>
          </p:cNvPr>
          <p:cNvSpPr txBox="1">
            <a:spLocks noGrp="1"/>
          </p:cNvSpPr>
          <p:nvPr>
            <p:ph type="title"/>
          </p:nvPr>
        </p:nvSpPr>
        <p:spPr>
          <a:xfrm>
            <a:off x="139087" y="514239"/>
            <a:ext cx="9004913" cy="572700"/>
          </a:xfrm>
          <a:prstGeom prst="rect">
            <a:avLst/>
          </a:prstGeom>
        </p:spPr>
        <p:txBody>
          <a:bodyPr spcFirstLastPara="1" wrap="square" lIns="91425" tIns="91425" rIns="91425" bIns="91425" anchor="t" anchorCtr="0">
            <a:noAutofit/>
          </a:bodyPr>
          <a:lstStyle/>
          <a:p>
            <a:pPr lvl="0"/>
            <a:r>
              <a:rPr lang="es-ES" sz="2400" dirty="0"/>
              <a:t>Ingeniería de Variables ½: transformación</a:t>
            </a:r>
            <a:endParaRPr sz="2400" dirty="0"/>
          </a:p>
        </p:txBody>
      </p:sp>
      <p:sp>
        <p:nvSpPr>
          <p:cNvPr id="2" name="CuadroTexto 1">
            <a:extLst>
              <a:ext uri="{FF2B5EF4-FFF2-40B4-BE49-F238E27FC236}">
                <a16:creationId xmlns:a16="http://schemas.microsoft.com/office/drawing/2014/main" id="{850C95A2-487A-DD08-1994-9119B199CE78}"/>
              </a:ext>
            </a:extLst>
          </p:cNvPr>
          <p:cNvSpPr txBox="1"/>
          <p:nvPr/>
        </p:nvSpPr>
        <p:spPr>
          <a:xfrm>
            <a:off x="349607" y="1114861"/>
            <a:ext cx="3948057" cy="1600438"/>
          </a:xfrm>
          <a:prstGeom prst="rect">
            <a:avLst/>
          </a:prstGeom>
          <a:noFill/>
        </p:spPr>
        <p:txBody>
          <a:bodyPr wrap="square" rtlCol="0">
            <a:spAutoFit/>
          </a:bodyPr>
          <a:lstStyle/>
          <a:p>
            <a:pPr algn="just"/>
            <a:r>
              <a:rPr lang="es-ES" b="1" dirty="0" err="1"/>
              <a:t>ComplaintsCount</a:t>
            </a:r>
            <a:endParaRPr lang="es-ES" b="1" dirty="0"/>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Se decidió </a:t>
            </a:r>
            <a:r>
              <a:rPr lang="en-ES" altLang="en-ES" b="1" dirty="0">
                <a:solidFill>
                  <a:schemeClr val="tx1"/>
                </a:solidFill>
                <a:latin typeface="Arial" panose="020B0604020202020204" pitchFamily="34" charset="0"/>
              </a:rPr>
              <a:t>dummyficar la variable</a:t>
            </a:r>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 La información se simplifica para indicar </a:t>
            </a:r>
          </a:p>
          <a:p>
            <a:pPr lvl="0" eaLnBrk="0" fontAlgn="base" hangingPunct="0">
              <a:spcBef>
                <a:spcPct val="0"/>
              </a:spcBef>
              <a:spcAft>
                <a:spcPct val="0"/>
              </a:spcAft>
              <a:buClrTx/>
            </a:pPr>
            <a:r>
              <a:rPr lang="en-ES" altLang="en-ES" b="1" dirty="0">
                <a:solidFill>
                  <a:schemeClr val="tx1"/>
                </a:solidFill>
                <a:latin typeface="Arial" panose="020B0604020202020204" pitchFamily="34" charset="0"/>
              </a:rPr>
              <a:t>si el cliente ha emitido alguna queja o no</a:t>
            </a:r>
          </a:p>
          <a:p>
            <a:pPr marL="285750" lvl="0" indent="-285750" eaLnBrk="0" fontAlgn="base" hangingPunct="0">
              <a:spcBef>
                <a:spcPct val="0"/>
              </a:spcBef>
              <a:spcAft>
                <a:spcPct val="0"/>
              </a:spcAft>
              <a:buClrTx/>
              <a:buFont typeface="Arial" panose="020B0604020202020204" pitchFamily="34" charset="0"/>
              <a:buChar char="•"/>
            </a:pPr>
            <a:r>
              <a:rPr lang="en-ES" altLang="en-ES" dirty="0">
                <a:solidFill>
                  <a:schemeClr val="tx1"/>
                </a:solidFill>
                <a:latin typeface="Arial" panose="020B0604020202020204" pitchFamily="34" charset="0"/>
              </a:rPr>
              <a:t>Variable: Númerica            Factor binario</a:t>
            </a:r>
          </a:p>
          <a:p>
            <a:pPr lvl="0" eaLnBrk="0" fontAlgn="base" hangingPunct="0">
              <a:spcBef>
                <a:spcPct val="0"/>
              </a:spcBef>
              <a:spcAft>
                <a:spcPct val="0"/>
              </a:spcAft>
              <a:buClrTx/>
            </a:pPr>
            <a:endParaRPr lang="es-ES" b="1" dirty="0"/>
          </a:p>
          <a:p>
            <a:pPr marL="285750" indent="-285750" algn="just">
              <a:buFont typeface="Arial" panose="020B0604020202020204" pitchFamily="34" charset="0"/>
              <a:buChar char="•"/>
            </a:pPr>
            <a:endParaRPr lang="es-ES" b="1" dirty="0"/>
          </a:p>
        </p:txBody>
      </p:sp>
      <p:pic>
        <p:nvPicPr>
          <p:cNvPr id="6" name="Imagen 5">
            <a:extLst>
              <a:ext uri="{FF2B5EF4-FFF2-40B4-BE49-F238E27FC236}">
                <a16:creationId xmlns:a16="http://schemas.microsoft.com/office/drawing/2014/main" id="{CAA4D302-3728-C348-1B0F-95C66B65D0F8}"/>
              </a:ext>
            </a:extLst>
          </p:cNvPr>
          <p:cNvPicPr>
            <a:picLocks noChangeAspect="1"/>
          </p:cNvPicPr>
          <p:nvPr/>
        </p:nvPicPr>
        <p:blipFill>
          <a:blip r:embed="rId3"/>
          <a:stretch>
            <a:fillRect/>
          </a:stretch>
        </p:blipFill>
        <p:spPr>
          <a:xfrm>
            <a:off x="164468" y="2467226"/>
            <a:ext cx="1794612" cy="2110462"/>
          </a:xfrm>
          <a:prstGeom prst="rect">
            <a:avLst/>
          </a:prstGeom>
        </p:spPr>
      </p:pic>
      <p:pic>
        <p:nvPicPr>
          <p:cNvPr id="8" name="Imagen 7">
            <a:extLst>
              <a:ext uri="{FF2B5EF4-FFF2-40B4-BE49-F238E27FC236}">
                <a16:creationId xmlns:a16="http://schemas.microsoft.com/office/drawing/2014/main" id="{EFE9C1C0-BC77-C605-271B-8BF916B4DF5D}"/>
              </a:ext>
            </a:extLst>
          </p:cNvPr>
          <p:cNvPicPr>
            <a:picLocks noChangeAspect="1"/>
          </p:cNvPicPr>
          <p:nvPr/>
        </p:nvPicPr>
        <p:blipFill>
          <a:blip r:embed="rId4"/>
          <a:stretch>
            <a:fillRect/>
          </a:stretch>
        </p:blipFill>
        <p:spPr>
          <a:xfrm>
            <a:off x="2615049" y="2364902"/>
            <a:ext cx="1776956" cy="2315110"/>
          </a:xfrm>
          <a:prstGeom prst="rect">
            <a:avLst/>
          </a:prstGeom>
        </p:spPr>
      </p:pic>
      <p:sp>
        <p:nvSpPr>
          <p:cNvPr id="9" name="Flecha: a la derecha 8">
            <a:extLst>
              <a:ext uri="{FF2B5EF4-FFF2-40B4-BE49-F238E27FC236}">
                <a16:creationId xmlns:a16="http://schemas.microsoft.com/office/drawing/2014/main" id="{51263BE0-F9B9-D8D0-3B0A-0A88CEDFD45D}"/>
              </a:ext>
            </a:extLst>
          </p:cNvPr>
          <p:cNvSpPr/>
          <p:nvPr/>
        </p:nvSpPr>
        <p:spPr>
          <a:xfrm>
            <a:off x="2091624" y="3195186"/>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CB8960E5-90AD-AE6F-6756-4BF481848451}"/>
              </a:ext>
            </a:extLst>
          </p:cNvPr>
          <p:cNvSpPr txBox="1"/>
          <p:nvPr/>
        </p:nvSpPr>
        <p:spPr>
          <a:xfrm>
            <a:off x="5030976" y="1086939"/>
            <a:ext cx="3948057" cy="1169551"/>
          </a:xfrm>
          <a:prstGeom prst="rect">
            <a:avLst/>
          </a:prstGeom>
          <a:noFill/>
        </p:spPr>
        <p:txBody>
          <a:bodyPr wrap="square" rtlCol="0">
            <a:spAutoFit/>
          </a:bodyPr>
          <a:lstStyle/>
          <a:p>
            <a:pPr algn="just"/>
            <a:r>
              <a:rPr lang="es-ES" b="1" dirty="0" err="1"/>
              <a:t>NumOfProducts</a:t>
            </a:r>
            <a:endParaRPr lang="es-ES" b="1" dirty="0"/>
          </a:p>
          <a:p>
            <a:pPr marL="285750" indent="-285750" algn="just">
              <a:buFont typeface="Arial" panose="020B0604020202020204" pitchFamily="34" charset="0"/>
              <a:buChar char="•"/>
            </a:pPr>
            <a:r>
              <a:rPr lang="es-ES" dirty="0" err="1"/>
              <a:t>Mayoria</a:t>
            </a:r>
            <a:r>
              <a:rPr lang="es-ES" dirty="0"/>
              <a:t> de clientes tienes </a:t>
            </a:r>
            <a:r>
              <a:rPr lang="es-ES" b="1" dirty="0"/>
              <a:t>1 | 2 productos </a:t>
            </a:r>
          </a:p>
          <a:p>
            <a:pPr marL="285750" indent="-285750" algn="just">
              <a:buFont typeface="Arial" panose="020B0604020202020204" pitchFamily="34" charset="0"/>
              <a:buChar char="•"/>
            </a:pPr>
            <a:r>
              <a:rPr lang="es-ES" b="1" dirty="0" err="1"/>
              <a:t>Minoria</a:t>
            </a:r>
            <a:r>
              <a:rPr lang="es-ES" b="1" dirty="0"/>
              <a:t>         </a:t>
            </a:r>
            <a:r>
              <a:rPr lang="es-ES" dirty="0"/>
              <a:t>3 o más productos</a:t>
            </a:r>
          </a:p>
          <a:p>
            <a:pPr marL="285750" indent="-285750" algn="just">
              <a:buFont typeface="Arial" panose="020B0604020202020204" pitchFamily="34" charset="0"/>
              <a:buChar char="•"/>
            </a:pPr>
            <a:r>
              <a:rPr lang="es-ES" dirty="0"/>
              <a:t>Categorización de la variable (1, 2, +3 productos)</a:t>
            </a:r>
          </a:p>
        </p:txBody>
      </p:sp>
      <p:sp>
        <p:nvSpPr>
          <p:cNvPr id="11" name="Elipse 10">
            <a:extLst>
              <a:ext uri="{FF2B5EF4-FFF2-40B4-BE49-F238E27FC236}">
                <a16:creationId xmlns:a16="http://schemas.microsoft.com/office/drawing/2014/main" id="{6AD0D5AA-59C3-51F4-0CA3-5085BFED3E06}"/>
              </a:ext>
            </a:extLst>
          </p:cNvPr>
          <p:cNvSpPr/>
          <p:nvPr/>
        </p:nvSpPr>
        <p:spPr>
          <a:xfrm>
            <a:off x="4503028" y="1114861"/>
            <a:ext cx="91823" cy="368305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a:p>
        </p:txBody>
      </p:sp>
      <p:pic>
        <p:nvPicPr>
          <p:cNvPr id="13" name="Imagen 12">
            <a:extLst>
              <a:ext uri="{FF2B5EF4-FFF2-40B4-BE49-F238E27FC236}">
                <a16:creationId xmlns:a16="http://schemas.microsoft.com/office/drawing/2014/main" id="{8BEEE918-019D-2D4E-8CB9-46C84E615698}"/>
              </a:ext>
            </a:extLst>
          </p:cNvPr>
          <p:cNvPicPr>
            <a:picLocks noChangeAspect="1"/>
          </p:cNvPicPr>
          <p:nvPr/>
        </p:nvPicPr>
        <p:blipFill>
          <a:blip r:embed="rId5"/>
          <a:stretch>
            <a:fillRect/>
          </a:stretch>
        </p:blipFill>
        <p:spPr>
          <a:xfrm>
            <a:off x="7052376" y="2182859"/>
            <a:ext cx="2022543" cy="2315110"/>
          </a:xfrm>
          <a:prstGeom prst="rect">
            <a:avLst/>
          </a:prstGeom>
        </p:spPr>
      </p:pic>
      <p:pic>
        <p:nvPicPr>
          <p:cNvPr id="15" name="Imagen 14">
            <a:extLst>
              <a:ext uri="{FF2B5EF4-FFF2-40B4-BE49-F238E27FC236}">
                <a16:creationId xmlns:a16="http://schemas.microsoft.com/office/drawing/2014/main" id="{F1EAD923-4663-2DF2-5645-25E9EBBFBE0D}"/>
              </a:ext>
            </a:extLst>
          </p:cNvPr>
          <p:cNvPicPr>
            <a:picLocks noChangeAspect="1"/>
          </p:cNvPicPr>
          <p:nvPr/>
        </p:nvPicPr>
        <p:blipFill>
          <a:blip r:embed="rId6"/>
          <a:stretch>
            <a:fillRect/>
          </a:stretch>
        </p:blipFill>
        <p:spPr>
          <a:xfrm>
            <a:off x="4799666" y="2256490"/>
            <a:ext cx="1878076" cy="2280143"/>
          </a:xfrm>
          <a:prstGeom prst="rect">
            <a:avLst/>
          </a:prstGeom>
        </p:spPr>
      </p:pic>
      <p:sp>
        <p:nvSpPr>
          <p:cNvPr id="16" name="Flecha: a la derecha 15">
            <a:extLst>
              <a:ext uri="{FF2B5EF4-FFF2-40B4-BE49-F238E27FC236}">
                <a16:creationId xmlns:a16="http://schemas.microsoft.com/office/drawing/2014/main" id="{A04C3FC8-534D-282D-E8B8-7A80F41C547F}"/>
              </a:ext>
            </a:extLst>
          </p:cNvPr>
          <p:cNvSpPr/>
          <p:nvPr/>
        </p:nvSpPr>
        <p:spPr>
          <a:xfrm>
            <a:off x="6604147" y="32320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Straight Arrow Connector 11">
            <a:extLst>
              <a:ext uri="{FF2B5EF4-FFF2-40B4-BE49-F238E27FC236}">
                <a16:creationId xmlns:a16="http://schemas.microsoft.com/office/drawing/2014/main" id="{69F9EE2F-03A1-F5D4-1372-1541834A3778}"/>
              </a:ext>
            </a:extLst>
          </p:cNvPr>
          <p:cNvCxnSpPr/>
          <p:nvPr/>
        </p:nvCxnSpPr>
        <p:spPr>
          <a:xfrm>
            <a:off x="2314507" y="2182859"/>
            <a:ext cx="4934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B040C3E-0578-A241-E175-FAEC372B7D94}"/>
              </a:ext>
            </a:extLst>
          </p:cNvPr>
          <p:cNvCxnSpPr/>
          <p:nvPr/>
        </p:nvCxnSpPr>
        <p:spPr>
          <a:xfrm>
            <a:off x="6117579" y="1658867"/>
            <a:ext cx="3236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4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F746EDE-812E-12F3-8943-6A28A8B3A8D9}"/>
            </a:ext>
          </a:extLst>
        </p:cNvPr>
        <p:cNvGrpSpPr/>
        <p:nvPr/>
      </p:nvGrpSpPr>
      <p:grpSpPr>
        <a:xfrm>
          <a:off x="0" y="0"/>
          <a:ext cx="0" cy="0"/>
          <a:chOff x="0" y="0"/>
          <a:chExt cx="0" cy="0"/>
        </a:xfrm>
      </p:grpSpPr>
      <p:sp>
        <p:nvSpPr>
          <p:cNvPr id="2" name="Google Shape;633;p34">
            <a:extLst>
              <a:ext uri="{FF2B5EF4-FFF2-40B4-BE49-F238E27FC236}">
                <a16:creationId xmlns:a16="http://schemas.microsoft.com/office/drawing/2014/main" id="{D604109C-7A83-7410-C1FE-F6FB65CB1BAD}"/>
              </a:ext>
            </a:extLst>
          </p:cNvPr>
          <p:cNvSpPr txBox="1">
            <a:spLocks noGrp="1"/>
          </p:cNvSpPr>
          <p:nvPr>
            <p:ph type="title"/>
          </p:nvPr>
        </p:nvSpPr>
        <p:spPr>
          <a:xfrm>
            <a:off x="720725" y="428526"/>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a:extLst>
              <a:ext uri="{FF2B5EF4-FFF2-40B4-BE49-F238E27FC236}">
                <a16:creationId xmlns:a16="http://schemas.microsoft.com/office/drawing/2014/main" id="{3F0E4919-B4FB-64E2-AEFB-C557656BB033}"/>
              </a:ext>
            </a:extLst>
          </p:cNvPr>
          <p:cNvSpPr txBox="1"/>
          <p:nvPr/>
        </p:nvSpPr>
        <p:spPr>
          <a:xfrm>
            <a:off x="2117102" y="1253058"/>
            <a:ext cx="7702550" cy="1384995"/>
          </a:xfrm>
          <a:prstGeom prst="rect">
            <a:avLst/>
          </a:prstGeom>
          <a:noFill/>
        </p:spPr>
        <p:txBody>
          <a:bodyPr wrap="square" rtlCol="0">
            <a:spAutoFit/>
          </a:bodyPr>
          <a:lstStyle/>
          <a:p>
            <a:endParaRPr lang="es-ES" sz="1200" dirty="0"/>
          </a:p>
          <a:p>
            <a:endParaRPr lang="es-ES" sz="1200" dirty="0"/>
          </a:p>
          <a:p>
            <a:pPr marL="171450" indent="-171450">
              <a:buFont typeface="Arial" panose="020B0604020202020204" pitchFamily="34" charset="0"/>
              <a:buChar char="•"/>
            </a:pPr>
            <a:r>
              <a:rPr lang="es-ES" sz="1200" dirty="0"/>
              <a:t>Variables numéricas: Test de mediana</a:t>
            </a:r>
          </a:p>
          <a:p>
            <a:pPr marL="171450" indent="-171450">
              <a:buFont typeface="Arial" panose="020B0604020202020204" pitchFamily="34" charset="0"/>
              <a:buChar char="•"/>
            </a:pPr>
            <a:r>
              <a:rPr lang="es-ES" sz="1200" dirty="0"/>
              <a:t>Variables categóricas: Test de Chi-cuadrado</a:t>
            </a:r>
          </a:p>
          <a:p>
            <a:endParaRPr lang="es-ES" sz="1200" dirty="0"/>
          </a:p>
          <a:p>
            <a:r>
              <a:rPr lang="es-ES" sz="1200" dirty="0"/>
              <a:t>Las variables con un p-valor inferior a 0.05 han sido las siguientes:</a:t>
            </a:r>
          </a:p>
          <a:p>
            <a:endParaRPr lang="es-ES" sz="1200" dirty="0"/>
          </a:p>
        </p:txBody>
      </p:sp>
      <p:pic>
        <p:nvPicPr>
          <p:cNvPr id="7" name="Imagen 6">
            <a:extLst>
              <a:ext uri="{FF2B5EF4-FFF2-40B4-BE49-F238E27FC236}">
                <a16:creationId xmlns:a16="http://schemas.microsoft.com/office/drawing/2014/main" id="{9B9E24F2-CFA5-8337-CB06-8FA0C27089D4}"/>
              </a:ext>
            </a:extLst>
          </p:cNvPr>
          <p:cNvPicPr>
            <a:picLocks noChangeAspect="1"/>
          </p:cNvPicPr>
          <p:nvPr/>
        </p:nvPicPr>
        <p:blipFill>
          <a:blip r:embed="rId3"/>
          <a:stretch>
            <a:fillRect/>
          </a:stretch>
        </p:blipFill>
        <p:spPr>
          <a:xfrm>
            <a:off x="2119997" y="2510828"/>
            <a:ext cx="4594061" cy="1418710"/>
          </a:xfrm>
          <a:prstGeom prst="rect">
            <a:avLst/>
          </a:prstGeom>
        </p:spPr>
      </p:pic>
      <p:sp>
        <p:nvSpPr>
          <p:cNvPr id="8" name="CuadroTexto 7">
            <a:extLst>
              <a:ext uri="{FF2B5EF4-FFF2-40B4-BE49-F238E27FC236}">
                <a16:creationId xmlns:a16="http://schemas.microsoft.com/office/drawing/2014/main" id="{D0841C18-B399-C215-D4D4-8610F482EDA2}"/>
              </a:ext>
            </a:extLst>
          </p:cNvPr>
          <p:cNvSpPr txBox="1"/>
          <p:nvPr/>
        </p:nvSpPr>
        <p:spPr>
          <a:xfrm>
            <a:off x="408790" y="4046018"/>
            <a:ext cx="8178017" cy="461665"/>
          </a:xfrm>
          <a:prstGeom prst="rect">
            <a:avLst/>
          </a:prstGeom>
          <a:noFill/>
        </p:spPr>
        <p:txBody>
          <a:bodyPr wrap="square" rtlCol="0">
            <a:spAutoFit/>
          </a:bodyPr>
          <a:lstStyle/>
          <a:p>
            <a:pPr marL="171450" indent="-171450">
              <a:buFont typeface="Arial" panose="020B0604020202020204" pitchFamily="34" charset="0"/>
              <a:buChar char="•"/>
              <a:defRPr sz="1600">
                <a:latin typeface="Arial"/>
              </a:defRPr>
            </a:pPr>
            <a:r>
              <a:rPr lang="en-GB" sz="1200" dirty="0"/>
              <a:t>Las variables </a:t>
            </a:r>
            <a:r>
              <a:rPr lang="en-GB" sz="1200" b="1" dirty="0" err="1"/>
              <a:t>EstimatedSalary</a:t>
            </a:r>
            <a:r>
              <a:rPr lang="en-GB" sz="1200" b="1" dirty="0"/>
              <a:t> y </a:t>
            </a:r>
            <a:r>
              <a:rPr lang="en-GB" sz="1200" b="1" dirty="0" err="1"/>
              <a:t>CreditScore</a:t>
            </a:r>
            <a:r>
              <a:rPr lang="en-GB" sz="1200" b="1" dirty="0"/>
              <a:t>         </a:t>
            </a:r>
            <a:r>
              <a:rPr lang="en-GB" sz="1200" dirty="0"/>
              <a:t>p-</a:t>
            </a:r>
            <a:r>
              <a:rPr lang="en-GB" sz="1200" dirty="0" err="1"/>
              <a:t>valores</a:t>
            </a:r>
            <a:r>
              <a:rPr lang="en-GB" sz="1200" dirty="0"/>
              <a:t> </a:t>
            </a:r>
            <a:r>
              <a:rPr lang="en-GB" sz="1200" dirty="0" err="1"/>
              <a:t>cercanos</a:t>
            </a:r>
            <a:r>
              <a:rPr lang="en-GB" sz="1200" dirty="0"/>
              <a:t> a 0.05 antes de la </a:t>
            </a:r>
            <a:r>
              <a:rPr lang="en-GB" sz="1200" dirty="0" err="1"/>
              <a:t>imputación</a:t>
            </a:r>
            <a:r>
              <a:rPr lang="en-GB" sz="1200" dirty="0"/>
              <a:t> de NA.</a:t>
            </a:r>
          </a:p>
          <a:p>
            <a:pPr marL="171450" indent="-171450">
              <a:buFont typeface="Arial" panose="020B0604020202020204" pitchFamily="34" charset="0"/>
              <a:buChar char="•"/>
              <a:defRPr sz="1600">
                <a:latin typeface="Arial"/>
              </a:defRPr>
            </a:pPr>
            <a:r>
              <a:rPr lang="en-GB" sz="1200" dirty="0"/>
              <a:t>Se </a:t>
            </a:r>
            <a:r>
              <a:rPr lang="en-GB" sz="1200" dirty="0" err="1"/>
              <a:t>probará</a:t>
            </a:r>
            <a:r>
              <a:rPr lang="en-GB" sz="1200" dirty="0"/>
              <a:t> </a:t>
            </a:r>
            <a:r>
              <a:rPr lang="en-GB" sz="1200" dirty="0" err="1"/>
              <a:t>el</a:t>
            </a:r>
            <a:r>
              <a:rPr lang="en-GB" sz="1200" dirty="0"/>
              <a:t> </a:t>
            </a:r>
            <a:r>
              <a:rPr lang="en-GB" sz="1200" dirty="0" err="1"/>
              <a:t>modelo</a:t>
            </a:r>
            <a:r>
              <a:rPr lang="en-GB" sz="1200" dirty="0"/>
              <a:t> con y sin </a:t>
            </a:r>
            <a:r>
              <a:rPr lang="en-GB" sz="1200" dirty="0" err="1"/>
              <a:t>estas</a:t>
            </a:r>
            <a:r>
              <a:rPr lang="en-GB" sz="1200" dirty="0"/>
              <a:t> dos variables para </a:t>
            </a:r>
            <a:r>
              <a:rPr lang="en-GB" sz="1200" dirty="0" err="1"/>
              <a:t>verificar</a:t>
            </a:r>
            <a:r>
              <a:rPr lang="en-GB" sz="1200" dirty="0"/>
              <a:t> </a:t>
            </a:r>
            <a:r>
              <a:rPr lang="en-GB" sz="1200" b="1" dirty="0" err="1"/>
              <a:t>diferencias</a:t>
            </a:r>
            <a:r>
              <a:rPr lang="en-GB" sz="1200" b="1" dirty="0"/>
              <a:t> </a:t>
            </a:r>
            <a:r>
              <a:rPr lang="en-GB" sz="1200" b="1" dirty="0" err="1"/>
              <a:t>en</a:t>
            </a:r>
            <a:r>
              <a:rPr lang="en-GB" sz="1200" b="1" dirty="0"/>
              <a:t> </a:t>
            </a:r>
            <a:r>
              <a:rPr lang="en-GB" sz="1200" b="1" dirty="0" err="1"/>
              <a:t>los</a:t>
            </a:r>
            <a:r>
              <a:rPr lang="en-GB" sz="1200" b="1" dirty="0"/>
              <a:t> </a:t>
            </a:r>
            <a:r>
              <a:rPr lang="en-GB" sz="1200" b="1" dirty="0" err="1"/>
              <a:t>resultados</a:t>
            </a:r>
            <a:r>
              <a:rPr lang="en-GB" sz="1200" b="1" dirty="0"/>
              <a:t>.</a:t>
            </a:r>
          </a:p>
        </p:txBody>
      </p:sp>
      <p:sp>
        <p:nvSpPr>
          <p:cNvPr id="4" name="Rounded Rectangle 3">
            <a:extLst>
              <a:ext uri="{FF2B5EF4-FFF2-40B4-BE49-F238E27FC236}">
                <a16:creationId xmlns:a16="http://schemas.microsoft.com/office/drawing/2014/main" id="{03BE575D-59C2-5DAF-AF57-D94F96FCACDD}"/>
              </a:ext>
            </a:extLst>
          </p:cNvPr>
          <p:cNvSpPr/>
          <p:nvPr/>
        </p:nvSpPr>
        <p:spPr>
          <a:xfrm>
            <a:off x="817297" y="964666"/>
            <a:ext cx="7025864" cy="433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t>Sobre la base de datos imputada y transformada se realizaron </a:t>
            </a:r>
            <a:r>
              <a:rPr lang="es-ES" sz="1100" dirty="0" err="1"/>
              <a:t>tests</a:t>
            </a:r>
            <a:r>
              <a:rPr lang="es-ES" sz="1100" dirty="0"/>
              <a:t> de significancia para determinar qué variables son importantes para describir el comportamiento de la variable </a:t>
            </a:r>
            <a:r>
              <a:rPr lang="es-ES" sz="1100" dirty="0" err="1"/>
              <a:t>Exited</a:t>
            </a:r>
            <a:endParaRPr lang="en-ES" sz="1100" dirty="0"/>
          </a:p>
        </p:txBody>
      </p:sp>
      <p:cxnSp>
        <p:nvCxnSpPr>
          <p:cNvPr id="6" name="Straight Arrow Connector 5">
            <a:extLst>
              <a:ext uri="{FF2B5EF4-FFF2-40B4-BE49-F238E27FC236}">
                <a16:creationId xmlns:a16="http://schemas.microsoft.com/office/drawing/2014/main" id="{17579261-50D2-BE0C-93D4-173148A6DD48}"/>
              </a:ext>
            </a:extLst>
          </p:cNvPr>
          <p:cNvCxnSpPr/>
          <p:nvPr/>
        </p:nvCxnSpPr>
        <p:spPr>
          <a:xfrm>
            <a:off x="3876085" y="4046018"/>
            <a:ext cx="2103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368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BBD54E0-DDDD-7885-85BC-9F30C765443E}"/>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88BF07B4-089D-2999-03B1-E61BC35ADFED}"/>
              </a:ext>
            </a:extLst>
          </p:cNvPr>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a:extLst>
              <a:ext uri="{FF2B5EF4-FFF2-40B4-BE49-F238E27FC236}">
                <a16:creationId xmlns:a16="http://schemas.microsoft.com/office/drawing/2014/main" id="{A3CCF44F-B8BF-18DD-610B-AC1D8BFF48EF}"/>
              </a:ext>
            </a:extLst>
          </p:cNvPr>
          <p:cNvSpPr txBox="1"/>
          <p:nvPr/>
        </p:nvSpPr>
        <p:spPr>
          <a:xfrm>
            <a:off x="419547" y="890160"/>
            <a:ext cx="8197327" cy="3754874"/>
          </a:xfrm>
          <a:prstGeom prst="rect">
            <a:avLst/>
          </a:prstGeom>
          <a:noFill/>
        </p:spPr>
        <p:txBody>
          <a:bodyPr wrap="square" rtlCol="0">
            <a:spAutoFit/>
          </a:bodyPr>
          <a:lstStyle/>
          <a:p>
            <a:r>
              <a:rPr lang="es-ES" b="1" dirty="0"/>
              <a:t>Sobre la preparación de los datos: </a:t>
            </a:r>
          </a:p>
          <a:p>
            <a:pPr marL="285750" indent="-285750">
              <a:buFontTx/>
              <a:buChar char="-"/>
            </a:pPr>
            <a:r>
              <a:rPr lang="es-ES" dirty="0"/>
              <a:t>Se categorizó las variables numéricas aplicando cortes lógicos ajustados a cada variable.</a:t>
            </a:r>
          </a:p>
          <a:p>
            <a:pPr marL="285750" indent="-285750">
              <a:buFontTx/>
              <a:buChar char="-"/>
            </a:pPr>
            <a:r>
              <a:rPr lang="es-ES" dirty="0"/>
              <a:t>Se trabajó únicamente con los datos Train debido a los NA para </a:t>
            </a:r>
            <a:r>
              <a:rPr lang="es-ES" dirty="0" err="1"/>
              <a:t>Exited</a:t>
            </a:r>
            <a:r>
              <a:rPr lang="es-ES" dirty="0"/>
              <a:t> en los datos test.</a:t>
            </a:r>
          </a:p>
          <a:p>
            <a:pPr marL="285750" indent="-285750">
              <a:buFontTx/>
              <a:buChar char="-"/>
            </a:pPr>
            <a:r>
              <a:rPr lang="es-ES" dirty="0"/>
              <a:t>La base de datos transaccional se compuso de 7000 filas y 73 ítems.</a:t>
            </a:r>
          </a:p>
          <a:p>
            <a:pPr marL="285750" indent="-285750">
              <a:buFontTx/>
              <a:buChar char="-"/>
            </a:pPr>
            <a:endParaRPr lang="es-ES" dirty="0"/>
          </a:p>
          <a:p>
            <a:r>
              <a:rPr lang="es-ES" b="1" dirty="0"/>
              <a:t>Sobre la parametrización</a:t>
            </a:r>
          </a:p>
          <a:p>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p>
          <a:p>
            <a:endParaRPr lang="es-ES" dirty="0"/>
          </a:p>
          <a:p>
            <a:pPr algn="just"/>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pPr algn="just"/>
            <a:endParaRPr lang="es-ES" dirty="0"/>
          </a:p>
          <a:p>
            <a:pPr algn="just"/>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p>
        </p:txBody>
      </p:sp>
    </p:spTree>
    <p:extLst>
      <p:ext uri="{BB962C8B-B14F-4D97-AF65-F5344CB8AC3E}">
        <p14:creationId xmlns:p14="http://schemas.microsoft.com/office/powerpoint/2010/main" val="192883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55C995D2-E420-AAEA-4FF1-82F41E8CE557}"/>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6C12439-9695-5DCC-5484-455797F0DD0A}"/>
              </a:ext>
            </a:extLst>
          </p:cNvPr>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a:extLst>
              <a:ext uri="{FF2B5EF4-FFF2-40B4-BE49-F238E27FC236}">
                <a16:creationId xmlns:a16="http://schemas.microsoft.com/office/drawing/2014/main" id="{211B4FB1-DED4-BE7B-08DF-63276B9D3A7C}"/>
              </a:ext>
            </a:extLst>
          </p:cNvPr>
          <p:cNvGrpSpPr/>
          <p:nvPr/>
        </p:nvGrpSpPr>
        <p:grpSpPr>
          <a:xfrm>
            <a:off x="1263704" y="2892821"/>
            <a:ext cx="362991" cy="290018"/>
            <a:chOff x="3049653" y="2321468"/>
            <a:chExt cx="362991" cy="290018"/>
          </a:xfrm>
        </p:grpSpPr>
        <p:sp>
          <p:nvSpPr>
            <p:cNvPr id="617" name="Google Shape;895;p25">
              <a:extLst>
                <a:ext uri="{FF2B5EF4-FFF2-40B4-BE49-F238E27FC236}">
                  <a16:creationId xmlns:a16="http://schemas.microsoft.com/office/drawing/2014/main" id="{1B597574-2DCB-212D-0771-E5B500E26B64}"/>
                </a:ext>
              </a:extLst>
            </p:cNvPr>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896;p25">
              <a:extLst>
                <a:ext uri="{FF2B5EF4-FFF2-40B4-BE49-F238E27FC236}">
                  <a16:creationId xmlns:a16="http://schemas.microsoft.com/office/drawing/2014/main" id="{DF9980C2-B859-8AF2-BBF6-9114FC1C9DC3}"/>
                </a:ext>
              </a:extLst>
            </p:cNvPr>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897;p25">
              <a:extLst>
                <a:ext uri="{FF2B5EF4-FFF2-40B4-BE49-F238E27FC236}">
                  <a16:creationId xmlns:a16="http://schemas.microsoft.com/office/drawing/2014/main" id="{AB150971-3AFF-C959-ACCF-A54E6949A937}"/>
                </a:ext>
              </a:extLst>
            </p:cNvPr>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898;p25">
              <a:extLst>
                <a:ext uri="{FF2B5EF4-FFF2-40B4-BE49-F238E27FC236}">
                  <a16:creationId xmlns:a16="http://schemas.microsoft.com/office/drawing/2014/main" id="{14AF9887-6176-DAB6-B988-A356E370C220}"/>
                </a:ext>
              </a:extLst>
            </p:cNvPr>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8" name="Imagen 627">
            <a:extLst>
              <a:ext uri="{FF2B5EF4-FFF2-40B4-BE49-F238E27FC236}">
                <a16:creationId xmlns:a16="http://schemas.microsoft.com/office/drawing/2014/main" id="{0049D36F-5CE6-EB69-3EFF-B0FC9696B8D3}"/>
              </a:ext>
            </a:extLst>
          </p:cNvPr>
          <p:cNvPicPr>
            <a:picLocks noChangeAspect="1"/>
          </p:cNvPicPr>
          <p:nvPr/>
        </p:nvPicPr>
        <p:blipFill>
          <a:blip r:embed="rId3"/>
          <a:stretch>
            <a:fillRect/>
          </a:stretch>
        </p:blipFill>
        <p:spPr>
          <a:xfrm>
            <a:off x="221950" y="970344"/>
            <a:ext cx="3952017" cy="2329037"/>
          </a:xfrm>
          <a:prstGeom prst="rect">
            <a:avLst/>
          </a:prstGeom>
        </p:spPr>
      </p:pic>
      <p:sp>
        <p:nvSpPr>
          <p:cNvPr id="59" name="Google Shape;849;p25">
            <a:extLst>
              <a:ext uri="{FF2B5EF4-FFF2-40B4-BE49-F238E27FC236}">
                <a16:creationId xmlns:a16="http://schemas.microsoft.com/office/drawing/2014/main" id="{272A9B48-06CD-BA0E-9761-7A83F9A0C7F5}"/>
              </a:ext>
            </a:extLst>
          </p:cNvPr>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a:extLst>
              <a:ext uri="{FF2B5EF4-FFF2-40B4-BE49-F238E27FC236}">
                <a16:creationId xmlns:a16="http://schemas.microsoft.com/office/drawing/2014/main" id="{DAAC3287-95C6-BA1F-9A87-A2ACA773479C}"/>
              </a:ext>
            </a:extLst>
          </p:cNvPr>
          <p:cNvSpPr/>
          <p:nvPr/>
        </p:nvSpPr>
        <p:spPr>
          <a:xfrm>
            <a:off x="147827" y="741395"/>
            <a:ext cx="4026138"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 (el cliente se queda)</a:t>
            </a:r>
            <a:endParaRPr dirty="0">
              <a:latin typeface="Arial Rounded MT Bold" panose="020F0704030504030204" pitchFamily="34" charset="0"/>
            </a:endParaRPr>
          </a:p>
        </p:txBody>
      </p:sp>
      <p:pic>
        <p:nvPicPr>
          <p:cNvPr id="630" name="Imagen 629">
            <a:extLst>
              <a:ext uri="{FF2B5EF4-FFF2-40B4-BE49-F238E27FC236}">
                <a16:creationId xmlns:a16="http://schemas.microsoft.com/office/drawing/2014/main" id="{D6958A06-027A-312F-9B3B-4479111747AE}"/>
              </a:ext>
            </a:extLst>
          </p:cNvPr>
          <p:cNvPicPr>
            <a:picLocks noChangeAspect="1"/>
          </p:cNvPicPr>
          <p:nvPr/>
        </p:nvPicPr>
        <p:blipFill>
          <a:blip r:embed="rId4"/>
          <a:stretch>
            <a:fillRect/>
          </a:stretch>
        </p:blipFill>
        <p:spPr>
          <a:xfrm>
            <a:off x="4649663" y="1051342"/>
            <a:ext cx="4101022" cy="2248039"/>
          </a:xfrm>
          <a:prstGeom prst="rect">
            <a:avLst/>
          </a:prstGeom>
        </p:spPr>
      </p:pic>
      <p:sp>
        <p:nvSpPr>
          <p:cNvPr id="631" name="CuadroTexto 630">
            <a:extLst>
              <a:ext uri="{FF2B5EF4-FFF2-40B4-BE49-F238E27FC236}">
                <a16:creationId xmlns:a16="http://schemas.microsoft.com/office/drawing/2014/main" id="{7AA7058E-9BE2-849D-0A76-2B2D241AFF6D}"/>
              </a:ext>
            </a:extLst>
          </p:cNvPr>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p>
        </p:txBody>
      </p:sp>
      <p:sp>
        <p:nvSpPr>
          <p:cNvPr id="632" name="CuadroTexto 631">
            <a:extLst>
              <a:ext uri="{FF2B5EF4-FFF2-40B4-BE49-F238E27FC236}">
                <a16:creationId xmlns:a16="http://schemas.microsoft.com/office/drawing/2014/main" id="{710A3BEA-2604-24E5-30E8-C13F32D4BE4C}"/>
              </a:ext>
            </a:extLst>
          </p:cNvPr>
          <p:cNvSpPr txBox="1"/>
          <p:nvPr/>
        </p:nvSpPr>
        <p:spPr>
          <a:xfrm>
            <a:off x="4649663" y="3336128"/>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p>
          <a:p>
            <a:pPr algn="just"/>
            <a:endParaRPr lang="es-ES" sz="1100" dirty="0"/>
          </a:p>
          <a:p>
            <a:pPr algn="just"/>
            <a:r>
              <a:rPr lang="es-ES" sz="1100" dirty="0"/>
              <a:t>Preocupante segmento de edad 46-55 años en mujeres y nacionalidad alemana.</a:t>
            </a:r>
          </a:p>
          <a:p>
            <a:pPr algn="just"/>
            <a:r>
              <a:rPr lang="es-ES" sz="1100" dirty="0"/>
              <a:t>Revisar las condiciones que ofrece el banco a clientes con 3 productos o más.</a:t>
            </a:r>
          </a:p>
        </p:txBody>
      </p:sp>
      <p:sp>
        <p:nvSpPr>
          <p:cNvPr id="583" name="Google Shape;861;p25">
            <a:extLst>
              <a:ext uri="{FF2B5EF4-FFF2-40B4-BE49-F238E27FC236}">
                <a16:creationId xmlns:a16="http://schemas.microsoft.com/office/drawing/2014/main" id="{160C52B2-04F8-173B-FD6B-C29FC57BF3F5}"/>
              </a:ext>
            </a:extLst>
          </p:cNvPr>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865;p25">
            <a:extLst>
              <a:ext uri="{FF2B5EF4-FFF2-40B4-BE49-F238E27FC236}">
                <a16:creationId xmlns:a16="http://schemas.microsoft.com/office/drawing/2014/main" id="{F5FADC25-6962-68E7-217A-0BA156D5F24E}"/>
              </a:ext>
            </a:extLst>
          </p:cNvPr>
          <p:cNvSpPr/>
          <p:nvPr/>
        </p:nvSpPr>
        <p:spPr>
          <a:xfrm>
            <a:off x="4582757" y="730815"/>
            <a:ext cx="3774337"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 (el cliente se va)</a:t>
            </a:r>
          </a:p>
        </p:txBody>
      </p:sp>
      <p:sp>
        <p:nvSpPr>
          <p:cNvPr id="634" name="CuadroTexto 633">
            <a:extLst>
              <a:ext uri="{FF2B5EF4-FFF2-40B4-BE49-F238E27FC236}">
                <a16:creationId xmlns:a16="http://schemas.microsoft.com/office/drawing/2014/main" id="{51011016-44F2-FE07-8AF0-A81903637A7B}"/>
              </a:ext>
            </a:extLst>
          </p:cNvPr>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solidFill>
                  <a:schemeClr val="tx1"/>
                </a:solidFill>
              </a:rPr>
              <a:t>Variables declaradas previamente como significativas concuerdan con las que aparecen en las reglas más informativas: </a:t>
            </a:r>
            <a:r>
              <a:rPr lang="es-ES" sz="1200" b="1" i="1" u="sng" dirty="0">
                <a:solidFill>
                  <a:schemeClr val="tx1"/>
                </a:solidFill>
              </a:rPr>
              <a:t>Validación de la significancia</a:t>
            </a:r>
          </a:p>
        </p:txBody>
      </p:sp>
    </p:spTree>
    <p:extLst>
      <p:ext uri="{BB962C8B-B14F-4D97-AF65-F5344CB8AC3E}">
        <p14:creationId xmlns:p14="http://schemas.microsoft.com/office/powerpoint/2010/main" val="3729417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13A20AF-FC6D-9F73-F5DC-B1B6F2ADABDB}"/>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2F30AEF-5FFA-6775-646D-F971A970963C}"/>
              </a:ext>
            </a:extLst>
          </p:cNvPr>
          <p:cNvSpPr txBox="1">
            <a:spLocks noGrp="1"/>
          </p:cNvSpPr>
          <p:nvPr>
            <p:ph type="title"/>
          </p:nvPr>
        </p:nvSpPr>
        <p:spPr>
          <a:xfrm>
            <a:off x="673945" y="285499"/>
            <a:ext cx="7704000" cy="572700"/>
          </a:xfrm>
          <a:prstGeom prst="rect">
            <a:avLst/>
          </a:prstGeom>
        </p:spPr>
        <p:txBody>
          <a:bodyPr spcFirstLastPara="1" wrap="square" lIns="91425" tIns="91425" rIns="91425" bIns="91425" anchor="t" anchorCtr="0">
            <a:noAutofit/>
          </a:bodyPr>
          <a:lstStyle/>
          <a:p>
            <a:pPr lvl="0"/>
            <a:r>
              <a:rPr lang="es-ES" dirty="0"/>
              <a:t>PREPARACIÓN PARA EL MODELADO</a:t>
            </a:r>
            <a:endParaRPr dirty="0"/>
          </a:p>
        </p:txBody>
      </p:sp>
      <p:pic>
        <p:nvPicPr>
          <p:cNvPr id="1026" name="Picture 2" descr="Handling Imbalanced Dataset In Machine Learning. | by Shivam Chhetry |  Medium">
            <a:extLst>
              <a:ext uri="{FF2B5EF4-FFF2-40B4-BE49-F238E27FC236}">
                <a16:creationId xmlns:a16="http://schemas.microsoft.com/office/drawing/2014/main" id="{C18EA33C-C5E0-87E7-4EF1-8FB48CB1C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48" y="1073150"/>
            <a:ext cx="2318042" cy="1155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0EE447-D04F-9B51-31BE-AD39AA4B154C}"/>
              </a:ext>
            </a:extLst>
          </p:cNvPr>
          <p:cNvSpPr txBox="1"/>
          <p:nvPr/>
        </p:nvSpPr>
        <p:spPr>
          <a:xfrm>
            <a:off x="559833" y="748484"/>
            <a:ext cx="2064989" cy="307777"/>
          </a:xfrm>
          <a:prstGeom prst="rect">
            <a:avLst/>
          </a:prstGeom>
          <a:noFill/>
        </p:spPr>
        <p:txBody>
          <a:bodyPr wrap="none" rtlCol="0">
            <a:spAutoFit/>
          </a:bodyPr>
          <a:lstStyle/>
          <a:p>
            <a:r>
              <a:rPr lang="en-ES" dirty="0"/>
              <a:t>Dataset desbalanceado</a:t>
            </a:r>
          </a:p>
        </p:txBody>
      </p:sp>
      <p:sp>
        <p:nvSpPr>
          <p:cNvPr id="5" name="TextBox 4">
            <a:extLst>
              <a:ext uri="{FF2B5EF4-FFF2-40B4-BE49-F238E27FC236}">
                <a16:creationId xmlns:a16="http://schemas.microsoft.com/office/drawing/2014/main" id="{9F3DB66A-05BA-4C22-89CA-05489D147222}"/>
              </a:ext>
            </a:extLst>
          </p:cNvPr>
          <p:cNvSpPr txBox="1"/>
          <p:nvPr/>
        </p:nvSpPr>
        <p:spPr>
          <a:xfrm>
            <a:off x="862078" y="2242522"/>
            <a:ext cx="1460500" cy="430887"/>
          </a:xfrm>
          <a:prstGeom prst="rect">
            <a:avLst/>
          </a:prstGeom>
          <a:noFill/>
        </p:spPr>
        <p:txBody>
          <a:bodyPr wrap="square">
            <a:spAutoFit/>
          </a:bodyPr>
          <a:lstStyle/>
          <a:p>
            <a:pPr algn="ctr"/>
            <a:r>
              <a:rPr lang="en-ES" sz="1100" dirty="0"/>
              <a:t>Clase negativa 80%</a:t>
            </a:r>
            <a:br>
              <a:rPr lang="en-ES" sz="1100" dirty="0"/>
            </a:br>
            <a:r>
              <a:rPr lang="en-ES" sz="1100" dirty="0"/>
              <a:t>Modelo sesgado</a:t>
            </a:r>
          </a:p>
        </p:txBody>
      </p:sp>
      <p:pic>
        <p:nvPicPr>
          <p:cNvPr id="1028" name="Picture 4" descr="71 mil resultados de imágenes, fotos de stock e ilustraciones libres de  regalías para Red x symbol | Shutterstock">
            <a:extLst>
              <a:ext uri="{FF2B5EF4-FFF2-40B4-BE49-F238E27FC236}">
                <a16:creationId xmlns:a16="http://schemas.microsoft.com/office/drawing/2014/main" id="{32F0DB92-EBC3-D1FE-9DEE-DF6E0DCC3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485" y="2301581"/>
            <a:ext cx="458759" cy="42171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DC694F7-2C67-8D9A-27D1-39C45A8CC0F3}"/>
              </a:ext>
            </a:extLst>
          </p:cNvPr>
          <p:cNvCxnSpPr>
            <a:cxnSpLocks/>
          </p:cNvCxnSpPr>
          <p:nvPr/>
        </p:nvCxnSpPr>
        <p:spPr>
          <a:xfrm>
            <a:off x="2908300" y="1651000"/>
            <a:ext cx="844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95446D04-C8F7-A5FC-FF50-762E56ADB010}"/>
              </a:ext>
            </a:extLst>
          </p:cNvPr>
          <p:cNvSpPr txBox="1"/>
          <p:nvPr/>
        </p:nvSpPr>
        <p:spPr>
          <a:xfrm>
            <a:off x="3752551" y="765373"/>
            <a:ext cx="1925527" cy="307777"/>
          </a:xfrm>
          <a:prstGeom prst="rect">
            <a:avLst/>
          </a:prstGeom>
          <a:noFill/>
        </p:spPr>
        <p:txBody>
          <a:bodyPr wrap="none" rtlCol="0">
            <a:spAutoFit/>
          </a:bodyPr>
          <a:lstStyle/>
          <a:p>
            <a:r>
              <a:rPr lang="en-ES" dirty="0"/>
              <a:t>Técnicas de balanceo</a:t>
            </a:r>
          </a:p>
        </p:txBody>
      </p:sp>
      <p:pic>
        <p:nvPicPr>
          <p:cNvPr id="1030" name="Picture 6" descr="Imbalanced Vs Balanced Dataset ...">
            <a:extLst>
              <a:ext uri="{FF2B5EF4-FFF2-40B4-BE49-F238E27FC236}">
                <a16:creationId xmlns:a16="http://schemas.microsoft.com/office/drawing/2014/main" id="{3A229A68-D68A-FD9C-AA26-6D42023187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7710" y="855762"/>
            <a:ext cx="2318042" cy="15909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4899363-A985-40D2-24C0-98B425C2F013}"/>
              </a:ext>
            </a:extLst>
          </p:cNvPr>
          <p:cNvSpPr txBox="1"/>
          <p:nvPr/>
        </p:nvSpPr>
        <p:spPr>
          <a:xfrm>
            <a:off x="6706863" y="740645"/>
            <a:ext cx="1717137" cy="307777"/>
          </a:xfrm>
          <a:prstGeom prst="rect">
            <a:avLst/>
          </a:prstGeom>
          <a:noFill/>
        </p:spPr>
        <p:txBody>
          <a:bodyPr wrap="none" rtlCol="0">
            <a:spAutoFit/>
          </a:bodyPr>
          <a:lstStyle/>
          <a:p>
            <a:r>
              <a:rPr lang="en-ES" dirty="0"/>
              <a:t>Datos balanceados</a:t>
            </a:r>
          </a:p>
        </p:txBody>
      </p:sp>
      <p:sp>
        <p:nvSpPr>
          <p:cNvPr id="10" name="TextBox 9">
            <a:extLst>
              <a:ext uri="{FF2B5EF4-FFF2-40B4-BE49-F238E27FC236}">
                <a16:creationId xmlns:a16="http://schemas.microsoft.com/office/drawing/2014/main" id="{368A1267-108C-9092-DCDF-ED3139D20009}"/>
              </a:ext>
            </a:extLst>
          </p:cNvPr>
          <p:cNvSpPr txBox="1"/>
          <p:nvPr/>
        </p:nvSpPr>
        <p:spPr>
          <a:xfrm>
            <a:off x="6836802" y="2455328"/>
            <a:ext cx="1313180" cy="261610"/>
          </a:xfrm>
          <a:prstGeom prst="rect">
            <a:avLst/>
          </a:prstGeom>
          <a:noFill/>
        </p:spPr>
        <p:txBody>
          <a:bodyPr wrap="none" rtlCol="0">
            <a:spAutoFit/>
          </a:bodyPr>
          <a:lstStyle/>
          <a:p>
            <a:r>
              <a:rPr lang="en-ES" sz="1100" dirty="0"/>
              <a:t>Mejor rendimiento</a:t>
            </a:r>
          </a:p>
        </p:txBody>
      </p:sp>
      <p:cxnSp>
        <p:nvCxnSpPr>
          <p:cNvPr id="11" name="Straight Arrow Connector 10">
            <a:extLst>
              <a:ext uri="{FF2B5EF4-FFF2-40B4-BE49-F238E27FC236}">
                <a16:creationId xmlns:a16="http://schemas.microsoft.com/office/drawing/2014/main" id="{E6CE2FAF-DF58-8ED6-3D47-E43C5C3B44E8}"/>
              </a:ext>
            </a:extLst>
          </p:cNvPr>
          <p:cNvCxnSpPr>
            <a:cxnSpLocks/>
          </p:cNvCxnSpPr>
          <p:nvPr/>
        </p:nvCxnSpPr>
        <p:spPr>
          <a:xfrm>
            <a:off x="5630353" y="1651000"/>
            <a:ext cx="7806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34" name="Picture 10" descr="30.600+ Tick Verde Fotografías de stock ...">
            <a:extLst>
              <a:ext uri="{FF2B5EF4-FFF2-40B4-BE49-F238E27FC236}">
                <a16:creationId xmlns:a16="http://schemas.microsoft.com/office/drawing/2014/main" id="{6C7ED6AE-C646-6389-21C6-B6852F24C8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0364" y="2348495"/>
            <a:ext cx="475275" cy="475275"/>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a:extLst>
              <a:ext uri="{FF2B5EF4-FFF2-40B4-BE49-F238E27FC236}">
                <a16:creationId xmlns:a16="http://schemas.microsoft.com/office/drawing/2014/main" id="{1ECBF497-13C4-3227-DBB9-BADFB4398B0C}"/>
              </a:ext>
            </a:extLst>
          </p:cNvPr>
          <p:cNvSpPr/>
          <p:nvPr/>
        </p:nvSpPr>
        <p:spPr>
          <a:xfrm>
            <a:off x="3860728" y="1084156"/>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O</a:t>
            </a:r>
            <a:r>
              <a:rPr lang="en-ES" dirty="0">
                <a:solidFill>
                  <a:schemeClr val="tx1"/>
                </a:solidFill>
              </a:rPr>
              <a:t>versampling</a:t>
            </a:r>
          </a:p>
        </p:txBody>
      </p:sp>
      <p:sp>
        <p:nvSpPr>
          <p:cNvPr id="14" name="Rounded Rectangle 13">
            <a:extLst>
              <a:ext uri="{FF2B5EF4-FFF2-40B4-BE49-F238E27FC236}">
                <a16:creationId xmlns:a16="http://schemas.microsoft.com/office/drawing/2014/main" id="{2DB3CF25-6462-D736-FD2E-B8DF75F1FE23}"/>
              </a:ext>
            </a:extLst>
          </p:cNvPr>
          <p:cNvSpPr/>
          <p:nvPr/>
        </p:nvSpPr>
        <p:spPr>
          <a:xfrm>
            <a:off x="3850487" y="1456037"/>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tx1"/>
                </a:solidFill>
              </a:rPr>
              <a:t>Undersampling</a:t>
            </a:r>
            <a:endParaRPr lang="en-ES" dirty="0">
              <a:solidFill>
                <a:schemeClr val="tx1"/>
              </a:solidFill>
            </a:endParaRPr>
          </a:p>
        </p:txBody>
      </p:sp>
      <p:sp>
        <p:nvSpPr>
          <p:cNvPr id="15" name="Rounded Rectangle 14">
            <a:extLst>
              <a:ext uri="{FF2B5EF4-FFF2-40B4-BE49-F238E27FC236}">
                <a16:creationId xmlns:a16="http://schemas.microsoft.com/office/drawing/2014/main" id="{971F8AF3-E5C9-9DF4-4D08-5F0BDE9570F3}"/>
              </a:ext>
            </a:extLst>
          </p:cNvPr>
          <p:cNvSpPr/>
          <p:nvPr/>
        </p:nvSpPr>
        <p:spPr>
          <a:xfrm>
            <a:off x="3850486" y="1839743"/>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ROSE</a:t>
            </a:r>
            <a:endParaRPr lang="en-ES" dirty="0">
              <a:solidFill>
                <a:schemeClr val="tx1"/>
              </a:solidFill>
            </a:endParaRPr>
          </a:p>
        </p:txBody>
      </p:sp>
      <p:sp>
        <p:nvSpPr>
          <p:cNvPr id="18" name="TextBox 17">
            <a:extLst>
              <a:ext uri="{FF2B5EF4-FFF2-40B4-BE49-F238E27FC236}">
                <a16:creationId xmlns:a16="http://schemas.microsoft.com/office/drawing/2014/main" id="{3A1457C4-E1D5-D1CA-4D35-ECA933DB1208}"/>
              </a:ext>
            </a:extLst>
          </p:cNvPr>
          <p:cNvSpPr txBox="1"/>
          <p:nvPr/>
        </p:nvSpPr>
        <p:spPr>
          <a:xfrm>
            <a:off x="3330425" y="2439538"/>
            <a:ext cx="2520242" cy="261610"/>
          </a:xfrm>
          <a:prstGeom prst="rect">
            <a:avLst/>
          </a:prstGeom>
          <a:noFill/>
        </p:spPr>
        <p:txBody>
          <a:bodyPr wrap="none" rtlCol="0">
            <a:spAutoFit/>
          </a:bodyPr>
          <a:lstStyle/>
          <a:p>
            <a:r>
              <a:rPr lang="en-ES" sz="1100" dirty="0"/>
              <a:t>Todas las técnicas mejoran resultado</a:t>
            </a:r>
          </a:p>
        </p:txBody>
      </p:sp>
      <p:pic>
        <p:nvPicPr>
          <p:cNvPr id="19" name="Picture 18">
            <a:extLst>
              <a:ext uri="{FF2B5EF4-FFF2-40B4-BE49-F238E27FC236}">
                <a16:creationId xmlns:a16="http://schemas.microsoft.com/office/drawing/2014/main" id="{5B13B0EB-1477-2655-9B5D-E5EAD987BC31}"/>
              </a:ext>
            </a:extLst>
          </p:cNvPr>
          <p:cNvPicPr>
            <a:picLocks noChangeAspect="1"/>
          </p:cNvPicPr>
          <p:nvPr/>
        </p:nvPicPr>
        <p:blipFill>
          <a:blip r:embed="rId7"/>
          <a:stretch>
            <a:fillRect/>
          </a:stretch>
        </p:blipFill>
        <p:spPr>
          <a:xfrm>
            <a:off x="317403" y="3028784"/>
            <a:ext cx="8609085" cy="2052892"/>
          </a:xfrm>
          <a:prstGeom prst="rect">
            <a:avLst/>
          </a:prstGeom>
        </p:spPr>
      </p:pic>
      <p:sp>
        <p:nvSpPr>
          <p:cNvPr id="3" name="Rounded Rectangle 2">
            <a:extLst>
              <a:ext uri="{FF2B5EF4-FFF2-40B4-BE49-F238E27FC236}">
                <a16:creationId xmlns:a16="http://schemas.microsoft.com/office/drawing/2014/main" id="{91C9788D-1559-6736-E45E-93CB72D82824}"/>
              </a:ext>
            </a:extLst>
          </p:cNvPr>
          <p:cNvSpPr/>
          <p:nvPr/>
        </p:nvSpPr>
        <p:spPr>
          <a:xfrm>
            <a:off x="3860726" y="2163638"/>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SMOTE</a:t>
            </a:r>
            <a:endParaRPr lang="en-ES" dirty="0">
              <a:solidFill>
                <a:schemeClr val="tx1"/>
              </a:solidFill>
            </a:endParaRPr>
          </a:p>
        </p:txBody>
      </p:sp>
    </p:spTree>
    <p:extLst>
      <p:ext uri="{BB962C8B-B14F-4D97-AF65-F5344CB8AC3E}">
        <p14:creationId xmlns:p14="http://schemas.microsoft.com/office/powerpoint/2010/main" val="2941773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a:t>
            </a:r>
            <a:endParaRPr dirty="0"/>
          </a:p>
        </p:txBody>
      </p:sp>
      <p:graphicFrame>
        <p:nvGraphicFramePr>
          <p:cNvPr id="4" name="Tabla 3"/>
          <p:cNvGraphicFramePr>
            <a:graphicFrameLocks noGrp="1"/>
          </p:cNvGraphicFramePr>
          <p:nvPr>
            <p:extLst>
              <p:ext uri="{D42A27DB-BD31-4B8C-83A1-F6EECF244321}">
                <p14:modId xmlns:p14="http://schemas.microsoft.com/office/powerpoint/2010/main" val="50387516"/>
              </p:ext>
            </p:extLst>
          </p:nvPr>
        </p:nvGraphicFramePr>
        <p:xfrm>
          <a:off x="2462406" y="2051066"/>
          <a:ext cx="4374692" cy="520684"/>
        </p:xfrm>
        <a:graphic>
          <a:graphicData uri="http://schemas.openxmlformats.org/drawingml/2006/table">
            <a:tbl>
              <a:tblPr>
                <a:tableStyleId>{7FD54D1E-A07F-487E-B709-6B33F1453160}</a:tableStyleId>
              </a:tblPr>
              <a:tblGrid>
                <a:gridCol w="611319">
                  <a:extLst>
                    <a:ext uri="{9D8B030D-6E8A-4147-A177-3AD203B41FA5}">
                      <a16:colId xmlns:a16="http://schemas.microsoft.com/office/drawing/2014/main" val="20001"/>
                    </a:ext>
                  </a:extLst>
                </a:gridCol>
                <a:gridCol w="736805">
                  <a:extLst>
                    <a:ext uri="{9D8B030D-6E8A-4147-A177-3AD203B41FA5}">
                      <a16:colId xmlns:a16="http://schemas.microsoft.com/office/drawing/2014/main" val="20002"/>
                    </a:ext>
                  </a:extLst>
                </a:gridCol>
                <a:gridCol w="736805">
                  <a:extLst>
                    <a:ext uri="{9D8B030D-6E8A-4147-A177-3AD203B41FA5}">
                      <a16:colId xmlns:a16="http://schemas.microsoft.com/office/drawing/2014/main" val="20003"/>
                    </a:ext>
                  </a:extLst>
                </a:gridCol>
                <a:gridCol w="816153">
                  <a:extLst>
                    <a:ext uri="{9D8B030D-6E8A-4147-A177-3AD203B41FA5}">
                      <a16:colId xmlns:a16="http://schemas.microsoft.com/office/drawing/2014/main" val="20004"/>
                    </a:ext>
                  </a:extLst>
                </a:gridCol>
                <a:gridCol w="736805">
                  <a:extLst>
                    <a:ext uri="{9D8B030D-6E8A-4147-A177-3AD203B41FA5}">
                      <a16:colId xmlns:a16="http://schemas.microsoft.com/office/drawing/2014/main" val="20005"/>
                    </a:ext>
                  </a:extLst>
                </a:gridCol>
                <a:gridCol w="736805">
                  <a:extLst>
                    <a:ext uri="{9D8B030D-6E8A-4147-A177-3AD203B41FA5}">
                      <a16:colId xmlns:a16="http://schemas.microsoft.com/office/drawing/2014/main" val="20006"/>
                    </a:ext>
                  </a:extLst>
                </a:gridCol>
              </a:tblGrid>
              <a:tr h="260342">
                <a:tc>
                  <a:txBody>
                    <a:bodyPr/>
                    <a:lstStyle/>
                    <a:p>
                      <a:pPr algn="l" fontAlgn="ctr">
                        <a:buNone/>
                      </a:pPr>
                      <a:r>
                        <a:rPr lang="es-ES" sz="1100" b="1" i="0" u="none" strike="noStrike" dirty="0">
                          <a:solidFill>
                            <a:srgbClr val="000000"/>
                          </a:solidFill>
                          <a:effectLst/>
                          <a:latin typeface="+mj-lt"/>
                        </a:rPr>
                        <a:t>TRAIN</a:t>
                      </a:r>
                    </a:p>
                  </a:txBody>
                  <a:tcPr marL="7620" marR="7620" marT="7620" marB="0" anchor="ctr"/>
                </a:tc>
                <a:tc>
                  <a:txBody>
                    <a:bodyPr/>
                    <a:lstStyle/>
                    <a:p>
                      <a:pPr algn="l" fontAlgn="ctr">
                        <a:buNone/>
                      </a:pPr>
                      <a:r>
                        <a:rPr lang="es-ES" sz="1100" b="1" u="none" strike="noStrike" dirty="0">
                          <a:effectLst/>
                          <a:latin typeface="+mj-lt"/>
                        </a:rPr>
                        <a:t>0.7477551</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0.4010743</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a:effectLst/>
                          <a:latin typeface="+mj-lt"/>
                        </a:rPr>
                        <a:t>0.4413793</a:t>
                      </a:r>
                      <a:endParaRPr lang="es-ES" sz="1100" b="1" i="0" u="none" strike="noStrike">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0.8277992</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0.4202627</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1"/>
                  </a:ext>
                </a:extLst>
              </a:tr>
              <a:tr h="260342">
                <a:tc>
                  <a:txBody>
                    <a:bodyPr/>
                    <a:lstStyle/>
                    <a:p>
                      <a:pPr algn="l" fontAlgn="ctr">
                        <a:buNone/>
                      </a:pPr>
                      <a:r>
                        <a:rPr lang="es-ES" sz="1100" b="1" i="0" u="none" strike="noStrike" dirty="0">
                          <a:solidFill>
                            <a:srgbClr val="000000"/>
                          </a:solidFill>
                          <a:effectLst/>
                          <a:latin typeface="+mj-lt"/>
                        </a:rPr>
                        <a:t>TEST</a:t>
                      </a:r>
                    </a:p>
                  </a:txBody>
                  <a:tcPr marL="7620" marR="7620" marT="7620" marB="0" anchor="ctr"/>
                </a:tc>
                <a:tc>
                  <a:txBody>
                    <a:bodyPr/>
                    <a:lstStyle/>
                    <a:p>
                      <a:pPr algn="l" fontAlgn="ctr">
                        <a:buNone/>
                      </a:pPr>
                      <a:r>
                        <a:rPr lang="es-ES" sz="1100" b="1" u="none" strike="noStrike" dirty="0">
                          <a:effectLst/>
                          <a:latin typeface="+mj-lt"/>
                        </a:rPr>
                        <a:t>0.7595238</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0.4264706</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0.4666667</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0.8360360</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0.4456641</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2"/>
                  </a:ext>
                </a:extLst>
              </a:tr>
            </a:tbl>
          </a:graphicData>
        </a:graphic>
      </p:graphicFrame>
      <p:graphicFrame>
        <p:nvGraphicFramePr>
          <p:cNvPr id="5" name="Tabla 4"/>
          <p:cNvGraphicFramePr>
            <a:graphicFrameLocks noGrp="1"/>
          </p:cNvGraphicFramePr>
          <p:nvPr>
            <p:extLst>
              <p:ext uri="{D42A27DB-BD31-4B8C-83A1-F6EECF244321}">
                <p14:modId xmlns:p14="http://schemas.microsoft.com/office/powerpoint/2010/main" val="1754887632"/>
              </p:ext>
            </p:extLst>
          </p:nvPr>
        </p:nvGraphicFramePr>
        <p:xfrm>
          <a:off x="2455224" y="1148854"/>
          <a:ext cx="4381876" cy="778842"/>
        </p:xfrm>
        <a:graphic>
          <a:graphicData uri="http://schemas.openxmlformats.org/drawingml/2006/table">
            <a:tbl>
              <a:tblPr>
                <a:tableStyleId>{7FD54D1E-A07F-487E-B709-6B33F1453160}</a:tableStyleId>
              </a:tblPr>
              <a:tblGrid>
                <a:gridCol w="641276">
                  <a:extLst>
                    <a:ext uri="{9D8B030D-6E8A-4147-A177-3AD203B41FA5}">
                      <a16:colId xmlns:a16="http://schemas.microsoft.com/office/drawing/2014/main" val="20001"/>
                    </a:ext>
                  </a:extLst>
                </a:gridCol>
                <a:gridCol w="709607">
                  <a:extLst>
                    <a:ext uri="{9D8B030D-6E8A-4147-A177-3AD203B41FA5}">
                      <a16:colId xmlns:a16="http://schemas.microsoft.com/office/drawing/2014/main" val="20002"/>
                    </a:ext>
                  </a:extLst>
                </a:gridCol>
                <a:gridCol w="730054">
                  <a:extLst>
                    <a:ext uri="{9D8B030D-6E8A-4147-A177-3AD203B41FA5}">
                      <a16:colId xmlns:a16="http://schemas.microsoft.com/office/drawing/2014/main" val="20003"/>
                    </a:ext>
                  </a:extLst>
                </a:gridCol>
                <a:gridCol w="839275">
                  <a:extLst>
                    <a:ext uri="{9D8B030D-6E8A-4147-A177-3AD203B41FA5}">
                      <a16:colId xmlns:a16="http://schemas.microsoft.com/office/drawing/2014/main" val="20004"/>
                    </a:ext>
                  </a:extLst>
                </a:gridCol>
                <a:gridCol w="713544">
                  <a:extLst>
                    <a:ext uri="{9D8B030D-6E8A-4147-A177-3AD203B41FA5}">
                      <a16:colId xmlns:a16="http://schemas.microsoft.com/office/drawing/2014/main" val="20005"/>
                    </a:ext>
                  </a:extLst>
                </a:gridCol>
                <a:gridCol w="748120">
                  <a:extLst>
                    <a:ext uri="{9D8B030D-6E8A-4147-A177-3AD203B41FA5}">
                      <a16:colId xmlns:a16="http://schemas.microsoft.com/office/drawing/2014/main" val="20006"/>
                    </a:ext>
                  </a:extLst>
                </a:gridCol>
              </a:tblGrid>
              <a:tr h="329827">
                <a:tc>
                  <a:txBody>
                    <a:bodyPr/>
                    <a:lstStyle/>
                    <a:p>
                      <a:pPr algn="l" fontAlgn="ctr">
                        <a:buNone/>
                      </a:pPr>
                      <a:r>
                        <a:rPr lang="en-US" altLang="es-ES" sz="1100" b="1" i="0" u="none" strike="noStrike" dirty="0">
                          <a:solidFill>
                            <a:srgbClr val="7030A0"/>
                          </a:solidFill>
                          <a:effectLst/>
                          <a:latin typeface="+mj-lt"/>
                        </a:rPr>
                        <a:t>Split</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Accuracy</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zh-CN" sz="1100" b="1" i="0" u="none" strike="noStrike" dirty="0">
                          <a:solidFill>
                            <a:srgbClr val="7030A0"/>
                          </a:solidFill>
                          <a:effectLst/>
                          <a:latin typeface="+mj-lt"/>
                        </a:rPr>
                        <a:t>Precision</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Recall</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Specificity</a:t>
                      </a: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F1-Score</a:t>
                      </a:r>
                    </a:p>
                  </a:txBody>
                  <a:tcPr marL="7620" marR="7620" marT="7620" marB="0" anchor="ctr"/>
                </a:tc>
                <a:extLst>
                  <a:ext uri="{0D108BD9-81ED-4DB2-BD59-A6C34878D82A}">
                    <a16:rowId xmlns:a16="http://schemas.microsoft.com/office/drawing/2014/main" val="3840787724"/>
                  </a:ext>
                </a:extLst>
              </a:tr>
              <a:tr h="244469">
                <a:tc>
                  <a:txBody>
                    <a:bodyPr/>
                    <a:lstStyle/>
                    <a:p>
                      <a:pPr algn="l" fontAlgn="ctr">
                        <a:buNone/>
                      </a:pPr>
                      <a:r>
                        <a:rPr lang="es-ES" sz="1100" b="1" i="0" u="none" strike="noStrike" dirty="0">
                          <a:solidFill>
                            <a:srgbClr val="000000"/>
                          </a:solidFill>
                          <a:effectLst/>
                        </a:rPr>
                        <a:t>TRAIN</a:t>
                      </a:r>
                    </a:p>
                  </a:txBody>
                  <a:tcPr marL="7620" marR="7620" marT="7620" marB="0" anchor="ctr"/>
                </a:tc>
                <a:tc>
                  <a:txBody>
                    <a:bodyPr/>
                    <a:lstStyle/>
                    <a:p>
                      <a:pPr algn="l" fontAlgn="ctr"/>
                      <a:r>
                        <a:rPr lang="es-ES" sz="1100" b="1" i="0" dirty="0">
                          <a:solidFill>
                            <a:srgbClr val="000000"/>
                          </a:solidFill>
                          <a:effectLst/>
                        </a:rPr>
                        <a:t>0.7708163</a:t>
                      </a:r>
                    </a:p>
                  </a:txBody>
                  <a:tcPr marL="9842" marR="9842" marT="9842" marB="0" anchor="ctr"/>
                </a:tc>
                <a:tc>
                  <a:txBody>
                    <a:bodyPr/>
                    <a:lstStyle/>
                    <a:p>
                      <a:pPr algn="l" fontAlgn="ctr">
                        <a:buNone/>
                      </a:pPr>
                      <a:r>
                        <a:rPr lang="es-ES" sz="1100" b="1" u="none" strike="noStrike" dirty="0">
                          <a:effectLst/>
                        </a:rPr>
                        <a:t>0.4686241</a:t>
                      </a:r>
                    </a:p>
                  </a:txBody>
                  <a:tcPr marL="7620" marR="7620" marT="7620" marB="0" anchor="ctr"/>
                </a:tc>
                <a:tc>
                  <a:txBody>
                    <a:bodyPr/>
                    <a:lstStyle/>
                    <a:p>
                      <a:pPr algn="l" fontAlgn="ctr"/>
                      <a:r>
                        <a:rPr lang="es-ES" sz="1100" b="1" i="0" dirty="0">
                          <a:solidFill>
                            <a:srgbClr val="000000"/>
                          </a:solidFill>
                          <a:effectLst/>
                        </a:rPr>
                        <a:t>0.8027613</a:t>
                      </a:r>
                    </a:p>
                  </a:txBody>
                  <a:tcPr marL="9842" marR="9842" marT="9842" marB="0" anchor="ctr"/>
                </a:tc>
                <a:tc>
                  <a:txBody>
                    <a:bodyPr/>
                    <a:lstStyle/>
                    <a:p>
                      <a:pPr algn="l" fontAlgn="ctr"/>
                      <a:r>
                        <a:rPr lang="es-ES" sz="1100" b="1" i="0" dirty="0">
                          <a:solidFill>
                            <a:srgbClr val="000000"/>
                          </a:solidFill>
                          <a:effectLst/>
                        </a:rPr>
                        <a:t>0.7624807</a:t>
                      </a:r>
                    </a:p>
                  </a:txBody>
                  <a:tcPr marL="9842" marR="9842" marT="9842" marB="0" anchor="ctr"/>
                </a:tc>
                <a:tc>
                  <a:txBody>
                    <a:bodyPr/>
                    <a:lstStyle/>
                    <a:p>
                      <a:pPr algn="l" fontAlgn="ctr"/>
                      <a:r>
                        <a:rPr lang="es-ES" sz="1100" b="1" i="0" dirty="0">
                          <a:solidFill>
                            <a:srgbClr val="000000"/>
                          </a:solidFill>
                          <a:effectLst/>
                        </a:rPr>
                        <a:t>0.5917848</a:t>
                      </a:r>
                    </a:p>
                  </a:txBody>
                  <a:tcPr marL="9842" marR="9842" marT="9842" marB="0" anchor="ctr"/>
                </a:tc>
                <a:extLst>
                  <a:ext uri="{0D108BD9-81ED-4DB2-BD59-A6C34878D82A}">
                    <a16:rowId xmlns:a16="http://schemas.microsoft.com/office/drawing/2014/main" val="10000"/>
                  </a:ext>
                </a:extLst>
              </a:tr>
              <a:tr h="204546">
                <a:tc>
                  <a:txBody>
                    <a:bodyPr/>
                    <a:lstStyle/>
                    <a:p>
                      <a:pPr algn="l" fontAlgn="ctr">
                        <a:buNone/>
                      </a:pPr>
                      <a:r>
                        <a:rPr lang="es-ES" sz="1100" b="1" i="0" u="none" strike="noStrike" dirty="0">
                          <a:solidFill>
                            <a:srgbClr val="000000"/>
                          </a:solidFill>
                          <a:effectLst/>
                        </a:rPr>
                        <a:t>TEST</a:t>
                      </a:r>
                    </a:p>
                  </a:txBody>
                  <a:tcPr marL="7620" marR="7620" marT="7620" marB="0" anchor="ctr"/>
                </a:tc>
                <a:tc>
                  <a:txBody>
                    <a:bodyPr/>
                    <a:lstStyle/>
                    <a:p>
                      <a:pPr algn="l" fontAlgn="b"/>
                      <a:r>
                        <a:rPr lang="es-ES" sz="1100" b="1" i="0" dirty="0">
                          <a:solidFill>
                            <a:srgbClr val="000000"/>
                          </a:solidFill>
                          <a:effectLst/>
                        </a:rPr>
                        <a:t>0.6790476</a:t>
                      </a:r>
                    </a:p>
                  </a:txBody>
                  <a:tcPr marL="9842" marR="9842" marT="9842" marB="0" anchor="b"/>
                </a:tc>
                <a:tc>
                  <a:txBody>
                    <a:bodyPr/>
                    <a:lstStyle/>
                    <a:p>
                      <a:pPr algn="l" fontAlgn="b"/>
                      <a:r>
                        <a:rPr lang="es-ES" sz="1100" b="1" i="0" dirty="0">
                          <a:solidFill>
                            <a:srgbClr val="000000"/>
                          </a:solidFill>
                          <a:effectLst/>
                        </a:rPr>
                        <a:t>0.3342618</a:t>
                      </a:r>
                    </a:p>
                  </a:txBody>
                  <a:tcPr marL="9842" marR="9842" marT="9842" marB="0" anchor="b"/>
                </a:tc>
                <a:tc>
                  <a:txBody>
                    <a:bodyPr/>
                    <a:lstStyle/>
                    <a:p>
                      <a:pPr algn="l" fontAlgn="b"/>
                      <a:r>
                        <a:rPr lang="es-ES" sz="1100" b="1" i="0" dirty="0">
                          <a:solidFill>
                            <a:srgbClr val="000000"/>
                          </a:solidFill>
                          <a:effectLst/>
                        </a:rPr>
                        <a:t>0.5504587</a:t>
                      </a:r>
                    </a:p>
                  </a:txBody>
                  <a:tcPr marL="9842" marR="9842" marT="9842" marB="0" anchor="b"/>
                </a:tc>
                <a:tc>
                  <a:txBody>
                    <a:bodyPr/>
                    <a:lstStyle/>
                    <a:p>
                      <a:pPr algn="l" fontAlgn="b"/>
                      <a:r>
                        <a:rPr lang="es-ES" sz="1100" b="1" i="0" dirty="0">
                          <a:solidFill>
                            <a:srgbClr val="000000"/>
                          </a:solidFill>
                          <a:effectLst/>
                        </a:rPr>
                        <a:t>0.7127404</a:t>
                      </a:r>
                    </a:p>
                  </a:txBody>
                  <a:tcPr marL="9842" marR="9842" marT="9842" marB="0" anchor="b"/>
                </a:tc>
                <a:tc>
                  <a:txBody>
                    <a:bodyPr/>
                    <a:lstStyle/>
                    <a:p>
                      <a:pPr algn="l" fontAlgn="b"/>
                      <a:r>
                        <a:rPr lang="es-ES" sz="1100" b="1" i="0" dirty="0">
                          <a:solidFill>
                            <a:srgbClr val="000000"/>
                          </a:solidFill>
                          <a:effectLst/>
                        </a:rPr>
                        <a:t>0.4159445</a:t>
                      </a:r>
                    </a:p>
                  </a:txBody>
                  <a:tcPr marL="9842" marR="9842" marT="9842" marB="0" anchor="b"/>
                </a:tc>
                <a:extLst>
                  <a:ext uri="{0D108BD9-81ED-4DB2-BD59-A6C34878D82A}">
                    <a16:rowId xmlns:a16="http://schemas.microsoft.com/office/drawing/2014/main" val="10001"/>
                  </a:ext>
                </a:extLst>
              </a:tr>
            </a:tbl>
          </a:graphicData>
        </a:graphic>
      </p:graphicFrame>
      <p:sp>
        <p:nvSpPr>
          <p:cNvPr id="7" name="CuadroTexto 6"/>
          <p:cNvSpPr txBox="1"/>
          <p:nvPr/>
        </p:nvSpPr>
        <p:spPr>
          <a:xfrm>
            <a:off x="534539" y="2607967"/>
            <a:ext cx="8609461" cy="2446824"/>
          </a:xfrm>
          <a:prstGeom prst="rect">
            <a:avLst/>
          </a:prstGeom>
          <a:noFill/>
        </p:spPr>
        <p:txBody>
          <a:bodyPr wrap="square">
            <a:spAutoFit/>
          </a:bodyPr>
          <a:lstStyle/>
          <a:p>
            <a:r>
              <a:rPr lang="en-GB" sz="1300" b="1" dirty="0"/>
              <a:t>Naive Bayes:</a:t>
            </a:r>
            <a:r>
              <a:rPr lang="en-GB" sz="1300" dirty="0"/>
              <a:t> </a:t>
            </a:r>
          </a:p>
          <a:p>
            <a:pPr marL="285750" indent="-285750">
              <a:buFont typeface="Arial" panose="020B0604020202020204" pitchFamily="34" charset="0"/>
              <a:buChar char="•"/>
            </a:pPr>
            <a:r>
              <a:rPr lang="en-GB" sz="1300" dirty="0"/>
              <a:t>Se </a:t>
            </a:r>
            <a:r>
              <a:rPr lang="en-GB" sz="1300" dirty="0" err="1"/>
              <a:t>aplicó</a:t>
            </a:r>
            <a:r>
              <a:rPr lang="en-GB" sz="1300" dirty="0"/>
              <a:t> </a:t>
            </a:r>
            <a:r>
              <a:rPr lang="en-GB" sz="1300" dirty="0" err="1"/>
              <a:t>el</a:t>
            </a:r>
            <a:r>
              <a:rPr lang="en-GB" sz="1300" dirty="0"/>
              <a:t> </a:t>
            </a:r>
            <a:r>
              <a:rPr lang="en-GB" sz="1300" dirty="0">
                <a:solidFill>
                  <a:srgbClr val="FF0000"/>
                </a:solidFill>
              </a:rPr>
              <a:t>FAMD</a:t>
            </a:r>
            <a:r>
              <a:rPr lang="en-GB" sz="1300" dirty="0"/>
              <a:t>, </a:t>
            </a:r>
            <a:r>
              <a:rPr lang="en-GB" sz="1300" dirty="0" err="1"/>
              <a:t>obteniendo</a:t>
            </a:r>
            <a:r>
              <a:rPr lang="en-GB" sz="1300" dirty="0"/>
              <a:t> </a:t>
            </a:r>
            <a:r>
              <a:rPr lang="en-GB" sz="1300" dirty="0" err="1"/>
              <a:t>una</a:t>
            </a:r>
            <a:r>
              <a:rPr lang="en-GB" sz="1300" dirty="0"/>
              <a:t> </a:t>
            </a:r>
            <a:r>
              <a:rPr lang="en-GB" sz="1300" dirty="0" err="1"/>
              <a:t>leve</a:t>
            </a:r>
            <a:r>
              <a:rPr lang="en-GB" sz="1300" dirty="0"/>
              <a:t> </a:t>
            </a:r>
            <a:r>
              <a:rPr lang="en-GB" sz="1300" dirty="0" err="1"/>
              <a:t>mejora</a:t>
            </a:r>
            <a:r>
              <a:rPr lang="en-GB" sz="1300" dirty="0"/>
              <a:t> general </a:t>
            </a:r>
            <a:r>
              <a:rPr lang="en-GB" sz="1300" dirty="0" err="1"/>
              <a:t>en</a:t>
            </a:r>
            <a:r>
              <a:rPr lang="en-GB" sz="1300" dirty="0"/>
              <a:t> las </a:t>
            </a:r>
            <a:r>
              <a:rPr lang="en-GB" sz="1300" dirty="0" err="1"/>
              <a:t>métricas</a:t>
            </a:r>
            <a:endParaRPr lang="en-GB" sz="1300" dirty="0"/>
          </a:p>
          <a:p>
            <a:pPr marL="285750" indent="-285750">
              <a:buFont typeface="Arial" panose="020B0604020202020204" pitchFamily="34" charset="0"/>
              <a:buChar char="•"/>
            </a:pPr>
            <a:r>
              <a:rPr lang="en-GB" sz="1300" dirty="0"/>
              <a:t>No se ha </a:t>
            </a:r>
            <a:r>
              <a:rPr lang="en-GB" sz="1300" dirty="0" err="1"/>
              <a:t>detectado</a:t>
            </a:r>
            <a:r>
              <a:rPr lang="en-GB" sz="1300" dirty="0"/>
              <a:t> </a:t>
            </a:r>
            <a:r>
              <a:rPr lang="en-GB" sz="1300" dirty="0" err="1"/>
              <a:t>sobreajuste</a:t>
            </a:r>
            <a:endParaRPr lang="en-GB" sz="1300" dirty="0"/>
          </a:p>
          <a:p>
            <a:pPr marL="285750" indent="-285750">
              <a:buFont typeface="Arial" panose="020B0604020202020204" pitchFamily="34" charset="0"/>
              <a:buChar char="•"/>
            </a:pPr>
            <a:r>
              <a:rPr lang="en-GB" sz="1300" dirty="0"/>
              <a:t>No hay </a:t>
            </a:r>
            <a:r>
              <a:rPr lang="en-GB" sz="1300" dirty="0" err="1"/>
              <a:t>diferencia</a:t>
            </a:r>
            <a:r>
              <a:rPr lang="en-GB" sz="1300" dirty="0"/>
              <a:t> entre </a:t>
            </a:r>
            <a:r>
              <a:rPr lang="en-GB" sz="1300" dirty="0" err="1"/>
              <a:t>métodos</a:t>
            </a:r>
            <a:r>
              <a:rPr lang="en-GB" sz="1300" dirty="0"/>
              <a:t> de </a:t>
            </a:r>
            <a:r>
              <a:rPr lang="en-GB" sz="1300" dirty="0" err="1"/>
              <a:t>balanceo</a:t>
            </a:r>
            <a:endParaRPr lang="en-GB" sz="1300" dirty="0"/>
          </a:p>
          <a:p>
            <a:r>
              <a:rPr lang="en-GB" sz="1300" b="1" dirty="0"/>
              <a:t>KNN (9NN)</a:t>
            </a:r>
          </a:p>
          <a:p>
            <a:pPr marL="285750" indent="-285750">
              <a:buFont typeface="Arial" panose="020B0604020202020204" pitchFamily="34" charset="0"/>
              <a:buChar char="•"/>
            </a:pPr>
            <a:r>
              <a:rPr lang="en-GB" sz="1300" dirty="0"/>
              <a:t>Entre </a:t>
            </a:r>
            <a:r>
              <a:rPr lang="en-GB" sz="1300" dirty="0" err="1"/>
              <a:t>los</a:t>
            </a:r>
            <a:r>
              <a:rPr lang="en-GB" sz="1300" dirty="0"/>
              <a:t> </a:t>
            </a:r>
            <a:r>
              <a:rPr lang="en-GB" sz="1300" dirty="0" err="1"/>
              <a:t>métodos</a:t>
            </a:r>
            <a:r>
              <a:rPr lang="en-GB" sz="1300" dirty="0"/>
              <a:t> de </a:t>
            </a:r>
            <a:r>
              <a:rPr lang="en-GB" sz="1300" dirty="0" err="1"/>
              <a:t>balanceo</a:t>
            </a:r>
            <a:r>
              <a:rPr lang="en-GB" sz="1300" dirty="0"/>
              <a:t>, </a:t>
            </a:r>
            <a:r>
              <a:rPr lang="en-GB" sz="1300" i="1" dirty="0">
                <a:solidFill>
                  <a:srgbClr val="7030A0"/>
                </a:solidFill>
              </a:rPr>
              <a:t>SMOTE</a:t>
            </a:r>
            <a:r>
              <a:rPr lang="en-GB" sz="1300" i="1" dirty="0"/>
              <a:t>, (</a:t>
            </a:r>
            <a:r>
              <a:rPr lang="en-GB" sz="1300" dirty="0" err="1"/>
              <a:t>ofreció</a:t>
            </a:r>
            <a:r>
              <a:rPr lang="en-GB" sz="1300" dirty="0"/>
              <a:t> </a:t>
            </a:r>
            <a:r>
              <a:rPr lang="en-GB" sz="1300" dirty="0" err="1"/>
              <a:t>los</a:t>
            </a:r>
            <a:r>
              <a:rPr lang="en-GB" sz="1300" dirty="0"/>
              <a:t> </a:t>
            </a:r>
            <a:r>
              <a:rPr lang="en-GB" sz="1300" dirty="0" err="1"/>
              <a:t>mejoros</a:t>
            </a:r>
            <a:r>
              <a:rPr lang="en-GB" sz="1300" dirty="0"/>
              <a:t> </a:t>
            </a:r>
            <a:r>
              <a:rPr lang="en-GB" sz="1300" dirty="0" err="1"/>
              <a:t>resultados</a:t>
            </a:r>
            <a:r>
              <a:rPr lang="en-GB" sz="1300" dirty="0"/>
              <a:t> via </a:t>
            </a:r>
            <a:r>
              <a:rPr lang="en-GB" sz="1300" dirty="0" err="1"/>
              <a:t>poca</a:t>
            </a:r>
            <a:r>
              <a:rPr lang="en-GB" sz="1300" dirty="0"/>
              <a:t> </a:t>
            </a:r>
            <a:r>
              <a:rPr lang="en-GB" sz="1300" dirty="0" err="1"/>
              <a:t>diferencia</a:t>
            </a:r>
            <a:r>
              <a:rPr lang="en-GB" sz="1300" dirty="0"/>
              <a:t>)</a:t>
            </a:r>
          </a:p>
          <a:p>
            <a:pPr marL="285750" indent="-285750">
              <a:buFont typeface="Arial" panose="020B0604020202020204" pitchFamily="34" charset="0"/>
              <a:buChar char="•"/>
            </a:pPr>
            <a:r>
              <a:rPr lang="en-GB" sz="1300" dirty="0" err="1"/>
              <a:t>Detección</a:t>
            </a:r>
            <a:r>
              <a:rPr lang="en-GB" sz="1300" dirty="0"/>
              <a:t> de </a:t>
            </a:r>
            <a:r>
              <a:rPr lang="en-GB" sz="1300" i="1" dirty="0">
                <a:solidFill>
                  <a:srgbClr val="7030A0"/>
                </a:solidFill>
              </a:rPr>
              <a:t>ligero </a:t>
            </a:r>
            <a:r>
              <a:rPr lang="en-GB" sz="1300" i="1" dirty="0" err="1">
                <a:solidFill>
                  <a:srgbClr val="7030A0"/>
                </a:solidFill>
              </a:rPr>
              <a:t>sobreajuste</a:t>
            </a:r>
            <a:endParaRPr lang="en-GB" sz="1300" i="1" dirty="0">
              <a:solidFill>
                <a:srgbClr val="7030A0"/>
              </a:solidFill>
            </a:endParaRPr>
          </a:p>
          <a:p>
            <a:endParaRPr lang="en-GB" i="1" dirty="0"/>
          </a:p>
          <a:p>
            <a:r>
              <a:rPr lang="en-GB" sz="1200" i="1" dirty="0"/>
              <a:t>En ambos temenos </a:t>
            </a:r>
            <a:r>
              <a:rPr lang="en-GB" sz="1200" i="1" dirty="0" err="1"/>
              <a:t>una</a:t>
            </a:r>
            <a:r>
              <a:rPr lang="en-GB" sz="1200" i="1" dirty="0"/>
              <a:t> </a:t>
            </a:r>
            <a:r>
              <a:rPr lang="en-GB" sz="1200" i="1" dirty="0" err="1"/>
              <a:t>alta</a:t>
            </a:r>
            <a:r>
              <a:rPr lang="en-GB" sz="1200" i="1" dirty="0"/>
              <a:t> </a:t>
            </a:r>
            <a:r>
              <a:rPr lang="en-GB" sz="1200" i="1" dirty="0" err="1"/>
              <a:t>especificidad</a:t>
            </a:r>
            <a:r>
              <a:rPr lang="en-GB" sz="1200" i="1" dirty="0"/>
              <a:t>, </a:t>
            </a:r>
            <a:r>
              <a:rPr lang="en-GB" sz="1200" i="1" dirty="0" err="1"/>
              <a:t>por</a:t>
            </a:r>
            <a:r>
              <a:rPr lang="en-GB" sz="1200" i="1" dirty="0"/>
              <a:t> lo tanto, </a:t>
            </a:r>
            <a:r>
              <a:rPr lang="en-GB" sz="1200" i="1" dirty="0" err="1"/>
              <a:t>correcto</a:t>
            </a:r>
            <a:r>
              <a:rPr lang="en-GB" sz="1200" i="1" dirty="0"/>
              <a:t> para detector </a:t>
            </a:r>
            <a:r>
              <a:rPr lang="en-GB" sz="1200" i="1" dirty="0" err="1"/>
              <a:t>los</a:t>
            </a:r>
            <a:r>
              <a:rPr lang="en-GB" sz="1200" i="1" dirty="0"/>
              <a:t> </a:t>
            </a:r>
            <a:r>
              <a:rPr lang="en-GB" sz="1200" i="1" dirty="0" err="1"/>
              <a:t>casos</a:t>
            </a:r>
            <a:r>
              <a:rPr lang="en-GB" sz="1200" i="1" dirty="0"/>
              <a:t> </a:t>
            </a:r>
            <a:r>
              <a:rPr lang="en-GB" sz="1200" i="1" dirty="0" err="1"/>
              <a:t>negativos</a:t>
            </a:r>
            <a:r>
              <a:rPr lang="en-GB" sz="1200" i="1" dirty="0"/>
              <a:t> </a:t>
            </a:r>
            <a:r>
              <a:rPr lang="en-GB" sz="1200" i="1" dirty="0" err="1"/>
              <a:t>pero</a:t>
            </a:r>
            <a:r>
              <a:rPr lang="en-GB" sz="1200" i="1" dirty="0"/>
              <a:t> </a:t>
            </a:r>
            <a:r>
              <a:rPr lang="en-GB" sz="1200" i="1" dirty="0" err="1"/>
              <a:t>en</a:t>
            </a:r>
            <a:r>
              <a:rPr lang="en-GB" sz="1200" i="1" dirty="0"/>
              <a:t> </a:t>
            </a:r>
            <a:r>
              <a:rPr lang="en-GB" sz="1200" i="1" dirty="0" err="1"/>
              <a:t>nuestro</a:t>
            </a:r>
            <a:r>
              <a:rPr lang="en-GB" sz="1200" i="1" dirty="0"/>
              <a:t> </a:t>
            </a:r>
            <a:r>
              <a:rPr lang="en-GB" sz="1200" i="1" dirty="0" err="1"/>
              <a:t>estudio</a:t>
            </a:r>
            <a:r>
              <a:rPr lang="en-GB" sz="1200" i="1" dirty="0"/>
              <a:t> </a:t>
            </a:r>
            <a:r>
              <a:rPr lang="en-GB" sz="1200" i="1" dirty="0" err="1"/>
              <a:t>nos</a:t>
            </a:r>
            <a:r>
              <a:rPr lang="en-GB" sz="1200" i="1" dirty="0"/>
              <a:t> </a:t>
            </a:r>
            <a:r>
              <a:rPr lang="en-GB" sz="1200" i="1" dirty="0" err="1"/>
              <a:t>interesa</a:t>
            </a:r>
            <a:r>
              <a:rPr lang="en-GB" sz="1200" i="1" dirty="0"/>
              <a:t> la </a:t>
            </a:r>
            <a:r>
              <a:rPr lang="en-GB" sz="1200" i="1" dirty="0" err="1"/>
              <a:t>clase</a:t>
            </a:r>
            <a:r>
              <a:rPr lang="en-GB" sz="1200" i="1" dirty="0"/>
              <a:t> positive, </a:t>
            </a:r>
            <a:r>
              <a:rPr lang="en-GB" sz="1200" i="1" dirty="0" err="1"/>
              <a:t>indicando</a:t>
            </a:r>
            <a:r>
              <a:rPr lang="en-GB" sz="1200" i="1" dirty="0"/>
              <a:t> </a:t>
            </a:r>
            <a:r>
              <a:rPr lang="en-GB" sz="1200" i="1" dirty="0" err="1"/>
              <a:t>que</a:t>
            </a:r>
            <a:r>
              <a:rPr lang="en-GB" sz="1200" i="1" dirty="0"/>
              <a:t> para </a:t>
            </a:r>
            <a:r>
              <a:rPr lang="en-GB" sz="1200" i="1" dirty="0" err="1"/>
              <a:t>nuestro</a:t>
            </a:r>
            <a:r>
              <a:rPr lang="en-GB" sz="1200" i="1" dirty="0"/>
              <a:t> </a:t>
            </a:r>
            <a:r>
              <a:rPr lang="en-GB" sz="1200" i="1" dirty="0" err="1"/>
              <a:t>trabajo</a:t>
            </a:r>
            <a:r>
              <a:rPr lang="en-GB" sz="1200" i="1" dirty="0"/>
              <a:t> no es tan </a:t>
            </a:r>
            <a:r>
              <a:rPr lang="en-GB" sz="1200" i="1" dirty="0" err="1"/>
              <a:t>útil</a:t>
            </a:r>
            <a:r>
              <a:rPr lang="en-GB" sz="1200" i="1" dirty="0"/>
              <a:t>. </a:t>
            </a:r>
          </a:p>
          <a:p>
            <a:r>
              <a:rPr lang="en-GB" sz="1200" i="1" dirty="0"/>
              <a:t>Al ser </a:t>
            </a:r>
            <a:r>
              <a:rPr lang="en-GB" sz="1200" i="1" dirty="0" err="1"/>
              <a:t>datos</a:t>
            </a:r>
            <a:r>
              <a:rPr lang="en-GB" sz="1200" i="1" dirty="0"/>
              <a:t> </a:t>
            </a:r>
            <a:r>
              <a:rPr lang="en-GB" sz="1200" i="1" dirty="0" err="1"/>
              <a:t>desbalancedos</a:t>
            </a:r>
            <a:r>
              <a:rPr lang="en-GB" sz="1200" i="1" dirty="0"/>
              <a:t>. El accuracy no da </a:t>
            </a:r>
            <a:r>
              <a:rPr lang="en-GB" sz="1200" i="1" dirty="0" err="1"/>
              <a:t>una</a:t>
            </a:r>
            <a:r>
              <a:rPr lang="en-GB" sz="1200" i="1" dirty="0"/>
              <a:t> </a:t>
            </a:r>
            <a:r>
              <a:rPr lang="en-GB" sz="1200" i="1" dirty="0" err="1"/>
              <a:t>métrica</a:t>
            </a:r>
            <a:r>
              <a:rPr lang="en-GB" sz="1200" i="1" dirty="0"/>
              <a:t> </a:t>
            </a:r>
            <a:r>
              <a:rPr lang="en-GB" sz="1200" i="1" dirty="0" err="1"/>
              <a:t>correcta</a:t>
            </a:r>
            <a:r>
              <a:rPr lang="en-GB" sz="1200" i="1" dirty="0"/>
              <a:t> o </a:t>
            </a:r>
            <a:r>
              <a:rPr lang="en-GB" sz="1200" i="1" dirty="0" err="1"/>
              <a:t>creïble</a:t>
            </a:r>
            <a:r>
              <a:rPr lang="en-GB" sz="1200" i="1" dirty="0"/>
              <a:t>. </a:t>
            </a:r>
          </a:p>
          <a:p>
            <a:pPr lvl="5"/>
            <a:r>
              <a:rPr lang="es-ES" sz="1200" i="1" dirty="0"/>
              <a:t>(Ver todas las modelizaciones realizadas en “Registros </a:t>
            </a:r>
            <a:r>
              <a:rPr lang="es-ES" sz="1200" i="1" dirty="0" err="1"/>
              <a:t>modelos.xlsx</a:t>
            </a:r>
            <a:r>
              <a:rPr lang="es-ES" sz="1200" i="1" dirty="0"/>
              <a:t>” evaluados en </a:t>
            </a:r>
            <a:r>
              <a:rPr lang="es-ES" sz="1200" i="1" dirty="0">
                <a:hlinkClick r:id="rId3"/>
              </a:rPr>
              <a:t>Github</a:t>
            </a:r>
            <a:r>
              <a:rPr lang="es-ES" sz="1200" i="1" dirty="0"/>
              <a:t>)</a:t>
            </a:r>
            <a:endParaRPr lang="ca-ES" sz="1200" i="1" dirty="0"/>
          </a:p>
        </p:txBody>
      </p:sp>
      <p:sp>
        <p:nvSpPr>
          <p:cNvPr id="10" name="Flecha: hacia la izquierda 9"/>
          <p:cNvSpPr/>
          <p:nvPr/>
        </p:nvSpPr>
        <p:spPr>
          <a:xfrm>
            <a:off x="7050491" y="1944838"/>
            <a:ext cx="1840101" cy="673582"/>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sz="1200" dirty="0" err="1">
                <a:solidFill>
                  <a:srgbClr val="FF0000"/>
                </a:solidFill>
              </a:rPr>
              <a:t>Insufficient</a:t>
            </a:r>
            <a:r>
              <a:rPr lang="ca-ES" sz="1200" dirty="0">
                <a:solidFill>
                  <a:srgbClr val="FF0000"/>
                </a:solidFill>
              </a:rPr>
              <a:t> </a:t>
            </a:r>
            <a:r>
              <a:rPr lang="ca-ES" sz="1200" dirty="0" err="1">
                <a:solidFill>
                  <a:srgbClr val="FF0000"/>
                </a:solidFill>
              </a:rPr>
              <a:t>results</a:t>
            </a:r>
            <a:r>
              <a:rPr lang="ca-ES" sz="1200" dirty="0">
                <a:solidFill>
                  <a:srgbClr val="FF0000"/>
                </a:solidFill>
              </a:rPr>
              <a:t> F1&lt;0,5</a:t>
            </a:r>
          </a:p>
        </p:txBody>
      </p:sp>
      <p:graphicFrame>
        <p:nvGraphicFramePr>
          <p:cNvPr id="15" name="Diagram 14">
            <a:extLst>
              <a:ext uri="{FF2B5EF4-FFF2-40B4-BE49-F238E27FC236}">
                <a16:creationId xmlns:a16="http://schemas.microsoft.com/office/drawing/2014/main" id="{3C87FC02-D443-B500-1F46-D6A556E0E738}"/>
              </a:ext>
            </a:extLst>
          </p:cNvPr>
          <p:cNvGraphicFramePr/>
          <p:nvPr>
            <p:extLst>
              <p:ext uri="{D42A27DB-BD31-4B8C-83A1-F6EECF244321}">
                <p14:modId xmlns:p14="http://schemas.microsoft.com/office/powerpoint/2010/main" val="3846858244"/>
              </p:ext>
            </p:extLst>
          </p:nvPr>
        </p:nvGraphicFramePr>
        <p:xfrm>
          <a:off x="782760" y="1353106"/>
          <a:ext cx="1617045" cy="572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6" name="Diagram 15">
            <a:extLst>
              <a:ext uri="{FF2B5EF4-FFF2-40B4-BE49-F238E27FC236}">
                <a16:creationId xmlns:a16="http://schemas.microsoft.com/office/drawing/2014/main" id="{FAAF9AA9-2E60-FD7F-66A3-2CAAAD442921}"/>
              </a:ext>
            </a:extLst>
          </p:cNvPr>
          <p:cNvGraphicFramePr/>
          <p:nvPr>
            <p:extLst>
              <p:ext uri="{D42A27DB-BD31-4B8C-83A1-F6EECF244321}">
                <p14:modId xmlns:p14="http://schemas.microsoft.com/office/powerpoint/2010/main" val="1607142216"/>
              </p:ext>
            </p:extLst>
          </p:nvPr>
        </p:nvGraphicFramePr>
        <p:xfrm>
          <a:off x="-51798" y="2004664"/>
          <a:ext cx="2451603" cy="5308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 name="Left Arrow 1">
            <a:extLst>
              <a:ext uri="{FF2B5EF4-FFF2-40B4-BE49-F238E27FC236}">
                <a16:creationId xmlns:a16="http://schemas.microsoft.com/office/drawing/2014/main" id="{55941FCE-A230-D01C-1E66-60A61B21C5A3}"/>
              </a:ext>
            </a:extLst>
          </p:cNvPr>
          <p:cNvSpPr/>
          <p:nvPr/>
        </p:nvSpPr>
        <p:spPr>
          <a:xfrm>
            <a:off x="7012237" y="1156497"/>
            <a:ext cx="1916610" cy="45382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Cross Validation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C1E94954-8BE6-885F-9D60-C44242E00E6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C5D79E9-BDAD-F1DC-A98F-4B21D1728099}"/>
              </a:ext>
            </a:extLst>
          </p:cNvPr>
          <p:cNvSpPr txBox="1">
            <a:spLocks noGrp="1"/>
          </p:cNvSpPr>
          <p:nvPr>
            <p:ph type="title"/>
          </p:nvPr>
        </p:nvSpPr>
        <p:spPr>
          <a:xfrm>
            <a:off x="642998" y="421824"/>
            <a:ext cx="7704000" cy="572700"/>
          </a:xfrm>
          <a:prstGeom prst="rect">
            <a:avLst/>
          </a:prstGeom>
        </p:spPr>
        <p:txBody>
          <a:bodyPr spcFirstLastPara="1" wrap="square" lIns="91425" tIns="91425" rIns="91425" bIns="91425" anchor="t" anchorCtr="0">
            <a:noAutofit/>
          </a:bodyPr>
          <a:lstStyle/>
          <a:p>
            <a:pPr lvl="0"/>
            <a:r>
              <a:rPr lang="es-ES" dirty="0"/>
              <a:t>CONCLUSIONES &amp; PRÓXIMOS PASOS</a:t>
            </a:r>
            <a:endParaRPr dirty="0"/>
          </a:p>
        </p:txBody>
      </p:sp>
      <p:pic>
        <p:nvPicPr>
          <p:cNvPr id="2" name="Picture 1">
            <a:extLst>
              <a:ext uri="{FF2B5EF4-FFF2-40B4-BE49-F238E27FC236}">
                <a16:creationId xmlns:a16="http://schemas.microsoft.com/office/drawing/2014/main" id="{633856C8-457E-85C9-545D-9133F826B174}"/>
              </a:ext>
            </a:extLst>
          </p:cNvPr>
          <p:cNvPicPr>
            <a:picLocks noChangeAspect="1"/>
          </p:cNvPicPr>
          <p:nvPr/>
        </p:nvPicPr>
        <p:blipFill>
          <a:blip r:embed="rId3"/>
          <a:stretch>
            <a:fillRect/>
          </a:stretch>
        </p:blipFill>
        <p:spPr>
          <a:xfrm>
            <a:off x="1625700" y="1115036"/>
            <a:ext cx="5562600" cy="2356013"/>
          </a:xfrm>
          <a:prstGeom prst="rect">
            <a:avLst/>
          </a:prstGeom>
        </p:spPr>
      </p:pic>
      <p:sp>
        <p:nvSpPr>
          <p:cNvPr id="3" name="TextBox 2">
            <a:extLst>
              <a:ext uri="{FF2B5EF4-FFF2-40B4-BE49-F238E27FC236}">
                <a16:creationId xmlns:a16="http://schemas.microsoft.com/office/drawing/2014/main" id="{CBB543AC-28C6-CB87-2130-192D13526D85}"/>
              </a:ext>
            </a:extLst>
          </p:cNvPr>
          <p:cNvSpPr txBox="1"/>
          <p:nvPr/>
        </p:nvSpPr>
        <p:spPr>
          <a:xfrm>
            <a:off x="2687220" y="1150060"/>
            <a:ext cx="564578" cy="307777"/>
          </a:xfrm>
          <a:prstGeom prst="rect">
            <a:avLst/>
          </a:prstGeom>
          <a:noFill/>
        </p:spPr>
        <p:txBody>
          <a:bodyPr wrap="none" rtlCol="0">
            <a:spAutoFit/>
          </a:bodyPr>
          <a:lstStyle/>
          <a:p>
            <a:r>
              <a:rPr lang="en-ES" dirty="0"/>
              <a:t>KNN</a:t>
            </a:r>
          </a:p>
        </p:txBody>
      </p:sp>
      <p:sp>
        <p:nvSpPr>
          <p:cNvPr id="5" name="TextBox 4">
            <a:extLst>
              <a:ext uri="{FF2B5EF4-FFF2-40B4-BE49-F238E27FC236}">
                <a16:creationId xmlns:a16="http://schemas.microsoft.com/office/drawing/2014/main" id="{1B72F570-8C4E-D03D-19B6-735E5B05BD2C}"/>
              </a:ext>
            </a:extLst>
          </p:cNvPr>
          <p:cNvSpPr txBox="1"/>
          <p:nvPr/>
        </p:nvSpPr>
        <p:spPr>
          <a:xfrm>
            <a:off x="5291719" y="1111741"/>
            <a:ext cx="1200970" cy="307777"/>
          </a:xfrm>
          <a:prstGeom prst="rect">
            <a:avLst/>
          </a:prstGeom>
          <a:noFill/>
        </p:spPr>
        <p:txBody>
          <a:bodyPr wrap="none" rtlCol="0">
            <a:spAutoFit/>
          </a:bodyPr>
          <a:lstStyle/>
          <a:p>
            <a:r>
              <a:rPr lang="en-ES" dirty="0"/>
              <a:t>Na</a:t>
            </a:r>
            <a:r>
              <a:rPr lang="en-GB" dirty="0" err="1"/>
              <a:t>ï</a:t>
            </a:r>
            <a:r>
              <a:rPr lang="en-ES" dirty="0"/>
              <a:t>ve Bayes</a:t>
            </a:r>
          </a:p>
        </p:txBody>
      </p:sp>
      <p:sp>
        <p:nvSpPr>
          <p:cNvPr id="7" name="TextBox 6">
            <a:extLst>
              <a:ext uri="{FF2B5EF4-FFF2-40B4-BE49-F238E27FC236}">
                <a16:creationId xmlns:a16="http://schemas.microsoft.com/office/drawing/2014/main" id="{DD0C6F00-4574-F599-71F8-148D1AC02A0D}"/>
              </a:ext>
            </a:extLst>
          </p:cNvPr>
          <p:cNvSpPr txBox="1"/>
          <p:nvPr/>
        </p:nvSpPr>
        <p:spPr>
          <a:xfrm>
            <a:off x="2410265" y="3474344"/>
            <a:ext cx="3538148" cy="307777"/>
          </a:xfrm>
          <a:prstGeom prst="rect">
            <a:avLst/>
          </a:prstGeom>
          <a:noFill/>
        </p:spPr>
        <p:txBody>
          <a:bodyPr wrap="none" rtlCol="0">
            <a:spAutoFit/>
          </a:bodyPr>
          <a:lstStyle/>
          <a:p>
            <a:r>
              <a:rPr lang="en-ES" dirty="0">
                <a:solidFill>
                  <a:srgbClr val="00B050"/>
                </a:solidFill>
              </a:rPr>
              <a:t>¡NECESITAMOS UN NUEVO ENFOQUE!</a:t>
            </a:r>
          </a:p>
        </p:txBody>
      </p:sp>
      <p:sp>
        <p:nvSpPr>
          <p:cNvPr id="4" name="TextBox 3">
            <a:extLst>
              <a:ext uri="{FF2B5EF4-FFF2-40B4-BE49-F238E27FC236}">
                <a16:creationId xmlns:a16="http://schemas.microsoft.com/office/drawing/2014/main" id="{CE81DE5E-6259-79DC-5572-F796569C1956}"/>
              </a:ext>
            </a:extLst>
          </p:cNvPr>
          <p:cNvSpPr txBox="1"/>
          <p:nvPr/>
        </p:nvSpPr>
        <p:spPr>
          <a:xfrm>
            <a:off x="80300" y="3782121"/>
            <a:ext cx="9063700" cy="1154162"/>
          </a:xfrm>
          <a:prstGeom prst="rect">
            <a:avLst/>
          </a:prstGeom>
          <a:noFill/>
        </p:spPr>
        <p:txBody>
          <a:bodyPr wrap="none" rtlCol="0">
            <a:spAutoFit/>
          </a:bodyPr>
          <a:lstStyle/>
          <a:p>
            <a:pPr marL="171450" indent="-171450">
              <a:buFont typeface="Arial" panose="020B0604020202020204" pitchFamily="34" charset="0"/>
              <a:buChar char="•"/>
            </a:pPr>
            <a:r>
              <a:rPr lang="en-GB" sz="1100" dirty="0"/>
              <a:t>Los </a:t>
            </a:r>
            <a:r>
              <a:rPr lang="en-GB" sz="1100" dirty="0" err="1"/>
              <a:t>modelos</a:t>
            </a:r>
            <a:r>
              <a:rPr lang="en-GB" sz="1100" dirty="0"/>
              <a:t> </a:t>
            </a:r>
            <a:r>
              <a:rPr lang="en-GB" sz="1100" dirty="0" err="1"/>
              <a:t>iniciales</a:t>
            </a:r>
            <a:r>
              <a:rPr lang="en-GB" sz="1100" dirty="0"/>
              <a:t> (</a:t>
            </a:r>
            <a:r>
              <a:rPr lang="en-GB" sz="1100" b="1" dirty="0"/>
              <a:t>KNN</a:t>
            </a:r>
            <a:r>
              <a:rPr lang="en-GB" sz="1100" dirty="0"/>
              <a:t> y </a:t>
            </a:r>
            <a:r>
              <a:rPr lang="en-GB" sz="1100" b="1" dirty="0"/>
              <a:t>Naive Bayes</a:t>
            </a:r>
            <a:r>
              <a:rPr lang="en-GB" sz="1100" dirty="0"/>
              <a:t>) </a:t>
            </a:r>
            <a:r>
              <a:rPr lang="en-GB" sz="1100" dirty="0" err="1"/>
              <a:t>mostraron</a:t>
            </a:r>
            <a:r>
              <a:rPr lang="en-GB" sz="1100" dirty="0"/>
              <a:t> </a:t>
            </a:r>
            <a:r>
              <a:rPr lang="en-GB" sz="1100" b="1" dirty="0"/>
              <a:t>bajo </a:t>
            </a:r>
            <a:r>
              <a:rPr lang="en-GB" sz="1100" b="1" dirty="0" err="1"/>
              <a:t>desempeño</a:t>
            </a:r>
            <a:r>
              <a:rPr lang="en-GB" sz="1100" b="1" dirty="0"/>
              <a:t> </a:t>
            </a:r>
            <a:r>
              <a:rPr lang="en-GB" sz="1100" b="1" dirty="0" err="1"/>
              <a:t>predictivo</a:t>
            </a:r>
            <a:r>
              <a:rPr lang="en-GB" sz="1100" dirty="0"/>
              <a:t> </a:t>
            </a:r>
            <a:r>
              <a:rPr lang="en-GB" sz="1100" dirty="0" err="1"/>
              <a:t>en</a:t>
            </a:r>
            <a:r>
              <a:rPr lang="en-GB" sz="1100" dirty="0"/>
              <a:t> la </a:t>
            </a:r>
            <a:r>
              <a:rPr lang="en-GB" sz="1100" dirty="0" err="1"/>
              <a:t>detección</a:t>
            </a:r>
            <a:r>
              <a:rPr lang="en-GB" sz="1100" dirty="0"/>
              <a:t> de </a:t>
            </a:r>
            <a:r>
              <a:rPr lang="en-GB" sz="1100" dirty="0" err="1"/>
              <a:t>clientes</a:t>
            </a:r>
            <a:r>
              <a:rPr lang="en-GB" sz="1100" dirty="0"/>
              <a:t> con </a:t>
            </a:r>
            <a:r>
              <a:rPr lang="en-GB" sz="1100" dirty="0" err="1"/>
              <a:t>riesgo</a:t>
            </a:r>
            <a:r>
              <a:rPr lang="en-GB" sz="1100" dirty="0"/>
              <a:t> de </a:t>
            </a:r>
            <a:r>
              <a:rPr lang="en-GB" sz="1100" i="1" dirty="0"/>
              <a:t>churn</a:t>
            </a:r>
            <a:r>
              <a:rPr lang="en-GB" sz="1100" dirty="0"/>
              <a:t>.</a:t>
            </a:r>
          </a:p>
          <a:p>
            <a:pPr marL="171450" indent="-171450">
              <a:buFont typeface="Arial" panose="020B0604020202020204" pitchFamily="34" charset="0"/>
              <a:buChar char="•"/>
            </a:pPr>
            <a:r>
              <a:rPr lang="en-GB" sz="1100" dirty="0"/>
              <a:t>Se </a:t>
            </a:r>
            <a:r>
              <a:rPr lang="en-GB" sz="1100" dirty="0" err="1"/>
              <a:t>concluye</a:t>
            </a:r>
            <a:r>
              <a:rPr lang="en-GB" sz="1100" dirty="0"/>
              <a:t> que </a:t>
            </a:r>
            <a:r>
              <a:rPr lang="en-GB" sz="1100" b="1" dirty="0" err="1"/>
              <a:t>estas</a:t>
            </a:r>
            <a:r>
              <a:rPr lang="en-GB" sz="1100" b="1" dirty="0"/>
              <a:t> </a:t>
            </a:r>
            <a:r>
              <a:rPr lang="en-GB" sz="1100" b="1" dirty="0" err="1"/>
              <a:t>técnicas</a:t>
            </a:r>
            <a:r>
              <a:rPr lang="en-GB" sz="1100" b="1" dirty="0"/>
              <a:t> no son las </a:t>
            </a:r>
            <a:r>
              <a:rPr lang="en-GB" sz="1100" b="1" dirty="0" err="1"/>
              <a:t>más</a:t>
            </a:r>
            <a:r>
              <a:rPr lang="en-GB" sz="1100" b="1" dirty="0"/>
              <a:t> </a:t>
            </a:r>
            <a:r>
              <a:rPr lang="en-GB" sz="1100" b="1" dirty="0" err="1"/>
              <a:t>adecuadas</a:t>
            </a:r>
            <a:r>
              <a:rPr lang="en-GB" sz="1100" dirty="0"/>
              <a:t> para </a:t>
            </a:r>
            <a:r>
              <a:rPr lang="en-GB" sz="1100" dirty="0" err="1"/>
              <a:t>capturar</a:t>
            </a:r>
            <a:r>
              <a:rPr lang="en-GB" sz="1100" dirty="0"/>
              <a:t> </a:t>
            </a:r>
            <a:r>
              <a:rPr lang="en-GB" sz="1100" dirty="0" err="1"/>
              <a:t>los</a:t>
            </a:r>
            <a:r>
              <a:rPr lang="en-GB" sz="1100" dirty="0"/>
              <a:t> </a:t>
            </a:r>
            <a:r>
              <a:rPr lang="en-GB" sz="1100" dirty="0" err="1"/>
              <a:t>patrones</a:t>
            </a:r>
            <a:r>
              <a:rPr lang="en-GB" sz="1100" dirty="0"/>
              <a:t> de </a:t>
            </a:r>
            <a:r>
              <a:rPr lang="en-GB" sz="1100" dirty="0" err="1"/>
              <a:t>abandono</a:t>
            </a:r>
            <a:r>
              <a:rPr lang="en-GB" sz="1100" dirty="0"/>
              <a:t> </a:t>
            </a:r>
            <a:r>
              <a:rPr lang="en-GB" sz="1100" dirty="0" err="1"/>
              <a:t>en</a:t>
            </a:r>
            <a:r>
              <a:rPr lang="en-GB" sz="1100" dirty="0"/>
              <a:t> </a:t>
            </a:r>
            <a:r>
              <a:rPr lang="en-GB" sz="1100" dirty="0" err="1"/>
              <a:t>los</a:t>
            </a:r>
            <a:r>
              <a:rPr lang="en-GB" sz="1100" dirty="0"/>
              <a:t> </a:t>
            </a:r>
            <a:r>
              <a:rPr lang="en-GB" sz="1100" dirty="0" err="1"/>
              <a:t>datos</a:t>
            </a:r>
            <a:r>
              <a:rPr lang="en-GB" sz="1100" dirty="0"/>
              <a:t>.</a:t>
            </a:r>
          </a:p>
          <a:p>
            <a:pPr marL="171450" indent="-171450">
              <a:buFont typeface="Arial" panose="020B0604020202020204" pitchFamily="34" charset="0"/>
              <a:buChar char="•"/>
            </a:pPr>
            <a:r>
              <a:rPr lang="en-GB" sz="1100" dirty="0"/>
              <a:t>Como </a:t>
            </a:r>
            <a:r>
              <a:rPr lang="en-GB" sz="1100" dirty="0" err="1"/>
              <a:t>siguiente</a:t>
            </a:r>
            <a:r>
              <a:rPr lang="en-GB" sz="1100" dirty="0"/>
              <a:t> paso, se </a:t>
            </a:r>
            <a:r>
              <a:rPr lang="en-GB" sz="1100" dirty="0" err="1"/>
              <a:t>propone</a:t>
            </a:r>
            <a:r>
              <a:rPr lang="en-GB" sz="1100" dirty="0"/>
              <a:t> </a:t>
            </a:r>
            <a:r>
              <a:rPr lang="en-GB" sz="1100" dirty="0" err="1"/>
              <a:t>implementar</a:t>
            </a:r>
            <a:r>
              <a:rPr lang="en-GB" sz="1100" dirty="0"/>
              <a:t> un </a:t>
            </a:r>
            <a:r>
              <a:rPr lang="en-GB" sz="1100" b="1" dirty="0"/>
              <a:t>árbol de </a:t>
            </a:r>
            <a:r>
              <a:rPr lang="en-GB" sz="1100" b="1" dirty="0" err="1"/>
              <a:t>decisión</a:t>
            </a:r>
            <a:r>
              <a:rPr lang="en-GB" sz="1100" dirty="0"/>
              <a:t> y </a:t>
            </a:r>
            <a:r>
              <a:rPr lang="en-GB" sz="1100" dirty="0" err="1"/>
              <a:t>evaluar</a:t>
            </a:r>
            <a:r>
              <a:rPr lang="en-GB" sz="1100" dirty="0"/>
              <a:t> </a:t>
            </a:r>
            <a:r>
              <a:rPr lang="en-GB" sz="1100" b="1" dirty="0" err="1"/>
              <a:t>otros</a:t>
            </a:r>
            <a:r>
              <a:rPr lang="en-GB" sz="1100" b="1" dirty="0"/>
              <a:t> </a:t>
            </a:r>
            <a:r>
              <a:rPr lang="en-GB" sz="1100" b="1" dirty="0" err="1"/>
              <a:t>algoritmos</a:t>
            </a:r>
            <a:r>
              <a:rPr lang="en-GB" sz="1100" b="1" dirty="0"/>
              <a:t> alternativos</a:t>
            </a:r>
            <a:r>
              <a:rPr lang="en-GB" sz="1100" dirty="0"/>
              <a:t> para </a:t>
            </a:r>
            <a:r>
              <a:rPr lang="en-GB" sz="1100" dirty="0" err="1"/>
              <a:t>optimizar</a:t>
            </a:r>
            <a:r>
              <a:rPr lang="en-GB" sz="1100" dirty="0"/>
              <a:t> la </a:t>
            </a:r>
            <a:r>
              <a:rPr lang="en-GB" sz="1100" dirty="0" err="1"/>
              <a:t>predicción</a:t>
            </a:r>
            <a:r>
              <a:rPr lang="en-GB" sz="1100" dirty="0"/>
              <a:t>.</a:t>
            </a:r>
          </a:p>
          <a:p>
            <a:pPr marL="171450" indent="-171450">
              <a:buFont typeface="Arial" panose="020B0604020202020204" pitchFamily="34" charset="0"/>
              <a:buChar char="•"/>
            </a:pPr>
            <a:r>
              <a:rPr lang="en-GB" sz="1100" b="1" dirty="0" err="1"/>
              <a:t>Mensaje</a:t>
            </a:r>
            <a:r>
              <a:rPr lang="en-GB" sz="1100" b="1" dirty="0"/>
              <a:t> para </a:t>
            </a:r>
            <a:r>
              <a:rPr lang="en-GB" sz="1100" b="1" dirty="0" err="1"/>
              <a:t>los</a:t>
            </a:r>
            <a:r>
              <a:rPr lang="en-GB" sz="1100" b="1" dirty="0"/>
              <a:t> stakeholders:</a:t>
            </a:r>
            <a:r>
              <a:rPr lang="en-GB" sz="1100" dirty="0"/>
              <a:t> </a:t>
            </a:r>
            <a:r>
              <a:rPr lang="en-GB" sz="1100" dirty="0" err="1"/>
              <a:t>mejorar</a:t>
            </a:r>
            <a:r>
              <a:rPr lang="en-GB" sz="1100" dirty="0"/>
              <a:t> la </a:t>
            </a:r>
            <a:r>
              <a:rPr lang="en-GB" sz="1100" dirty="0" err="1"/>
              <a:t>capacidad</a:t>
            </a:r>
            <a:r>
              <a:rPr lang="en-GB" sz="1100" dirty="0"/>
              <a:t> </a:t>
            </a:r>
            <a:r>
              <a:rPr lang="en-GB" sz="1100" dirty="0" err="1"/>
              <a:t>predictiva</a:t>
            </a:r>
            <a:r>
              <a:rPr lang="en-GB" sz="1100" dirty="0"/>
              <a:t> </a:t>
            </a:r>
            <a:r>
              <a:rPr lang="en-GB" sz="1100" dirty="0" err="1"/>
              <a:t>permitirá</a:t>
            </a:r>
            <a:r>
              <a:rPr lang="en-GB" sz="1100" dirty="0"/>
              <a:t> </a:t>
            </a:r>
            <a:r>
              <a:rPr lang="en-GB" sz="1100" b="1" dirty="0" err="1"/>
              <a:t>anticipar</a:t>
            </a:r>
            <a:r>
              <a:rPr lang="en-GB" sz="1100" b="1" dirty="0"/>
              <a:t> </a:t>
            </a:r>
            <a:r>
              <a:rPr lang="en-GB" sz="1100" b="1" dirty="0" err="1"/>
              <a:t>el</a:t>
            </a:r>
            <a:r>
              <a:rPr lang="en-GB" sz="1100" b="1" dirty="0"/>
              <a:t> </a:t>
            </a:r>
            <a:r>
              <a:rPr lang="en-GB" sz="1100" b="1" dirty="0" err="1"/>
              <a:t>abandono</a:t>
            </a:r>
            <a:r>
              <a:rPr lang="en-GB" sz="1100" b="1" dirty="0"/>
              <a:t> de </a:t>
            </a:r>
            <a:r>
              <a:rPr lang="en-GB" sz="1100" b="1" dirty="0" err="1"/>
              <a:t>clientes</a:t>
            </a:r>
            <a:r>
              <a:rPr lang="en-GB" sz="1100" dirty="0"/>
              <a:t> y </a:t>
            </a:r>
            <a:r>
              <a:rPr lang="en-GB" sz="1100" b="1" dirty="0" err="1"/>
              <a:t>diseñar</a:t>
            </a:r>
            <a:endParaRPr lang="en-GB" sz="1100" b="1" dirty="0"/>
          </a:p>
          <a:p>
            <a:r>
              <a:rPr lang="en-GB" sz="1100" b="1" dirty="0"/>
              <a:t>     </a:t>
            </a:r>
            <a:r>
              <a:rPr lang="en-GB" sz="1100" b="1" dirty="0" err="1"/>
              <a:t>estrategias</a:t>
            </a:r>
            <a:r>
              <a:rPr lang="en-GB" sz="1100" b="1" dirty="0"/>
              <a:t> </a:t>
            </a:r>
            <a:r>
              <a:rPr lang="en-GB" sz="1100" b="1" dirty="0" err="1"/>
              <a:t>proactivas</a:t>
            </a:r>
            <a:r>
              <a:rPr lang="en-GB" sz="1100" b="1" dirty="0"/>
              <a:t> de </a:t>
            </a:r>
            <a:r>
              <a:rPr lang="en-GB" sz="1100" b="1" dirty="0" err="1"/>
              <a:t>retención</a:t>
            </a:r>
            <a:r>
              <a:rPr lang="en-GB" sz="1100" dirty="0"/>
              <a:t>.</a:t>
            </a:r>
          </a:p>
          <a:p>
            <a:endParaRPr lang="en-ES" dirty="0"/>
          </a:p>
        </p:txBody>
      </p:sp>
    </p:spTree>
    <p:extLst>
      <p:ext uri="{BB962C8B-B14F-4D97-AF65-F5344CB8AC3E}">
        <p14:creationId xmlns:p14="http://schemas.microsoft.com/office/powerpoint/2010/main" val="804811583"/>
      </p:ext>
    </p:extLst>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Parcel</Template>
  <TotalTime>932</TotalTime>
  <Words>1700</Words>
  <Application>Microsoft Macintosh PowerPoint</Application>
  <PresentationFormat>On-screen Show (16:9)</PresentationFormat>
  <Paragraphs>263</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 Black</vt:lpstr>
      <vt:lpstr>Arial</vt:lpstr>
      <vt:lpstr>ui-sans-serif</vt:lpstr>
      <vt:lpstr>Libre Franklin</vt:lpstr>
      <vt:lpstr>Raleway</vt:lpstr>
      <vt:lpstr>Poppins</vt:lpstr>
      <vt:lpstr>Arial Rounded MT Bold</vt:lpstr>
      <vt:lpstr>Wingdings</vt:lpstr>
      <vt:lpstr>Didact Gothic</vt:lpstr>
      <vt:lpstr>Cycle Diagrams Theme for a Business Plan by Slidesgo</vt:lpstr>
      <vt:lpstr>Modelo de clasificación  GRUPO 5</vt:lpstr>
      <vt:lpstr>ENTENDIMIENTO DE NEGOCIO</vt:lpstr>
      <vt:lpstr>ENTENDIMIENTO DE DATOS</vt:lpstr>
      <vt:lpstr>FRAMEWORK METODOLÓGICO</vt:lpstr>
      <vt:lpstr>Exploratory Data Analysis (EDA) 1/2</vt:lpstr>
      <vt:lpstr>Resultados Clave (EDA) 2/2</vt:lpstr>
      <vt:lpstr>Tratamiento de Missings</vt:lpstr>
      <vt:lpstr>Tratamiento de Missing</vt:lpstr>
      <vt:lpstr>Tratamiento de Outliers</vt:lpstr>
      <vt:lpstr>Ingeniería de Variables ½: transformación</vt:lpstr>
      <vt:lpstr>Ingeniería de Variables 2/2: selección</vt:lpstr>
      <vt:lpstr>Association Rules 1/2</vt:lpstr>
      <vt:lpstr>Association Rules 2/2: resultados</vt:lpstr>
      <vt:lpstr>PREPARACIÓN PARA EL MODELADO</vt:lpstr>
      <vt:lpstr>PRIMEROS MODELOS</vt:lpstr>
      <vt:lpstr>CONCLUSIONES &amp; PRÓXIMOS PASOS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clasificación  GRUPO 5</dc:title>
  <dc:creator>Mario Aragón Valderrama</dc:creator>
  <cp:lastModifiedBy>LAURA BELMONTE VELASCO</cp:lastModifiedBy>
  <cp:revision>16</cp:revision>
  <dcterms:modified xsi:type="dcterms:W3CDTF">2025-11-10T19:32:14Z</dcterms:modified>
</cp:coreProperties>
</file>