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20"/>
  </p:notesMasterIdLst>
  <p:sldIdLst>
    <p:sldId id="285" r:id="rId2"/>
    <p:sldId id="270" r:id="rId3"/>
    <p:sldId id="272" r:id="rId4"/>
    <p:sldId id="275" r:id="rId5"/>
    <p:sldId id="291" r:id="rId6"/>
    <p:sldId id="277" r:id="rId7"/>
    <p:sldId id="278" r:id="rId8"/>
    <p:sldId id="279" r:id="rId9"/>
    <p:sldId id="280" r:id="rId10"/>
    <p:sldId id="281" r:id="rId11"/>
    <p:sldId id="292" r:id="rId12"/>
    <p:sldId id="293" r:id="rId13"/>
    <p:sldId id="299" r:id="rId14"/>
    <p:sldId id="294" r:id="rId15"/>
    <p:sldId id="296" r:id="rId16"/>
    <p:sldId id="295" r:id="rId17"/>
    <p:sldId id="297" r:id="rId18"/>
    <p:sldId id="298" r:id="rId19"/>
  </p:sldIdLst>
  <p:sldSz cx="9144000" cy="5143500" type="screen16x9"/>
  <p:notesSz cx="6858000" cy="9144000"/>
  <p:embeddedFontLst>
    <p:embeddedFont>
      <p:font typeface="Arial Black" panose="020B0A04020102020204" pitchFamily="34" charset="0"/>
      <p:bold r:id="rId21"/>
    </p:embeddedFont>
    <p:embeddedFont>
      <p:font typeface="Arial Rounded MT Bold" panose="020F0704030504030204" pitchFamily="34" charset="0"/>
      <p:regular r:id="rId22"/>
    </p:embeddedFont>
    <p:embeddedFont>
      <p:font typeface="Didact Gothic" panose="00000500000000000000" pitchFamily="2" charset="0"/>
      <p:regular r:id="rId23"/>
    </p:embeddedFont>
    <p:embeddedFont>
      <p:font typeface="Libre Franklin" pitchFamily="2" charset="0"/>
      <p:regular r:id="rId24"/>
      <p:bold r:id="rId25"/>
      <p:italic r:id="rId26"/>
      <p:boldItalic r:id="rId27"/>
    </p:embeddedFont>
    <p:embeddedFont>
      <p:font typeface="Poppins" panose="00000500000000000000" pitchFamily="2" charset="0"/>
      <p:regular r:id="rId28"/>
      <p:bold r:id="rId29"/>
      <p:italic r:id="rId30"/>
      <p:boldItalic r:id="rId31"/>
    </p:embeddedFont>
    <p:embeddedFont>
      <p:font typeface="Raleway" pitchFamily="2"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94648"/>
  </p:normalViewPr>
  <p:slideViewPr>
    <p:cSldViewPr snapToGrid="0">
      <p:cViewPr varScale="1">
        <p:scale>
          <a:sx n="55" d="100"/>
          <a:sy n="55" d="100"/>
        </p:scale>
        <p:origin x="72" y="6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9" Type="http://schemas.openxmlformats.org/officeDocument/2006/relationships/theme" Target="theme/theme1.xml"/><Relationship Id="rId21" Type="http://schemas.openxmlformats.org/officeDocument/2006/relationships/font" Target="fonts/font1.fntdata"/><Relationship Id="rId34" Type="http://schemas.openxmlformats.org/officeDocument/2006/relationships/font" Target="fonts/font14.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font" Target="fonts/font12.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36"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font" Target="fonts/font15.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font" Target="fonts/font13.fntdata"/><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undo custSel addSld delSld modSld">
      <pc:chgData name="Mario Aragón Valderrama" userId="ab42593c9091a3c7" providerId="LiveId" clId="{A94EC9C8-FC2E-45B4-829C-AEB6B286F687}" dt="2025-12-14T09:38:10.997" v="748" actId="1076"/>
      <pc:docMkLst>
        <pc:docMk/>
      </pc:docMkLst>
      <pc:sldChg chg="del">
        <pc:chgData name="Mario Aragón Valderrama" userId="ab42593c9091a3c7" providerId="LiveId" clId="{A94EC9C8-FC2E-45B4-829C-AEB6B286F687}" dt="2025-12-14T08:31:34.874" v="75" actId="47"/>
        <pc:sldMkLst>
          <pc:docMk/>
          <pc:sldMk cId="1878690447" sldId="271"/>
        </pc:sldMkLst>
      </pc:sldChg>
      <pc:sldChg chg="del">
        <pc:chgData name="Mario Aragón Valderrama" userId="ab42593c9091a3c7" providerId="LiveId" clId="{A94EC9C8-FC2E-45B4-829C-AEB6B286F687}" dt="2025-12-14T08:32:21.939" v="76" actId="47"/>
        <pc:sldMkLst>
          <pc:docMk/>
          <pc:sldMk cId="1332014249" sldId="273"/>
        </pc:sldMkLst>
      </pc:sldChg>
      <pc:sldChg chg="del">
        <pc:chgData name="Mario Aragón Valderrama" userId="ab42593c9091a3c7" providerId="LiveId" clId="{A94EC9C8-FC2E-45B4-829C-AEB6B286F687}" dt="2025-12-14T08:32:24.164" v="77" actId="47"/>
        <pc:sldMkLst>
          <pc:docMk/>
          <pc:sldMk cId="1461310694" sldId="274"/>
        </pc:sldMkLst>
      </pc:sldChg>
      <pc:sldChg chg="addSp delSp modSp mod">
        <pc:chgData name="Mario Aragón Valderrama" userId="ab42593c9091a3c7" providerId="LiveId" clId="{A94EC9C8-FC2E-45B4-829C-AEB6B286F687}" dt="2025-12-14T09:37:09.327" v="731" actId="20577"/>
        <pc:sldMkLst>
          <pc:docMk/>
          <pc:sldMk cId="2224626977" sldId="293"/>
        </pc:sldMkLst>
        <pc:spChg chg="add">
          <ac:chgData name="Mario Aragón Valderrama" userId="ab42593c9091a3c7" providerId="LiveId" clId="{A94EC9C8-FC2E-45B4-829C-AEB6B286F687}" dt="2025-12-14T09:12:28.896" v="440"/>
          <ac:spMkLst>
            <pc:docMk/>
            <pc:sldMk cId="2224626977" sldId="293"/>
            <ac:spMk id="6" creationId="{CC78E7FE-6C76-53DE-FA92-7178444A00CE}"/>
          </ac:spMkLst>
        </pc:spChg>
        <pc:graphicFrameChg chg="add del mod modGraphic">
          <ac:chgData name="Mario Aragón Valderrama" userId="ab42593c9091a3c7" providerId="LiveId" clId="{A94EC9C8-FC2E-45B4-829C-AEB6B286F687}" dt="2025-12-14T08:53:56.795" v="252" actId="478"/>
          <ac:graphicFrameMkLst>
            <pc:docMk/>
            <pc:sldMk cId="2224626977" sldId="293"/>
            <ac:graphicFrameMk id="3" creationId="{0AAA468F-B6F2-EA20-010D-C277B4816D77}"/>
          </ac:graphicFrameMkLst>
        </pc:graphicFrameChg>
        <pc:graphicFrameChg chg="add del mod modGraphic">
          <ac:chgData name="Mario Aragón Valderrama" userId="ab42593c9091a3c7" providerId="LiveId" clId="{A94EC9C8-FC2E-45B4-829C-AEB6B286F687}" dt="2025-12-14T08:50:52.528" v="202" actId="14100"/>
          <ac:graphicFrameMkLst>
            <pc:docMk/>
            <pc:sldMk cId="2224626977" sldId="293"/>
            <ac:graphicFrameMk id="4" creationId="{14CC6DFB-B718-A275-C02B-719FB5D483A8}"/>
          </ac:graphicFrameMkLst>
        </pc:graphicFrameChg>
        <pc:graphicFrameChg chg="add mod modGraphic">
          <ac:chgData name="Mario Aragón Valderrama" userId="ab42593c9091a3c7" providerId="LiveId" clId="{A94EC9C8-FC2E-45B4-829C-AEB6B286F687}" dt="2025-12-14T09:37:09.327" v="731" actId="20577"/>
          <ac:graphicFrameMkLst>
            <pc:docMk/>
            <pc:sldMk cId="2224626977" sldId="293"/>
            <ac:graphicFrameMk id="5" creationId="{91C0E36A-D0DD-E8B8-21D5-10146D353935}"/>
          </ac:graphicFrameMkLst>
        </pc:graphicFrameChg>
        <pc:graphicFrameChg chg="add mod modGraphic">
          <ac:chgData name="Mario Aragón Valderrama" userId="ab42593c9091a3c7" providerId="LiveId" clId="{A94EC9C8-FC2E-45B4-829C-AEB6B286F687}" dt="2025-12-14T09:35:58.297" v="727" actId="14100"/>
          <ac:graphicFrameMkLst>
            <pc:docMk/>
            <pc:sldMk cId="2224626977" sldId="293"/>
            <ac:graphicFrameMk id="7" creationId="{E27B1CD2-7EFB-AA7A-3361-090E6CE5F737}"/>
          </ac:graphicFrameMkLst>
        </pc:graphicFrameChg>
      </pc:sldChg>
      <pc:sldChg chg="modSp mod">
        <pc:chgData name="Mario Aragón Valderrama" userId="ab42593c9091a3c7" providerId="LiveId" clId="{A94EC9C8-FC2E-45B4-829C-AEB6B286F687}" dt="2025-12-14T08:30:23.569" v="74" actId="20577"/>
        <pc:sldMkLst>
          <pc:docMk/>
          <pc:sldMk cId="440027871" sldId="296"/>
        </pc:sldMkLst>
        <pc:spChg chg="mod">
          <ac:chgData name="Mario Aragón Valderrama" userId="ab42593c9091a3c7" providerId="LiveId" clId="{A94EC9C8-FC2E-45B4-829C-AEB6B286F687}" dt="2025-12-14T08:30:23.569" v="74" actId="20577"/>
          <ac:spMkLst>
            <pc:docMk/>
            <pc:sldMk cId="440027871" sldId="296"/>
            <ac:spMk id="2" creationId="{CA35A133-552C-F60D-3767-71D9B2556565}"/>
          </ac:spMkLst>
        </pc:spChg>
      </pc:sldChg>
      <pc:sldChg chg="new del">
        <pc:chgData name="Mario Aragón Valderrama" userId="ab42593c9091a3c7" providerId="LiveId" clId="{A94EC9C8-FC2E-45B4-829C-AEB6B286F687}" dt="2025-12-14T08:53:19.515" v="244" actId="680"/>
        <pc:sldMkLst>
          <pc:docMk/>
          <pc:sldMk cId="780464591" sldId="299"/>
        </pc:sldMkLst>
      </pc:sldChg>
      <pc:sldChg chg="addSp delSp modSp new mod">
        <pc:chgData name="Mario Aragón Valderrama" userId="ab42593c9091a3c7" providerId="LiveId" clId="{A94EC9C8-FC2E-45B4-829C-AEB6B286F687}" dt="2025-12-14T09:38:10.997" v="748" actId="1076"/>
        <pc:sldMkLst>
          <pc:docMk/>
          <pc:sldMk cId="2697498994" sldId="299"/>
        </pc:sldMkLst>
        <pc:picChg chg="add mod">
          <ac:chgData name="Mario Aragón Valderrama" userId="ab42593c9091a3c7" providerId="LiveId" clId="{A94EC9C8-FC2E-45B4-829C-AEB6B286F687}" dt="2025-12-14T09:15:35.476" v="450" actId="1076"/>
          <ac:picMkLst>
            <pc:docMk/>
            <pc:sldMk cId="2697498994" sldId="299"/>
            <ac:picMk id="4" creationId="{4DEB307C-6BB4-A6BC-DBA1-DF9FCF41BCAA}"/>
          </ac:picMkLst>
        </pc:picChg>
        <pc:picChg chg="add del mod">
          <ac:chgData name="Mario Aragón Valderrama" userId="ab42593c9091a3c7" providerId="LiveId" clId="{A94EC9C8-FC2E-45B4-829C-AEB6B286F687}" dt="2025-12-14T09:37:40.207" v="732" actId="478"/>
          <ac:picMkLst>
            <pc:docMk/>
            <pc:sldMk cId="2697498994" sldId="299"/>
            <ac:picMk id="6" creationId="{0DDF654E-31AC-4CDD-248B-EB433D1A8350}"/>
          </ac:picMkLst>
        </pc:picChg>
        <pc:picChg chg="add del mod">
          <ac:chgData name="Mario Aragón Valderrama" userId="ab42593c9091a3c7" providerId="LiveId" clId="{A94EC9C8-FC2E-45B4-829C-AEB6B286F687}" dt="2025-12-14T09:38:00.277" v="739" actId="478"/>
          <ac:picMkLst>
            <pc:docMk/>
            <pc:sldMk cId="2697498994" sldId="299"/>
            <ac:picMk id="8" creationId="{69D05035-F0E9-8D14-67F5-FCA4790DED6C}"/>
          </ac:picMkLst>
        </pc:picChg>
        <pc:picChg chg="add mod">
          <ac:chgData name="Mario Aragón Valderrama" userId="ab42593c9091a3c7" providerId="LiveId" clId="{A94EC9C8-FC2E-45B4-829C-AEB6B286F687}" dt="2025-12-14T09:38:10.997" v="748" actId="1076"/>
          <ac:picMkLst>
            <pc:docMk/>
            <pc:sldMk cId="2697498994" sldId="299"/>
            <ac:picMk id="10" creationId="{6722969D-1499-5A0C-8BA0-9DEA6C499B77}"/>
          </ac:picMkLst>
        </pc:pic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_rels/drawing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	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  	Diseño del </a:t>
          </a:r>
          <a:r>
            <a:rPr lang="es-ES" sz="800" dirty="0" err="1"/>
            <a:t>metadata</a:t>
          </a:r>
          <a:r>
            <a:rPr lang="es-ES" sz="800" dirty="0"/>
            <a:t> – Melissa</a:t>
          </a:r>
        </a:p>
        <a:p>
          <a:r>
            <a:rPr lang="es-ES" sz="800" dirty="0"/>
            <a:t>     	EDA– </a:t>
          </a:r>
          <a:r>
            <a:rPr lang="es-ES" sz="800" dirty="0" err="1"/>
            <a:t>Wenjia</a:t>
          </a:r>
          <a:r>
            <a:rPr lang="es-ES" sz="800" dirty="0"/>
            <a:t> y </a:t>
          </a:r>
          <a:r>
            <a:rPr lang="es-ES" sz="800" dirty="0" err="1"/>
            <a:t>Siling</a:t>
          </a:r>
          <a:endParaRPr lang="es-ES" sz="800" dirty="0"/>
        </a:p>
        <a:p>
          <a:r>
            <a:rPr lang="es-ES" sz="800" dirty="0"/>
            <a:t>     	Análisis de </a:t>
          </a:r>
          <a:r>
            <a:rPr lang="es-ES" sz="800" dirty="0" err="1"/>
            <a:t>outliers</a:t>
          </a:r>
          <a:r>
            <a:rPr lang="es-ES" sz="800" dirty="0"/>
            <a:t> (pre-imputación):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r>
            <a:rPr lang="es-ES" sz="800" dirty="0"/>
            <a:t>	Imputación </a:t>
          </a:r>
          <a:r>
            <a:rPr lang="es-ES" sz="800" dirty="0" err="1"/>
            <a:t>missings</a:t>
          </a:r>
          <a:r>
            <a:rPr lang="es-ES" sz="800" dirty="0"/>
            <a:t> – Mario y Laura</a:t>
          </a:r>
        </a:p>
        <a:p>
          <a:r>
            <a:rPr lang="es-ES" sz="800" dirty="0"/>
            <a:t>	</a:t>
          </a:r>
          <a:r>
            <a:rPr lang="es-ES" sz="800" dirty="0" err="1"/>
            <a:t>Tratatamiento</a:t>
          </a:r>
          <a:r>
            <a:rPr lang="es-ES" sz="800" dirty="0"/>
            <a:t> </a:t>
          </a:r>
          <a:r>
            <a:rPr lang="es-ES" sz="800" dirty="0" err="1"/>
            <a:t>Outliers</a:t>
          </a:r>
          <a:r>
            <a:rPr lang="es-ES" sz="800" dirty="0"/>
            <a:t> – Mario, Laura y Melissa</a:t>
          </a:r>
        </a:p>
        <a:p>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Evaluation</a:t>
          </a:r>
          <a:endParaRPr lang="es-ES" sz="800" b="1" dirty="0">
            <a:solidFill>
              <a:srgbClr val="002060"/>
            </a:solidFill>
          </a:endParaRPr>
        </a:p>
        <a:p>
          <a:r>
            <a:rPr lang="es-ES" sz="700" dirty="0"/>
            <a:t>	KNN – </a:t>
          </a:r>
          <a:r>
            <a:rPr lang="es-ES" sz="700" dirty="0" err="1"/>
            <a:t>Siling</a:t>
          </a:r>
          <a:r>
            <a:rPr lang="es-ES" sz="700" dirty="0"/>
            <a:t> y Laura</a:t>
          </a:r>
        </a:p>
        <a:p>
          <a:r>
            <a:rPr lang="es-ES" sz="700" dirty="0"/>
            <a:t>               </a:t>
          </a:r>
          <a:r>
            <a:rPr lang="es-ES" sz="700" dirty="0" err="1"/>
            <a:t>Naive</a:t>
          </a:r>
          <a:r>
            <a:rPr lang="es-ES" sz="700" dirty="0"/>
            <a:t> Bayes – Melissa y </a:t>
          </a:r>
          <a:r>
            <a:rPr lang="es-ES" sz="700" dirty="0" err="1"/>
            <a:t>Wenjia</a:t>
          </a:r>
          <a:endParaRPr lang="es-ES" sz="700" dirty="0"/>
        </a:p>
        <a:p>
          <a:r>
            <a:rPr lang="es-ES" sz="700" dirty="0"/>
            <a:t>               </a:t>
          </a:r>
          <a:r>
            <a:rPr lang="es-ES" sz="700" dirty="0" err="1"/>
            <a:t>Testing</a:t>
          </a:r>
          <a:r>
            <a:rPr lang="es-ES" sz="700" dirty="0"/>
            <a:t> múltiples configuraciones de variables</a:t>
          </a:r>
          <a:endParaRPr lang="es-ES" sz="800" b="1" dirty="0">
            <a:solidFill>
              <a:srgbClr val="002060"/>
            </a:solidFill>
          </a:endParaRP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B9802D42-76B7-4AE8-9963-A689582E6B35}">
      <dgm:prSet phldrT="[Texto]" phldr="0" custT="1"/>
      <dgm:spPr/>
      <dgm:t>
        <a:bodyPr/>
        <a:lstStyle/>
        <a:p>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712DF1A2-9649-4A26-A0DA-529186D8E53F}" type="presOf" srcId="{D3DB2985-286F-4E1B-A3EF-B67DCD1C08F6}" destId="{9368D843-76C1-42B0-834B-2DA28FCB0771}" srcOrd="0" destOrd="0" presId="urn:microsoft.com/office/officeart/2005/8/layout/vList4"/>
    <dgm:cxn modelId="{A44658AC-B46F-4B08-B962-B06FFFD99B33}" srcId="{E0DBD592-C900-4D5D-A79A-93A58E8DA172}" destId="{B9802D42-76B7-4AE8-9963-A689582E6B35}" srcOrd="4" destOrd="0" parTransId="{5522CECA-745D-4D76-A87A-0DA536D5330D}" sibTransId="{1B62F6DE-B574-43AD-B04F-ABDF9E20E863}"/>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F0F9E5-841B-FF4D-9CB5-2F1286FB0B81}" type="doc">
      <dgm:prSet loTypeId="urn:microsoft.com/office/officeart/2005/8/layout/chevron1" loCatId="list" qsTypeId="urn:microsoft.com/office/officeart/2005/8/quickstyle/simple1" qsCatId="simple" csTypeId="urn:microsoft.com/office/officeart/2005/8/colors/accent1_2" csCatId="accent1" phldr="1"/>
      <dgm:spPr/>
      <dgm:t>
        <a:bodyPr/>
        <a:lstStyle/>
        <a:p>
          <a:endParaRPr lang="en-GB"/>
        </a:p>
      </dgm:t>
    </dgm:pt>
    <dgm:pt modelId="{4B7548F0-E499-254C-9C9F-E02382EEB5E9}">
      <dgm:prSet/>
      <dgm:spPr/>
      <dgm:t>
        <a:bodyPr/>
        <a:lstStyle/>
        <a:p>
          <a:r>
            <a:rPr lang="es-ES" b="1" i="0" dirty="0"/>
            <a:t>9NN</a:t>
          </a:r>
          <a:endParaRPr lang="en-ES" dirty="0"/>
        </a:p>
      </dgm:t>
    </dgm:pt>
    <dgm:pt modelId="{C262CEBB-7006-A242-ADD3-B9235EF8735C}" type="parTrans" cxnId="{702EFC95-8543-6E42-8059-09D9E582B607}">
      <dgm:prSet/>
      <dgm:spPr/>
      <dgm:t>
        <a:bodyPr/>
        <a:lstStyle/>
        <a:p>
          <a:endParaRPr lang="en-GB"/>
        </a:p>
      </dgm:t>
    </dgm:pt>
    <dgm:pt modelId="{82304106-D479-C64E-9799-69BDAE43ED77}" type="sibTrans" cxnId="{702EFC95-8543-6E42-8059-09D9E582B607}">
      <dgm:prSet/>
      <dgm:spPr/>
      <dgm:t>
        <a:bodyPr/>
        <a:lstStyle/>
        <a:p>
          <a:endParaRPr lang="en-GB"/>
        </a:p>
      </dgm:t>
    </dgm:pt>
    <dgm:pt modelId="{67E4A056-504D-AF46-98B0-70C35D9DA4E2}" type="pres">
      <dgm:prSet presAssocID="{9DF0F9E5-841B-FF4D-9CB5-2F1286FB0B81}" presName="Name0" presStyleCnt="0">
        <dgm:presLayoutVars>
          <dgm:dir/>
          <dgm:animLvl val="lvl"/>
          <dgm:resizeHandles val="exact"/>
        </dgm:presLayoutVars>
      </dgm:prSet>
      <dgm:spPr/>
    </dgm:pt>
    <dgm:pt modelId="{73A4D826-B1A8-D24F-BF3E-D0DBA84542CC}" type="pres">
      <dgm:prSet presAssocID="{4B7548F0-E499-254C-9C9F-E02382EEB5E9}" presName="parTxOnly" presStyleLbl="node1" presStyleIdx="0" presStyleCnt="1" custScaleY="100359" custLinFactY="20531" custLinFactNeighborX="-24777" custLinFactNeighborY="100000">
        <dgm:presLayoutVars>
          <dgm:chMax val="0"/>
          <dgm:chPref val="0"/>
          <dgm:bulletEnabled val="1"/>
        </dgm:presLayoutVars>
      </dgm:prSet>
      <dgm:spPr/>
    </dgm:pt>
  </dgm:ptLst>
  <dgm:cxnLst>
    <dgm:cxn modelId="{1002DE02-5ED3-4342-BDE1-FA3F312D68AD}" type="presOf" srcId="{4B7548F0-E499-254C-9C9F-E02382EEB5E9}" destId="{73A4D826-B1A8-D24F-BF3E-D0DBA84542CC}" srcOrd="0" destOrd="0" presId="urn:microsoft.com/office/officeart/2005/8/layout/chevron1"/>
    <dgm:cxn modelId="{F9CE3E5F-7A8A-9343-B18D-8C94EFA95159}" type="presOf" srcId="{9DF0F9E5-841B-FF4D-9CB5-2F1286FB0B81}" destId="{67E4A056-504D-AF46-98B0-70C35D9DA4E2}" srcOrd="0" destOrd="0" presId="urn:microsoft.com/office/officeart/2005/8/layout/chevron1"/>
    <dgm:cxn modelId="{702EFC95-8543-6E42-8059-09D9E582B607}" srcId="{9DF0F9E5-841B-FF4D-9CB5-2F1286FB0B81}" destId="{4B7548F0-E499-254C-9C9F-E02382EEB5E9}" srcOrd="0" destOrd="0" parTransId="{C262CEBB-7006-A242-ADD3-B9235EF8735C}" sibTransId="{82304106-D479-C64E-9799-69BDAE43ED77}"/>
    <dgm:cxn modelId="{69D04B74-A752-5042-9CF7-6117575B75E6}" type="presParOf" srcId="{67E4A056-504D-AF46-98B0-70C35D9DA4E2}" destId="{73A4D826-B1A8-D24F-BF3E-D0DBA84542CC}" srcOrd="0"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A8F40A-6895-D54A-891B-0666CD46C550}" type="doc">
      <dgm:prSet loTypeId="urn:microsoft.com/office/officeart/2005/8/layout/lProcess3" loCatId="process" qsTypeId="urn:microsoft.com/office/officeart/2005/8/quickstyle/simple1" qsCatId="simple" csTypeId="urn:microsoft.com/office/officeart/2005/8/colors/accent1_2" csCatId="accent1" phldr="1"/>
      <dgm:spPr/>
      <dgm:t>
        <a:bodyPr/>
        <a:lstStyle/>
        <a:p>
          <a:endParaRPr lang="en-GB"/>
        </a:p>
      </dgm:t>
    </dgm:pt>
    <dgm:pt modelId="{C1C1743D-B186-F748-A62C-FD5A8898EAD1}">
      <dgm:prSet/>
      <dgm:spPr/>
      <dgm:t>
        <a:bodyPr/>
        <a:lstStyle/>
        <a:p>
          <a:r>
            <a:rPr lang="es-ES" b="1" i="0" dirty="0" err="1"/>
            <a:t>Naive</a:t>
          </a:r>
          <a:r>
            <a:rPr lang="es-ES" b="1" i="0" dirty="0"/>
            <a:t> Bayes</a:t>
          </a:r>
          <a:endParaRPr lang="en-ES" dirty="0"/>
        </a:p>
      </dgm:t>
    </dgm:pt>
    <dgm:pt modelId="{BFDED490-0320-3A44-AD14-229EFAEF53D6}" type="parTrans" cxnId="{67CFEEEF-B575-2949-97D0-9FE1107E538B}">
      <dgm:prSet/>
      <dgm:spPr/>
      <dgm:t>
        <a:bodyPr/>
        <a:lstStyle/>
        <a:p>
          <a:endParaRPr lang="en-GB"/>
        </a:p>
      </dgm:t>
    </dgm:pt>
    <dgm:pt modelId="{4D310E4D-EC3C-4D47-A9BB-A0B136EAB064}" type="sibTrans" cxnId="{67CFEEEF-B575-2949-97D0-9FE1107E538B}">
      <dgm:prSet/>
      <dgm:spPr/>
      <dgm:t>
        <a:bodyPr/>
        <a:lstStyle/>
        <a:p>
          <a:endParaRPr lang="en-GB"/>
        </a:p>
      </dgm:t>
    </dgm:pt>
    <dgm:pt modelId="{801AE17F-C31F-CA43-BC84-69CE827808FD}" type="pres">
      <dgm:prSet presAssocID="{06A8F40A-6895-D54A-891B-0666CD46C550}" presName="Name0" presStyleCnt="0">
        <dgm:presLayoutVars>
          <dgm:chPref val="3"/>
          <dgm:dir/>
          <dgm:animLvl val="lvl"/>
          <dgm:resizeHandles/>
        </dgm:presLayoutVars>
      </dgm:prSet>
      <dgm:spPr/>
    </dgm:pt>
    <dgm:pt modelId="{06EE72E4-7873-9447-9BF1-5DC88BD79E5B}" type="pres">
      <dgm:prSet presAssocID="{C1C1743D-B186-F748-A62C-FD5A8898EAD1}" presName="horFlow" presStyleCnt="0"/>
      <dgm:spPr/>
    </dgm:pt>
    <dgm:pt modelId="{259A7068-6F6F-9B4D-894D-518C62EBCA00}" type="pres">
      <dgm:prSet presAssocID="{C1C1743D-B186-F748-A62C-FD5A8898EAD1}" presName="bigChev" presStyleLbl="node1" presStyleIdx="0" presStyleCnt="1" custAng="0" custScaleX="137387" custLinFactNeighborX="23488" custLinFactNeighborY="44"/>
      <dgm:spPr/>
    </dgm:pt>
  </dgm:ptLst>
  <dgm:cxnLst>
    <dgm:cxn modelId="{5CCA5F2A-4954-FF43-8687-2DC8E689D82F}" type="presOf" srcId="{06A8F40A-6895-D54A-891B-0666CD46C550}" destId="{801AE17F-C31F-CA43-BC84-69CE827808FD}" srcOrd="0" destOrd="0" presId="urn:microsoft.com/office/officeart/2005/8/layout/lProcess3"/>
    <dgm:cxn modelId="{556D64A5-CEA6-3040-B2B1-568B85FB8AA7}" type="presOf" srcId="{C1C1743D-B186-F748-A62C-FD5A8898EAD1}" destId="{259A7068-6F6F-9B4D-894D-518C62EBCA00}" srcOrd="0" destOrd="0" presId="urn:microsoft.com/office/officeart/2005/8/layout/lProcess3"/>
    <dgm:cxn modelId="{67CFEEEF-B575-2949-97D0-9FE1107E538B}" srcId="{06A8F40A-6895-D54A-891B-0666CD46C550}" destId="{C1C1743D-B186-F748-A62C-FD5A8898EAD1}" srcOrd="0" destOrd="0" parTransId="{BFDED490-0320-3A44-AD14-229EFAEF53D6}" sibTransId="{4D310E4D-EC3C-4D47-A9BB-A0B136EAB064}"/>
    <dgm:cxn modelId="{FB2D6210-190A-204E-B71F-517859FDEE68}" type="presParOf" srcId="{801AE17F-C31F-CA43-BC84-69CE827808FD}" destId="{06EE72E4-7873-9447-9BF1-5DC88BD79E5B}" srcOrd="0" destOrd="0" presId="urn:microsoft.com/office/officeart/2005/8/layout/lProcess3"/>
    <dgm:cxn modelId="{FB235A8D-837A-A841-8A54-20EA48662ADC}" type="presParOf" srcId="{06EE72E4-7873-9447-9BF1-5DC88BD79E5B}" destId="{259A7068-6F6F-9B4D-894D-518C62EBCA00}" srcOrd="0" destOrd="0" presId="urn:microsoft.com/office/officeart/2005/8/layout/lProcess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	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  	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     	EDA–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     	Análisis de </a:t>
          </a:r>
          <a:r>
            <a:rPr lang="es-ES" sz="800" kern="1200" dirty="0" err="1"/>
            <a:t>outliers</a:t>
          </a:r>
          <a:r>
            <a:rPr lang="es-ES" sz="800" kern="1200" dirty="0"/>
            <a:t> (pre-imputación):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	Imputación </a:t>
          </a:r>
          <a:r>
            <a:rPr lang="es-ES" sz="800" kern="1200" dirty="0" err="1"/>
            <a:t>missings</a:t>
          </a:r>
          <a:r>
            <a:rPr lang="es-ES" sz="800" kern="1200" dirty="0"/>
            <a:t> – Mario y Laura</a:t>
          </a:r>
        </a:p>
        <a:p>
          <a:pPr marL="0" lvl="0" indent="0" algn="l" defTabSz="355600">
            <a:lnSpc>
              <a:spcPct val="90000"/>
            </a:lnSpc>
            <a:spcBef>
              <a:spcPct val="0"/>
            </a:spcBef>
            <a:spcAft>
              <a:spcPct val="35000"/>
            </a:spcAft>
            <a:buNone/>
          </a:pPr>
          <a:r>
            <a:rPr lang="es-ES" sz="800" kern="1200" dirty="0"/>
            <a:t>	</a:t>
          </a:r>
          <a:r>
            <a:rPr lang="es-ES" sz="800" kern="1200" dirty="0" err="1"/>
            <a:t>Tratatamiento</a:t>
          </a:r>
          <a:r>
            <a:rPr lang="es-ES" sz="800" kern="1200" dirty="0"/>
            <a:t> </a:t>
          </a:r>
          <a:r>
            <a:rPr lang="es-ES" sz="800" kern="1200" dirty="0" err="1"/>
            <a:t>Outliers</a:t>
          </a:r>
          <a:r>
            <a:rPr lang="es-ES" sz="800" kern="1200" dirty="0"/>
            <a:t> – Mario, Laura y Melissa</a:t>
          </a:r>
        </a:p>
        <a:p>
          <a:pPr marL="0" lvl="0" indent="0" algn="l" defTabSz="355600">
            <a:lnSpc>
              <a:spcPct val="90000"/>
            </a:lnSpc>
            <a:spcBef>
              <a:spcPct val="0"/>
            </a:spcBef>
            <a:spcAft>
              <a:spcPct val="35000"/>
            </a:spcAft>
            <a:buNone/>
          </a:pPr>
          <a:r>
            <a:rPr lang="es-ES" sz="800" kern="1200" dirty="0"/>
            <a:t>	</a:t>
          </a:r>
          <a:r>
            <a:rPr lang="es-ES" sz="800" kern="1200" dirty="0" err="1"/>
            <a:t>Feature</a:t>
          </a:r>
          <a:r>
            <a:rPr lang="es-ES" sz="800" kern="1200" dirty="0"/>
            <a:t> </a:t>
          </a:r>
          <a:r>
            <a:rPr lang="es-ES" sz="800" kern="1200" dirty="0" err="1"/>
            <a:t>Engineering</a:t>
          </a:r>
          <a:r>
            <a:rPr lang="es-ES" sz="800" kern="1200" dirty="0"/>
            <a:t>–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Modeling</a:t>
          </a:r>
          <a:r>
            <a:rPr lang="es-ES" sz="800" b="1" kern="1200" dirty="0">
              <a:solidFill>
                <a:srgbClr val="002060"/>
              </a:solidFill>
            </a:rPr>
            <a:t> &amp; </a:t>
          </a:r>
          <a:r>
            <a:rPr lang="es-ES" sz="800" b="1" kern="1200" dirty="0" err="1">
              <a:solidFill>
                <a:srgbClr val="002060"/>
              </a:solidFill>
            </a:rPr>
            <a:t>Evaluation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700" kern="1200" dirty="0"/>
            <a:t>	KNN – </a:t>
          </a:r>
          <a:r>
            <a:rPr lang="es-ES" sz="700" kern="1200" dirty="0" err="1"/>
            <a:t>Siling</a:t>
          </a:r>
          <a:r>
            <a:rPr lang="es-ES" sz="700" kern="1200" dirty="0"/>
            <a:t> y Laura</a:t>
          </a:r>
        </a:p>
        <a:p>
          <a:pPr marL="0" lvl="0" indent="0" algn="l" defTabSz="355600">
            <a:lnSpc>
              <a:spcPct val="90000"/>
            </a:lnSpc>
            <a:spcBef>
              <a:spcPct val="0"/>
            </a:spcBef>
            <a:spcAft>
              <a:spcPct val="35000"/>
            </a:spcAft>
            <a:buNone/>
          </a:pPr>
          <a:r>
            <a:rPr lang="es-ES" sz="700" kern="1200" dirty="0"/>
            <a:t>               </a:t>
          </a:r>
          <a:r>
            <a:rPr lang="es-ES" sz="700" kern="1200" dirty="0" err="1"/>
            <a:t>Naive</a:t>
          </a:r>
          <a:r>
            <a:rPr lang="es-ES" sz="700" kern="1200" dirty="0"/>
            <a:t> Bayes – Melissa y </a:t>
          </a:r>
          <a:r>
            <a:rPr lang="es-ES" sz="700" kern="1200" dirty="0" err="1"/>
            <a:t>Wenjia</a:t>
          </a:r>
          <a:endParaRPr lang="es-ES" sz="700" kern="1200" dirty="0"/>
        </a:p>
        <a:p>
          <a:pPr marL="0" lvl="0" indent="0" algn="l" defTabSz="355600">
            <a:lnSpc>
              <a:spcPct val="90000"/>
            </a:lnSpc>
            <a:spcBef>
              <a:spcPct val="0"/>
            </a:spcBef>
            <a:spcAft>
              <a:spcPct val="35000"/>
            </a:spcAft>
            <a:buNone/>
          </a:pPr>
          <a:r>
            <a:rPr lang="es-ES" sz="700" kern="1200" dirty="0"/>
            <a:t>               </a:t>
          </a:r>
          <a:r>
            <a:rPr lang="es-ES" sz="700" kern="1200" dirty="0" err="1"/>
            <a:t>Testing</a:t>
          </a:r>
          <a:r>
            <a:rPr lang="es-ES" sz="700" kern="1200" dirty="0"/>
            <a:t> múltiples configuraciones de variables</a:t>
          </a:r>
          <a:endParaRPr lang="es-ES" sz="800" b="1" kern="1200" dirty="0">
            <a:solidFill>
              <a:srgbClr val="002060"/>
            </a:solidFill>
          </a:endParaRP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A4D826-B1A8-D24F-BF3E-D0DBA84542CC}">
      <dsp:nvSpPr>
        <dsp:cNvPr id="0" name=""/>
        <dsp:cNvSpPr/>
      </dsp:nvSpPr>
      <dsp:spPr>
        <a:xfrm>
          <a:off x="0" y="0"/>
          <a:ext cx="1615465" cy="572700"/>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41339" rIns="41339" bIns="41339" numCol="1" spcCol="1270" anchor="ctr" anchorCtr="0">
          <a:noAutofit/>
        </a:bodyPr>
        <a:lstStyle/>
        <a:p>
          <a:pPr marL="0" lvl="0" indent="0" algn="ctr" defTabSz="1377950">
            <a:lnSpc>
              <a:spcPct val="90000"/>
            </a:lnSpc>
            <a:spcBef>
              <a:spcPct val="0"/>
            </a:spcBef>
            <a:spcAft>
              <a:spcPct val="35000"/>
            </a:spcAft>
            <a:buNone/>
          </a:pPr>
          <a:r>
            <a:rPr lang="es-ES" sz="3100" b="1" i="0" kern="1200" dirty="0"/>
            <a:t>9NN</a:t>
          </a:r>
          <a:endParaRPr lang="en-ES" sz="3100" kern="1200" dirty="0"/>
        </a:p>
      </dsp:txBody>
      <dsp:txXfrm>
        <a:off x="286350" y="0"/>
        <a:ext cx="1042765" cy="572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9A7068-6F6F-9B4D-894D-518C62EBCA00}">
      <dsp:nvSpPr>
        <dsp:cNvPr id="0" name=""/>
        <dsp:cNvSpPr/>
      </dsp:nvSpPr>
      <dsp:spPr>
        <a:xfrm>
          <a:off x="626215" y="327"/>
          <a:ext cx="1822240" cy="530542"/>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s-ES" sz="1900" b="1" i="0" kern="1200" dirty="0" err="1"/>
            <a:t>Naive</a:t>
          </a:r>
          <a:r>
            <a:rPr lang="es-ES" sz="1900" b="1" i="0" kern="1200" dirty="0"/>
            <a:t> Bayes</a:t>
          </a:r>
          <a:endParaRPr lang="en-ES" sz="1900" kern="1200" dirty="0"/>
        </a:p>
      </dsp:txBody>
      <dsp:txXfrm>
        <a:off x="891486" y="327"/>
        <a:ext cx="1291698" cy="530542"/>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vertAlign" val="mid"/>
          <dgm:param type="nodeHorzAlign" val="l"/>
          <dgm:param type="nodeVertAlign" val="t"/>
          <dgm:param type="fallback" val="2D"/>
        </dgm:alg>
      </dgm:if>
      <dgm:else name="Name3">
        <dgm:alg type="lin">
          <dgm:param type="linDir" val="fromT"/>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HorzAlign" val="l"/>
              <dgm:param type="nodeVertAlign" val="mid"/>
              <dgm:param type="fallback" val="2D"/>
            </dgm:alg>
          </dgm:if>
          <dgm:else name="Name7">
            <dgm:alg type="lin">
              <dgm:param type="linDir" val="fromR"/>
              <dgm:param type="nodeHorzAlign" val="r"/>
              <dgm:param type="nodeVertAlign" val="mid"/>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E712297-7568-3729-6473-F9FC483D3C0A}"/>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33E3917D-884B-6864-A41F-BA0A081BB7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14A1270-1F1A-8795-C7F7-2B597898F0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1925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5" r:id="rId6"/>
    <p:sldLayoutId id="2147483656" r:id="rId7"/>
    <p:sldLayoutId id="2147483657" r:id="rId8"/>
    <p:sldLayoutId id="2147483662"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wen2111/Mineria.git" TargetMode="External"/><Relationship Id="rId3" Type="http://schemas.openxmlformats.org/officeDocument/2006/relationships/hyperlink" Target="mailto:maragonvalderrama@gmail.com" TargetMode="External"/><Relationship Id="rId7" Type="http://schemas.openxmlformats.org/officeDocument/2006/relationships/hyperlink" Target="mailto:wenjia.ye@estudiantat.upc.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melissa.Vargas@estudiantat.upc.edu" TargetMode="External"/><Relationship Id="rId5" Type="http://schemas.openxmlformats.org/officeDocument/2006/relationships/hyperlink" Target="mailto:siling.guo@estudiantat.ub.edu" TargetMode="External"/><Relationship Id="rId10" Type="http://schemas.openxmlformats.org/officeDocument/2006/relationships/image" Target="../media/image2.png"/><Relationship Id="rId4" Type="http://schemas.openxmlformats.org/officeDocument/2006/relationships/hyperlink" Target="mailto:laura.Belmonte@estudiantat.upc.edu"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14.sv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jpeg"/><Relationship Id="rId4" Type="http://schemas.openxmlformats.org/officeDocument/2006/relationships/image" Target="../media/image23.jpeg"/></Relationships>
</file>

<file path=ppt/slides/_rels/slide11.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hyperlink" Target="https://github.com/wen2111/Mineria" TargetMode="External"/><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17580" y="203462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a:t>
            </a:r>
            <a:r>
              <a:rPr lang="es-ES" dirty="0">
                <a:solidFill>
                  <a:schemeClr val="tx1"/>
                </a:solidFill>
                <a:hlinkClick r:id="rId3"/>
              </a:rPr>
              <a:t>maragonvalderrama@gmail.com</a:t>
            </a:r>
            <a:r>
              <a:rPr lang="es-ES" dirty="0">
                <a:solidFill>
                  <a:schemeClr val="tx1"/>
                </a:solidFill>
              </a:rPr>
              <a:t>), (G05 </a:t>
            </a:r>
            <a:r>
              <a:rPr lang="es-ES" dirty="0" err="1">
                <a:solidFill>
                  <a:schemeClr val="tx1"/>
                </a:solidFill>
              </a:rPr>
              <a:t>mariovalde</a:t>
            </a:r>
            <a:r>
              <a:rPr lang="es-ES" dirty="0">
                <a:solidFill>
                  <a:schemeClr val="tx1"/>
                </a:solidFill>
              </a:rPr>
              <a:t>)</a:t>
            </a:r>
          </a:p>
          <a:p>
            <a:r>
              <a:rPr lang="es-ES" dirty="0">
                <a:solidFill>
                  <a:schemeClr val="tx1"/>
                </a:solidFill>
              </a:rPr>
              <a:t>- Laura Belmonte (</a:t>
            </a:r>
            <a:r>
              <a:rPr lang="es-ES" dirty="0">
                <a:solidFill>
                  <a:schemeClr val="tx1"/>
                </a:solidFill>
                <a:hlinkClick r:id="rId4"/>
              </a:rPr>
              <a:t>laura.Belmonte@estudiantat.upc.edu</a:t>
            </a:r>
            <a:r>
              <a:rPr lang="es-ES" dirty="0">
                <a:solidFill>
                  <a:schemeClr val="tx1"/>
                </a:solidFill>
              </a:rPr>
              <a:t>), (G05, </a:t>
            </a:r>
            <a:r>
              <a:rPr lang="es-ES" dirty="0" err="1">
                <a:solidFill>
                  <a:schemeClr val="tx1"/>
                </a:solidFill>
              </a:rPr>
              <a:t>laurabelvel</a:t>
            </a:r>
            <a:r>
              <a:rPr lang="es-ES" dirty="0">
                <a:solidFill>
                  <a:schemeClr val="tx1"/>
                </a:solidFill>
              </a:rPr>
              <a:t>)</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a:t>
            </a:r>
            <a:r>
              <a:rPr lang="es-ES" dirty="0">
                <a:solidFill>
                  <a:schemeClr val="tx1"/>
                </a:solidFill>
                <a:hlinkClick r:id="rId5"/>
              </a:rPr>
              <a:t>siling.guo@estudiantat.ub.edu</a:t>
            </a:r>
            <a:r>
              <a:rPr lang="es-ES" dirty="0">
                <a:solidFill>
                  <a:schemeClr val="tx1"/>
                </a:solidFill>
              </a:rPr>
              <a:t>), (G05, </a:t>
            </a:r>
            <a:r>
              <a:rPr lang="es-ES" dirty="0" err="1">
                <a:solidFill>
                  <a:schemeClr val="tx1"/>
                </a:solidFill>
              </a:rPr>
              <a:t>silinguo</a:t>
            </a:r>
            <a:r>
              <a:rPr lang="es-ES" dirty="0">
                <a:solidFill>
                  <a:schemeClr val="tx1"/>
                </a:solidFill>
              </a:rPr>
              <a:t>)</a:t>
            </a:r>
          </a:p>
          <a:p>
            <a:r>
              <a:rPr lang="es-ES" dirty="0">
                <a:solidFill>
                  <a:schemeClr val="tx1"/>
                </a:solidFill>
              </a:rPr>
              <a:t>- Melissa Vargas (</a:t>
            </a:r>
            <a:r>
              <a:rPr lang="es-ES" dirty="0">
                <a:solidFill>
                  <a:schemeClr val="tx1"/>
                </a:solidFill>
                <a:hlinkClick r:id="rId6"/>
              </a:rPr>
              <a:t>melissa.Vargas@estudiantat.upc.edu</a:t>
            </a:r>
            <a:r>
              <a:rPr lang="es-ES" dirty="0">
                <a:solidFill>
                  <a:schemeClr val="tx1"/>
                </a:solidFill>
              </a:rPr>
              <a:t>), (G05, </a:t>
            </a:r>
            <a:r>
              <a:rPr lang="es-ES" dirty="0" err="1">
                <a:solidFill>
                  <a:schemeClr val="tx1"/>
                </a:solidFill>
              </a:rPr>
              <a:t>matildasanchez</a:t>
            </a:r>
            <a:r>
              <a:rPr lang="es-ES" dirty="0">
                <a:solidFill>
                  <a:schemeClr val="tx1"/>
                </a:solidFill>
              </a:rPr>
              <a:t>)</a:t>
            </a:r>
          </a:p>
          <a:p>
            <a:r>
              <a:rPr lang="es-ES" dirty="0">
                <a:solidFill>
                  <a:schemeClr val="tx1"/>
                </a:solidFill>
              </a:rPr>
              <a:t>- </a:t>
            </a:r>
            <a:r>
              <a:rPr lang="es-ES" dirty="0" err="1">
                <a:solidFill>
                  <a:schemeClr val="tx1"/>
                </a:solidFill>
              </a:rPr>
              <a:t>Wenjia</a:t>
            </a:r>
            <a:r>
              <a:rPr lang="es-ES" dirty="0">
                <a:solidFill>
                  <a:schemeClr val="tx1"/>
                </a:solidFill>
              </a:rPr>
              <a:t> Ye (</a:t>
            </a:r>
            <a:r>
              <a:rPr lang="es-ES" dirty="0">
                <a:solidFill>
                  <a:schemeClr val="tx1"/>
                </a:solidFill>
                <a:hlinkClick r:id="rId7"/>
              </a:rPr>
              <a:t>wenjia.ye@estudiantat.upc.edu</a:t>
            </a:r>
            <a:r>
              <a:rPr lang="es-ES" dirty="0">
                <a:solidFill>
                  <a:schemeClr val="tx1"/>
                </a:solidFill>
              </a:rPr>
              <a:t>), (G05, wenjiaye03)</a:t>
            </a:r>
          </a:p>
          <a:p>
            <a:pPr marL="342900" indent="-342900">
              <a:buFontTx/>
              <a:buChar char="-"/>
            </a:pPr>
            <a:endParaRPr lang="es-ES" dirty="0">
              <a:solidFill>
                <a:schemeClr val="tx1"/>
              </a:solidFill>
            </a:endParaRPr>
          </a:p>
          <a:p>
            <a:r>
              <a:rPr lang="es-ES" dirty="0">
                <a:solidFill>
                  <a:schemeClr val="tx1"/>
                </a:solidFill>
                <a:highlight>
                  <a:srgbClr val="C0C0C0"/>
                </a:highlight>
                <a:hlinkClick r:id="rId8"/>
              </a:rPr>
              <a:t>Enlace </a:t>
            </a:r>
            <a:r>
              <a:rPr lang="es-ES" dirty="0" err="1">
                <a:solidFill>
                  <a:schemeClr val="tx1"/>
                </a:solidFill>
                <a:highlight>
                  <a:srgbClr val="C0C0C0"/>
                </a:highlight>
                <a:hlinkClick r:id="rId8"/>
              </a:rPr>
              <a:t>Github</a:t>
            </a:r>
            <a:endParaRPr lang="es-ES" dirty="0">
              <a:solidFill>
                <a:schemeClr val="tx1"/>
              </a:solidFill>
              <a:highlight>
                <a:srgbClr val="C0C0C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24585" y="3919863"/>
            <a:ext cx="2794142" cy="840571"/>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5924585" y="92108"/>
            <a:ext cx="2254050" cy="307777"/>
          </a:xfrm>
          <a:prstGeom prst="rect">
            <a:avLst/>
          </a:prstGeom>
          <a:noFill/>
        </p:spPr>
        <p:txBody>
          <a:bodyPr wrap="square" rtlCol="0">
            <a:spAutoFit/>
          </a:bodyPr>
          <a:lstStyle/>
          <a:p>
            <a:r>
              <a:rPr lang="es-ES" dirty="0">
                <a:latin typeface="Arial Black" panose="020B0A04020102020204" pitchFamily="34" charset="0"/>
              </a:rPr>
              <a:t>Grado en Estadística</a:t>
            </a:r>
          </a:p>
        </p:txBody>
      </p:sp>
      <p:pic>
        <p:nvPicPr>
          <p:cNvPr id="3" name="Picture 2" descr="Blue text on a white background&#10;&#10;Description automatically generated">
            <a:extLst>
              <a:ext uri="{FF2B5EF4-FFF2-40B4-BE49-F238E27FC236}">
                <a16:creationId xmlns:a16="http://schemas.microsoft.com/office/drawing/2014/main" id="{4190149F-5BE5-2724-2BF0-29C1E8FFDF3D}"/>
              </a:ext>
            </a:extLst>
          </p:cNvPr>
          <p:cNvPicPr>
            <a:picLocks noChangeAspect="1"/>
          </p:cNvPicPr>
          <p:nvPr/>
        </p:nvPicPr>
        <p:blipFill>
          <a:blip r:embed="rId10"/>
          <a:stretch>
            <a:fillRect/>
          </a:stretch>
        </p:blipFill>
        <p:spPr>
          <a:xfrm>
            <a:off x="1189265" y="3988006"/>
            <a:ext cx="2603500" cy="781050"/>
          </a:xfrm>
          <a:prstGeom prst="rect">
            <a:avLst/>
          </a:prstGeom>
        </p:spPr>
      </p:pic>
      <p:sp>
        <p:nvSpPr>
          <p:cNvPr id="7" name="CuadroTexto 5">
            <a:extLst>
              <a:ext uri="{FF2B5EF4-FFF2-40B4-BE49-F238E27FC236}">
                <a16:creationId xmlns:a16="http://schemas.microsoft.com/office/drawing/2014/main" id="{2406FEDD-85BD-5DD4-065C-516FA724A815}"/>
              </a:ext>
            </a:extLst>
          </p:cNvPr>
          <p:cNvSpPr txBox="1"/>
          <p:nvPr/>
        </p:nvSpPr>
        <p:spPr>
          <a:xfrm>
            <a:off x="874163" y="92109"/>
            <a:ext cx="2254050" cy="307777"/>
          </a:xfrm>
          <a:prstGeom prst="rect">
            <a:avLst/>
          </a:prstGeom>
          <a:noFill/>
        </p:spPr>
        <p:txBody>
          <a:bodyPr wrap="square" rtlCol="0">
            <a:spAutoFit/>
          </a:bodyPr>
          <a:lstStyle/>
          <a:p>
            <a:r>
              <a:rPr lang="es-ES" dirty="0">
                <a:latin typeface="Arial Black" panose="020B0A04020102020204" pitchFamily="34" charset="0"/>
              </a:rPr>
              <a:t>Minería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003002" y="25989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graphicFrame>
        <p:nvGraphicFramePr>
          <p:cNvPr id="3" name="Table 2">
            <a:extLst>
              <a:ext uri="{FF2B5EF4-FFF2-40B4-BE49-F238E27FC236}">
                <a16:creationId xmlns:a16="http://schemas.microsoft.com/office/drawing/2014/main" id="{792EB573-F103-5ABA-06F9-E7F7227DCADD}"/>
              </a:ext>
            </a:extLst>
          </p:cNvPr>
          <p:cNvGraphicFramePr>
            <a:graphicFrameLocks noGrp="1"/>
          </p:cNvGraphicFramePr>
          <p:nvPr>
            <p:extLst>
              <p:ext uri="{D42A27DB-BD31-4B8C-83A1-F6EECF244321}">
                <p14:modId xmlns:p14="http://schemas.microsoft.com/office/powerpoint/2010/main" val="2465489480"/>
              </p:ext>
            </p:extLst>
          </p:nvPr>
        </p:nvGraphicFramePr>
        <p:xfrm>
          <a:off x="170035" y="914400"/>
          <a:ext cx="7318978" cy="3682224"/>
        </p:xfrm>
        <a:graphic>
          <a:graphicData uri="http://schemas.openxmlformats.org/drawingml/2006/table">
            <a:tbl>
              <a:tblPr firstRow="1" bandRow="1">
                <a:tableStyleId>{5C22544A-7EE6-4342-B048-85BDC9FD1C3A}</a:tableStyleId>
              </a:tblPr>
              <a:tblGrid>
                <a:gridCol w="2172643">
                  <a:extLst>
                    <a:ext uri="{9D8B030D-6E8A-4147-A177-3AD203B41FA5}">
                      <a16:colId xmlns:a16="http://schemas.microsoft.com/office/drawing/2014/main" val="20000"/>
                    </a:ext>
                  </a:extLst>
                </a:gridCol>
                <a:gridCol w="5146335">
                  <a:extLst>
                    <a:ext uri="{9D8B030D-6E8A-4147-A177-3AD203B41FA5}">
                      <a16:colId xmlns:a16="http://schemas.microsoft.com/office/drawing/2014/main" val="20001"/>
                    </a:ext>
                  </a:extLst>
                </a:gridCol>
              </a:tblGrid>
              <a:tr h="554796">
                <a:tc>
                  <a:txBody>
                    <a:bodyPr/>
                    <a:lstStyle/>
                    <a:p>
                      <a:pPr algn="l">
                        <a:defRPr sz="1400" b="1">
                          <a:solidFill>
                            <a:srgbClr val="00468C"/>
                          </a:solidFill>
                        </a:defRPr>
                      </a:pPr>
                      <a:r>
                        <a:rPr sz="1200" dirty="0" err="1"/>
                        <a:t>Resumen</a:t>
                      </a:r>
                      <a:r>
                        <a:rPr sz="1200" dirty="0"/>
                        <a:t> del </a:t>
                      </a:r>
                      <a:r>
                        <a:rPr sz="1200" dirty="0" err="1"/>
                        <a:t>problema</a:t>
                      </a:r>
                      <a:endParaRPr sz="1200" dirty="0"/>
                    </a:p>
                  </a:txBody>
                  <a:tcPr/>
                </a:tc>
                <a:tc>
                  <a:txBody>
                    <a:bodyPr/>
                    <a:lstStyle/>
                    <a:p>
                      <a:pPr algn="l">
                        <a:defRPr sz="1200"/>
                      </a:pPr>
                      <a:r>
                        <a:rPr lang="en-GB" i="1" dirty="0" err="1">
                          <a:solidFill>
                            <a:schemeClr val="tx1"/>
                          </a:solidFill>
                        </a:rPr>
                        <a:t>Clasificar</a:t>
                      </a:r>
                      <a:r>
                        <a:rPr lang="en-GB" i="1" dirty="0">
                          <a:solidFill>
                            <a:schemeClr val="tx1"/>
                          </a:solidFill>
                        </a:rPr>
                        <a:t> </a:t>
                      </a:r>
                      <a:r>
                        <a:rPr lang="en-GB" i="1" dirty="0" err="1">
                          <a:solidFill>
                            <a:schemeClr val="tx1"/>
                          </a:solidFill>
                        </a:rPr>
                        <a:t>clientes</a:t>
                      </a:r>
                      <a:r>
                        <a:rPr lang="en-GB" i="1" dirty="0">
                          <a:solidFill>
                            <a:schemeClr val="tx1"/>
                          </a:solidFill>
                        </a:rPr>
                        <a:t> </a:t>
                      </a:r>
                      <a:r>
                        <a:rPr lang="en-GB" i="1" dirty="0" err="1">
                          <a:solidFill>
                            <a:schemeClr val="tx1"/>
                          </a:solidFill>
                        </a:rPr>
                        <a:t>bancarios</a:t>
                      </a:r>
                      <a:r>
                        <a:rPr lang="en-GB" i="1" dirty="0">
                          <a:solidFill>
                            <a:schemeClr val="tx1"/>
                          </a:solidFill>
                        </a:rPr>
                        <a:t> </a:t>
                      </a:r>
                      <a:r>
                        <a:rPr lang="en-GB" i="1" dirty="0" err="1">
                          <a:solidFill>
                            <a:schemeClr val="tx1"/>
                          </a:solidFill>
                        </a:rPr>
                        <a:t>según</a:t>
                      </a:r>
                      <a:r>
                        <a:rPr lang="en-GB" i="1" dirty="0">
                          <a:solidFill>
                            <a:schemeClr val="tx1"/>
                          </a:solidFill>
                        </a:rPr>
                        <a:t> </a:t>
                      </a:r>
                      <a:r>
                        <a:rPr lang="en-GB" i="1" dirty="0" err="1">
                          <a:solidFill>
                            <a:schemeClr val="tx1"/>
                          </a:solidFill>
                        </a:rPr>
                        <a:t>riesgo</a:t>
                      </a:r>
                      <a:r>
                        <a:rPr lang="en-GB" i="1" dirty="0">
                          <a:solidFill>
                            <a:schemeClr val="tx1"/>
                          </a:solidFill>
                        </a:rPr>
                        <a:t> de </a:t>
                      </a:r>
                      <a:r>
                        <a:rPr lang="en-GB" i="1" dirty="0" err="1">
                          <a:solidFill>
                            <a:schemeClr val="tx1"/>
                          </a:solidFill>
                        </a:rPr>
                        <a:t>abandono</a:t>
                      </a:r>
                      <a:r>
                        <a:rPr lang="en-GB" i="1" dirty="0">
                          <a:solidFill>
                            <a:schemeClr val="tx1"/>
                          </a:solidFill>
                        </a:rPr>
                        <a:t> </a:t>
                      </a:r>
                      <a:r>
                        <a:rPr lang="en-GB" i="1" dirty="0" err="1">
                          <a:solidFill>
                            <a:schemeClr val="tx1"/>
                          </a:solidFill>
                        </a:rPr>
                        <a:t>mediante</a:t>
                      </a:r>
                      <a:r>
                        <a:rPr lang="en-GB" i="1" dirty="0">
                          <a:solidFill>
                            <a:schemeClr val="tx1"/>
                          </a:solidFill>
                        </a:rPr>
                        <a:t> variables del </a:t>
                      </a:r>
                      <a:r>
                        <a:rPr lang="en-GB" i="1" dirty="0" err="1">
                          <a:solidFill>
                            <a:schemeClr val="tx1"/>
                          </a:solidFill>
                        </a:rPr>
                        <a:t>usuario</a:t>
                      </a:r>
                      <a:r>
                        <a:rPr lang="en-GB" dirty="0">
                          <a:solidFill>
                            <a:schemeClr val="tx1"/>
                          </a:solidFill>
                        </a:rPr>
                        <a:t>.</a:t>
                      </a:r>
                      <a:endParaRPr dirty="0">
                        <a:solidFill>
                          <a:schemeClr val="tx1"/>
                        </a:solidFill>
                      </a:endParaRPr>
                    </a:p>
                  </a:txBody>
                  <a:tcPr/>
                </a:tc>
                <a:extLst>
                  <a:ext uri="{0D108BD9-81ED-4DB2-BD59-A6C34878D82A}">
                    <a16:rowId xmlns:a16="http://schemas.microsoft.com/office/drawing/2014/main" val="10000"/>
                  </a:ext>
                </a:extLst>
              </a:tr>
              <a:tr h="554796">
                <a:tc>
                  <a:txBody>
                    <a:bodyPr/>
                    <a:lstStyle/>
                    <a:p>
                      <a:pPr algn="l">
                        <a:defRPr sz="1400" b="1">
                          <a:solidFill>
                            <a:srgbClr val="00468C"/>
                          </a:solidFill>
                        </a:defRPr>
                      </a:pPr>
                      <a:r>
                        <a:rPr dirty="0" err="1"/>
                        <a:t>Contexto</a:t>
                      </a:r>
                      <a:r>
                        <a:rPr dirty="0"/>
                        <a:t> de </a:t>
                      </a:r>
                      <a:r>
                        <a:rPr dirty="0" err="1"/>
                        <a:t>aplicación</a:t>
                      </a:r>
                      <a:endParaRPr dirty="0"/>
                    </a:p>
                  </a:txBody>
                  <a:tcPr/>
                </a:tc>
                <a:tc>
                  <a:txBody>
                    <a:bodyPr/>
                    <a:lstStyle/>
                    <a:p>
                      <a:pPr algn="l">
                        <a:defRPr sz="1200"/>
                      </a:pPr>
                      <a:r>
                        <a:rPr lang="en-GB" dirty="0"/>
                        <a:t>Identidad </a:t>
                      </a:r>
                      <a:r>
                        <a:rPr lang="en-GB" dirty="0" err="1"/>
                        <a:t>Bancaria</a:t>
                      </a:r>
                      <a:r>
                        <a:rPr lang="en-GB" dirty="0"/>
                        <a:t>           </a:t>
                      </a:r>
                      <a:r>
                        <a:rPr lang="en-GB" dirty="0" err="1"/>
                        <a:t>busca</a:t>
                      </a:r>
                      <a:r>
                        <a:rPr lang="en-GB" dirty="0"/>
                        <a:t> </a:t>
                      </a:r>
                      <a:r>
                        <a:rPr lang="en-GB" dirty="0" err="1"/>
                        <a:t>identificar</a:t>
                      </a:r>
                      <a:r>
                        <a:rPr lang="en-GB" dirty="0"/>
                        <a:t> </a:t>
                      </a:r>
                      <a:r>
                        <a:rPr lang="en-GB" dirty="0" err="1"/>
                        <a:t>causas</a:t>
                      </a:r>
                      <a:r>
                        <a:rPr lang="en-GB" dirty="0"/>
                        <a:t> del </a:t>
                      </a:r>
                      <a:r>
                        <a:rPr lang="en-GB" dirty="0" err="1"/>
                        <a:t>abandono</a:t>
                      </a:r>
                      <a:r>
                        <a:rPr lang="en-GB" dirty="0"/>
                        <a:t> de sus </a:t>
                      </a:r>
                      <a:r>
                        <a:rPr lang="en-GB" dirty="0" err="1"/>
                        <a:t>clientes</a:t>
                      </a:r>
                      <a:endParaRPr dirty="0"/>
                    </a:p>
                  </a:txBody>
                  <a:tcPr/>
                </a:tc>
                <a:extLst>
                  <a:ext uri="{0D108BD9-81ED-4DB2-BD59-A6C34878D82A}">
                    <a16:rowId xmlns:a16="http://schemas.microsoft.com/office/drawing/2014/main" val="10001"/>
                  </a:ext>
                </a:extLst>
              </a:tr>
              <a:tr h="554796">
                <a:tc>
                  <a:txBody>
                    <a:bodyPr/>
                    <a:lstStyle/>
                    <a:p>
                      <a:pPr algn="l">
                        <a:defRPr sz="1400" b="1">
                          <a:solidFill>
                            <a:srgbClr val="00468C"/>
                          </a:solidFill>
                        </a:defRPr>
                      </a:pPr>
                      <a:r>
                        <a:t>Objetivo principal</a:t>
                      </a:r>
                    </a:p>
                  </a:txBody>
                  <a:tcPr/>
                </a:tc>
                <a:tc>
                  <a:txBody>
                    <a:bodyPr/>
                    <a:lstStyle/>
                    <a:p>
                      <a:pPr algn="l">
                        <a:defRPr sz="1200"/>
                      </a:pPr>
                      <a:r>
                        <a:rPr dirty="0" err="1"/>
                        <a:t>Modelizar</a:t>
                      </a:r>
                      <a:r>
                        <a:rPr dirty="0"/>
                        <a:t> la </a:t>
                      </a:r>
                      <a:r>
                        <a:rPr dirty="0" err="1"/>
                        <a:t>pérdida</a:t>
                      </a:r>
                      <a:r>
                        <a:rPr dirty="0"/>
                        <a:t> de </a:t>
                      </a:r>
                      <a:r>
                        <a:rPr dirty="0" err="1"/>
                        <a:t>clientes</a:t>
                      </a:r>
                      <a:r>
                        <a:rPr dirty="0"/>
                        <a:t> (churn) </a:t>
                      </a:r>
                      <a:r>
                        <a:rPr dirty="0" err="1"/>
                        <a:t>en</a:t>
                      </a:r>
                      <a:r>
                        <a:rPr dirty="0"/>
                        <a:t> </a:t>
                      </a:r>
                      <a:r>
                        <a:rPr dirty="0" err="1"/>
                        <a:t>función</a:t>
                      </a:r>
                      <a:r>
                        <a:rPr dirty="0"/>
                        <a:t> de variables del </a:t>
                      </a:r>
                      <a:r>
                        <a:rPr dirty="0" err="1"/>
                        <a:t>usuario</a:t>
                      </a:r>
                      <a:r>
                        <a:rPr dirty="0"/>
                        <a:t>.</a:t>
                      </a:r>
                    </a:p>
                  </a:txBody>
                  <a:tcPr/>
                </a:tc>
                <a:extLst>
                  <a:ext uri="{0D108BD9-81ED-4DB2-BD59-A6C34878D82A}">
                    <a16:rowId xmlns:a16="http://schemas.microsoft.com/office/drawing/2014/main" val="10002"/>
                  </a:ext>
                </a:extLst>
              </a:tr>
              <a:tr h="612776">
                <a:tc>
                  <a:txBody>
                    <a:bodyPr/>
                    <a:lstStyle/>
                    <a:p>
                      <a:pPr algn="l">
                        <a:defRPr sz="1400" b="1">
                          <a:solidFill>
                            <a:srgbClr val="00468C"/>
                          </a:solidFill>
                        </a:defRPr>
                      </a:pPr>
                      <a:r>
                        <a:t>Objetivos secundarios</a:t>
                      </a:r>
                    </a:p>
                  </a:txBody>
                  <a:tcPr/>
                </a:tc>
                <a:tc>
                  <a:txBody>
                    <a:bodyPr/>
                    <a:lstStyle/>
                    <a:p>
                      <a:pPr algn="l">
                        <a:defRPr sz="1200"/>
                      </a:pPr>
                      <a:r>
                        <a:rPr dirty="0"/>
                        <a:t>• </a:t>
                      </a:r>
                      <a:r>
                        <a:rPr dirty="0" err="1"/>
                        <a:t>Analizar</a:t>
                      </a:r>
                      <a:r>
                        <a:rPr dirty="0"/>
                        <a:t> la </a:t>
                      </a:r>
                      <a:r>
                        <a:rPr dirty="0" err="1"/>
                        <a:t>estructura</a:t>
                      </a:r>
                      <a:r>
                        <a:rPr dirty="0"/>
                        <a:t> de </a:t>
                      </a:r>
                      <a:r>
                        <a:rPr dirty="0" err="1"/>
                        <a:t>los</a:t>
                      </a:r>
                      <a:r>
                        <a:rPr dirty="0"/>
                        <a:t> </a:t>
                      </a:r>
                      <a:r>
                        <a:rPr dirty="0" err="1"/>
                        <a:t>datos</a:t>
                      </a:r>
                      <a:r>
                        <a:rPr dirty="0"/>
                        <a:t>.</a:t>
                      </a:r>
                      <a:br>
                        <a:rPr dirty="0"/>
                      </a:br>
                      <a:r>
                        <a:rPr dirty="0"/>
                        <a:t>• </a:t>
                      </a:r>
                      <a:r>
                        <a:rPr dirty="0" err="1"/>
                        <a:t>Identificar</a:t>
                      </a:r>
                      <a:r>
                        <a:rPr dirty="0"/>
                        <a:t> </a:t>
                      </a:r>
                      <a:r>
                        <a:rPr dirty="0" err="1"/>
                        <a:t>relaciones</a:t>
                      </a:r>
                      <a:r>
                        <a:rPr dirty="0"/>
                        <a:t> entre variables.</a:t>
                      </a:r>
                      <a:br>
                        <a:rPr dirty="0"/>
                      </a:br>
                      <a:r>
                        <a:rPr dirty="0"/>
                        <a:t>• </a:t>
                      </a:r>
                      <a:r>
                        <a:rPr dirty="0" err="1"/>
                        <a:t>Evaluar</a:t>
                      </a:r>
                      <a:r>
                        <a:rPr dirty="0"/>
                        <a:t> la </a:t>
                      </a:r>
                      <a:r>
                        <a:rPr dirty="0" err="1"/>
                        <a:t>influencia</a:t>
                      </a:r>
                      <a:r>
                        <a:rPr dirty="0"/>
                        <a:t> de las variables </a:t>
                      </a:r>
                      <a:r>
                        <a:rPr dirty="0" err="1"/>
                        <a:t>en</a:t>
                      </a:r>
                      <a:r>
                        <a:rPr dirty="0"/>
                        <a:t> la </a:t>
                      </a:r>
                      <a:r>
                        <a:rPr dirty="0" err="1"/>
                        <a:t>permanencia</a:t>
                      </a:r>
                      <a:r>
                        <a:rPr dirty="0"/>
                        <a:t> del </a:t>
                      </a:r>
                      <a:r>
                        <a:rPr dirty="0" err="1"/>
                        <a:t>cliente</a:t>
                      </a:r>
                      <a:r>
                        <a:rPr dirty="0"/>
                        <a:t>.</a:t>
                      </a:r>
                    </a:p>
                  </a:txBody>
                  <a:tcPr/>
                </a:tc>
                <a:extLst>
                  <a:ext uri="{0D108BD9-81ED-4DB2-BD59-A6C34878D82A}">
                    <a16:rowId xmlns:a16="http://schemas.microsoft.com/office/drawing/2014/main" val="10003"/>
                  </a:ext>
                </a:extLst>
              </a:tr>
              <a:tr h="787855">
                <a:tc>
                  <a:txBody>
                    <a:bodyPr/>
                    <a:lstStyle/>
                    <a:p>
                      <a:pPr algn="l">
                        <a:defRPr sz="1400" b="1">
                          <a:solidFill>
                            <a:srgbClr val="00468C"/>
                          </a:solidFill>
                        </a:defRPr>
                      </a:pPr>
                      <a:r>
                        <a:t>KPIs de control (modelo)</a:t>
                      </a:r>
                    </a:p>
                  </a:txBody>
                  <a:tcPr/>
                </a:tc>
                <a:tc>
                  <a:txBody>
                    <a:bodyPr/>
                    <a:lstStyle/>
                    <a:p>
                      <a:pPr algn="l">
                        <a:defRPr sz="1200"/>
                      </a:pPr>
                      <a:r>
                        <a:rPr dirty="0"/>
                        <a:t>• Accuracy</a:t>
                      </a:r>
                      <a:br>
                        <a:rPr dirty="0"/>
                      </a:br>
                      <a:r>
                        <a:rPr dirty="0"/>
                        <a:t>• Precision / Recall</a:t>
                      </a:r>
                      <a:br>
                        <a:rPr dirty="0"/>
                      </a:br>
                      <a:r>
                        <a:rPr dirty="0"/>
                        <a:t>• F1-Score</a:t>
                      </a:r>
                      <a:br>
                        <a:rPr dirty="0"/>
                      </a:br>
                      <a:r>
                        <a:rPr dirty="0"/>
                        <a:t>• AUC-ROC</a:t>
                      </a:r>
                    </a:p>
                  </a:txBody>
                  <a:tcPr/>
                </a:tc>
                <a:extLst>
                  <a:ext uri="{0D108BD9-81ED-4DB2-BD59-A6C34878D82A}">
                    <a16:rowId xmlns:a16="http://schemas.microsoft.com/office/drawing/2014/main" val="10004"/>
                  </a:ext>
                </a:extLst>
              </a:tr>
              <a:tr h="554796">
                <a:tc>
                  <a:txBody>
                    <a:bodyPr/>
                    <a:lstStyle/>
                    <a:p>
                      <a:pPr algn="l">
                        <a:defRPr sz="1400" b="1">
                          <a:solidFill>
                            <a:srgbClr val="00468C"/>
                          </a:solidFill>
                        </a:defRPr>
                      </a:pPr>
                      <a:r>
                        <a:t>KPI de negocio</a:t>
                      </a:r>
                    </a:p>
                  </a:txBody>
                  <a:tcPr/>
                </a:tc>
                <a:tc>
                  <a:txBody>
                    <a:bodyPr/>
                    <a:lstStyle/>
                    <a:p>
                      <a:pPr algn="l">
                        <a:defRPr sz="1200"/>
                      </a:pPr>
                      <a:r>
                        <a:rPr dirty="0"/>
                        <a:t>Tasa de </a:t>
                      </a:r>
                      <a:r>
                        <a:rPr dirty="0" err="1"/>
                        <a:t>retención</a:t>
                      </a:r>
                      <a:r>
                        <a:rPr dirty="0"/>
                        <a:t> de </a:t>
                      </a:r>
                      <a:r>
                        <a:rPr dirty="0" err="1"/>
                        <a:t>clientes</a:t>
                      </a:r>
                      <a:r>
                        <a:rPr dirty="0"/>
                        <a:t>.</a:t>
                      </a:r>
                    </a:p>
                  </a:txBody>
                  <a:tcPr/>
                </a:tc>
                <a:extLst>
                  <a:ext uri="{0D108BD9-81ED-4DB2-BD59-A6C34878D82A}">
                    <a16:rowId xmlns:a16="http://schemas.microsoft.com/office/drawing/2014/main" val="10005"/>
                  </a:ext>
                </a:extLst>
              </a:tr>
            </a:tbl>
          </a:graphicData>
        </a:graphic>
      </p:graphicFrame>
      <p:cxnSp>
        <p:nvCxnSpPr>
          <p:cNvPr id="5" name="Straight Arrow Connector 4">
            <a:extLst>
              <a:ext uri="{FF2B5EF4-FFF2-40B4-BE49-F238E27FC236}">
                <a16:creationId xmlns:a16="http://schemas.microsoft.com/office/drawing/2014/main" id="{0F658CDA-9847-DA7E-FDD6-1BC6CE6CDF57}"/>
              </a:ext>
            </a:extLst>
          </p:cNvPr>
          <p:cNvCxnSpPr>
            <a:cxnSpLocks/>
          </p:cNvCxnSpPr>
          <p:nvPr/>
        </p:nvCxnSpPr>
        <p:spPr>
          <a:xfrm>
            <a:off x="3829524" y="1636004"/>
            <a:ext cx="3022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black and white logo&#10;&#10;AI-generated content may be incorrect.">
            <a:extLst>
              <a:ext uri="{FF2B5EF4-FFF2-40B4-BE49-F238E27FC236}">
                <a16:creationId xmlns:a16="http://schemas.microsoft.com/office/drawing/2014/main" id="{6664B0D6-20C8-9600-1FDB-D0932C2A16BC}"/>
              </a:ext>
            </a:extLst>
          </p:cNvPr>
          <p:cNvPicPr>
            <a:picLocks noChangeAspect="1"/>
          </p:cNvPicPr>
          <p:nvPr/>
        </p:nvPicPr>
        <p:blipFill>
          <a:blip r:embed="rId3"/>
          <a:stretch>
            <a:fillRect/>
          </a:stretch>
        </p:blipFill>
        <p:spPr>
          <a:xfrm>
            <a:off x="7489013" y="332509"/>
            <a:ext cx="1566241" cy="130092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53099396"/>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12200"/>
            <a:ext cx="3131238" cy="1231106"/>
          </a:xfrm>
          <a:prstGeom prst="rect">
            <a:avLst/>
          </a:prstGeom>
          <a:noFill/>
        </p:spPr>
        <p:txBody>
          <a:bodyPr wrap="square" rtlCol="0">
            <a:spAutoFit/>
          </a:bodyPr>
          <a:lstStyle/>
          <a:p>
            <a:pPr marL="285750" indent="-285750">
              <a:buFont typeface="Arial" panose="020B0604020202020204" pitchFamily="34" charset="0"/>
              <a:buChar char="•"/>
            </a:pPr>
            <a:r>
              <a:rPr lang="en-GB" sz="1200" dirty="0" err="1"/>
              <a:t>Metodología</a:t>
            </a:r>
            <a:r>
              <a:rPr lang="en-GB" sz="1200" dirty="0"/>
              <a:t>: CRISP-DM (Cross Industry Standard Process for Data Mining)</a:t>
            </a:r>
          </a:p>
          <a:p>
            <a:pPr marL="285750" indent="-285750">
              <a:buFont typeface="Arial" panose="020B0604020202020204" pitchFamily="34" charset="0"/>
              <a:buChar char="•"/>
            </a:pPr>
            <a:r>
              <a:rPr lang="en-GB" sz="1200" dirty="0" err="1"/>
              <a:t>Enfoque</a:t>
            </a:r>
            <a:r>
              <a:rPr lang="en-GB" sz="1200" dirty="0"/>
              <a:t>: </a:t>
            </a:r>
            <a:r>
              <a:rPr lang="en-GB" sz="1200" dirty="0" err="1"/>
              <a:t>Trabajo</a:t>
            </a:r>
            <a:r>
              <a:rPr lang="en-GB" sz="1200" dirty="0"/>
              <a:t> </a:t>
            </a:r>
            <a:r>
              <a:rPr lang="en-GB" sz="1200" dirty="0" err="1"/>
              <a:t>colaborativo</a:t>
            </a:r>
            <a:r>
              <a:rPr lang="en-GB" sz="1200" dirty="0"/>
              <a:t> con </a:t>
            </a:r>
            <a:r>
              <a:rPr lang="en-GB" sz="1200" dirty="0" err="1"/>
              <a:t>asignación</a:t>
            </a:r>
            <a:r>
              <a:rPr lang="en-GB" sz="1200" dirty="0"/>
              <a:t> de </a:t>
            </a:r>
            <a:r>
              <a:rPr lang="en-GB" sz="1200" dirty="0" err="1"/>
              <a:t>responsables</a:t>
            </a:r>
            <a:r>
              <a:rPr lang="en-GB" sz="1200" dirty="0"/>
              <a:t> </a:t>
            </a:r>
            <a:r>
              <a:rPr lang="en-GB" sz="1200" dirty="0" err="1"/>
              <a:t>por</a:t>
            </a:r>
            <a:r>
              <a:rPr lang="en-GB" sz="1200" dirty="0"/>
              <a:t> </a:t>
            </a:r>
            <a:r>
              <a:rPr lang="en-GB" sz="1200" dirty="0" err="1"/>
              <a:t>fase</a:t>
            </a:r>
            <a:endParaRPr lang="en-GB" sz="1200" dirty="0"/>
          </a:p>
          <a:p>
            <a:pPr marL="285750" indent="-285750">
              <a:buFont typeface="Arial" panose="020B0604020202020204" pitchFamily="34" charset="0"/>
              <a:buChar char="•"/>
            </a:pP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74437" y="2250295"/>
            <a:ext cx="2750004" cy="2663526"/>
          </a:xfrm>
          <a:prstGeom prst="rect">
            <a:avLst/>
          </a:prstGeom>
          <a:ln>
            <a:solidFill>
              <a:schemeClr val="bg2"/>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extLst>
      <p:ext uri="{BB962C8B-B14F-4D97-AF65-F5344CB8AC3E}">
        <p14:creationId xmlns:p14="http://schemas.microsoft.com/office/powerpoint/2010/main" val="3817130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pic>
        <p:nvPicPr>
          <p:cNvPr id="6" name="Imagen 5"/>
          <p:cNvPicPr>
            <a:picLocks noChangeAspect="1"/>
          </p:cNvPicPr>
          <p:nvPr/>
        </p:nvPicPr>
        <p:blipFill>
          <a:blip r:embed="rId3"/>
          <a:stretch>
            <a:fillRect/>
          </a:stretch>
        </p:blipFill>
        <p:spPr>
          <a:xfrm>
            <a:off x="20443" y="2251639"/>
            <a:ext cx="4381801" cy="2848282"/>
          </a:xfrm>
          <a:prstGeom prst="rect">
            <a:avLst/>
          </a:prstGeom>
        </p:spPr>
      </p:pic>
      <p:pic>
        <p:nvPicPr>
          <p:cNvPr id="8" name="Imagen 7"/>
          <p:cNvPicPr>
            <a:picLocks noChangeAspect="1"/>
          </p:cNvPicPr>
          <p:nvPr/>
        </p:nvPicPr>
        <p:blipFill>
          <a:blip r:embed="rId4"/>
          <a:stretch>
            <a:fillRect/>
          </a:stretch>
        </p:blipFill>
        <p:spPr>
          <a:xfrm>
            <a:off x="4402244" y="2240217"/>
            <a:ext cx="4626707" cy="2872676"/>
          </a:xfrm>
          <a:prstGeom prst="rect">
            <a:avLst/>
          </a:prstGeom>
        </p:spPr>
      </p:pic>
      <p:sp>
        <p:nvSpPr>
          <p:cNvPr id="2" name="Rounded Rectangle 1">
            <a:extLst>
              <a:ext uri="{FF2B5EF4-FFF2-40B4-BE49-F238E27FC236}">
                <a16:creationId xmlns:a16="http://schemas.microsoft.com/office/drawing/2014/main" id="{FBFCB37C-4001-05C8-8D9E-DAB7D1D18255}"/>
              </a:ext>
            </a:extLst>
          </p:cNvPr>
          <p:cNvSpPr/>
          <p:nvPr/>
        </p:nvSpPr>
        <p:spPr>
          <a:xfrm>
            <a:off x="115049" y="709411"/>
            <a:ext cx="1432397" cy="248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Detección</a:t>
            </a:r>
          </a:p>
        </p:txBody>
      </p:sp>
      <p:sp>
        <p:nvSpPr>
          <p:cNvPr id="3" name="TextBox 2">
            <a:extLst>
              <a:ext uri="{FF2B5EF4-FFF2-40B4-BE49-F238E27FC236}">
                <a16:creationId xmlns:a16="http://schemas.microsoft.com/office/drawing/2014/main" id="{F0342EB7-A386-1AD3-0443-2B2E55CF4E59}"/>
              </a:ext>
            </a:extLst>
          </p:cNvPr>
          <p:cNvSpPr txBox="1"/>
          <p:nvPr/>
        </p:nvSpPr>
        <p:spPr>
          <a:xfrm>
            <a:off x="115049" y="1024623"/>
            <a:ext cx="2589581" cy="1231106"/>
          </a:xfrm>
          <a:prstGeom prst="rect">
            <a:avLst/>
          </a:prstGeom>
          <a:noFill/>
        </p:spPr>
        <p:txBody>
          <a:bodyPr wrap="square" rtlCol="0">
            <a:spAutoFit/>
          </a:bodyPr>
          <a:lstStyle/>
          <a:p>
            <a:r>
              <a:rPr lang="en-GB" sz="1200" b="1" dirty="0"/>
              <a:t>30% </a:t>
            </a:r>
            <a:r>
              <a:rPr lang="en-GB" sz="1200" dirty="0" err="1"/>
              <a:t>en</a:t>
            </a:r>
            <a:r>
              <a:rPr lang="en-GB" sz="1200" dirty="0"/>
              <a:t> </a:t>
            </a:r>
            <a:r>
              <a:rPr lang="en-GB" sz="1200" dirty="0" err="1"/>
              <a:t>todas</a:t>
            </a:r>
            <a:r>
              <a:rPr lang="en-GB" sz="1200" dirty="0"/>
              <a:t> las variables (</a:t>
            </a:r>
            <a:r>
              <a:rPr lang="en-GB" sz="1200" dirty="0" err="1"/>
              <a:t>excepto</a:t>
            </a:r>
            <a:r>
              <a:rPr lang="en-GB" sz="1200" dirty="0"/>
              <a:t> ID)</a:t>
            </a:r>
          </a:p>
          <a:p>
            <a:r>
              <a:rPr lang="en-GB" sz="1200" b="1" dirty="0">
                <a:highlight>
                  <a:srgbClr val="FFFF00"/>
                </a:highlight>
              </a:rPr>
              <a:t>Test MCAR</a:t>
            </a:r>
          </a:p>
          <a:p>
            <a:r>
              <a:rPr lang="en-GB" sz="1200" b="1" dirty="0"/>
              <a:t>p-</a:t>
            </a:r>
            <a:r>
              <a:rPr lang="en-GB" sz="1200" b="1" dirty="0" err="1"/>
              <a:t>valor</a:t>
            </a:r>
            <a:r>
              <a:rPr lang="en-GB" sz="1200" b="1" dirty="0"/>
              <a:t> = 0.39</a:t>
            </a:r>
          </a:p>
          <a:p>
            <a:r>
              <a:rPr lang="en-GB" sz="1200" dirty="0"/>
              <a:t>✓ </a:t>
            </a:r>
            <a:r>
              <a:rPr lang="en-GB" sz="1200" dirty="0" err="1"/>
              <a:t>Aleatoriedad</a:t>
            </a:r>
            <a:r>
              <a:rPr lang="en-GB" sz="1200" dirty="0"/>
              <a:t> </a:t>
            </a:r>
            <a:r>
              <a:rPr lang="en-GB" sz="1200" dirty="0" err="1"/>
              <a:t>confirmada</a:t>
            </a:r>
            <a:endParaRPr lang="en-GB" sz="1200" dirty="0"/>
          </a:p>
          <a:p>
            <a:endParaRPr lang="en-ES" dirty="0"/>
          </a:p>
        </p:txBody>
      </p:sp>
      <p:sp>
        <p:nvSpPr>
          <p:cNvPr id="4" name="TextBox 3">
            <a:extLst>
              <a:ext uri="{FF2B5EF4-FFF2-40B4-BE49-F238E27FC236}">
                <a16:creationId xmlns:a16="http://schemas.microsoft.com/office/drawing/2014/main" id="{DAF17CAC-247E-268B-7A5C-1A3385D97F3B}"/>
              </a:ext>
            </a:extLst>
          </p:cNvPr>
          <p:cNvSpPr txBox="1"/>
          <p:nvPr/>
        </p:nvSpPr>
        <p:spPr>
          <a:xfrm>
            <a:off x="2240937" y="605827"/>
            <a:ext cx="3391877" cy="1269578"/>
          </a:xfrm>
          <a:prstGeom prst="rect">
            <a:avLst/>
          </a:prstGeom>
          <a:noFill/>
        </p:spPr>
        <p:txBody>
          <a:bodyPr wrap="square">
            <a:spAutoFit/>
          </a:bodyPr>
          <a:lstStyle/>
          <a:p>
            <a:pPr algn="l">
              <a:buNone/>
            </a:pPr>
            <a:br>
              <a:rPr lang="en-GB" b="1" i="0" dirty="0">
                <a:solidFill>
                  <a:srgbClr val="030712"/>
                </a:solidFill>
                <a:effectLst/>
                <a:latin typeface="ui-sans-serif"/>
              </a:rPr>
            </a:br>
            <a:r>
              <a:rPr lang="en-GB" sz="1100" b="1" i="0" dirty="0" err="1">
                <a:solidFill>
                  <a:srgbClr val="030712"/>
                </a:solidFill>
                <a:effectLst/>
                <a:latin typeface="ui-sans-serif"/>
              </a:rPr>
              <a:t>Métodos</a:t>
            </a:r>
            <a:r>
              <a:rPr lang="en-GB" sz="1100" b="1" i="0" dirty="0">
                <a:solidFill>
                  <a:srgbClr val="030712"/>
                </a:solidFill>
                <a:effectLst/>
                <a:latin typeface="ui-sans-serif"/>
              </a:rPr>
              <a:t> </a:t>
            </a:r>
            <a:r>
              <a:rPr lang="en-GB" sz="1100" b="1" i="0" dirty="0" err="1">
                <a:solidFill>
                  <a:srgbClr val="030712"/>
                </a:solidFill>
                <a:effectLst/>
                <a:latin typeface="ui-sans-serif"/>
              </a:rPr>
              <a:t>Probados</a:t>
            </a:r>
            <a:r>
              <a:rPr lang="en-GB" sz="1100" b="1" i="0" dirty="0">
                <a:solidFill>
                  <a:srgbClr val="030712"/>
                </a:solidFill>
                <a:effectLst/>
                <a:latin typeface="ui-sans-serif"/>
              </a:rPr>
              <a:t> </a:t>
            </a:r>
            <a:r>
              <a:rPr lang="en-GB" sz="1100" b="1" i="0" dirty="0" err="1">
                <a:solidFill>
                  <a:srgbClr val="030712"/>
                </a:solidFill>
                <a:effectLst/>
                <a:latin typeface="ui-sans-serif"/>
              </a:rPr>
              <a:t>Implementados</a:t>
            </a:r>
            <a:r>
              <a:rPr lang="en-GB" sz="1100" b="1" i="0" dirty="0">
                <a:solidFill>
                  <a:srgbClr val="030712"/>
                </a:solidFill>
                <a:effectLst/>
                <a:latin typeface="ui-sans-serif"/>
              </a:rPr>
              <a:t> </a:t>
            </a:r>
          </a:p>
          <a:p>
            <a:pPr algn="l">
              <a:buNone/>
            </a:pPr>
            <a:r>
              <a:rPr lang="en-GB" sz="1100" b="1" i="0" dirty="0">
                <a:solidFill>
                  <a:srgbClr val="7F1D1D"/>
                </a:solidFill>
                <a:effectLst/>
                <a:latin typeface="ui-sans-serif"/>
              </a:rPr>
              <a:t>- </a:t>
            </a:r>
            <a:r>
              <a:rPr lang="en-GB" sz="1100" b="1" i="0" dirty="0" err="1">
                <a:solidFill>
                  <a:srgbClr val="7F1D1D"/>
                </a:solidFill>
                <a:effectLst/>
                <a:latin typeface="ui-sans-serif"/>
              </a:rPr>
              <a:t>Imputación</a:t>
            </a:r>
            <a:r>
              <a:rPr lang="en-GB" sz="1100" b="1" i="0" dirty="0">
                <a:solidFill>
                  <a:srgbClr val="7F1D1D"/>
                </a:solidFill>
                <a:effectLst/>
                <a:latin typeface="ui-sans-serif"/>
              </a:rPr>
              <a:t> Simple</a:t>
            </a:r>
          </a:p>
          <a:p>
            <a:pPr algn="l">
              <a:buNone/>
            </a:pPr>
            <a:r>
              <a:rPr lang="en-GB" sz="1100" b="0" i="0" dirty="0">
                <a:solidFill>
                  <a:srgbClr val="4B5563"/>
                </a:solidFill>
                <a:effectLst/>
                <a:latin typeface="ui-sans-serif"/>
              </a:rPr>
              <a:t>Media/</a:t>
            </a:r>
            <a:r>
              <a:rPr lang="en-GB" sz="1100" b="0" i="0" dirty="0" err="1">
                <a:solidFill>
                  <a:srgbClr val="4B5563"/>
                </a:solidFill>
                <a:effectLst/>
                <a:latin typeface="ui-sans-serif"/>
              </a:rPr>
              <a:t>mediana</a:t>
            </a:r>
            <a:r>
              <a:rPr lang="en-GB" sz="1100" b="0" i="0" dirty="0">
                <a:solidFill>
                  <a:srgbClr val="4B5563"/>
                </a:solidFill>
                <a:effectLst/>
                <a:latin typeface="ui-sans-serif"/>
              </a:rPr>
              <a:t>/</a:t>
            </a:r>
            <a:r>
              <a:rPr lang="en-GB" sz="1100" b="0" i="0" dirty="0" err="1">
                <a:solidFill>
                  <a:srgbClr val="4B5563"/>
                </a:solidFill>
                <a:effectLst/>
                <a:latin typeface="ui-sans-serif"/>
              </a:rPr>
              <a:t>moda</a:t>
            </a:r>
            <a:endParaRPr lang="en-GB" sz="1100" b="0" i="0" dirty="0">
              <a:solidFill>
                <a:srgbClr val="4B5563"/>
              </a:solidFill>
              <a:effectLst/>
              <a:latin typeface="ui-sans-serif"/>
            </a:endParaRPr>
          </a:p>
          <a:p>
            <a:pPr algn="l">
              <a:buNone/>
            </a:pPr>
            <a:r>
              <a:rPr lang="en-GB" sz="1100" b="0" i="1" dirty="0" err="1">
                <a:solidFill>
                  <a:srgbClr val="B91C1C"/>
                </a:solidFill>
                <a:effectLst/>
                <a:latin typeface="ui-sans-serif"/>
              </a:rPr>
              <a:t>Distorsiona</a:t>
            </a:r>
            <a:r>
              <a:rPr lang="en-GB" sz="1100" b="0" i="1" dirty="0">
                <a:solidFill>
                  <a:srgbClr val="B91C1C"/>
                </a:solidFill>
                <a:effectLst/>
                <a:latin typeface="ui-sans-serif"/>
              </a:rPr>
              <a:t> </a:t>
            </a:r>
            <a:r>
              <a:rPr lang="en-GB" sz="1100" b="0" i="1" dirty="0" err="1">
                <a:solidFill>
                  <a:srgbClr val="B91C1C"/>
                </a:solidFill>
                <a:effectLst/>
                <a:latin typeface="ui-sans-serif"/>
              </a:rPr>
              <a:t>distribuciones</a:t>
            </a:r>
            <a:endParaRPr lang="en-GB" sz="1100" b="0" i="1" dirty="0">
              <a:solidFill>
                <a:srgbClr val="B91C1C"/>
              </a:solidFill>
              <a:effectLst/>
              <a:latin typeface="ui-sans-serif"/>
            </a:endParaRPr>
          </a:p>
          <a:p>
            <a:pPr marL="171450" indent="-171450" algn="l">
              <a:spcBef>
                <a:spcPts val="900"/>
              </a:spcBef>
              <a:buFontTx/>
              <a:buChar char="-"/>
            </a:pPr>
            <a:r>
              <a:rPr lang="en-GB" sz="1100" b="1" i="0" dirty="0">
                <a:solidFill>
                  <a:srgbClr val="713F12"/>
                </a:solidFill>
                <a:effectLst/>
                <a:latin typeface="ui-sans-serif"/>
              </a:rPr>
              <a:t>KNN </a:t>
            </a:r>
            <a:r>
              <a:rPr lang="en-GB" sz="1100" b="1" i="0" dirty="0" err="1">
                <a:solidFill>
                  <a:srgbClr val="713F12"/>
                </a:solidFill>
                <a:effectLst/>
                <a:latin typeface="ui-sans-serif"/>
              </a:rPr>
              <a:t>Multivariante</a:t>
            </a:r>
            <a:endParaRPr lang="en-GB" sz="1100" b="1" dirty="0">
              <a:solidFill>
                <a:srgbClr val="713F12"/>
              </a:solidFill>
              <a:latin typeface="ui-sans-serif"/>
            </a:endParaRPr>
          </a:p>
        </p:txBody>
      </p:sp>
      <p:sp>
        <p:nvSpPr>
          <p:cNvPr id="5" name="TextBox 4">
            <a:extLst>
              <a:ext uri="{FF2B5EF4-FFF2-40B4-BE49-F238E27FC236}">
                <a16:creationId xmlns:a16="http://schemas.microsoft.com/office/drawing/2014/main" id="{AEDDF397-5179-1ABA-E497-DB8D79140BF9}"/>
              </a:ext>
            </a:extLst>
          </p:cNvPr>
          <p:cNvSpPr txBox="1"/>
          <p:nvPr/>
        </p:nvSpPr>
        <p:spPr>
          <a:xfrm>
            <a:off x="3832213" y="1046039"/>
            <a:ext cx="3321538" cy="1331134"/>
          </a:xfrm>
          <a:prstGeom prst="rect">
            <a:avLst/>
          </a:prstGeom>
          <a:noFill/>
        </p:spPr>
        <p:txBody>
          <a:bodyPr wrap="square" rtlCol="0">
            <a:spAutoFit/>
          </a:bodyPr>
          <a:lstStyle/>
          <a:p>
            <a:pPr>
              <a:spcBef>
                <a:spcPts val="900"/>
              </a:spcBef>
            </a:pPr>
            <a:r>
              <a:rPr lang="en-GB" sz="1100" dirty="0">
                <a:solidFill>
                  <a:srgbClr val="4B5563"/>
                </a:solidFill>
                <a:latin typeface="ui-sans-serif"/>
              </a:rPr>
              <a:t>Mejor </a:t>
            </a:r>
            <a:r>
              <a:rPr lang="en-GB" sz="1100" dirty="0" err="1">
                <a:solidFill>
                  <a:srgbClr val="4B5563"/>
                </a:solidFill>
                <a:latin typeface="ui-sans-serif"/>
              </a:rPr>
              <a:t>ajuste</a:t>
            </a:r>
            <a:r>
              <a:rPr lang="en-GB" sz="1100" dirty="0">
                <a:solidFill>
                  <a:srgbClr val="4B5563"/>
                </a:solidFill>
                <a:latin typeface="ui-sans-serif"/>
              </a:rPr>
              <a:t>, </a:t>
            </a:r>
            <a:r>
              <a:rPr lang="en-GB" sz="1100" dirty="0" err="1">
                <a:solidFill>
                  <a:srgbClr val="4B5563"/>
                </a:solidFill>
                <a:latin typeface="ui-sans-serif"/>
              </a:rPr>
              <a:t>pero</a:t>
            </a:r>
            <a:r>
              <a:rPr lang="en-GB" sz="1100" dirty="0">
                <a:solidFill>
                  <a:srgbClr val="4B5563"/>
                </a:solidFill>
                <a:latin typeface="ui-sans-serif"/>
              </a:rPr>
              <a:t> </a:t>
            </a:r>
            <a:r>
              <a:rPr lang="en-GB" sz="1100" dirty="0" err="1">
                <a:solidFill>
                  <a:srgbClr val="4B5563"/>
                </a:solidFill>
                <a:latin typeface="ui-sans-serif"/>
              </a:rPr>
              <a:t>mejorable</a:t>
            </a:r>
            <a:endParaRPr lang="en-GB" sz="1100" dirty="0">
              <a:solidFill>
                <a:srgbClr val="4B5563"/>
              </a:solidFill>
              <a:latin typeface="ui-sans-serif"/>
            </a:endParaRPr>
          </a:p>
          <a:p>
            <a:pPr>
              <a:spcBef>
                <a:spcPts val="900"/>
              </a:spcBef>
            </a:pPr>
            <a:r>
              <a:rPr lang="en-GB" sz="1100" b="1" dirty="0">
                <a:solidFill>
                  <a:srgbClr val="14532D"/>
                </a:solidFill>
                <a:highlight>
                  <a:srgbClr val="FFFF00"/>
                </a:highlight>
                <a:latin typeface="ui-sans-serif"/>
              </a:rPr>
              <a:t>- MICE (</a:t>
            </a:r>
            <a:r>
              <a:rPr lang="en-GB" sz="1100" b="1" dirty="0" err="1">
                <a:solidFill>
                  <a:srgbClr val="14532D"/>
                </a:solidFill>
                <a:highlight>
                  <a:srgbClr val="FFFF00"/>
                </a:highlight>
                <a:latin typeface="ui-sans-serif"/>
              </a:rPr>
              <a:t>Multivariante</a:t>
            </a:r>
            <a:r>
              <a:rPr lang="en-GB" sz="1100" b="1" dirty="0">
                <a:solidFill>
                  <a:srgbClr val="14532D"/>
                </a:solidFill>
                <a:highlight>
                  <a:srgbClr val="FFFF00"/>
                </a:highlight>
                <a:latin typeface="ui-sans-serif"/>
              </a:rPr>
              <a:t>)</a:t>
            </a:r>
          </a:p>
          <a:p>
            <a:pPr>
              <a:spcBef>
                <a:spcPts val="900"/>
              </a:spcBef>
            </a:pPr>
            <a:r>
              <a:rPr lang="en-GB" sz="1100" dirty="0" err="1">
                <a:solidFill>
                  <a:srgbClr val="4B5563"/>
                </a:solidFill>
                <a:latin typeface="ui-sans-serif"/>
              </a:rPr>
              <a:t>Ajuste</a:t>
            </a:r>
            <a:r>
              <a:rPr lang="en-GB" sz="1100" dirty="0">
                <a:solidFill>
                  <a:srgbClr val="4B5563"/>
                </a:solidFill>
                <a:latin typeface="ui-sans-serif"/>
              </a:rPr>
              <a:t> perfecto de </a:t>
            </a:r>
            <a:r>
              <a:rPr lang="en-GB" sz="1100" dirty="0" err="1">
                <a:solidFill>
                  <a:srgbClr val="4B5563"/>
                </a:solidFill>
                <a:latin typeface="ui-sans-serif"/>
              </a:rPr>
              <a:t>distribuciones</a:t>
            </a:r>
            <a:endParaRPr lang="en-GB" sz="1100" dirty="0">
              <a:solidFill>
                <a:srgbClr val="4B5563"/>
              </a:solidFill>
              <a:latin typeface="ui-sans-serif"/>
            </a:endParaRPr>
          </a:p>
          <a:p>
            <a:pPr>
              <a:spcBef>
                <a:spcPts val="900"/>
              </a:spcBef>
            </a:pPr>
            <a:r>
              <a:rPr lang="en-GB" sz="1100" b="1" dirty="0">
                <a:solidFill>
                  <a:srgbClr val="166534"/>
                </a:solidFill>
                <a:latin typeface="ui-sans-serif"/>
              </a:rPr>
              <a:t>✓ MÉTODO SELECCIONADO</a:t>
            </a:r>
          </a:p>
          <a:p>
            <a:endParaRPr lang="en-ES" dirty="0"/>
          </a:p>
        </p:txBody>
      </p:sp>
      <p:cxnSp>
        <p:nvCxnSpPr>
          <p:cNvPr id="9" name="Straight Connector 8">
            <a:extLst>
              <a:ext uri="{FF2B5EF4-FFF2-40B4-BE49-F238E27FC236}">
                <a16:creationId xmlns:a16="http://schemas.microsoft.com/office/drawing/2014/main" id="{8F4C9136-E073-6DF3-B808-213004673361}"/>
              </a:ext>
            </a:extLst>
          </p:cNvPr>
          <p:cNvCxnSpPr/>
          <p:nvPr/>
        </p:nvCxnSpPr>
        <p:spPr>
          <a:xfrm>
            <a:off x="2110153" y="590805"/>
            <a:ext cx="0" cy="1594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071651-6029-0F9E-9E3D-55948F1B663B}"/>
              </a:ext>
            </a:extLst>
          </p:cNvPr>
          <p:cNvCxnSpPr/>
          <p:nvPr/>
        </p:nvCxnSpPr>
        <p:spPr>
          <a:xfrm>
            <a:off x="5920153" y="661390"/>
            <a:ext cx="0" cy="1594339"/>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4F0584E-1220-C583-17A4-FF6564FB82C5}"/>
              </a:ext>
            </a:extLst>
          </p:cNvPr>
          <p:cNvSpPr txBox="1"/>
          <p:nvPr/>
        </p:nvSpPr>
        <p:spPr>
          <a:xfrm>
            <a:off x="5942367" y="674103"/>
            <a:ext cx="3044340" cy="1277273"/>
          </a:xfrm>
          <a:prstGeom prst="rect">
            <a:avLst/>
          </a:prstGeom>
          <a:noFill/>
        </p:spPr>
        <p:txBody>
          <a:bodyPr wrap="square" rtlCol="0">
            <a:spAutoFit/>
          </a:bodyPr>
          <a:lstStyle/>
          <a:p>
            <a:pPr algn="just"/>
            <a:r>
              <a:rPr lang="es-ES" sz="1100" i="1" dirty="0"/>
              <a:t>Finalmente, tras aplicar el método </a:t>
            </a:r>
            <a:r>
              <a:rPr lang="es-ES" sz="1100" b="1" i="1" dirty="0"/>
              <a:t>MICE</a:t>
            </a:r>
            <a:r>
              <a:rPr lang="es-ES" sz="1100" i="1" dirty="0"/>
              <a:t> (multivariante), llegamos a unos resultados muy buenos, encontrando un ajuste prácticamente perfecto de las distribuciones. </a:t>
            </a:r>
          </a:p>
          <a:p>
            <a:pPr algn="just"/>
            <a:endParaRPr lang="es-ES" sz="1100" i="1" dirty="0"/>
          </a:p>
          <a:p>
            <a:pPr algn="just"/>
            <a:r>
              <a:rPr lang="es-ES" sz="1100" i="1" dirty="0"/>
              <a:t>Se decidió validar el método y la base de datos imputada por MICE.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A066745-E63D-F2E0-F30F-FE27600A39A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CBC2E359-E539-DBD1-495A-0EE34D687FD3}"/>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3" name="CuadroTexto 2">
            <a:extLst>
              <a:ext uri="{FF2B5EF4-FFF2-40B4-BE49-F238E27FC236}">
                <a16:creationId xmlns:a16="http://schemas.microsoft.com/office/drawing/2014/main" id="{2EEF3947-4909-7EA1-9CA3-22FEB8ED7AAA}"/>
              </a:ext>
            </a:extLst>
          </p:cNvPr>
          <p:cNvSpPr txBox="1"/>
          <p:nvPr/>
        </p:nvSpPr>
        <p:spPr>
          <a:xfrm>
            <a:off x="299922" y="4096818"/>
            <a:ext cx="8306195" cy="93871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sz="1100" dirty="0">
                <a:solidFill>
                  <a:schemeClr val="tx1"/>
                </a:solidFill>
              </a:rPr>
              <a:t>Se realizó un estudio de </a:t>
            </a:r>
            <a:r>
              <a:rPr lang="es-ES" sz="1100" dirty="0" err="1">
                <a:solidFill>
                  <a:schemeClr val="tx1"/>
                </a:solidFill>
              </a:rPr>
              <a:t>outliers</a:t>
            </a:r>
            <a:r>
              <a:rPr lang="es-ES" sz="1100" dirty="0">
                <a:solidFill>
                  <a:schemeClr val="tx1"/>
                </a:solidFill>
              </a:rPr>
              <a:t> previo y posterior a la imputación, obteniendo los mismos resultados tanto a nivel univariante como multivariante.</a:t>
            </a:r>
          </a:p>
          <a:p>
            <a:endParaRPr lang="es-ES" sz="1100" dirty="0">
              <a:solidFill>
                <a:schemeClr val="tx1"/>
              </a:solidFill>
            </a:endParaRPr>
          </a:p>
          <a:p>
            <a:r>
              <a:rPr lang="es-ES" sz="1100" dirty="0">
                <a:solidFill>
                  <a:schemeClr val="tx1"/>
                </a:solidFill>
              </a:rPr>
              <a:t>Se decidió mantenerlos en la base de datos, ya que suponían una proporción que se puede entender como normal (~4-5%) y no se observaron valores extremos </a:t>
            </a:r>
            <a:r>
              <a:rPr lang="es-ES" sz="1100">
                <a:solidFill>
                  <a:schemeClr val="tx1"/>
                </a:solidFill>
              </a:rPr>
              <a:t>o imposibles.</a:t>
            </a:r>
            <a:endParaRPr lang="es-ES" sz="1100" dirty="0">
              <a:solidFill>
                <a:schemeClr val="tx1"/>
              </a:solidFill>
            </a:endParaRPr>
          </a:p>
        </p:txBody>
      </p:sp>
      <p:graphicFrame>
        <p:nvGraphicFramePr>
          <p:cNvPr id="4" name="Table 3">
            <a:extLst>
              <a:ext uri="{FF2B5EF4-FFF2-40B4-BE49-F238E27FC236}">
                <a16:creationId xmlns:a16="http://schemas.microsoft.com/office/drawing/2014/main" id="{2F750F37-B68E-34B0-D8F6-AE79285CB33A}"/>
              </a:ext>
            </a:extLst>
          </p:cNvPr>
          <p:cNvGraphicFramePr>
            <a:graphicFrameLocks noGrp="1"/>
          </p:cNvGraphicFramePr>
          <p:nvPr>
            <p:extLst>
              <p:ext uri="{D42A27DB-BD31-4B8C-83A1-F6EECF244321}">
                <p14:modId xmlns:p14="http://schemas.microsoft.com/office/powerpoint/2010/main" val="454462927"/>
              </p:ext>
            </p:extLst>
          </p:nvPr>
        </p:nvGraphicFramePr>
        <p:xfrm>
          <a:off x="299923" y="1101572"/>
          <a:ext cx="5398617" cy="1630680"/>
        </p:xfrm>
        <a:graphic>
          <a:graphicData uri="http://schemas.openxmlformats.org/drawingml/2006/table">
            <a:tbl>
              <a:tblPr firstRow="1" bandRow="1">
                <a:tableStyleId>{7FD54D1E-A07F-487E-B709-6B33F1453160}</a:tableStyleId>
              </a:tblPr>
              <a:tblGrid>
                <a:gridCol w="1080507">
                  <a:extLst>
                    <a:ext uri="{9D8B030D-6E8A-4147-A177-3AD203B41FA5}">
                      <a16:colId xmlns:a16="http://schemas.microsoft.com/office/drawing/2014/main" val="2719349731"/>
                    </a:ext>
                  </a:extLst>
                </a:gridCol>
                <a:gridCol w="1439370">
                  <a:extLst>
                    <a:ext uri="{9D8B030D-6E8A-4147-A177-3AD203B41FA5}">
                      <a16:colId xmlns:a16="http://schemas.microsoft.com/office/drawing/2014/main" val="756193211"/>
                    </a:ext>
                  </a:extLst>
                </a:gridCol>
                <a:gridCol w="1439370">
                  <a:extLst>
                    <a:ext uri="{9D8B030D-6E8A-4147-A177-3AD203B41FA5}">
                      <a16:colId xmlns:a16="http://schemas.microsoft.com/office/drawing/2014/main" val="2269585124"/>
                    </a:ext>
                  </a:extLst>
                </a:gridCol>
                <a:gridCol w="1439370">
                  <a:extLst>
                    <a:ext uri="{9D8B030D-6E8A-4147-A177-3AD203B41FA5}">
                      <a16:colId xmlns:a16="http://schemas.microsoft.com/office/drawing/2014/main" val="2733211629"/>
                    </a:ext>
                  </a:extLst>
                </a:gridCol>
              </a:tblGrid>
              <a:tr h="251459">
                <a:tc>
                  <a:txBody>
                    <a:bodyPr/>
                    <a:lstStyle/>
                    <a:p>
                      <a:r>
                        <a:rPr lang="en-ES" sz="1100" b="1" dirty="0"/>
                        <a:t>Nivel</a:t>
                      </a:r>
                    </a:p>
                  </a:txBody>
                  <a:tcPr>
                    <a:solidFill>
                      <a:schemeClr val="accent2"/>
                    </a:solidFill>
                  </a:tcPr>
                </a:tc>
                <a:tc>
                  <a:txBody>
                    <a:bodyPr/>
                    <a:lstStyle/>
                    <a:p>
                      <a:r>
                        <a:rPr lang="en-ES" sz="1100" b="1" dirty="0"/>
                        <a:t>Tipo de Variable </a:t>
                      </a:r>
                    </a:p>
                  </a:txBody>
                  <a:tcPr>
                    <a:solidFill>
                      <a:schemeClr val="accent2"/>
                    </a:solidFill>
                  </a:tcPr>
                </a:tc>
                <a:tc>
                  <a:txBody>
                    <a:bodyPr/>
                    <a:lstStyle/>
                    <a:p>
                      <a:r>
                        <a:rPr lang="en-ES" sz="1100" b="1" dirty="0"/>
                        <a:t>Método</a:t>
                      </a:r>
                    </a:p>
                  </a:txBody>
                  <a:tcPr>
                    <a:solidFill>
                      <a:schemeClr val="accent2"/>
                    </a:solidFill>
                  </a:tcPr>
                </a:tc>
                <a:tc>
                  <a:txBody>
                    <a:bodyPr/>
                    <a:lstStyle/>
                    <a:p>
                      <a:r>
                        <a:rPr lang="en-ES" sz="1100" b="1" dirty="0"/>
                        <a:t>Criterio</a:t>
                      </a:r>
                    </a:p>
                  </a:txBody>
                  <a:tcPr>
                    <a:solidFill>
                      <a:schemeClr val="accent2"/>
                    </a:solidFill>
                  </a:tcPr>
                </a:tc>
                <a:extLst>
                  <a:ext uri="{0D108BD9-81ED-4DB2-BD59-A6C34878D82A}">
                    <a16:rowId xmlns:a16="http://schemas.microsoft.com/office/drawing/2014/main" val="2692643317"/>
                  </a:ext>
                </a:extLst>
              </a:tr>
              <a:tr h="251459">
                <a:tc>
                  <a:txBody>
                    <a:bodyPr/>
                    <a:lstStyle/>
                    <a:p>
                      <a:r>
                        <a:rPr lang="en-ES" sz="1100" dirty="0"/>
                        <a:t>Univariante</a:t>
                      </a:r>
                    </a:p>
                  </a:txBody>
                  <a:tcPr/>
                </a:tc>
                <a:tc>
                  <a:txBody>
                    <a:bodyPr/>
                    <a:lstStyle/>
                    <a:p>
                      <a:r>
                        <a:rPr lang="en-GB" sz="1100" dirty="0" err="1"/>
                        <a:t>Simétricas</a:t>
                      </a:r>
                      <a:endParaRPr lang="en-ES" sz="1100" dirty="0"/>
                    </a:p>
                  </a:txBody>
                  <a:tcPr/>
                </a:tc>
                <a:tc>
                  <a:txBody>
                    <a:bodyPr/>
                    <a:lstStyle/>
                    <a:p>
                      <a:r>
                        <a:rPr lang="en-ES" sz="1100" dirty="0"/>
                        <a:t>IQR</a:t>
                      </a:r>
                    </a:p>
                  </a:txBody>
                  <a:tcPr/>
                </a:tc>
                <a:tc>
                  <a:txBody>
                    <a:bodyPr/>
                    <a:lstStyle/>
                    <a:p>
                      <a:r>
                        <a:rPr lang="en-GB" sz="1100" dirty="0"/>
                        <a:t>1.5 × IQR</a:t>
                      </a:r>
                      <a:endParaRPr lang="en-ES" sz="1100" dirty="0"/>
                    </a:p>
                  </a:txBody>
                  <a:tcPr/>
                </a:tc>
                <a:extLst>
                  <a:ext uri="{0D108BD9-81ED-4DB2-BD59-A6C34878D82A}">
                    <a16:rowId xmlns:a16="http://schemas.microsoft.com/office/drawing/2014/main" val="776635213"/>
                  </a:ext>
                </a:extLst>
              </a:tr>
              <a:tr h="251459">
                <a:tc>
                  <a:txBody>
                    <a:bodyPr/>
                    <a:lstStyle/>
                    <a:p>
                      <a:r>
                        <a:rPr lang="en-ES" sz="1100" dirty="0"/>
                        <a:t>Univariante </a:t>
                      </a:r>
                    </a:p>
                  </a:txBody>
                  <a:tcPr/>
                </a:tc>
                <a:tc>
                  <a:txBody>
                    <a:bodyPr/>
                    <a:lstStyle/>
                    <a:p>
                      <a:r>
                        <a:rPr lang="en-GB" sz="1100" dirty="0"/>
                        <a:t>No </a:t>
                      </a:r>
                      <a:r>
                        <a:rPr lang="en-GB" sz="1100" dirty="0" err="1"/>
                        <a:t>simétricas</a:t>
                      </a:r>
                      <a:endParaRPr lang="en-ES" sz="1100" dirty="0"/>
                    </a:p>
                  </a:txBody>
                  <a:tcPr/>
                </a:tc>
                <a:tc>
                  <a:txBody>
                    <a:bodyPr/>
                    <a:lstStyle/>
                    <a:p>
                      <a:r>
                        <a:rPr lang="en-ES" sz="1100" dirty="0"/>
                        <a:t>Hampel</a:t>
                      </a:r>
                    </a:p>
                  </a:txBody>
                  <a:tcPr/>
                </a:tc>
                <a:tc>
                  <a:txBody>
                    <a:bodyPr/>
                    <a:lstStyle/>
                    <a:p>
                      <a:r>
                        <a:rPr lang="en-GB" sz="1100" dirty="0"/>
                        <a:t>Mediana + MAD</a:t>
                      </a:r>
                      <a:endParaRPr lang="en-ES" sz="1100" dirty="0"/>
                    </a:p>
                  </a:txBody>
                  <a:tcPr/>
                </a:tc>
                <a:extLst>
                  <a:ext uri="{0D108BD9-81ED-4DB2-BD59-A6C34878D82A}">
                    <a16:rowId xmlns:a16="http://schemas.microsoft.com/office/drawing/2014/main" val="2493077629"/>
                  </a:ext>
                </a:extLst>
              </a:tr>
              <a:tr h="251459">
                <a:tc>
                  <a:txBody>
                    <a:bodyPr/>
                    <a:lstStyle/>
                    <a:p>
                      <a:r>
                        <a:rPr lang="en-ES" sz="1100" dirty="0"/>
                        <a:t>Univariante </a:t>
                      </a:r>
                    </a:p>
                  </a:txBody>
                  <a:tcPr/>
                </a:tc>
                <a:tc>
                  <a:txBody>
                    <a:bodyPr/>
                    <a:lstStyle/>
                    <a:p>
                      <a:r>
                        <a:rPr lang="en-GB" sz="1100" dirty="0" err="1"/>
                        <a:t>Categóricas</a:t>
                      </a:r>
                      <a:endParaRPr lang="en-ES" sz="1100" dirty="0"/>
                    </a:p>
                  </a:txBody>
                  <a:tcPr/>
                </a:tc>
                <a:tc>
                  <a:txBody>
                    <a:bodyPr/>
                    <a:lstStyle/>
                    <a:p>
                      <a:r>
                        <a:rPr lang="en-GB" sz="1100" dirty="0" err="1"/>
                        <a:t>Frecuencias</a:t>
                      </a:r>
                      <a:r>
                        <a:rPr lang="en-GB" sz="1100" dirty="0"/>
                        <a:t> </a:t>
                      </a:r>
                      <a:r>
                        <a:rPr lang="en-GB" sz="1100" dirty="0" err="1"/>
                        <a:t>relativas</a:t>
                      </a:r>
                      <a:endParaRPr lang="en-ES" sz="1100" dirty="0"/>
                    </a:p>
                  </a:txBody>
                  <a:tcPr/>
                </a:tc>
                <a:tc>
                  <a:txBody>
                    <a:bodyPr/>
                    <a:lstStyle/>
                    <a:p>
                      <a:r>
                        <a:rPr lang="en-GB" sz="1100" dirty="0"/>
                        <a:t>&lt; 5% del total</a:t>
                      </a:r>
                      <a:endParaRPr lang="en-ES" sz="1100" dirty="0"/>
                    </a:p>
                  </a:txBody>
                  <a:tcPr/>
                </a:tc>
                <a:extLst>
                  <a:ext uri="{0D108BD9-81ED-4DB2-BD59-A6C34878D82A}">
                    <a16:rowId xmlns:a16="http://schemas.microsoft.com/office/drawing/2014/main" val="1462096888"/>
                  </a:ext>
                </a:extLst>
              </a:tr>
              <a:tr h="306609">
                <a:tc>
                  <a:txBody>
                    <a:bodyPr/>
                    <a:lstStyle/>
                    <a:p>
                      <a:r>
                        <a:rPr lang="en-ES" sz="1100" dirty="0"/>
                        <a:t>Multivariante</a:t>
                      </a:r>
                    </a:p>
                  </a:txBody>
                  <a:tcPr/>
                </a:tc>
                <a:tc>
                  <a:txBody>
                    <a:bodyPr/>
                    <a:lstStyle/>
                    <a:p>
                      <a:r>
                        <a:rPr lang="en-ES" sz="1100" dirty="0"/>
                        <a:t>Númericas</a:t>
                      </a:r>
                    </a:p>
                  </a:txBody>
                  <a:tcPr/>
                </a:tc>
                <a:tc>
                  <a:txBody>
                    <a:bodyPr/>
                    <a:lstStyle/>
                    <a:p>
                      <a:r>
                        <a:rPr lang="en-GB" sz="1100" dirty="0"/>
                        <a:t>Distancia </a:t>
                      </a:r>
                      <a:r>
                        <a:rPr lang="en-GB" sz="1100" dirty="0" err="1"/>
                        <a:t>Mahalanobis</a:t>
                      </a:r>
                      <a:r>
                        <a:rPr lang="en-GB" sz="1100" dirty="0"/>
                        <a:t> + LOF</a:t>
                      </a:r>
                      <a:endParaRPr lang="en-ES" sz="1100" dirty="0"/>
                    </a:p>
                  </a:txBody>
                  <a:tcPr/>
                </a:tc>
                <a:tc>
                  <a:txBody>
                    <a:bodyPr/>
                    <a:lstStyle/>
                    <a:p>
                      <a:r>
                        <a:rPr lang="en-ES" sz="1100" dirty="0"/>
                        <a:t>Gràficos </a:t>
                      </a:r>
                    </a:p>
                  </a:txBody>
                  <a:tcPr/>
                </a:tc>
                <a:extLst>
                  <a:ext uri="{0D108BD9-81ED-4DB2-BD59-A6C34878D82A}">
                    <a16:rowId xmlns:a16="http://schemas.microsoft.com/office/drawing/2014/main" val="407610777"/>
                  </a:ext>
                </a:extLst>
              </a:tr>
            </a:tbl>
          </a:graphicData>
        </a:graphic>
      </p:graphicFrame>
      <p:sp>
        <p:nvSpPr>
          <p:cNvPr id="5" name="Rounded Rectangle 4">
            <a:extLst>
              <a:ext uri="{FF2B5EF4-FFF2-40B4-BE49-F238E27FC236}">
                <a16:creationId xmlns:a16="http://schemas.microsoft.com/office/drawing/2014/main" id="{D0C42530-4C3A-B629-6B9C-E51BDE83B89A}"/>
              </a:ext>
            </a:extLst>
          </p:cNvPr>
          <p:cNvSpPr/>
          <p:nvPr/>
        </p:nvSpPr>
        <p:spPr>
          <a:xfrm>
            <a:off x="1338682" y="838225"/>
            <a:ext cx="2355494" cy="200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Métodos</a:t>
            </a:r>
          </a:p>
        </p:txBody>
      </p:sp>
      <p:pic>
        <p:nvPicPr>
          <p:cNvPr id="8" name="Picture 7" descr="A diagram of a graph&#10;&#10;AI-generated content may be incorrect.">
            <a:extLst>
              <a:ext uri="{FF2B5EF4-FFF2-40B4-BE49-F238E27FC236}">
                <a16:creationId xmlns:a16="http://schemas.microsoft.com/office/drawing/2014/main" id="{2ECA8A3C-C7DC-2583-8AF3-B7C2E64F951A}"/>
              </a:ext>
            </a:extLst>
          </p:cNvPr>
          <p:cNvPicPr>
            <a:picLocks noChangeAspect="1"/>
          </p:cNvPicPr>
          <p:nvPr/>
        </p:nvPicPr>
        <p:blipFill>
          <a:blip r:embed="rId3"/>
          <a:stretch>
            <a:fillRect/>
          </a:stretch>
        </p:blipFill>
        <p:spPr>
          <a:xfrm>
            <a:off x="5897580" y="1101572"/>
            <a:ext cx="2895290" cy="1630680"/>
          </a:xfrm>
          <a:prstGeom prst="rect">
            <a:avLst/>
          </a:prstGeom>
        </p:spPr>
      </p:pic>
      <p:graphicFrame>
        <p:nvGraphicFramePr>
          <p:cNvPr id="10" name="Table 9">
            <a:extLst>
              <a:ext uri="{FF2B5EF4-FFF2-40B4-BE49-F238E27FC236}">
                <a16:creationId xmlns:a16="http://schemas.microsoft.com/office/drawing/2014/main" id="{A794FB05-8280-D165-828F-4BBCE7FFCBB7}"/>
              </a:ext>
            </a:extLst>
          </p:cNvPr>
          <p:cNvGraphicFramePr>
            <a:graphicFrameLocks noGrp="1"/>
          </p:cNvGraphicFramePr>
          <p:nvPr>
            <p:extLst>
              <p:ext uri="{D42A27DB-BD31-4B8C-83A1-F6EECF244321}">
                <p14:modId xmlns:p14="http://schemas.microsoft.com/office/powerpoint/2010/main" val="2427930410"/>
              </p:ext>
            </p:extLst>
          </p:nvPr>
        </p:nvGraphicFramePr>
        <p:xfrm>
          <a:off x="204824" y="2795066"/>
          <a:ext cx="8219176" cy="1220012"/>
        </p:xfrm>
        <a:graphic>
          <a:graphicData uri="http://schemas.openxmlformats.org/drawingml/2006/table">
            <a:tbl>
              <a:tblPr firstRow="1" bandRow="1">
                <a:tableStyleId>{7FD54D1E-A07F-487E-B709-6B33F1453160}</a:tableStyleId>
              </a:tblPr>
              <a:tblGrid>
                <a:gridCol w="2054794">
                  <a:extLst>
                    <a:ext uri="{9D8B030D-6E8A-4147-A177-3AD203B41FA5}">
                      <a16:colId xmlns:a16="http://schemas.microsoft.com/office/drawing/2014/main" val="2409669532"/>
                    </a:ext>
                  </a:extLst>
                </a:gridCol>
                <a:gridCol w="2054794">
                  <a:extLst>
                    <a:ext uri="{9D8B030D-6E8A-4147-A177-3AD203B41FA5}">
                      <a16:colId xmlns:a16="http://schemas.microsoft.com/office/drawing/2014/main" val="3249999538"/>
                    </a:ext>
                  </a:extLst>
                </a:gridCol>
                <a:gridCol w="2054794">
                  <a:extLst>
                    <a:ext uri="{9D8B030D-6E8A-4147-A177-3AD203B41FA5}">
                      <a16:colId xmlns:a16="http://schemas.microsoft.com/office/drawing/2014/main" val="3747097040"/>
                    </a:ext>
                  </a:extLst>
                </a:gridCol>
                <a:gridCol w="2054794">
                  <a:extLst>
                    <a:ext uri="{9D8B030D-6E8A-4147-A177-3AD203B41FA5}">
                      <a16:colId xmlns:a16="http://schemas.microsoft.com/office/drawing/2014/main" val="2005427499"/>
                    </a:ext>
                  </a:extLst>
                </a:gridCol>
              </a:tblGrid>
              <a:tr h="305003">
                <a:tc>
                  <a:txBody>
                    <a:bodyPr/>
                    <a:lstStyle/>
                    <a:p>
                      <a:r>
                        <a:rPr lang="en-ES" dirty="0"/>
                        <a:t>Variable </a:t>
                      </a:r>
                    </a:p>
                  </a:txBody>
                  <a:tcPr/>
                </a:tc>
                <a:tc>
                  <a:txBody>
                    <a:bodyPr/>
                    <a:lstStyle/>
                    <a:p>
                      <a:r>
                        <a:rPr lang="en-ES" dirty="0"/>
                        <a:t>Outliers detected</a:t>
                      </a:r>
                    </a:p>
                  </a:txBody>
                  <a:tcPr/>
                </a:tc>
                <a:tc>
                  <a:txBody>
                    <a:bodyPr/>
                    <a:lstStyle/>
                    <a:p>
                      <a:r>
                        <a:rPr lang="en-ES" dirty="0"/>
                        <a:t>Ubicación</a:t>
                      </a:r>
                    </a:p>
                  </a:txBody>
                  <a:tcPr/>
                </a:tc>
                <a:tc>
                  <a:txBody>
                    <a:bodyPr/>
                    <a:lstStyle/>
                    <a:p>
                      <a:r>
                        <a:rPr lang="en-ES" dirty="0"/>
                        <a:t>Características</a:t>
                      </a:r>
                    </a:p>
                  </a:txBody>
                  <a:tcPr/>
                </a:tc>
                <a:extLst>
                  <a:ext uri="{0D108BD9-81ED-4DB2-BD59-A6C34878D82A}">
                    <a16:rowId xmlns:a16="http://schemas.microsoft.com/office/drawing/2014/main" val="402475729"/>
                  </a:ext>
                </a:extLst>
              </a:tr>
              <a:tr h="305003">
                <a:tc>
                  <a:txBody>
                    <a:bodyPr/>
                    <a:lstStyle/>
                    <a:p>
                      <a:r>
                        <a:rPr lang="en-ES" dirty="0"/>
                        <a:t>Age</a:t>
                      </a:r>
                    </a:p>
                  </a:txBody>
                  <a:tcPr/>
                </a:tc>
                <a:tc>
                  <a:txBody>
                    <a:bodyPr/>
                    <a:lstStyle/>
                    <a:p>
                      <a:endParaRPr lang="en-ES" dirty="0"/>
                    </a:p>
                  </a:txBody>
                  <a:tcPr/>
                </a:tc>
                <a:tc>
                  <a:txBody>
                    <a:bodyPr/>
                    <a:lstStyle/>
                    <a:p>
                      <a:r>
                        <a:rPr lang="en-ES" dirty="0"/>
                        <a:t>Cola Derecha</a:t>
                      </a:r>
                    </a:p>
                  </a:txBody>
                  <a:tcPr/>
                </a:tc>
                <a:tc>
                  <a:txBody>
                    <a:bodyPr/>
                    <a:lstStyle/>
                    <a:p>
                      <a:r>
                        <a:rPr lang="en-GB" dirty="0"/>
                        <a:t>Valores </a:t>
                      </a:r>
                      <a:r>
                        <a:rPr lang="en-GB" dirty="0" err="1"/>
                        <a:t>extremos</a:t>
                      </a:r>
                      <a:r>
                        <a:rPr lang="en-GB" dirty="0"/>
                        <a:t> altos</a:t>
                      </a:r>
                      <a:endParaRPr lang="en-ES" dirty="0"/>
                    </a:p>
                  </a:txBody>
                  <a:tcPr/>
                </a:tc>
                <a:extLst>
                  <a:ext uri="{0D108BD9-81ED-4DB2-BD59-A6C34878D82A}">
                    <a16:rowId xmlns:a16="http://schemas.microsoft.com/office/drawing/2014/main" val="565551124"/>
                  </a:ext>
                </a:extLst>
              </a:tr>
              <a:tr h="305003">
                <a:tc>
                  <a:txBody>
                    <a:bodyPr/>
                    <a:lstStyle/>
                    <a:p>
                      <a:r>
                        <a:rPr lang="en-ES" dirty="0"/>
                        <a:t>Estimated Salary</a:t>
                      </a:r>
                    </a:p>
                  </a:txBody>
                  <a:tcPr/>
                </a:tc>
                <a:tc>
                  <a:txBody>
                    <a:bodyPr/>
                    <a:lstStyle/>
                    <a:p>
                      <a:endParaRPr lang="en-ES" dirty="0"/>
                    </a:p>
                  </a:txBody>
                  <a:tcPr/>
                </a:tc>
                <a:tc>
                  <a:txBody>
                    <a:bodyPr/>
                    <a:lstStyle/>
                    <a:p>
                      <a:r>
                        <a:rPr lang="en-ES" dirty="0"/>
                        <a:t>Cola Derecha</a:t>
                      </a:r>
                    </a:p>
                  </a:txBody>
                  <a:tcPr/>
                </a:tc>
                <a:tc>
                  <a:txBody>
                    <a:bodyPr/>
                    <a:lstStyle/>
                    <a:p>
                      <a:r>
                        <a:rPr lang="en-GB" dirty="0" err="1"/>
                        <a:t>Salarios</a:t>
                      </a:r>
                      <a:r>
                        <a:rPr lang="en-GB" dirty="0"/>
                        <a:t> </a:t>
                      </a:r>
                      <a:r>
                        <a:rPr lang="en-GB" dirty="0" err="1"/>
                        <a:t>muy</a:t>
                      </a:r>
                      <a:r>
                        <a:rPr lang="en-GB" dirty="0"/>
                        <a:t> </a:t>
                      </a:r>
                      <a:r>
                        <a:rPr lang="en-GB" dirty="0" err="1"/>
                        <a:t>elevados</a:t>
                      </a:r>
                      <a:endParaRPr lang="en-ES" dirty="0"/>
                    </a:p>
                  </a:txBody>
                  <a:tcPr/>
                </a:tc>
                <a:extLst>
                  <a:ext uri="{0D108BD9-81ED-4DB2-BD59-A6C34878D82A}">
                    <a16:rowId xmlns:a16="http://schemas.microsoft.com/office/drawing/2014/main" val="465873272"/>
                  </a:ext>
                </a:extLst>
              </a:tr>
              <a:tr h="305003">
                <a:tc>
                  <a:txBody>
                    <a:bodyPr/>
                    <a:lstStyle/>
                    <a:p>
                      <a:r>
                        <a:rPr lang="en-ES" dirty="0"/>
                        <a:t>Balance</a:t>
                      </a:r>
                    </a:p>
                  </a:txBody>
                  <a:tcPr/>
                </a:tc>
                <a:tc>
                  <a:txBody>
                    <a:bodyPr/>
                    <a:lstStyle/>
                    <a:p>
                      <a:endParaRPr lang="en-ES" dirty="0"/>
                    </a:p>
                  </a:txBody>
                  <a:tcPr/>
                </a:tc>
                <a:tc>
                  <a:txBody>
                    <a:bodyPr/>
                    <a:lstStyle/>
                    <a:p>
                      <a:r>
                        <a:rPr lang="en-ES" dirty="0"/>
                        <a:t>Cola Derecha</a:t>
                      </a:r>
                    </a:p>
                  </a:txBody>
                  <a:tcPr/>
                </a:tc>
                <a:tc>
                  <a:txBody>
                    <a:bodyPr/>
                    <a:lstStyle/>
                    <a:p>
                      <a:r>
                        <a:rPr lang="en-GB" dirty="0"/>
                        <a:t>Balances </a:t>
                      </a:r>
                      <a:r>
                        <a:rPr lang="en-GB" dirty="0" err="1"/>
                        <a:t>superiores</a:t>
                      </a:r>
                      <a:endParaRPr lang="en-ES" dirty="0"/>
                    </a:p>
                  </a:txBody>
                  <a:tcPr/>
                </a:tc>
                <a:extLst>
                  <a:ext uri="{0D108BD9-81ED-4DB2-BD59-A6C34878D82A}">
                    <a16:rowId xmlns:a16="http://schemas.microsoft.com/office/drawing/2014/main" val="3727610031"/>
                  </a:ext>
                </a:extLst>
              </a:tr>
            </a:tbl>
          </a:graphicData>
        </a:graphic>
      </p:graphicFrame>
      <p:pic>
        <p:nvPicPr>
          <p:cNvPr id="12" name="Graphic 11" descr="Tick with solid fill">
            <a:extLst>
              <a:ext uri="{FF2B5EF4-FFF2-40B4-BE49-F238E27FC236}">
                <a16:creationId xmlns:a16="http://schemas.microsoft.com/office/drawing/2014/main" id="{1506EFA1-1C73-86D2-E716-CAB61E13A04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031540"/>
            <a:ext cx="373532" cy="373532"/>
          </a:xfrm>
          <a:prstGeom prst="rect">
            <a:avLst/>
          </a:prstGeom>
        </p:spPr>
      </p:pic>
      <p:pic>
        <p:nvPicPr>
          <p:cNvPr id="13" name="Graphic 12" descr="Tick with solid fill">
            <a:extLst>
              <a:ext uri="{FF2B5EF4-FFF2-40B4-BE49-F238E27FC236}">
                <a16:creationId xmlns:a16="http://schemas.microsoft.com/office/drawing/2014/main" id="{902C99F7-DF91-E1D0-C61D-1A0AC980FA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377413"/>
            <a:ext cx="373532" cy="373532"/>
          </a:xfrm>
          <a:prstGeom prst="rect">
            <a:avLst/>
          </a:prstGeom>
        </p:spPr>
      </p:pic>
      <p:pic>
        <p:nvPicPr>
          <p:cNvPr id="14" name="Graphic 13" descr="Tick with solid fill">
            <a:extLst>
              <a:ext uri="{FF2B5EF4-FFF2-40B4-BE49-F238E27FC236}">
                <a16:creationId xmlns:a16="http://schemas.microsoft.com/office/drawing/2014/main" id="{5EBBD3C2-A2ED-4479-7E26-B0D004755B3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01112" y="3742158"/>
            <a:ext cx="221132" cy="281707"/>
          </a:xfrm>
          <a:prstGeom prst="rect">
            <a:avLst/>
          </a:prstGeom>
        </p:spPr>
      </p:pic>
    </p:spTree>
    <p:extLst>
      <p:ext uri="{BB962C8B-B14F-4D97-AF65-F5344CB8AC3E}">
        <p14:creationId xmlns:p14="http://schemas.microsoft.com/office/powerpoint/2010/main" val="3535935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600438"/>
          </a:xfrm>
          <a:prstGeom prst="rect">
            <a:avLst/>
          </a:prstGeom>
          <a:noFill/>
        </p:spPr>
        <p:txBody>
          <a:bodyPr wrap="square" rtlCol="0">
            <a:spAutoFit/>
          </a:bodyPr>
          <a:lstStyle/>
          <a:p>
            <a:pPr algn="just"/>
            <a:r>
              <a:rPr lang="es-ES" b="1" dirty="0" err="1"/>
              <a:t>ComplaintsCount</a:t>
            </a:r>
            <a:endParaRPr lang="es-ES" b="1" dirty="0"/>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Se decidió </a:t>
            </a:r>
            <a:r>
              <a:rPr lang="en-ES" altLang="en-ES" b="1" dirty="0">
                <a:solidFill>
                  <a:schemeClr val="tx1"/>
                </a:solidFill>
                <a:latin typeface="Arial" panose="020B0604020202020204" pitchFamily="34" charset="0"/>
              </a:rPr>
              <a:t>dummyficar la variable</a:t>
            </a:r>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 La información se simplifica para indicar </a:t>
            </a:r>
          </a:p>
          <a:p>
            <a:pPr lvl="0" eaLnBrk="0" fontAlgn="base" hangingPunct="0">
              <a:spcBef>
                <a:spcPct val="0"/>
              </a:spcBef>
              <a:spcAft>
                <a:spcPct val="0"/>
              </a:spcAft>
              <a:buClrTx/>
            </a:pPr>
            <a:r>
              <a:rPr lang="en-ES" altLang="en-ES" b="1" dirty="0">
                <a:solidFill>
                  <a:schemeClr val="tx1"/>
                </a:solidFill>
                <a:latin typeface="Arial" panose="020B0604020202020204" pitchFamily="34" charset="0"/>
              </a:rPr>
              <a:t>si el cliente ha emitido alguna queja o no</a:t>
            </a:r>
          </a:p>
          <a:p>
            <a:pPr marL="285750" lvl="0" indent="-285750" eaLnBrk="0" fontAlgn="base" hangingPunct="0">
              <a:spcBef>
                <a:spcPct val="0"/>
              </a:spcBef>
              <a:spcAft>
                <a:spcPct val="0"/>
              </a:spcAft>
              <a:buClrTx/>
              <a:buFont typeface="Arial" panose="020B0604020202020204" pitchFamily="34" charset="0"/>
              <a:buChar char="•"/>
            </a:pPr>
            <a:r>
              <a:rPr lang="en-ES" altLang="en-ES" dirty="0">
                <a:solidFill>
                  <a:schemeClr val="tx1"/>
                </a:solidFill>
                <a:latin typeface="Arial" panose="020B0604020202020204" pitchFamily="34" charset="0"/>
              </a:rPr>
              <a:t>Variable: Númerica            Factor binario</a:t>
            </a:r>
          </a:p>
          <a:p>
            <a:pPr lvl="0" eaLnBrk="0" fontAlgn="base" hangingPunct="0">
              <a:spcBef>
                <a:spcPct val="0"/>
              </a:spcBef>
              <a:spcAft>
                <a:spcPct val="0"/>
              </a:spcAft>
              <a:buClrTx/>
            </a:pPr>
            <a:endParaRPr lang="es-ES" b="1" dirty="0"/>
          </a:p>
          <a:p>
            <a:pPr marL="285750" indent="-285750" algn="just">
              <a:buFont typeface="Arial" panose="020B0604020202020204" pitchFamily="34" charset="0"/>
              <a:buChar char="•"/>
            </a:pPr>
            <a:endParaRPr lang="es-ES" b="1" dirty="0"/>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64468" y="2467226"/>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615049" y="2364902"/>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marL="285750" indent="-285750" algn="just">
              <a:buFont typeface="Arial" panose="020B0604020202020204" pitchFamily="34" charset="0"/>
              <a:buChar char="•"/>
            </a:pPr>
            <a:r>
              <a:rPr lang="es-ES" dirty="0" err="1"/>
              <a:t>Mayoria</a:t>
            </a:r>
            <a:r>
              <a:rPr lang="es-ES" dirty="0"/>
              <a:t> de clientes tienes </a:t>
            </a:r>
            <a:r>
              <a:rPr lang="es-ES" b="1" dirty="0"/>
              <a:t>1 | 2 productos </a:t>
            </a:r>
          </a:p>
          <a:p>
            <a:pPr marL="285750" indent="-285750" algn="just">
              <a:buFont typeface="Arial" panose="020B0604020202020204" pitchFamily="34" charset="0"/>
              <a:buChar char="•"/>
            </a:pPr>
            <a:r>
              <a:rPr lang="es-ES" b="1" dirty="0" err="1"/>
              <a:t>Minoria</a:t>
            </a:r>
            <a:r>
              <a:rPr lang="es-ES" b="1" dirty="0"/>
              <a:t>         </a:t>
            </a:r>
            <a:r>
              <a:rPr lang="es-ES" dirty="0"/>
              <a:t>3 o más productos</a:t>
            </a:r>
          </a:p>
          <a:p>
            <a:pPr marL="285750" indent="-285750" algn="just">
              <a:buFont typeface="Arial" panose="020B0604020202020204" pitchFamily="34" charset="0"/>
              <a:buChar char="•"/>
            </a:pPr>
            <a:r>
              <a:rPr lang="es-ES" dirty="0"/>
              <a:t>Categorización de la variable (1, 2,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2" name="Straight Arrow Connector 11">
            <a:extLst>
              <a:ext uri="{FF2B5EF4-FFF2-40B4-BE49-F238E27FC236}">
                <a16:creationId xmlns:a16="http://schemas.microsoft.com/office/drawing/2014/main" id="{69F9EE2F-03A1-F5D4-1372-1541834A3778}"/>
              </a:ext>
            </a:extLst>
          </p:cNvPr>
          <p:cNvCxnSpPr/>
          <p:nvPr/>
        </p:nvCxnSpPr>
        <p:spPr>
          <a:xfrm>
            <a:off x="2314507" y="2182859"/>
            <a:ext cx="49342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6B040C3E-0578-A241-E175-FAEC372B7D94}"/>
              </a:ext>
            </a:extLst>
          </p:cNvPr>
          <p:cNvCxnSpPr/>
          <p:nvPr/>
        </p:nvCxnSpPr>
        <p:spPr>
          <a:xfrm>
            <a:off x="6117579" y="1658867"/>
            <a:ext cx="3236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8488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428526"/>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2117102" y="1253058"/>
            <a:ext cx="7702550" cy="1384995"/>
          </a:xfrm>
          <a:prstGeom prst="rect">
            <a:avLst/>
          </a:prstGeom>
          <a:noFill/>
        </p:spPr>
        <p:txBody>
          <a:bodyPr wrap="square" rtlCol="0">
            <a:spAutoFit/>
          </a:bodyPr>
          <a:lstStyle/>
          <a:p>
            <a:endParaRPr lang="es-ES" sz="1200" dirty="0"/>
          </a:p>
          <a:p>
            <a:endParaRPr lang="es-ES" sz="1200" dirty="0"/>
          </a:p>
          <a:p>
            <a:pPr marL="171450" indent="-171450">
              <a:buFont typeface="Arial" panose="020B0604020202020204" pitchFamily="34" charset="0"/>
              <a:buChar char="•"/>
            </a:pPr>
            <a:r>
              <a:rPr lang="es-ES" sz="1200" dirty="0"/>
              <a:t>Variables numéricas: Test de mediana</a:t>
            </a:r>
          </a:p>
          <a:p>
            <a:pPr marL="171450" indent="-171450">
              <a:buFont typeface="Arial" panose="020B0604020202020204" pitchFamily="34" charset="0"/>
              <a:buChar char="•"/>
            </a:pPr>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2119997" y="2510828"/>
            <a:ext cx="4594061" cy="1418710"/>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4046018"/>
            <a:ext cx="8178017" cy="461665"/>
          </a:xfrm>
          <a:prstGeom prst="rect">
            <a:avLst/>
          </a:prstGeom>
          <a:noFill/>
        </p:spPr>
        <p:txBody>
          <a:bodyPr wrap="square" rtlCol="0">
            <a:spAutoFit/>
          </a:bodyPr>
          <a:lstStyle/>
          <a:p>
            <a:pPr marL="171450" indent="-171450">
              <a:buFont typeface="Arial" panose="020B0604020202020204" pitchFamily="34" charset="0"/>
              <a:buChar char="•"/>
              <a:defRPr sz="1600">
                <a:latin typeface="Arial"/>
              </a:defRPr>
            </a:pPr>
            <a:r>
              <a:rPr lang="en-GB" sz="1200" dirty="0"/>
              <a:t>Las variables </a:t>
            </a:r>
            <a:r>
              <a:rPr lang="en-GB" sz="1200" b="1" dirty="0" err="1"/>
              <a:t>EstimatedSalary</a:t>
            </a:r>
            <a:r>
              <a:rPr lang="en-GB" sz="1200" b="1" dirty="0"/>
              <a:t> y </a:t>
            </a:r>
            <a:r>
              <a:rPr lang="en-GB" sz="1200" b="1" dirty="0" err="1"/>
              <a:t>CreditScore</a:t>
            </a:r>
            <a:r>
              <a:rPr lang="en-GB" sz="1200" b="1" dirty="0"/>
              <a:t>         </a:t>
            </a:r>
            <a:r>
              <a:rPr lang="en-GB" sz="1200" dirty="0"/>
              <a:t>p-</a:t>
            </a:r>
            <a:r>
              <a:rPr lang="en-GB" sz="1200" dirty="0" err="1"/>
              <a:t>valores</a:t>
            </a:r>
            <a:r>
              <a:rPr lang="en-GB" sz="1200" dirty="0"/>
              <a:t> </a:t>
            </a:r>
            <a:r>
              <a:rPr lang="en-GB" sz="1200" dirty="0" err="1"/>
              <a:t>cercanos</a:t>
            </a:r>
            <a:r>
              <a:rPr lang="en-GB" sz="1200" dirty="0"/>
              <a:t> a 0.05 antes de la </a:t>
            </a:r>
            <a:r>
              <a:rPr lang="en-GB" sz="1200" dirty="0" err="1"/>
              <a:t>imputación</a:t>
            </a:r>
            <a:r>
              <a:rPr lang="en-GB" sz="1200" dirty="0"/>
              <a:t> de NA.</a:t>
            </a:r>
          </a:p>
          <a:p>
            <a:pPr marL="171450" indent="-171450">
              <a:buFont typeface="Arial" panose="020B0604020202020204" pitchFamily="34" charset="0"/>
              <a:buChar char="•"/>
              <a:defRPr sz="1600">
                <a:latin typeface="Arial"/>
              </a:defRPr>
            </a:pPr>
            <a:r>
              <a:rPr lang="en-GB" sz="1200" dirty="0"/>
              <a:t>Se </a:t>
            </a:r>
            <a:r>
              <a:rPr lang="en-GB" sz="1200" dirty="0" err="1"/>
              <a:t>probará</a:t>
            </a:r>
            <a:r>
              <a:rPr lang="en-GB" sz="1200" dirty="0"/>
              <a:t> </a:t>
            </a:r>
            <a:r>
              <a:rPr lang="en-GB" sz="1200" dirty="0" err="1"/>
              <a:t>el</a:t>
            </a:r>
            <a:r>
              <a:rPr lang="en-GB" sz="1200" dirty="0"/>
              <a:t> </a:t>
            </a:r>
            <a:r>
              <a:rPr lang="en-GB" sz="1200" dirty="0" err="1"/>
              <a:t>modelo</a:t>
            </a:r>
            <a:r>
              <a:rPr lang="en-GB" sz="1200" dirty="0"/>
              <a:t> con y sin </a:t>
            </a:r>
            <a:r>
              <a:rPr lang="en-GB" sz="1200" dirty="0" err="1"/>
              <a:t>estas</a:t>
            </a:r>
            <a:r>
              <a:rPr lang="en-GB" sz="1200" dirty="0"/>
              <a:t> dos variables para </a:t>
            </a:r>
            <a:r>
              <a:rPr lang="en-GB" sz="1200" dirty="0" err="1"/>
              <a:t>verificar</a:t>
            </a:r>
            <a:r>
              <a:rPr lang="en-GB" sz="1200" dirty="0"/>
              <a:t> </a:t>
            </a:r>
            <a:r>
              <a:rPr lang="en-GB" sz="1200" b="1" dirty="0" err="1"/>
              <a:t>diferencias</a:t>
            </a:r>
            <a:r>
              <a:rPr lang="en-GB" sz="1200" b="1" dirty="0"/>
              <a:t> </a:t>
            </a:r>
            <a:r>
              <a:rPr lang="en-GB" sz="1200" b="1" dirty="0" err="1"/>
              <a:t>en</a:t>
            </a:r>
            <a:r>
              <a:rPr lang="en-GB" sz="1200" b="1" dirty="0"/>
              <a:t> </a:t>
            </a:r>
            <a:r>
              <a:rPr lang="en-GB" sz="1200" b="1" dirty="0" err="1"/>
              <a:t>los</a:t>
            </a:r>
            <a:r>
              <a:rPr lang="en-GB" sz="1200" b="1" dirty="0"/>
              <a:t> </a:t>
            </a:r>
            <a:r>
              <a:rPr lang="en-GB" sz="1200" b="1" dirty="0" err="1"/>
              <a:t>resultados</a:t>
            </a:r>
            <a:r>
              <a:rPr lang="en-GB" sz="1200" b="1" dirty="0"/>
              <a:t>.</a:t>
            </a:r>
          </a:p>
        </p:txBody>
      </p:sp>
      <p:sp>
        <p:nvSpPr>
          <p:cNvPr id="4" name="Rounded Rectangle 3">
            <a:extLst>
              <a:ext uri="{FF2B5EF4-FFF2-40B4-BE49-F238E27FC236}">
                <a16:creationId xmlns:a16="http://schemas.microsoft.com/office/drawing/2014/main" id="{03BE575D-59C2-5DAF-AF57-D94F96FCACDD}"/>
              </a:ext>
            </a:extLst>
          </p:cNvPr>
          <p:cNvSpPr/>
          <p:nvPr/>
        </p:nvSpPr>
        <p:spPr>
          <a:xfrm>
            <a:off x="817297" y="964666"/>
            <a:ext cx="7025864" cy="4334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100" dirty="0"/>
              <a:t>Sobre la base de datos imputada y transformada se realizaron </a:t>
            </a:r>
            <a:r>
              <a:rPr lang="es-ES" sz="1100" dirty="0" err="1"/>
              <a:t>tests</a:t>
            </a:r>
            <a:r>
              <a:rPr lang="es-ES" sz="1100" dirty="0"/>
              <a:t> de significancia para determinar qué variables son importantes para describir el comportamiento de la variable </a:t>
            </a:r>
            <a:r>
              <a:rPr lang="es-ES" sz="1100" dirty="0" err="1"/>
              <a:t>Exited</a:t>
            </a:r>
            <a:endParaRPr lang="en-ES" sz="1100" dirty="0"/>
          </a:p>
        </p:txBody>
      </p:sp>
      <p:cxnSp>
        <p:nvCxnSpPr>
          <p:cNvPr id="6" name="Straight Arrow Connector 5">
            <a:extLst>
              <a:ext uri="{FF2B5EF4-FFF2-40B4-BE49-F238E27FC236}">
                <a16:creationId xmlns:a16="http://schemas.microsoft.com/office/drawing/2014/main" id="{17579261-50D2-BE0C-93D4-173148A6DD48}"/>
              </a:ext>
            </a:extLst>
          </p:cNvPr>
          <p:cNvCxnSpPr/>
          <p:nvPr/>
        </p:nvCxnSpPr>
        <p:spPr>
          <a:xfrm>
            <a:off x="3876085" y="4046018"/>
            <a:ext cx="2103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5368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147827" y="741395"/>
            <a:ext cx="4026138"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 (el cliente se queda)</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36128"/>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582757" y="730815"/>
            <a:ext cx="3774337"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 (el cliente se va)</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673945" y="285499"/>
            <a:ext cx="7704000" cy="572700"/>
          </a:xfrm>
          <a:prstGeom prst="rect">
            <a:avLst/>
          </a:prstGeom>
        </p:spPr>
        <p:txBody>
          <a:bodyPr spcFirstLastPara="1" wrap="square" lIns="91425" tIns="91425" rIns="91425" bIns="91425" anchor="t" anchorCtr="0">
            <a:noAutofit/>
          </a:bodyPr>
          <a:lstStyle/>
          <a:p>
            <a:pPr lvl="0"/>
            <a:r>
              <a:rPr lang="es-ES" dirty="0"/>
              <a:t>PREPARACIÓN PARA EL MODELADO</a:t>
            </a:r>
            <a:endParaRPr dirty="0"/>
          </a:p>
        </p:txBody>
      </p:sp>
      <p:pic>
        <p:nvPicPr>
          <p:cNvPr id="1026" name="Picture 2" descr="Handling Imbalanced Dataset In Machine Learning. | by Shivam Chhetry |  Medium">
            <a:extLst>
              <a:ext uri="{FF2B5EF4-FFF2-40B4-BE49-F238E27FC236}">
                <a16:creationId xmlns:a16="http://schemas.microsoft.com/office/drawing/2014/main" id="{C18EA33C-C5E0-87E7-4EF1-8FB48CB1C0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448" y="1073150"/>
            <a:ext cx="2318042" cy="1155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40EE447-D04F-9B51-31BE-AD39AA4B154C}"/>
              </a:ext>
            </a:extLst>
          </p:cNvPr>
          <p:cNvSpPr txBox="1"/>
          <p:nvPr/>
        </p:nvSpPr>
        <p:spPr>
          <a:xfrm>
            <a:off x="559833" y="748484"/>
            <a:ext cx="2064989" cy="307777"/>
          </a:xfrm>
          <a:prstGeom prst="rect">
            <a:avLst/>
          </a:prstGeom>
          <a:noFill/>
        </p:spPr>
        <p:txBody>
          <a:bodyPr wrap="none" rtlCol="0">
            <a:spAutoFit/>
          </a:bodyPr>
          <a:lstStyle/>
          <a:p>
            <a:r>
              <a:rPr lang="en-ES" dirty="0"/>
              <a:t>Dataset desbalanceado</a:t>
            </a:r>
          </a:p>
        </p:txBody>
      </p:sp>
      <p:sp>
        <p:nvSpPr>
          <p:cNvPr id="5" name="TextBox 4">
            <a:extLst>
              <a:ext uri="{FF2B5EF4-FFF2-40B4-BE49-F238E27FC236}">
                <a16:creationId xmlns:a16="http://schemas.microsoft.com/office/drawing/2014/main" id="{9F3DB66A-05BA-4C22-89CA-05489D147222}"/>
              </a:ext>
            </a:extLst>
          </p:cNvPr>
          <p:cNvSpPr txBox="1"/>
          <p:nvPr/>
        </p:nvSpPr>
        <p:spPr>
          <a:xfrm>
            <a:off x="862078" y="2242522"/>
            <a:ext cx="1460500" cy="430887"/>
          </a:xfrm>
          <a:prstGeom prst="rect">
            <a:avLst/>
          </a:prstGeom>
          <a:noFill/>
        </p:spPr>
        <p:txBody>
          <a:bodyPr wrap="square">
            <a:spAutoFit/>
          </a:bodyPr>
          <a:lstStyle/>
          <a:p>
            <a:pPr algn="ctr"/>
            <a:r>
              <a:rPr lang="en-ES" sz="1100" dirty="0"/>
              <a:t>Clase negativa 80%</a:t>
            </a:r>
            <a:br>
              <a:rPr lang="en-ES" sz="1100" dirty="0"/>
            </a:br>
            <a:r>
              <a:rPr lang="en-ES" sz="1100" dirty="0"/>
              <a:t>Modelo sesgado</a:t>
            </a:r>
          </a:p>
        </p:txBody>
      </p:sp>
      <p:pic>
        <p:nvPicPr>
          <p:cNvPr id="1028" name="Picture 4" descr="71 mil resultados de imágenes, fotos de stock e ilustraciones libres de  regalías para Red x symbol | Shutterstock">
            <a:extLst>
              <a:ext uri="{FF2B5EF4-FFF2-40B4-BE49-F238E27FC236}">
                <a16:creationId xmlns:a16="http://schemas.microsoft.com/office/drawing/2014/main" id="{32F0DB92-EBC3-D1FE-9DEE-DF6E0DCC39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25485" y="2301581"/>
            <a:ext cx="458759" cy="4217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8DC694F7-2C67-8D9A-27D1-39C45A8CC0F3}"/>
              </a:ext>
            </a:extLst>
          </p:cNvPr>
          <p:cNvCxnSpPr>
            <a:cxnSpLocks/>
          </p:cNvCxnSpPr>
          <p:nvPr/>
        </p:nvCxnSpPr>
        <p:spPr>
          <a:xfrm>
            <a:off x="2908300" y="1651000"/>
            <a:ext cx="8442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95446D04-C8F7-A5FC-FF50-762E56ADB010}"/>
              </a:ext>
            </a:extLst>
          </p:cNvPr>
          <p:cNvSpPr txBox="1"/>
          <p:nvPr/>
        </p:nvSpPr>
        <p:spPr>
          <a:xfrm>
            <a:off x="3752551" y="765373"/>
            <a:ext cx="1925527" cy="307777"/>
          </a:xfrm>
          <a:prstGeom prst="rect">
            <a:avLst/>
          </a:prstGeom>
          <a:noFill/>
        </p:spPr>
        <p:txBody>
          <a:bodyPr wrap="none" rtlCol="0">
            <a:spAutoFit/>
          </a:bodyPr>
          <a:lstStyle/>
          <a:p>
            <a:r>
              <a:rPr lang="en-ES" dirty="0"/>
              <a:t>Técnicas de balanceo</a:t>
            </a:r>
          </a:p>
        </p:txBody>
      </p:sp>
      <p:pic>
        <p:nvPicPr>
          <p:cNvPr id="1030" name="Picture 6" descr="Imbalanced Vs Balanced Dataset ...">
            <a:extLst>
              <a:ext uri="{FF2B5EF4-FFF2-40B4-BE49-F238E27FC236}">
                <a16:creationId xmlns:a16="http://schemas.microsoft.com/office/drawing/2014/main" id="{3A229A68-D68A-FD9C-AA26-6D42023187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7710" y="855762"/>
            <a:ext cx="2318042" cy="159098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4899363-A985-40D2-24C0-98B425C2F013}"/>
              </a:ext>
            </a:extLst>
          </p:cNvPr>
          <p:cNvSpPr txBox="1"/>
          <p:nvPr/>
        </p:nvSpPr>
        <p:spPr>
          <a:xfrm>
            <a:off x="6706863" y="740645"/>
            <a:ext cx="1717137" cy="307777"/>
          </a:xfrm>
          <a:prstGeom prst="rect">
            <a:avLst/>
          </a:prstGeom>
          <a:noFill/>
        </p:spPr>
        <p:txBody>
          <a:bodyPr wrap="none" rtlCol="0">
            <a:spAutoFit/>
          </a:bodyPr>
          <a:lstStyle/>
          <a:p>
            <a:r>
              <a:rPr lang="en-ES" dirty="0"/>
              <a:t>Datos balanceados</a:t>
            </a:r>
          </a:p>
        </p:txBody>
      </p:sp>
      <p:sp>
        <p:nvSpPr>
          <p:cNvPr id="10" name="TextBox 9">
            <a:extLst>
              <a:ext uri="{FF2B5EF4-FFF2-40B4-BE49-F238E27FC236}">
                <a16:creationId xmlns:a16="http://schemas.microsoft.com/office/drawing/2014/main" id="{368A1267-108C-9092-DCDF-ED3139D20009}"/>
              </a:ext>
            </a:extLst>
          </p:cNvPr>
          <p:cNvSpPr txBox="1"/>
          <p:nvPr/>
        </p:nvSpPr>
        <p:spPr>
          <a:xfrm>
            <a:off x="6836802" y="2455328"/>
            <a:ext cx="1313180" cy="261610"/>
          </a:xfrm>
          <a:prstGeom prst="rect">
            <a:avLst/>
          </a:prstGeom>
          <a:noFill/>
        </p:spPr>
        <p:txBody>
          <a:bodyPr wrap="none" rtlCol="0">
            <a:spAutoFit/>
          </a:bodyPr>
          <a:lstStyle/>
          <a:p>
            <a:r>
              <a:rPr lang="en-ES" sz="1100" dirty="0"/>
              <a:t>Mejor rendimiento</a:t>
            </a:r>
          </a:p>
        </p:txBody>
      </p:sp>
      <p:cxnSp>
        <p:nvCxnSpPr>
          <p:cNvPr id="11" name="Straight Arrow Connector 10">
            <a:extLst>
              <a:ext uri="{FF2B5EF4-FFF2-40B4-BE49-F238E27FC236}">
                <a16:creationId xmlns:a16="http://schemas.microsoft.com/office/drawing/2014/main" id="{E6CE2FAF-DF58-8ED6-3D47-E43C5C3B44E8}"/>
              </a:ext>
            </a:extLst>
          </p:cNvPr>
          <p:cNvCxnSpPr>
            <a:cxnSpLocks/>
          </p:cNvCxnSpPr>
          <p:nvPr/>
        </p:nvCxnSpPr>
        <p:spPr>
          <a:xfrm>
            <a:off x="5630353" y="1651000"/>
            <a:ext cx="78062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34" name="Picture 10" descr="30.600+ Tick Verde Fotografías de stock ...">
            <a:extLst>
              <a:ext uri="{FF2B5EF4-FFF2-40B4-BE49-F238E27FC236}">
                <a16:creationId xmlns:a16="http://schemas.microsoft.com/office/drawing/2014/main" id="{6C7ED6AE-C646-6389-21C6-B6852F24C8D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0364" y="2348495"/>
            <a:ext cx="475275" cy="475275"/>
          </a:xfrm>
          <a:prstGeom prst="rect">
            <a:avLst/>
          </a:prstGeom>
          <a:noFill/>
          <a:extLst>
            <a:ext uri="{909E8E84-426E-40DD-AFC4-6F175D3DCCD1}">
              <a14:hiddenFill xmlns:a14="http://schemas.microsoft.com/office/drawing/2010/main">
                <a:solidFill>
                  <a:srgbClr val="FFFFFF"/>
                </a:solidFill>
              </a14:hiddenFill>
            </a:ext>
          </a:extLst>
        </p:spPr>
      </p:pic>
      <p:sp>
        <p:nvSpPr>
          <p:cNvPr id="12" name="Rounded Rectangle 11">
            <a:extLst>
              <a:ext uri="{FF2B5EF4-FFF2-40B4-BE49-F238E27FC236}">
                <a16:creationId xmlns:a16="http://schemas.microsoft.com/office/drawing/2014/main" id="{1ECBF497-13C4-3227-DBB9-BADFB4398B0C}"/>
              </a:ext>
            </a:extLst>
          </p:cNvPr>
          <p:cNvSpPr/>
          <p:nvPr/>
        </p:nvSpPr>
        <p:spPr>
          <a:xfrm>
            <a:off x="3860728" y="1084156"/>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O</a:t>
            </a:r>
            <a:r>
              <a:rPr lang="en-ES" dirty="0">
                <a:solidFill>
                  <a:schemeClr val="tx1"/>
                </a:solidFill>
              </a:rPr>
              <a:t>versampling</a:t>
            </a:r>
          </a:p>
        </p:txBody>
      </p:sp>
      <p:sp>
        <p:nvSpPr>
          <p:cNvPr id="14" name="Rounded Rectangle 13">
            <a:extLst>
              <a:ext uri="{FF2B5EF4-FFF2-40B4-BE49-F238E27FC236}">
                <a16:creationId xmlns:a16="http://schemas.microsoft.com/office/drawing/2014/main" id="{2DB3CF25-6462-D736-FD2E-B8DF75F1FE23}"/>
              </a:ext>
            </a:extLst>
          </p:cNvPr>
          <p:cNvSpPr/>
          <p:nvPr/>
        </p:nvSpPr>
        <p:spPr>
          <a:xfrm>
            <a:off x="3850487" y="1456037"/>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a:solidFill>
                  <a:schemeClr val="tx1"/>
                </a:solidFill>
              </a:rPr>
              <a:t>Undersampling</a:t>
            </a:r>
            <a:endParaRPr lang="en-ES" dirty="0">
              <a:solidFill>
                <a:schemeClr val="tx1"/>
              </a:solidFill>
            </a:endParaRPr>
          </a:p>
        </p:txBody>
      </p:sp>
      <p:sp>
        <p:nvSpPr>
          <p:cNvPr id="15" name="Rounded Rectangle 14">
            <a:extLst>
              <a:ext uri="{FF2B5EF4-FFF2-40B4-BE49-F238E27FC236}">
                <a16:creationId xmlns:a16="http://schemas.microsoft.com/office/drawing/2014/main" id="{971F8AF3-E5C9-9DF4-4D08-5F0BDE9570F3}"/>
              </a:ext>
            </a:extLst>
          </p:cNvPr>
          <p:cNvSpPr/>
          <p:nvPr/>
        </p:nvSpPr>
        <p:spPr>
          <a:xfrm>
            <a:off x="3850486" y="1839743"/>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ROSE</a:t>
            </a:r>
            <a:endParaRPr lang="en-ES" dirty="0">
              <a:solidFill>
                <a:schemeClr val="tx1"/>
              </a:solidFill>
            </a:endParaRPr>
          </a:p>
        </p:txBody>
      </p:sp>
      <p:sp>
        <p:nvSpPr>
          <p:cNvPr id="18" name="TextBox 17">
            <a:extLst>
              <a:ext uri="{FF2B5EF4-FFF2-40B4-BE49-F238E27FC236}">
                <a16:creationId xmlns:a16="http://schemas.microsoft.com/office/drawing/2014/main" id="{3A1457C4-E1D5-D1CA-4D35-ECA933DB1208}"/>
              </a:ext>
            </a:extLst>
          </p:cNvPr>
          <p:cNvSpPr txBox="1"/>
          <p:nvPr/>
        </p:nvSpPr>
        <p:spPr>
          <a:xfrm>
            <a:off x="3330425" y="2439538"/>
            <a:ext cx="2520242" cy="261610"/>
          </a:xfrm>
          <a:prstGeom prst="rect">
            <a:avLst/>
          </a:prstGeom>
          <a:noFill/>
        </p:spPr>
        <p:txBody>
          <a:bodyPr wrap="none" rtlCol="0">
            <a:spAutoFit/>
          </a:bodyPr>
          <a:lstStyle/>
          <a:p>
            <a:r>
              <a:rPr lang="en-ES" sz="1100" dirty="0"/>
              <a:t>Todas las técnicas mejoran resultado</a:t>
            </a:r>
          </a:p>
        </p:txBody>
      </p:sp>
      <p:pic>
        <p:nvPicPr>
          <p:cNvPr id="19" name="Picture 18">
            <a:extLst>
              <a:ext uri="{FF2B5EF4-FFF2-40B4-BE49-F238E27FC236}">
                <a16:creationId xmlns:a16="http://schemas.microsoft.com/office/drawing/2014/main" id="{5B13B0EB-1477-2655-9B5D-E5EAD987BC31}"/>
              </a:ext>
            </a:extLst>
          </p:cNvPr>
          <p:cNvPicPr>
            <a:picLocks noChangeAspect="1"/>
          </p:cNvPicPr>
          <p:nvPr/>
        </p:nvPicPr>
        <p:blipFill>
          <a:blip r:embed="rId7"/>
          <a:stretch>
            <a:fillRect/>
          </a:stretch>
        </p:blipFill>
        <p:spPr>
          <a:xfrm>
            <a:off x="317403" y="3028784"/>
            <a:ext cx="8609085" cy="2052892"/>
          </a:xfrm>
          <a:prstGeom prst="rect">
            <a:avLst/>
          </a:prstGeom>
        </p:spPr>
      </p:pic>
      <p:sp>
        <p:nvSpPr>
          <p:cNvPr id="3" name="Rounded Rectangle 2">
            <a:extLst>
              <a:ext uri="{FF2B5EF4-FFF2-40B4-BE49-F238E27FC236}">
                <a16:creationId xmlns:a16="http://schemas.microsoft.com/office/drawing/2014/main" id="{91C9788D-1559-6736-E45E-93CB72D82824}"/>
              </a:ext>
            </a:extLst>
          </p:cNvPr>
          <p:cNvSpPr/>
          <p:nvPr/>
        </p:nvSpPr>
        <p:spPr>
          <a:xfrm>
            <a:off x="3860726" y="2163638"/>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SMOTE</a:t>
            </a:r>
            <a:endParaRPr lang="en-ES" dirty="0">
              <a:solidFill>
                <a:schemeClr val="tx1"/>
              </a:solidFill>
            </a:endParaRPr>
          </a:p>
        </p:txBody>
      </p:sp>
    </p:spTree>
    <p:extLst>
      <p:ext uri="{BB962C8B-B14F-4D97-AF65-F5344CB8AC3E}">
        <p14:creationId xmlns:p14="http://schemas.microsoft.com/office/powerpoint/2010/main" val="29417738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endParaRPr dirty="0"/>
          </a:p>
        </p:txBody>
      </p:sp>
      <p:graphicFrame>
        <p:nvGraphicFramePr>
          <p:cNvPr id="4" name="Tabla 3"/>
          <p:cNvGraphicFramePr>
            <a:graphicFrameLocks noGrp="1"/>
          </p:cNvGraphicFramePr>
          <p:nvPr>
            <p:extLst>
              <p:ext uri="{D42A27DB-BD31-4B8C-83A1-F6EECF244321}">
                <p14:modId xmlns:p14="http://schemas.microsoft.com/office/powerpoint/2010/main" val="50387516"/>
              </p:ext>
            </p:extLst>
          </p:nvPr>
        </p:nvGraphicFramePr>
        <p:xfrm>
          <a:off x="2462406" y="2051066"/>
          <a:ext cx="4374692" cy="520684"/>
        </p:xfrm>
        <a:graphic>
          <a:graphicData uri="http://schemas.openxmlformats.org/drawingml/2006/table">
            <a:tbl>
              <a:tblPr>
                <a:tableStyleId>{7FD54D1E-A07F-487E-B709-6B33F1453160}</a:tableStyleId>
              </a:tblPr>
              <a:tblGrid>
                <a:gridCol w="611319">
                  <a:extLst>
                    <a:ext uri="{9D8B030D-6E8A-4147-A177-3AD203B41FA5}">
                      <a16:colId xmlns:a16="http://schemas.microsoft.com/office/drawing/2014/main" val="20001"/>
                    </a:ext>
                  </a:extLst>
                </a:gridCol>
                <a:gridCol w="736805">
                  <a:extLst>
                    <a:ext uri="{9D8B030D-6E8A-4147-A177-3AD203B41FA5}">
                      <a16:colId xmlns:a16="http://schemas.microsoft.com/office/drawing/2014/main" val="20002"/>
                    </a:ext>
                  </a:extLst>
                </a:gridCol>
                <a:gridCol w="736805">
                  <a:extLst>
                    <a:ext uri="{9D8B030D-6E8A-4147-A177-3AD203B41FA5}">
                      <a16:colId xmlns:a16="http://schemas.microsoft.com/office/drawing/2014/main" val="20003"/>
                    </a:ext>
                  </a:extLst>
                </a:gridCol>
                <a:gridCol w="816153">
                  <a:extLst>
                    <a:ext uri="{9D8B030D-6E8A-4147-A177-3AD203B41FA5}">
                      <a16:colId xmlns:a16="http://schemas.microsoft.com/office/drawing/2014/main" val="20004"/>
                    </a:ext>
                  </a:extLst>
                </a:gridCol>
                <a:gridCol w="736805">
                  <a:extLst>
                    <a:ext uri="{9D8B030D-6E8A-4147-A177-3AD203B41FA5}">
                      <a16:colId xmlns:a16="http://schemas.microsoft.com/office/drawing/2014/main" val="20005"/>
                    </a:ext>
                  </a:extLst>
                </a:gridCol>
                <a:gridCol w="736805">
                  <a:extLst>
                    <a:ext uri="{9D8B030D-6E8A-4147-A177-3AD203B41FA5}">
                      <a16:colId xmlns:a16="http://schemas.microsoft.com/office/drawing/2014/main" val="20006"/>
                    </a:ext>
                  </a:extLst>
                </a:gridCol>
              </a:tblGrid>
              <a:tr h="260342">
                <a:tc>
                  <a:txBody>
                    <a:bodyPr/>
                    <a:lstStyle/>
                    <a:p>
                      <a:pPr algn="l" fontAlgn="ctr">
                        <a:buNone/>
                      </a:pPr>
                      <a:r>
                        <a:rPr lang="es-ES" sz="1100" b="1" i="0" u="none" strike="noStrike" dirty="0">
                          <a:solidFill>
                            <a:srgbClr val="000000"/>
                          </a:solidFill>
                          <a:effectLst/>
                          <a:latin typeface="+mj-lt"/>
                        </a:rPr>
                        <a:t>TRAIN</a:t>
                      </a:r>
                    </a:p>
                  </a:txBody>
                  <a:tcPr marL="7620" marR="7620" marT="7620" marB="0" anchor="ctr"/>
                </a:tc>
                <a:tc>
                  <a:txBody>
                    <a:bodyPr/>
                    <a:lstStyle/>
                    <a:p>
                      <a:pPr algn="l" fontAlgn="ctr">
                        <a:buNone/>
                      </a:pPr>
                      <a:r>
                        <a:rPr lang="es-ES" sz="1100" b="1" u="none" strike="noStrike" dirty="0">
                          <a:effectLst/>
                          <a:latin typeface="+mj-lt"/>
                        </a:rPr>
                        <a:t>0.7477551</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0.4010743</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a:effectLst/>
                          <a:latin typeface="+mj-lt"/>
                        </a:rPr>
                        <a:t>0.4413793</a:t>
                      </a:r>
                      <a:endParaRPr lang="es-ES" sz="1100" b="1" i="0" u="none" strike="noStrike">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0.8277992</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0.4202627</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1"/>
                  </a:ext>
                </a:extLst>
              </a:tr>
              <a:tr h="260342">
                <a:tc>
                  <a:txBody>
                    <a:bodyPr/>
                    <a:lstStyle/>
                    <a:p>
                      <a:pPr algn="l" fontAlgn="ctr">
                        <a:buNone/>
                      </a:pPr>
                      <a:r>
                        <a:rPr lang="es-ES" sz="1100" b="1" i="0" u="none" strike="noStrike" dirty="0">
                          <a:solidFill>
                            <a:srgbClr val="000000"/>
                          </a:solidFill>
                          <a:effectLst/>
                          <a:latin typeface="+mj-lt"/>
                        </a:rPr>
                        <a:t>TEST</a:t>
                      </a:r>
                    </a:p>
                  </a:txBody>
                  <a:tcPr marL="7620" marR="7620" marT="7620" marB="0" anchor="ctr"/>
                </a:tc>
                <a:tc>
                  <a:txBody>
                    <a:bodyPr/>
                    <a:lstStyle/>
                    <a:p>
                      <a:pPr algn="l" fontAlgn="ctr">
                        <a:buNone/>
                      </a:pPr>
                      <a:r>
                        <a:rPr lang="es-ES" sz="1100" b="1" u="none" strike="noStrike" dirty="0">
                          <a:effectLst/>
                          <a:latin typeface="+mj-lt"/>
                        </a:rPr>
                        <a:t>0.7595238</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0.4264706</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0.4666667</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0.8360360</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0.4456641</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2"/>
                  </a:ext>
                </a:extLst>
              </a:tr>
            </a:tbl>
          </a:graphicData>
        </a:graphic>
      </p:graphicFrame>
      <p:graphicFrame>
        <p:nvGraphicFramePr>
          <p:cNvPr id="5" name="Tabla 4"/>
          <p:cNvGraphicFramePr>
            <a:graphicFrameLocks noGrp="1"/>
          </p:cNvGraphicFramePr>
          <p:nvPr>
            <p:extLst>
              <p:ext uri="{D42A27DB-BD31-4B8C-83A1-F6EECF244321}">
                <p14:modId xmlns:p14="http://schemas.microsoft.com/office/powerpoint/2010/main" val="1754887632"/>
              </p:ext>
            </p:extLst>
          </p:nvPr>
        </p:nvGraphicFramePr>
        <p:xfrm>
          <a:off x="2455224" y="1148854"/>
          <a:ext cx="4381876" cy="778842"/>
        </p:xfrm>
        <a:graphic>
          <a:graphicData uri="http://schemas.openxmlformats.org/drawingml/2006/table">
            <a:tbl>
              <a:tblPr>
                <a:tableStyleId>{7FD54D1E-A07F-487E-B709-6B33F1453160}</a:tableStyleId>
              </a:tblPr>
              <a:tblGrid>
                <a:gridCol w="641276">
                  <a:extLst>
                    <a:ext uri="{9D8B030D-6E8A-4147-A177-3AD203B41FA5}">
                      <a16:colId xmlns:a16="http://schemas.microsoft.com/office/drawing/2014/main" val="20001"/>
                    </a:ext>
                  </a:extLst>
                </a:gridCol>
                <a:gridCol w="709607">
                  <a:extLst>
                    <a:ext uri="{9D8B030D-6E8A-4147-A177-3AD203B41FA5}">
                      <a16:colId xmlns:a16="http://schemas.microsoft.com/office/drawing/2014/main" val="20002"/>
                    </a:ext>
                  </a:extLst>
                </a:gridCol>
                <a:gridCol w="730054">
                  <a:extLst>
                    <a:ext uri="{9D8B030D-6E8A-4147-A177-3AD203B41FA5}">
                      <a16:colId xmlns:a16="http://schemas.microsoft.com/office/drawing/2014/main" val="20003"/>
                    </a:ext>
                  </a:extLst>
                </a:gridCol>
                <a:gridCol w="839275">
                  <a:extLst>
                    <a:ext uri="{9D8B030D-6E8A-4147-A177-3AD203B41FA5}">
                      <a16:colId xmlns:a16="http://schemas.microsoft.com/office/drawing/2014/main" val="20004"/>
                    </a:ext>
                  </a:extLst>
                </a:gridCol>
                <a:gridCol w="713544">
                  <a:extLst>
                    <a:ext uri="{9D8B030D-6E8A-4147-A177-3AD203B41FA5}">
                      <a16:colId xmlns:a16="http://schemas.microsoft.com/office/drawing/2014/main" val="20005"/>
                    </a:ext>
                  </a:extLst>
                </a:gridCol>
                <a:gridCol w="748120">
                  <a:extLst>
                    <a:ext uri="{9D8B030D-6E8A-4147-A177-3AD203B41FA5}">
                      <a16:colId xmlns:a16="http://schemas.microsoft.com/office/drawing/2014/main" val="20006"/>
                    </a:ext>
                  </a:extLst>
                </a:gridCol>
              </a:tblGrid>
              <a:tr h="329827">
                <a:tc>
                  <a:txBody>
                    <a:bodyPr/>
                    <a:lstStyle/>
                    <a:p>
                      <a:pPr algn="l" fontAlgn="ctr">
                        <a:buNone/>
                      </a:pPr>
                      <a:r>
                        <a:rPr lang="en-US" altLang="es-ES" sz="1100" b="1" i="0" u="none" strike="noStrike" dirty="0">
                          <a:solidFill>
                            <a:srgbClr val="7030A0"/>
                          </a:solidFill>
                          <a:effectLst/>
                          <a:latin typeface="+mj-lt"/>
                        </a:rPr>
                        <a:t>Split</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Accuracy</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zh-CN" sz="1100" b="1" i="0" u="none" strike="noStrike" dirty="0">
                          <a:solidFill>
                            <a:srgbClr val="7030A0"/>
                          </a:solidFill>
                          <a:effectLst/>
                          <a:latin typeface="+mj-lt"/>
                        </a:rPr>
                        <a:t>Precision</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Recall</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Specificity</a:t>
                      </a: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F1-Score</a:t>
                      </a:r>
                    </a:p>
                  </a:txBody>
                  <a:tcPr marL="7620" marR="7620" marT="7620" marB="0" anchor="ctr"/>
                </a:tc>
                <a:extLst>
                  <a:ext uri="{0D108BD9-81ED-4DB2-BD59-A6C34878D82A}">
                    <a16:rowId xmlns:a16="http://schemas.microsoft.com/office/drawing/2014/main" val="3840787724"/>
                  </a:ext>
                </a:extLst>
              </a:tr>
              <a:tr h="244469">
                <a:tc>
                  <a:txBody>
                    <a:bodyPr/>
                    <a:lstStyle/>
                    <a:p>
                      <a:pPr algn="l" fontAlgn="ctr">
                        <a:buNone/>
                      </a:pPr>
                      <a:r>
                        <a:rPr lang="es-ES" sz="1100" b="1" i="0" u="none" strike="noStrike" dirty="0">
                          <a:solidFill>
                            <a:srgbClr val="000000"/>
                          </a:solidFill>
                          <a:effectLst/>
                        </a:rPr>
                        <a:t>TRAIN</a:t>
                      </a:r>
                    </a:p>
                  </a:txBody>
                  <a:tcPr marL="7620" marR="7620" marT="7620" marB="0" anchor="ctr"/>
                </a:tc>
                <a:tc>
                  <a:txBody>
                    <a:bodyPr/>
                    <a:lstStyle/>
                    <a:p>
                      <a:pPr algn="l" fontAlgn="ctr"/>
                      <a:r>
                        <a:rPr lang="es-ES" sz="1100" b="1" i="0" dirty="0">
                          <a:solidFill>
                            <a:srgbClr val="000000"/>
                          </a:solidFill>
                          <a:effectLst/>
                        </a:rPr>
                        <a:t>0.7708163</a:t>
                      </a:r>
                    </a:p>
                  </a:txBody>
                  <a:tcPr marL="9842" marR="9842" marT="9842" marB="0" anchor="ctr"/>
                </a:tc>
                <a:tc>
                  <a:txBody>
                    <a:bodyPr/>
                    <a:lstStyle/>
                    <a:p>
                      <a:pPr algn="l" fontAlgn="ctr">
                        <a:buNone/>
                      </a:pPr>
                      <a:r>
                        <a:rPr lang="es-ES" sz="1100" b="1" u="none" strike="noStrike" dirty="0">
                          <a:effectLst/>
                        </a:rPr>
                        <a:t>0.4686241</a:t>
                      </a:r>
                    </a:p>
                  </a:txBody>
                  <a:tcPr marL="7620" marR="7620" marT="7620" marB="0" anchor="ctr"/>
                </a:tc>
                <a:tc>
                  <a:txBody>
                    <a:bodyPr/>
                    <a:lstStyle/>
                    <a:p>
                      <a:pPr algn="l" fontAlgn="ctr"/>
                      <a:r>
                        <a:rPr lang="es-ES" sz="1100" b="1" i="0" dirty="0">
                          <a:solidFill>
                            <a:srgbClr val="000000"/>
                          </a:solidFill>
                          <a:effectLst/>
                        </a:rPr>
                        <a:t>0.8027613</a:t>
                      </a:r>
                    </a:p>
                  </a:txBody>
                  <a:tcPr marL="9842" marR="9842" marT="9842" marB="0" anchor="ctr"/>
                </a:tc>
                <a:tc>
                  <a:txBody>
                    <a:bodyPr/>
                    <a:lstStyle/>
                    <a:p>
                      <a:pPr algn="l" fontAlgn="ctr"/>
                      <a:r>
                        <a:rPr lang="es-ES" sz="1100" b="1" i="0" dirty="0">
                          <a:solidFill>
                            <a:srgbClr val="000000"/>
                          </a:solidFill>
                          <a:effectLst/>
                        </a:rPr>
                        <a:t>0.7624807</a:t>
                      </a:r>
                    </a:p>
                  </a:txBody>
                  <a:tcPr marL="9842" marR="9842" marT="9842" marB="0" anchor="ctr"/>
                </a:tc>
                <a:tc>
                  <a:txBody>
                    <a:bodyPr/>
                    <a:lstStyle/>
                    <a:p>
                      <a:pPr algn="l" fontAlgn="ctr"/>
                      <a:r>
                        <a:rPr lang="es-ES" sz="1100" b="1" i="0" dirty="0">
                          <a:solidFill>
                            <a:srgbClr val="000000"/>
                          </a:solidFill>
                          <a:effectLst/>
                        </a:rPr>
                        <a:t>0.5917848</a:t>
                      </a:r>
                    </a:p>
                  </a:txBody>
                  <a:tcPr marL="9842" marR="9842" marT="9842" marB="0" anchor="ctr"/>
                </a:tc>
                <a:extLst>
                  <a:ext uri="{0D108BD9-81ED-4DB2-BD59-A6C34878D82A}">
                    <a16:rowId xmlns:a16="http://schemas.microsoft.com/office/drawing/2014/main" val="10000"/>
                  </a:ext>
                </a:extLst>
              </a:tr>
              <a:tr h="204546">
                <a:tc>
                  <a:txBody>
                    <a:bodyPr/>
                    <a:lstStyle/>
                    <a:p>
                      <a:pPr algn="l" fontAlgn="ctr">
                        <a:buNone/>
                      </a:pPr>
                      <a:r>
                        <a:rPr lang="es-ES" sz="1100" b="1" i="0" u="none" strike="noStrike" dirty="0">
                          <a:solidFill>
                            <a:srgbClr val="000000"/>
                          </a:solidFill>
                          <a:effectLst/>
                        </a:rPr>
                        <a:t>TEST</a:t>
                      </a:r>
                    </a:p>
                  </a:txBody>
                  <a:tcPr marL="7620" marR="7620" marT="7620" marB="0" anchor="ctr"/>
                </a:tc>
                <a:tc>
                  <a:txBody>
                    <a:bodyPr/>
                    <a:lstStyle/>
                    <a:p>
                      <a:pPr algn="l" fontAlgn="b"/>
                      <a:r>
                        <a:rPr lang="es-ES" sz="1100" b="1" i="0" dirty="0">
                          <a:solidFill>
                            <a:srgbClr val="000000"/>
                          </a:solidFill>
                          <a:effectLst/>
                        </a:rPr>
                        <a:t>0.6790476</a:t>
                      </a:r>
                    </a:p>
                  </a:txBody>
                  <a:tcPr marL="9842" marR="9842" marT="9842" marB="0" anchor="b"/>
                </a:tc>
                <a:tc>
                  <a:txBody>
                    <a:bodyPr/>
                    <a:lstStyle/>
                    <a:p>
                      <a:pPr algn="l" fontAlgn="b"/>
                      <a:r>
                        <a:rPr lang="es-ES" sz="1100" b="1" i="0" dirty="0">
                          <a:solidFill>
                            <a:srgbClr val="000000"/>
                          </a:solidFill>
                          <a:effectLst/>
                        </a:rPr>
                        <a:t>0.3342618</a:t>
                      </a:r>
                    </a:p>
                  </a:txBody>
                  <a:tcPr marL="9842" marR="9842" marT="9842" marB="0" anchor="b"/>
                </a:tc>
                <a:tc>
                  <a:txBody>
                    <a:bodyPr/>
                    <a:lstStyle/>
                    <a:p>
                      <a:pPr algn="l" fontAlgn="b"/>
                      <a:r>
                        <a:rPr lang="es-ES" sz="1100" b="1" i="0" dirty="0">
                          <a:solidFill>
                            <a:srgbClr val="000000"/>
                          </a:solidFill>
                          <a:effectLst/>
                        </a:rPr>
                        <a:t>0.5504587</a:t>
                      </a:r>
                    </a:p>
                  </a:txBody>
                  <a:tcPr marL="9842" marR="9842" marT="9842" marB="0" anchor="b"/>
                </a:tc>
                <a:tc>
                  <a:txBody>
                    <a:bodyPr/>
                    <a:lstStyle/>
                    <a:p>
                      <a:pPr algn="l" fontAlgn="b"/>
                      <a:r>
                        <a:rPr lang="es-ES" sz="1100" b="1" i="0" dirty="0">
                          <a:solidFill>
                            <a:srgbClr val="000000"/>
                          </a:solidFill>
                          <a:effectLst/>
                        </a:rPr>
                        <a:t>0.7127404</a:t>
                      </a:r>
                    </a:p>
                  </a:txBody>
                  <a:tcPr marL="9842" marR="9842" marT="9842" marB="0" anchor="b"/>
                </a:tc>
                <a:tc>
                  <a:txBody>
                    <a:bodyPr/>
                    <a:lstStyle/>
                    <a:p>
                      <a:pPr algn="l" fontAlgn="b"/>
                      <a:r>
                        <a:rPr lang="es-ES" sz="1100" b="1" i="0" dirty="0">
                          <a:solidFill>
                            <a:srgbClr val="000000"/>
                          </a:solidFill>
                          <a:effectLst/>
                        </a:rPr>
                        <a:t>0.4159445</a:t>
                      </a:r>
                    </a:p>
                  </a:txBody>
                  <a:tcPr marL="9842" marR="9842" marT="9842" marB="0" anchor="b"/>
                </a:tc>
                <a:extLst>
                  <a:ext uri="{0D108BD9-81ED-4DB2-BD59-A6C34878D82A}">
                    <a16:rowId xmlns:a16="http://schemas.microsoft.com/office/drawing/2014/main" val="10001"/>
                  </a:ext>
                </a:extLst>
              </a:tr>
            </a:tbl>
          </a:graphicData>
        </a:graphic>
      </p:graphicFrame>
      <p:sp>
        <p:nvSpPr>
          <p:cNvPr id="7" name="CuadroTexto 6"/>
          <p:cNvSpPr txBox="1"/>
          <p:nvPr/>
        </p:nvSpPr>
        <p:spPr>
          <a:xfrm>
            <a:off x="534539" y="2607967"/>
            <a:ext cx="8609461" cy="2446824"/>
          </a:xfrm>
          <a:prstGeom prst="rect">
            <a:avLst/>
          </a:prstGeom>
          <a:noFill/>
        </p:spPr>
        <p:txBody>
          <a:bodyPr wrap="square">
            <a:spAutoFit/>
          </a:bodyPr>
          <a:lstStyle/>
          <a:p>
            <a:r>
              <a:rPr lang="en-GB" sz="1300" b="1" dirty="0"/>
              <a:t>Naive Bayes:</a:t>
            </a:r>
            <a:r>
              <a:rPr lang="en-GB" sz="1300" dirty="0"/>
              <a:t> </a:t>
            </a:r>
          </a:p>
          <a:p>
            <a:pPr marL="285750" indent="-285750">
              <a:buFont typeface="Arial" panose="020B0604020202020204" pitchFamily="34" charset="0"/>
              <a:buChar char="•"/>
            </a:pPr>
            <a:r>
              <a:rPr lang="en-GB" sz="1300" dirty="0"/>
              <a:t>Se </a:t>
            </a:r>
            <a:r>
              <a:rPr lang="en-GB" sz="1300" dirty="0" err="1"/>
              <a:t>aplicó</a:t>
            </a:r>
            <a:r>
              <a:rPr lang="en-GB" sz="1300" dirty="0"/>
              <a:t> </a:t>
            </a:r>
            <a:r>
              <a:rPr lang="en-GB" sz="1300" dirty="0" err="1"/>
              <a:t>el</a:t>
            </a:r>
            <a:r>
              <a:rPr lang="en-GB" sz="1300" dirty="0"/>
              <a:t> </a:t>
            </a:r>
            <a:r>
              <a:rPr lang="en-GB" sz="1300" dirty="0">
                <a:solidFill>
                  <a:srgbClr val="FF0000"/>
                </a:solidFill>
              </a:rPr>
              <a:t>FAMD</a:t>
            </a:r>
            <a:r>
              <a:rPr lang="en-GB" sz="1300" dirty="0"/>
              <a:t>, </a:t>
            </a:r>
            <a:r>
              <a:rPr lang="en-GB" sz="1300" dirty="0" err="1"/>
              <a:t>obteniendo</a:t>
            </a:r>
            <a:r>
              <a:rPr lang="en-GB" sz="1300" dirty="0"/>
              <a:t> </a:t>
            </a:r>
            <a:r>
              <a:rPr lang="en-GB" sz="1300" dirty="0" err="1"/>
              <a:t>una</a:t>
            </a:r>
            <a:r>
              <a:rPr lang="en-GB" sz="1300" dirty="0"/>
              <a:t> </a:t>
            </a:r>
            <a:r>
              <a:rPr lang="en-GB" sz="1300" dirty="0" err="1"/>
              <a:t>leve</a:t>
            </a:r>
            <a:r>
              <a:rPr lang="en-GB" sz="1300" dirty="0"/>
              <a:t> </a:t>
            </a:r>
            <a:r>
              <a:rPr lang="en-GB" sz="1300" dirty="0" err="1"/>
              <a:t>mejora</a:t>
            </a:r>
            <a:r>
              <a:rPr lang="en-GB" sz="1300" dirty="0"/>
              <a:t> general </a:t>
            </a:r>
            <a:r>
              <a:rPr lang="en-GB" sz="1300" dirty="0" err="1"/>
              <a:t>en</a:t>
            </a:r>
            <a:r>
              <a:rPr lang="en-GB" sz="1300" dirty="0"/>
              <a:t> las </a:t>
            </a:r>
            <a:r>
              <a:rPr lang="en-GB" sz="1300" dirty="0" err="1"/>
              <a:t>métricas</a:t>
            </a:r>
            <a:endParaRPr lang="en-GB" sz="1300" dirty="0"/>
          </a:p>
          <a:p>
            <a:pPr marL="285750" indent="-285750">
              <a:buFont typeface="Arial" panose="020B0604020202020204" pitchFamily="34" charset="0"/>
              <a:buChar char="•"/>
            </a:pPr>
            <a:r>
              <a:rPr lang="en-GB" sz="1300" dirty="0"/>
              <a:t>No se ha </a:t>
            </a:r>
            <a:r>
              <a:rPr lang="en-GB" sz="1300" dirty="0" err="1"/>
              <a:t>detectado</a:t>
            </a:r>
            <a:r>
              <a:rPr lang="en-GB" sz="1300" dirty="0"/>
              <a:t> </a:t>
            </a:r>
            <a:r>
              <a:rPr lang="en-GB" sz="1300" dirty="0" err="1"/>
              <a:t>sobreajuste</a:t>
            </a:r>
            <a:endParaRPr lang="en-GB" sz="1300" dirty="0"/>
          </a:p>
          <a:p>
            <a:pPr marL="285750" indent="-285750">
              <a:buFont typeface="Arial" panose="020B0604020202020204" pitchFamily="34" charset="0"/>
              <a:buChar char="•"/>
            </a:pPr>
            <a:r>
              <a:rPr lang="en-GB" sz="1300" dirty="0"/>
              <a:t>No hay </a:t>
            </a:r>
            <a:r>
              <a:rPr lang="en-GB" sz="1300" dirty="0" err="1"/>
              <a:t>diferencia</a:t>
            </a:r>
            <a:r>
              <a:rPr lang="en-GB" sz="1300" dirty="0"/>
              <a:t> entre </a:t>
            </a:r>
            <a:r>
              <a:rPr lang="en-GB" sz="1300" dirty="0" err="1"/>
              <a:t>métodos</a:t>
            </a:r>
            <a:r>
              <a:rPr lang="en-GB" sz="1300" dirty="0"/>
              <a:t> de </a:t>
            </a:r>
            <a:r>
              <a:rPr lang="en-GB" sz="1300" dirty="0" err="1"/>
              <a:t>balanceo</a:t>
            </a:r>
            <a:endParaRPr lang="en-GB" sz="1300" dirty="0"/>
          </a:p>
          <a:p>
            <a:r>
              <a:rPr lang="en-GB" sz="1300" b="1" dirty="0"/>
              <a:t>KNN (9NN)</a:t>
            </a:r>
          </a:p>
          <a:p>
            <a:pPr marL="285750" indent="-285750">
              <a:buFont typeface="Arial" panose="020B0604020202020204" pitchFamily="34" charset="0"/>
              <a:buChar char="•"/>
            </a:pPr>
            <a:r>
              <a:rPr lang="en-GB" sz="1300" dirty="0"/>
              <a:t>Entre </a:t>
            </a:r>
            <a:r>
              <a:rPr lang="en-GB" sz="1300" dirty="0" err="1"/>
              <a:t>los</a:t>
            </a:r>
            <a:r>
              <a:rPr lang="en-GB" sz="1300" dirty="0"/>
              <a:t> </a:t>
            </a:r>
            <a:r>
              <a:rPr lang="en-GB" sz="1300" dirty="0" err="1"/>
              <a:t>métodos</a:t>
            </a:r>
            <a:r>
              <a:rPr lang="en-GB" sz="1300" dirty="0"/>
              <a:t> de </a:t>
            </a:r>
            <a:r>
              <a:rPr lang="en-GB" sz="1300" dirty="0" err="1"/>
              <a:t>balanceo</a:t>
            </a:r>
            <a:r>
              <a:rPr lang="en-GB" sz="1300" dirty="0"/>
              <a:t>, </a:t>
            </a:r>
            <a:r>
              <a:rPr lang="en-GB" sz="1300" i="1" dirty="0">
                <a:solidFill>
                  <a:srgbClr val="7030A0"/>
                </a:solidFill>
              </a:rPr>
              <a:t>SMOTE</a:t>
            </a:r>
            <a:r>
              <a:rPr lang="en-GB" sz="1300" i="1" dirty="0"/>
              <a:t>, (</a:t>
            </a:r>
            <a:r>
              <a:rPr lang="en-GB" sz="1300" dirty="0" err="1"/>
              <a:t>ofreció</a:t>
            </a:r>
            <a:r>
              <a:rPr lang="en-GB" sz="1300" dirty="0"/>
              <a:t> </a:t>
            </a:r>
            <a:r>
              <a:rPr lang="en-GB" sz="1300" dirty="0" err="1"/>
              <a:t>los</a:t>
            </a:r>
            <a:r>
              <a:rPr lang="en-GB" sz="1300" dirty="0"/>
              <a:t> </a:t>
            </a:r>
            <a:r>
              <a:rPr lang="en-GB" sz="1300" dirty="0" err="1"/>
              <a:t>mejoros</a:t>
            </a:r>
            <a:r>
              <a:rPr lang="en-GB" sz="1300" dirty="0"/>
              <a:t> </a:t>
            </a:r>
            <a:r>
              <a:rPr lang="en-GB" sz="1300" dirty="0" err="1"/>
              <a:t>resultados</a:t>
            </a:r>
            <a:r>
              <a:rPr lang="en-GB" sz="1300" dirty="0"/>
              <a:t> via </a:t>
            </a:r>
            <a:r>
              <a:rPr lang="en-GB" sz="1300" dirty="0" err="1"/>
              <a:t>poca</a:t>
            </a:r>
            <a:r>
              <a:rPr lang="en-GB" sz="1300" dirty="0"/>
              <a:t> </a:t>
            </a:r>
            <a:r>
              <a:rPr lang="en-GB" sz="1300" dirty="0" err="1"/>
              <a:t>diferencia</a:t>
            </a:r>
            <a:r>
              <a:rPr lang="en-GB" sz="1300" dirty="0"/>
              <a:t>)</a:t>
            </a:r>
          </a:p>
          <a:p>
            <a:pPr marL="285750" indent="-285750">
              <a:buFont typeface="Arial" panose="020B0604020202020204" pitchFamily="34" charset="0"/>
              <a:buChar char="•"/>
            </a:pPr>
            <a:r>
              <a:rPr lang="en-GB" sz="1300" dirty="0" err="1"/>
              <a:t>Detección</a:t>
            </a:r>
            <a:r>
              <a:rPr lang="en-GB" sz="1300" dirty="0"/>
              <a:t> de </a:t>
            </a:r>
            <a:r>
              <a:rPr lang="en-GB" sz="1300" i="1" dirty="0">
                <a:solidFill>
                  <a:srgbClr val="7030A0"/>
                </a:solidFill>
              </a:rPr>
              <a:t>ligero </a:t>
            </a:r>
            <a:r>
              <a:rPr lang="en-GB" sz="1300" i="1" dirty="0" err="1">
                <a:solidFill>
                  <a:srgbClr val="7030A0"/>
                </a:solidFill>
              </a:rPr>
              <a:t>sobreajuste</a:t>
            </a:r>
            <a:endParaRPr lang="en-GB" sz="1300" i="1" dirty="0">
              <a:solidFill>
                <a:srgbClr val="7030A0"/>
              </a:solidFill>
            </a:endParaRPr>
          </a:p>
          <a:p>
            <a:endParaRPr lang="en-GB" i="1" dirty="0"/>
          </a:p>
          <a:p>
            <a:r>
              <a:rPr lang="en-GB" sz="1200" i="1" dirty="0"/>
              <a:t>En ambos temenos </a:t>
            </a:r>
            <a:r>
              <a:rPr lang="en-GB" sz="1200" i="1" dirty="0" err="1"/>
              <a:t>una</a:t>
            </a:r>
            <a:r>
              <a:rPr lang="en-GB" sz="1200" i="1" dirty="0"/>
              <a:t> </a:t>
            </a:r>
            <a:r>
              <a:rPr lang="en-GB" sz="1200" i="1" dirty="0" err="1"/>
              <a:t>alta</a:t>
            </a:r>
            <a:r>
              <a:rPr lang="en-GB" sz="1200" i="1" dirty="0"/>
              <a:t> </a:t>
            </a:r>
            <a:r>
              <a:rPr lang="en-GB" sz="1200" i="1" dirty="0" err="1"/>
              <a:t>especificidad</a:t>
            </a:r>
            <a:r>
              <a:rPr lang="en-GB" sz="1200" i="1" dirty="0"/>
              <a:t>, </a:t>
            </a:r>
            <a:r>
              <a:rPr lang="en-GB" sz="1200" i="1" dirty="0" err="1"/>
              <a:t>por</a:t>
            </a:r>
            <a:r>
              <a:rPr lang="en-GB" sz="1200" i="1" dirty="0"/>
              <a:t> lo tanto, </a:t>
            </a:r>
            <a:r>
              <a:rPr lang="en-GB" sz="1200" i="1" dirty="0" err="1"/>
              <a:t>correcto</a:t>
            </a:r>
            <a:r>
              <a:rPr lang="en-GB" sz="1200" i="1" dirty="0"/>
              <a:t> para detector </a:t>
            </a:r>
            <a:r>
              <a:rPr lang="en-GB" sz="1200" i="1" dirty="0" err="1"/>
              <a:t>los</a:t>
            </a:r>
            <a:r>
              <a:rPr lang="en-GB" sz="1200" i="1" dirty="0"/>
              <a:t> </a:t>
            </a:r>
            <a:r>
              <a:rPr lang="en-GB" sz="1200" i="1" dirty="0" err="1"/>
              <a:t>casos</a:t>
            </a:r>
            <a:r>
              <a:rPr lang="en-GB" sz="1200" i="1" dirty="0"/>
              <a:t> </a:t>
            </a:r>
            <a:r>
              <a:rPr lang="en-GB" sz="1200" i="1" dirty="0" err="1"/>
              <a:t>negativos</a:t>
            </a:r>
            <a:r>
              <a:rPr lang="en-GB" sz="1200" i="1" dirty="0"/>
              <a:t> </a:t>
            </a:r>
            <a:r>
              <a:rPr lang="en-GB" sz="1200" i="1" dirty="0" err="1"/>
              <a:t>pero</a:t>
            </a:r>
            <a:r>
              <a:rPr lang="en-GB" sz="1200" i="1" dirty="0"/>
              <a:t> </a:t>
            </a:r>
            <a:r>
              <a:rPr lang="en-GB" sz="1200" i="1" dirty="0" err="1"/>
              <a:t>en</a:t>
            </a:r>
            <a:r>
              <a:rPr lang="en-GB" sz="1200" i="1" dirty="0"/>
              <a:t> </a:t>
            </a:r>
            <a:r>
              <a:rPr lang="en-GB" sz="1200" i="1" dirty="0" err="1"/>
              <a:t>nuestro</a:t>
            </a:r>
            <a:r>
              <a:rPr lang="en-GB" sz="1200" i="1" dirty="0"/>
              <a:t> </a:t>
            </a:r>
            <a:r>
              <a:rPr lang="en-GB" sz="1200" i="1" dirty="0" err="1"/>
              <a:t>estudio</a:t>
            </a:r>
            <a:r>
              <a:rPr lang="en-GB" sz="1200" i="1" dirty="0"/>
              <a:t> </a:t>
            </a:r>
            <a:r>
              <a:rPr lang="en-GB" sz="1200" i="1" dirty="0" err="1"/>
              <a:t>nos</a:t>
            </a:r>
            <a:r>
              <a:rPr lang="en-GB" sz="1200" i="1" dirty="0"/>
              <a:t> </a:t>
            </a:r>
            <a:r>
              <a:rPr lang="en-GB" sz="1200" i="1" dirty="0" err="1"/>
              <a:t>interesa</a:t>
            </a:r>
            <a:r>
              <a:rPr lang="en-GB" sz="1200" i="1" dirty="0"/>
              <a:t> la </a:t>
            </a:r>
            <a:r>
              <a:rPr lang="en-GB" sz="1200" i="1" dirty="0" err="1"/>
              <a:t>clase</a:t>
            </a:r>
            <a:r>
              <a:rPr lang="en-GB" sz="1200" i="1" dirty="0"/>
              <a:t> positive, </a:t>
            </a:r>
            <a:r>
              <a:rPr lang="en-GB" sz="1200" i="1" dirty="0" err="1"/>
              <a:t>indicando</a:t>
            </a:r>
            <a:r>
              <a:rPr lang="en-GB" sz="1200" i="1" dirty="0"/>
              <a:t> </a:t>
            </a:r>
            <a:r>
              <a:rPr lang="en-GB" sz="1200" i="1" dirty="0" err="1"/>
              <a:t>que</a:t>
            </a:r>
            <a:r>
              <a:rPr lang="en-GB" sz="1200" i="1" dirty="0"/>
              <a:t> para </a:t>
            </a:r>
            <a:r>
              <a:rPr lang="en-GB" sz="1200" i="1" dirty="0" err="1"/>
              <a:t>nuestro</a:t>
            </a:r>
            <a:r>
              <a:rPr lang="en-GB" sz="1200" i="1" dirty="0"/>
              <a:t> </a:t>
            </a:r>
            <a:r>
              <a:rPr lang="en-GB" sz="1200" i="1" dirty="0" err="1"/>
              <a:t>trabajo</a:t>
            </a:r>
            <a:r>
              <a:rPr lang="en-GB" sz="1200" i="1" dirty="0"/>
              <a:t> no es tan </a:t>
            </a:r>
            <a:r>
              <a:rPr lang="en-GB" sz="1200" i="1" dirty="0" err="1"/>
              <a:t>útil</a:t>
            </a:r>
            <a:r>
              <a:rPr lang="en-GB" sz="1200" i="1" dirty="0"/>
              <a:t>. </a:t>
            </a:r>
          </a:p>
          <a:p>
            <a:r>
              <a:rPr lang="en-GB" sz="1200" i="1" dirty="0"/>
              <a:t>Al ser </a:t>
            </a:r>
            <a:r>
              <a:rPr lang="en-GB" sz="1200" i="1" dirty="0" err="1"/>
              <a:t>datos</a:t>
            </a:r>
            <a:r>
              <a:rPr lang="en-GB" sz="1200" i="1" dirty="0"/>
              <a:t> </a:t>
            </a:r>
            <a:r>
              <a:rPr lang="en-GB" sz="1200" i="1" dirty="0" err="1"/>
              <a:t>desbalancedos</a:t>
            </a:r>
            <a:r>
              <a:rPr lang="en-GB" sz="1200" i="1" dirty="0"/>
              <a:t>. El accuracy no da </a:t>
            </a:r>
            <a:r>
              <a:rPr lang="en-GB" sz="1200" i="1" dirty="0" err="1"/>
              <a:t>una</a:t>
            </a:r>
            <a:r>
              <a:rPr lang="en-GB" sz="1200" i="1" dirty="0"/>
              <a:t> </a:t>
            </a:r>
            <a:r>
              <a:rPr lang="en-GB" sz="1200" i="1" dirty="0" err="1"/>
              <a:t>métrica</a:t>
            </a:r>
            <a:r>
              <a:rPr lang="en-GB" sz="1200" i="1" dirty="0"/>
              <a:t> </a:t>
            </a:r>
            <a:r>
              <a:rPr lang="en-GB" sz="1200" i="1" dirty="0" err="1"/>
              <a:t>correcta</a:t>
            </a:r>
            <a:r>
              <a:rPr lang="en-GB" sz="1200" i="1" dirty="0"/>
              <a:t> o </a:t>
            </a:r>
            <a:r>
              <a:rPr lang="en-GB" sz="1200" i="1" dirty="0" err="1"/>
              <a:t>creïble</a:t>
            </a:r>
            <a:r>
              <a:rPr lang="en-GB" sz="1200" i="1" dirty="0"/>
              <a:t>. </a:t>
            </a:r>
          </a:p>
          <a:p>
            <a:pPr lvl="5"/>
            <a:r>
              <a:rPr lang="es-ES" sz="1200" i="1" dirty="0"/>
              <a:t>(Ver todas las modelizaciones realizadas en “Registros </a:t>
            </a:r>
            <a:r>
              <a:rPr lang="es-ES" sz="1200" i="1" dirty="0" err="1"/>
              <a:t>modelos.xlsx</a:t>
            </a:r>
            <a:r>
              <a:rPr lang="es-ES" sz="1200" i="1" dirty="0"/>
              <a:t>” evaluados en </a:t>
            </a:r>
            <a:r>
              <a:rPr lang="es-ES" sz="1200" i="1" dirty="0">
                <a:hlinkClick r:id="rId3"/>
              </a:rPr>
              <a:t>Github</a:t>
            </a:r>
            <a:r>
              <a:rPr lang="es-ES" sz="1200" i="1" dirty="0"/>
              <a:t>)</a:t>
            </a:r>
            <a:endParaRPr lang="ca-ES" sz="1200" i="1" dirty="0"/>
          </a:p>
        </p:txBody>
      </p:sp>
      <p:sp>
        <p:nvSpPr>
          <p:cNvPr id="10" name="Flecha: hacia la izquierda 9"/>
          <p:cNvSpPr/>
          <p:nvPr/>
        </p:nvSpPr>
        <p:spPr>
          <a:xfrm>
            <a:off x="7050491" y="1944838"/>
            <a:ext cx="1840101" cy="673582"/>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Insufficient</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p>
        </p:txBody>
      </p:sp>
      <p:graphicFrame>
        <p:nvGraphicFramePr>
          <p:cNvPr id="15" name="Diagram 14">
            <a:extLst>
              <a:ext uri="{FF2B5EF4-FFF2-40B4-BE49-F238E27FC236}">
                <a16:creationId xmlns:a16="http://schemas.microsoft.com/office/drawing/2014/main" id="{3C87FC02-D443-B500-1F46-D6A556E0E738}"/>
              </a:ext>
            </a:extLst>
          </p:cNvPr>
          <p:cNvGraphicFramePr/>
          <p:nvPr>
            <p:extLst>
              <p:ext uri="{D42A27DB-BD31-4B8C-83A1-F6EECF244321}">
                <p14:modId xmlns:p14="http://schemas.microsoft.com/office/powerpoint/2010/main" val="3846858244"/>
              </p:ext>
            </p:extLst>
          </p:nvPr>
        </p:nvGraphicFramePr>
        <p:xfrm>
          <a:off x="782760" y="1353106"/>
          <a:ext cx="1617045" cy="5727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16" name="Diagram 15">
            <a:extLst>
              <a:ext uri="{FF2B5EF4-FFF2-40B4-BE49-F238E27FC236}">
                <a16:creationId xmlns:a16="http://schemas.microsoft.com/office/drawing/2014/main" id="{FAAF9AA9-2E60-FD7F-66A3-2CAAAD442921}"/>
              </a:ext>
            </a:extLst>
          </p:cNvPr>
          <p:cNvGraphicFramePr/>
          <p:nvPr>
            <p:extLst>
              <p:ext uri="{D42A27DB-BD31-4B8C-83A1-F6EECF244321}">
                <p14:modId xmlns:p14="http://schemas.microsoft.com/office/powerpoint/2010/main" val="1607142216"/>
              </p:ext>
            </p:extLst>
          </p:nvPr>
        </p:nvGraphicFramePr>
        <p:xfrm>
          <a:off x="-51798" y="2004664"/>
          <a:ext cx="2451603" cy="53087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2" name="Left Arrow 1">
            <a:extLst>
              <a:ext uri="{FF2B5EF4-FFF2-40B4-BE49-F238E27FC236}">
                <a16:creationId xmlns:a16="http://schemas.microsoft.com/office/drawing/2014/main" id="{55941FCE-A230-D01C-1E66-60A61B21C5A3}"/>
              </a:ext>
            </a:extLst>
          </p:cNvPr>
          <p:cNvSpPr/>
          <p:nvPr/>
        </p:nvSpPr>
        <p:spPr>
          <a:xfrm>
            <a:off x="7012237" y="1156497"/>
            <a:ext cx="1916610" cy="45382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Cross Validation</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B4E62D-BCC6-4EE4-EF0C-004BFF5C76F4}"/>
              </a:ext>
            </a:extLst>
          </p:cNvPr>
          <p:cNvSpPr>
            <a:spLocks noGrp="1"/>
          </p:cNvSpPr>
          <p:nvPr>
            <p:ph type="title"/>
          </p:nvPr>
        </p:nvSpPr>
        <p:spPr/>
        <p:txBody>
          <a:bodyPr/>
          <a:lstStyle/>
          <a:p>
            <a:r>
              <a:rPr lang="es-ES" noProof="0" dirty="0"/>
              <a:t>Árbol de </a:t>
            </a:r>
            <a:r>
              <a:rPr lang="es-ES" noProof="0" dirty="0" err="1"/>
              <a:t>desición</a:t>
            </a:r>
            <a:endParaRPr lang="es-ES" noProof="0" dirty="0"/>
          </a:p>
        </p:txBody>
      </p:sp>
      <p:graphicFrame>
        <p:nvGraphicFramePr>
          <p:cNvPr id="5" name="Tabla 4">
            <a:extLst>
              <a:ext uri="{FF2B5EF4-FFF2-40B4-BE49-F238E27FC236}">
                <a16:creationId xmlns:a16="http://schemas.microsoft.com/office/drawing/2014/main" id="{91C0E36A-D0DD-E8B8-21D5-10146D353935}"/>
              </a:ext>
            </a:extLst>
          </p:cNvPr>
          <p:cNvGraphicFramePr>
            <a:graphicFrameLocks noGrp="1"/>
          </p:cNvGraphicFramePr>
          <p:nvPr>
            <p:extLst>
              <p:ext uri="{D42A27DB-BD31-4B8C-83A1-F6EECF244321}">
                <p14:modId xmlns:p14="http://schemas.microsoft.com/office/powerpoint/2010/main" val="2933068741"/>
              </p:ext>
            </p:extLst>
          </p:nvPr>
        </p:nvGraphicFramePr>
        <p:xfrm>
          <a:off x="720000" y="1590563"/>
          <a:ext cx="4427034" cy="2758440"/>
        </p:xfrm>
        <a:graphic>
          <a:graphicData uri="http://schemas.openxmlformats.org/drawingml/2006/table">
            <a:tbl>
              <a:tblPr firstRow="1" bandRow="1">
                <a:tableStyleId>{69012ECD-51FC-41F1-AA8D-1B2483CD663E}</a:tableStyleId>
              </a:tblPr>
              <a:tblGrid>
                <a:gridCol w="2213517">
                  <a:extLst>
                    <a:ext uri="{9D8B030D-6E8A-4147-A177-3AD203B41FA5}">
                      <a16:colId xmlns:a16="http://schemas.microsoft.com/office/drawing/2014/main" val="126442759"/>
                    </a:ext>
                  </a:extLst>
                </a:gridCol>
                <a:gridCol w="2213517">
                  <a:extLst>
                    <a:ext uri="{9D8B030D-6E8A-4147-A177-3AD203B41FA5}">
                      <a16:colId xmlns:a16="http://schemas.microsoft.com/office/drawing/2014/main" val="37233113"/>
                    </a:ext>
                  </a:extLst>
                </a:gridCol>
              </a:tblGrid>
              <a:tr h="212904">
                <a:tc>
                  <a:txBody>
                    <a:bodyPr/>
                    <a:lstStyle/>
                    <a:p>
                      <a:r>
                        <a:rPr lang="ca-ES" sz="1100" dirty="0"/>
                        <a:t>Característica</a:t>
                      </a:r>
                    </a:p>
                  </a:txBody>
                  <a:tcPr/>
                </a:tc>
                <a:tc>
                  <a:txBody>
                    <a:bodyPr/>
                    <a:lstStyle/>
                    <a:p>
                      <a:r>
                        <a:rPr lang="ca-ES" sz="1100" dirty="0"/>
                        <a:t>Valor</a:t>
                      </a:r>
                    </a:p>
                  </a:txBody>
                  <a:tcPr/>
                </a:tc>
                <a:extLst>
                  <a:ext uri="{0D108BD9-81ED-4DB2-BD59-A6C34878D82A}">
                    <a16:rowId xmlns:a16="http://schemas.microsoft.com/office/drawing/2014/main" val="3200554047"/>
                  </a:ext>
                </a:extLst>
              </a:tr>
              <a:tr h="212904">
                <a:tc>
                  <a:txBody>
                    <a:bodyPr/>
                    <a:lstStyle/>
                    <a:p>
                      <a:r>
                        <a:rPr lang="ca-ES" sz="1100" dirty="0" err="1"/>
                        <a:t>Balanceo</a:t>
                      </a:r>
                      <a:endParaRPr lang="ca-ES" sz="1100" dirty="0"/>
                    </a:p>
                  </a:txBody>
                  <a:tcPr/>
                </a:tc>
                <a:tc>
                  <a:txBody>
                    <a:bodyPr/>
                    <a:lstStyle/>
                    <a:p>
                      <a:r>
                        <a:rPr lang="ca-ES" sz="1100" dirty="0"/>
                        <a:t>Sí (ROSE: 43-57)</a:t>
                      </a:r>
                    </a:p>
                  </a:txBody>
                  <a:tcPr/>
                </a:tc>
                <a:extLst>
                  <a:ext uri="{0D108BD9-81ED-4DB2-BD59-A6C34878D82A}">
                    <a16:rowId xmlns:a16="http://schemas.microsoft.com/office/drawing/2014/main" val="3638994520"/>
                  </a:ext>
                </a:extLst>
              </a:tr>
              <a:tr h="212904">
                <a:tc>
                  <a:txBody>
                    <a:bodyPr/>
                    <a:lstStyle/>
                    <a:p>
                      <a:r>
                        <a:rPr lang="ca-ES" sz="1100" dirty="0"/>
                        <a:t>Umbral de </a:t>
                      </a:r>
                      <a:r>
                        <a:rPr lang="ca-ES" sz="1100" dirty="0" err="1"/>
                        <a:t>discriminación</a:t>
                      </a:r>
                      <a:endParaRPr lang="ca-ES" sz="1100" dirty="0"/>
                    </a:p>
                  </a:txBody>
                  <a:tcPr/>
                </a:tc>
                <a:tc>
                  <a:txBody>
                    <a:bodyPr/>
                    <a:lstStyle/>
                    <a:p>
                      <a:r>
                        <a:rPr lang="ca-ES" sz="1100" dirty="0"/>
                        <a:t>0.43</a:t>
                      </a:r>
                    </a:p>
                  </a:txBody>
                  <a:tcPr/>
                </a:tc>
                <a:extLst>
                  <a:ext uri="{0D108BD9-81ED-4DB2-BD59-A6C34878D82A}">
                    <a16:rowId xmlns:a16="http://schemas.microsoft.com/office/drawing/2014/main" val="1847208886"/>
                  </a:ext>
                </a:extLst>
              </a:tr>
              <a:tr h="212904">
                <a:tc>
                  <a:txBody>
                    <a:bodyPr/>
                    <a:lstStyle/>
                    <a:p>
                      <a:r>
                        <a:rPr lang="ca-ES" sz="1100" dirty="0" err="1"/>
                        <a:t>Escalado</a:t>
                      </a:r>
                      <a:r>
                        <a:rPr lang="ca-ES" sz="1100" dirty="0"/>
                        <a:t> de </a:t>
                      </a:r>
                      <a:r>
                        <a:rPr lang="ca-ES" sz="1100" dirty="0" err="1"/>
                        <a:t>numéricas</a:t>
                      </a:r>
                      <a:endParaRPr lang="ca-ES" sz="1100" dirty="0"/>
                    </a:p>
                  </a:txBody>
                  <a:tcPr/>
                </a:tc>
                <a:tc>
                  <a:txBody>
                    <a:bodyPr/>
                    <a:lstStyle/>
                    <a:p>
                      <a:r>
                        <a:rPr lang="ca-ES" sz="1100" dirty="0"/>
                        <a:t>Sí</a:t>
                      </a:r>
                    </a:p>
                  </a:txBody>
                  <a:tcPr/>
                </a:tc>
                <a:extLst>
                  <a:ext uri="{0D108BD9-81ED-4DB2-BD59-A6C34878D82A}">
                    <a16:rowId xmlns:a16="http://schemas.microsoft.com/office/drawing/2014/main" val="267009526"/>
                  </a:ext>
                </a:extLst>
              </a:tr>
              <a:tr h="212904">
                <a:tc>
                  <a:txBody>
                    <a:bodyPr/>
                    <a:lstStyle/>
                    <a:p>
                      <a:r>
                        <a:rPr lang="ca-ES" sz="1100" dirty="0"/>
                        <a:t>Cross </a:t>
                      </a:r>
                      <a:r>
                        <a:rPr lang="ca-ES" sz="1100" dirty="0" err="1"/>
                        <a:t>Validation</a:t>
                      </a:r>
                      <a:endParaRPr lang="ca-ES" sz="1100" dirty="0"/>
                    </a:p>
                  </a:txBody>
                  <a:tcPr/>
                </a:tc>
                <a:tc>
                  <a:txBody>
                    <a:bodyPr/>
                    <a:lstStyle/>
                    <a:p>
                      <a:r>
                        <a:rPr lang="ca-ES" sz="1100" dirty="0"/>
                        <a:t>Sí (10 </a:t>
                      </a:r>
                      <a:r>
                        <a:rPr lang="ca-ES" sz="1100" dirty="0" err="1"/>
                        <a:t>folds</a:t>
                      </a:r>
                      <a:r>
                        <a:rPr lang="ca-ES" sz="1100" dirty="0"/>
                        <a:t>)</a:t>
                      </a:r>
                    </a:p>
                  </a:txBody>
                  <a:tcPr/>
                </a:tc>
                <a:extLst>
                  <a:ext uri="{0D108BD9-81ED-4DB2-BD59-A6C34878D82A}">
                    <a16:rowId xmlns:a16="http://schemas.microsoft.com/office/drawing/2014/main" val="3713442765"/>
                  </a:ext>
                </a:extLst>
              </a:tr>
              <a:tr h="212904">
                <a:tc>
                  <a:txBody>
                    <a:bodyPr/>
                    <a:lstStyle/>
                    <a:p>
                      <a:r>
                        <a:rPr lang="ca-ES" sz="1100" dirty="0" err="1"/>
                        <a:t>Criterio</a:t>
                      </a:r>
                      <a:r>
                        <a:rPr lang="ca-ES" sz="1100" dirty="0"/>
                        <a:t> para dividir </a:t>
                      </a:r>
                      <a:r>
                        <a:rPr lang="ca-ES" sz="1100" dirty="0" err="1"/>
                        <a:t>nodos</a:t>
                      </a:r>
                      <a:endParaRPr lang="ca-ES" sz="1100" dirty="0"/>
                    </a:p>
                  </a:txBody>
                  <a:tcPr/>
                </a:tc>
                <a:tc>
                  <a:txBody>
                    <a:bodyPr/>
                    <a:lstStyle/>
                    <a:p>
                      <a:r>
                        <a:rPr lang="ca-ES" sz="1100" dirty="0" err="1"/>
                        <a:t>Índice</a:t>
                      </a:r>
                      <a:r>
                        <a:rPr lang="ca-ES" sz="1100" dirty="0"/>
                        <a:t> de </a:t>
                      </a:r>
                      <a:r>
                        <a:rPr lang="ca-ES" sz="1100" dirty="0" err="1"/>
                        <a:t>Gini</a:t>
                      </a:r>
                      <a:endParaRPr lang="ca-ES" sz="1100" dirty="0"/>
                    </a:p>
                  </a:txBody>
                  <a:tcPr/>
                </a:tc>
                <a:extLst>
                  <a:ext uri="{0D108BD9-81ED-4DB2-BD59-A6C34878D82A}">
                    <a16:rowId xmlns:a16="http://schemas.microsoft.com/office/drawing/2014/main" val="3762920500"/>
                  </a:ext>
                </a:extLst>
              </a:tr>
              <a:tr h="361936">
                <a:tc>
                  <a:txBody>
                    <a:bodyPr/>
                    <a:lstStyle/>
                    <a:p>
                      <a:r>
                        <a:rPr lang="ca-ES" sz="1100" dirty="0" err="1"/>
                        <a:t>Parámetro</a:t>
                      </a:r>
                      <a:r>
                        <a:rPr lang="ca-ES" sz="1100" dirty="0"/>
                        <a:t> de </a:t>
                      </a:r>
                      <a:r>
                        <a:rPr lang="ca-ES" sz="1100" dirty="0" err="1"/>
                        <a:t>complejidad</a:t>
                      </a:r>
                      <a:r>
                        <a:rPr lang="ca-ES" sz="1100" dirty="0"/>
                        <a:t> </a:t>
                      </a:r>
                      <a:r>
                        <a:rPr lang="ca-ES" sz="1100" dirty="0" err="1"/>
                        <a:t>Cp</a:t>
                      </a:r>
                      <a:endParaRPr lang="ca-ES" sz="1100" dirty="0"/>
                    </a:p>
                  </a:txBody>
                  <a:tcPr/>
                </a:tc>
                <a:tc>
                  <a:txBody>
                    <a:bodyPr/>
                    <a:lstStyle/>
                    <a:p>
                      <a:r>
                        <a:rPr lang="ca-ES" sz="1100" dirty="0" err="1"/>
                        <a:t>Optimizado</a:t>
                      </a:r>
                      <a:r>
                        <a:rPr lang="ca-ES" sz="1100" dirty="0"/>
                        <a:t> </a:t>
                      </a:r>
                      <a:r>
                        <a:rPr lang="ca-ES" sz="1100" dirty="0" err="1"/>
                        <a:t>vía</a:t>
                      </a:r>
                      <a:r>
                        <a:rPr lang="ca-ES" sz="1100" dirty="0"/>
                        <a:t> CV=&gt; </a:t>
                      </a:r>
                      <a:r>
                        <a:rPr lang="es-ES" sz="1100" dirty="0"/>
                        <a:t>0.004039924</a:t>
                      </a:r>
                      <a:endParaRPr lang="ca-ES" sz="1100" dirty="0"/>
                    </a:p>
                  </a:txBody>
                  <a:tcPr/>
                </a:tc>
                <a:extLst>
                  <a:ext uri="{0D108BD9-81ED-4DB2-BD59-A6C34878D82A}">
                    <a16:rowId xmlns:a16="http://schemas.microsoft.com/office/drawing/2014/main" val="1666499219"/>
                  </a:ext>
                </a:extLst>
              </a:tr>
              <a:tr h="212904">
                <a:tc>
                  <a:txBody>
                    <a:bodyPr/>
                    <a:lstStyle/>
                    <a:p>
                      <a:r>
                        <a:rPr lang="ca-ES" sz="1100" dirty="0"/>
                        <a:t>Número total de </a:t>
                      </a:r>
                      <a:r>
                        <a:rPr lang="ca-ES" sz="1100" dirty="0" err="1"/>
                        <a:t>nodos</a:t>
                      </a:r>
                      <a:endParaRPr lang="ca-ES" sz="1100" dirty="0"/>
                    </a:p>
                  </a:txBody>
                  <a:tcPr/>
                </a:tc>
                <a:tc>
                  <a:txBody>
                    <a:bodyPr/>
                    <a:lstStyle/>
                    <a:p>
                      <a:r>
                        <a:rPr lang="ca-ES" sz="1100" dirty="0"/>
                        <a:t>27</a:t>
                      </a:r>
                    </a:p>
                  </a:txBody>
                  <a:tcPr/>
                </a:tc>
                <a:extLst>
                  <a:ext uri="{0D108BD9-81ED-4DB2-BD59-A6C34878D82A}">
                    <a16:rowId xmlns:a16="http://schemas.microsoft.com/office/drawing/2014/main" val="1559705293"/>
                  </a:ext>
                </a:extLst>
              </a:tr>
              <a:tr h="212904">
                <a:tc>
                  <a:txBody>
                    <a:bodyPr/>
                    <a:lstStyle/>
                    <a:p>
                      <a:r>
                        <a:rPr lang="ca-ES" sz="1100" dirty="0"/>
                        <a:t>Número de </a:t>
                      </a:r>
                      <a:r>
                        <a:rPr lang="ca-ES" sz="1100" dirty="0" err="1"/>
                        <a:t>hojas</a:t>
                      </a:r>
                      <a:endParaRPr lang="ca-ES" sz="1100" dirty="0"/>
                    </a:p>
                  </a:txBody>
                  <a:tcPr/>
                </a:tc>
                <a:tc>
                  <a:txBody>
                    <a:bodyPr/>
                    <a:lstStyle/>
                    <a:p>
                      <a:r>
                        <a:rPr lang="ca-ES" sz="1100" dirty="0"/>
                        <a:t>14</a:t>
                      </a:r>
                    </a:p>
                  </a:txBody>
                  <a:tcPr/>
                </a:tc>
                <a:extLst>
                  <a:ext uri="{0D108BD9-81ED-4DB2-BD59-A6C34878D82A}">
                    <a16:rowId xmlns:a16="http://schemas.microsoft.com/office/drawing/2014/main" val="1272187103"/>
                  </a:ext>
                </a:extLst>
              </a:tr>
              <a:tr h="212904">
                <a:tc>
                  <a:txBody>
                    <a:bodyPr/>
                    <a:lstStyle/>
                    <a:p>
                      <a:r>
                        <a:rPr lang="ca-ES" sz="1100" dirty="0" err="1"/>
                        <a:t>Tamáño</a:t>
                      </a:r>
                      <a:r>
                        <a:rPr lang="ca-ES" sz="1100" dirty="0"/>
                        <a:t> </a:t>
                      </a:r>
                      <a:r>
                        <a:rPr lang="ca-ES" sz="1100" dirty="0" err="1"/>
                        <a:t>mínimo</a:t>
                      </a:r>
                      <a:r>
                        <a:rPr lang="ca-ES" sz="1100" dirty="0"/>
                        <a:t> de </a:t>
                      </a:r>
                      <a:r>
                        <a:rPr lang="ca-ES" sz="1100" dirty="0" err="1"/>
                        <a:t>hoja</a:t>
                      </a:r>
                      <a:endParaRPr lang="ca-ES" sz="1100" dirty="0"/>
                    </a:p>
                  </a:txBody>
                  <a:tcPr/>
                </a:tc>
                <a:tc>
                  <a:txBody>
                    <a:bodyPr/>
                    <a:lstStyle/>
                    <a:p>
                      <a:r>
                        <a:rPr lang="ca-ES" sz="1100" dirty="0"/>
                        <a:t>15</a:t>
                      </a:r>
                    </a:p>
                  </a:txBody>
                  <a:tcPr/>
                </a:tc>
                <a:extLst>
                  <a:ext uri="{0D108BD9-81ED-4DB2-BD59-A6C34878D82A}">
                    <a16:rowId xmlns:a16="http://schemas.microsoft.com/office/drawing/2014/main" val="4167062354"/>
                  </a:ext>
                </a:extLst>
              </a:tr>
            </a:tbl>
          </a:graphicData>
        </a:graphic>
      </p:graphicFrame>
      <p:sp>
        <p:nvSpPr>
          <p:cNvPr id="6" name="AutoShape 2">
            <a:extLst>
              <a:ext uri="{FF2B5EF4-FFF2-40B4-BE49-F238E27FC236}">
                <a16:creationId xmlns:a16="http://schemas.microsoft.com/office/drawing/2014/main" id="{CC78E7FE-6C76-53DE-FA92-7178444A00CE}"/>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ca-ES"/>
          </a:p>
        </p:txBody>
      </p:sp>
      <p:graphicFrame>
        <p:nvGraphicFramePr>
          <p:cNvPr id="7" name="Tabla 6">
            <a:extLst>
              <a:ext uri="{FF2B5EF4-FFF2-40B4-BE49-F238E27FC236}">
                <a16:creationId xmlns:a16="http://schemas.microsoft.com/office/drawing/2014/main" id="{E27B1CD2-7EFB-AA7A-3361-090E6CE5F737}"/>
              </a:ext>
            </a:extLst>
          </p:cNvPr>
          <p:cNvGraphicFramePr>
            <a:graphicFrameLocks noGrp="1"/>
          </p:cNvGraphicFramePr>
          <p:nvPr>
            <p:extLst>
              <p:ext uri="{D42A27DB-BD31-4B8C-83A1-F6EECF244321}">
                <p14:modId xmlns:p14="http://schemas.microsoft.com/office/powerpoint/2010/main" val="3985396187"/>
              </p:ext>
            </p:extLst>
          </p:nvPr>
        </p:nvGraphicFramePr>
        <p:xfrm>
          <a:off x="5293793" y="1590562"/>
          <a:ext cx="3552842" cy="2758444"/>
        </p:xfrm>
        <a:graphic>
          <a:graphicData uri="http://schemas.openxmlformats.org/drawingml/2006/table">
            <a:tbl>
              <a:tblPr firstRow="1" bandRow="1">
                <a:tableStyleId>{69012ECD-51FC-41F1-AA8D-1B2483CD663E}</a:tableStyleId>
              </a:tblPr>
              <a:tblGrid>
                <a:gridCol w="1776421">
                  <a:extLst>
                    <a:ext uri="{9D8B030D-6E8A-4147-A177-3AD203B41FA5}">
                      <a16:colId xmlns:a16="http://schemas.microsoft.com/office/drawing/2014/main" val="126442759"/>
                    </a:ext>
                  </a:extLst>
                </a:gridCol>
                <a:gridCol w="1776421">
                  <a:extLst>
                    <a:ext uri="{9D8B030D-6E8A-4147-A177-3AD203B41FA5}">
                      <a16:colId xmlns:a16="http://schemas.microsoft.com/office/drawing/2014/main" val="37233113"/>
                    </a:ext>
                  </a:extLst>
                </a:gridCol>
              </a:tblGrid>
              <a:tr h="293545">
                <a:tc>
                  <a:txBody>
                    <a:bodyPr/>
                    <a:lstStyle/>
                    <a:p>
                      <a:r>
                        <a:rPr lang="ca-ES" sz="1100" dirty="0"/>
                        <a:t>KPI</a:t>
                      </a:r>
                    </a:p>
                  </a:txBody>
                  <a:tcPr/>
                </a:tc>
                <a:tc>
                  <a:txBody>
                    <a:bodyPr/>
                    <a:lstStyle/>
                    <a:p>
                      <a:r>
                        <a:rPr lang="ca-ES" sz="1100" dirty="0"/>
                        <a:t>Valor</a:t>
                      </a:r>
                    </a:p>
                  </a:txBody>
                  <a:tcPr/>
                </a:tc>
                <a:extLst>
                  <a:ext uri="{0D108BD9-81ED-4DB2-BD59-A6C34878D82A}">
                    <a16:rowId xmlns:a16="http://schemas.microsoft.com/office/drawing/2014/main" val="3200554047"/>
                  </a:ext>
                </a:extLst>
              </a:tr>
              <a:tr h="293545">
                <a:tc>
                  <a:txBody>
                    <a:bodyPr/>
                    <a:lstStyle/>
                    <a:p>
                      <a:r>
                        <a:rPr lang="ca-ES" sz="1100" dirty="0"/>
                        <a:t>F1 </a:t>
                      </a:r>
                      <a:r>
                        <a:rPr lang="ca-ES" sz="1100" dirty="0" err="1"/>
                        <a:t>train</a:t>
                      </a:r>
                      <a:endParaRPr lang="ca-ES" sz="1100" dirty="0"/>
                    </a:p>
                  </a:txBody>
                  <a:tcPr/>
                </a:tc>
                <a:tc>
                  <a:txBody>
                    <a:bodyPr/>
                    <a:lstStyle/>
                    <a:p>
                      <a:r>
                        <a:rPr lang="ca-ES" sz="1100" dirty="0"/>
                        <a:t>0.4870878</a:t>
                      </a:r>
                    </a:p>
                  </a:txBody>
                  <a:tcPr/>
                </a:tc>
                <a:extLst>
                  <a:ext uri="{0D108BD9-81ED-4DB2-BD59-A6C34878D82A}">
                    <a16:rowId xmlns:a16="http://schemas.microsoft.com/office/drawing/2014/main" val="3638994520"/>
                  </a:ext>
                </a:extLst>
              </a:tr>
              <a:tr h="293545">
                <a:tc>
                  <a:txBody>
                    <a:bodyPr/>
                    <a:lstStyle/>
                    <a:p>
                      <a:r>
                        <a:rPr lang="ca-ES" sz="1100" dirty="0"/>
                        <a:t>F1 test</a:t>
                      </a:r>
                    </a:p>
                  </a:txBody>
                  <a:tcPr/>
                </a:tc>
                <a:tc>
                  <a:txBody>
                    <a:bodyPr/>
                    <a:lstStyle/>
                    <a:p>
                      <a:r>
                        <a:rPr lang="ca-ES" sz="1100" dirty="0"/>
                        <a:t>0.4990826</a:t>
                      </a:r>
                    </a:p>
                  </a:txBody>
                  <a:tcPr/>
                </a:tc>
                <a:extLst>
                  <a:ext uri="{0D108BD9-81ED-4DB2-BD59-A6C34878D82A}">
                    <a16:rowId xmlns:a16="http://schemas.microsoft.com/office/drawing/2014/main" val="1847208886"/>
                  </a:ext>
                </a:extLst>
              </a:tr>
              <a:tr h="293545">
                <a:tc>
                  <a:txBody>
                    <a:bodyPr/>
                    <a:lstStyle/>
                    <a:p>
                      <a:r>
                        <a:rPr lang="ca-ES" sz="1100" dirty="0" err="1"/>
                        <a:t>Recall</a:t>
                      </a:r>
                      <a:r>
                        <a:rPr lang="ca-ES" sz="1100" dirty="0"/>
                        <a:t> </a:t>
                      </a:r>
                      <a:r>
                        <a:rPr lang="ca-ES" sz="1100" dirty="0" err="1"/>
                        <a:t>train</a:t>
                      </a:r>
                      <a:endParaRPr lang="ca-ES" sz="1100" dirty="0"/>
                    </a:p>
                  </a:txBody>
                  <a:tcPr/>
                </a:tc>
                <a:tc>
                  <a:txBody>
                    <a:bodyPr/>
                    <a:lstStyle/>
                    <a:p>
                      <a:r>
                        <a:rPr lang="ca-ES" sz="1100" dirty="0"/>
                        <a:t>0.607</a:t>
                      </a:r>
                    </a:p>
                  </a:txBody>
                  <a:tcPr/>
                </a:tc>
                <a:extLst>
                  <a:ext uri="{0D108BD9-81ED-4DB2-BD59-A6C34878D82A}">
                    <a16:rowId xmlns:a16="http://schemas.microsoft.com/office/drawing/2014/main" val="267009526"/>
                  </a:ext>
                </a:extLst>
              </a:tr>
              <a:tr h="293545">
                <a:tc>
                  <a:txBody>
                    <a:bodyPr/>
                    <a:lstStyle/>
                    <a:p>
                      <a:r>
                        <a:rPr lang="ca-ES" sz="1100" dirty="0" err="1"/>
                        <a:t>Recall</a:t>
                      </a:r>
                      <a:r>
                        <a:rPr lang="ca-ES" sz="1100" dirty="0"/>
                        <a:t> test</a:t>
                      </a:r>
                    </a:p>
                  </a:txBody>
                  <a:tcPr/>
                </a:tc>
                <a:tc>
                  <a:txBody>
                    <a:bodyPr/>
                    <a:lstStyle/>
                    <a:p>
                      <a:r>
                        <a:rPr lang="ca-ES" sz="1100" dirty="0"/>
                        <a:t>0.61678</a:t>
                      </a:r>
                    </a:p>
                  </a:txBody>
                  <a:tcPr/>
                </a:tc>
                <a:extLst>
                  <a:ext uri="{0D108BD9-81ED-4DB2-BD59-A6C34878D82A}">
                    <a16:rowId xmlns:a16="http://schemas.microsoft.com/office/drawing/2014/main" val="3713442765"/>
                  </a:ext>
                </a:extLst>
              </a:tr>
              <a:tr h="293545">
                <a:tc>
                  <a:txBody>
                    <a:bodyPr/>
                    <a:lstStyle/>
                    <a:p>
                      <a:r>
                        <a:rPr lang="ca-ES" sz="1100" dirty="0" err="1"/>
                        <a:t>Sprecificity_train</a:t>
                      </a:r>
                      <a:endParaRPr lang="ca-ES" sz="1100" dirty="0"/>
                    </a:p>
                  </a:txBody>
                  <a:tcPr/>
                </a:tc>
                <a:tc>
                  <a:txBody>
                    <a:bodyPr/>
                    <a:lstStyle/>
                    <a:p>
                      <a:r>
                        <a:rPr lang="ca-ES" sz="1100" dirty="0"/>
                        <a:t>0.769982</a:t>
                      </a:r>
                    </a:p>
                  </a:txBody>
                  <a:tcPr/>
                </a:tc>
                <a:extLst>
                  <a:ext uri="{0D108BD9-81ED-4DB2-BD59-A6C34878D82A}">
                    <a16:rowId xmlns:a16="http://schemas.microsoft.com/office/drawing/2014/main" val="3762920500"/>
                  </a:ext>
                </a:extLst>
              </a:tr>
              <a:tr h="410084">
                <a:tc>
                  <a:txBody>
                    <a:bodyPr/>
                    <a:lstStyle/>
                    <a:p>
                      <a:r>
                        <a:rPr lang="ca-ES" sz="1100" dirty="0" err="1"/>
                        <a:t>Specificity</a:t>
                      </a:r>
                      <a:r>
                        <a:rPr lang="ca-ES" sz="1100" dirty="0"/>
                        <a:t> test</a:t>
                      </a:r>
                    </a:p>
                  </a:txBody>
                  <a:tcPr/>
                </a:tc>
                <a:tc>
                  <a:txBody>
                    <a:bodyPr/>
                    <a:lstStyle/>
                    <a:p>
                      <a:r>
                        <a:rPr lang="ca-ES" sz="1100" dirty="0"/>
                        <a:t>0.7727</a:t>
                      </a:r>
                    </a:p>
                  </a:txBody>
                  <a:tcPr/>
                </a:tc>
                <a:extLst>
                  <a:ext uri="{0D108BD9-81ED-4DB2-BD59-A6C34878D82A}">
                    <a16:rowId xmlns:a16="http://schemas.microsoft.com/office/drawing/2014/main" val="1666499219"/>
                  </a:ext>
                </a:extLst>
              </a:tr>
              <a:tr h="293545">
                <a:tc>
                  <a:txBody>
                    <a:bodyPr/>
                    <a:lstStyle/>
                    <a:p>
                      <a:r>
                        <a:rPr lang="ca-ES" sz="1100" dirty="0" err="1"/>
                        <a:t>Accuracy</a:t>
                      </a:r>
                      <a:r>
                        <a:rPr lang="ca-ES" sz="1100" dirty="0"/>
                        <a:t> </a:t>
                      </a:r>
                      <a:r>
                        <a:rPr lang="ca-ES" sz="1100" dirty="0" err="1"/>
                        <a:t>train</a:t>
                      </a:r>
                      <a:endParaRPr lang="ca-ES" sz="1100" dirty="0"/>
                    </a:p>
                  </a:txBody>
                  <a:tcPr/>
                </a:tc>
                <a:tc>
                  <a:txBody>
                    <a:bodyPr/>
                    <a:lstStyle/>
                    <a:p>
                      <a:r>
                        <a:rPr lang="ca-ES" sz="1100" dirty="0"/>
                        <a:t>0.7365306</a:t>
                      </a:r>
                    </a:p>
                  </a:txBody>
                  <a:tcPr/>
                </a:tc>
                <a:extLst>
                  <a:ext uri="{0D108BD9-81ED-4DB2-BD59-A6C34878D82A}">
                    <a16:rowId xmlns:a16="http://schemas.microsoft.com/office/drawing/2014/main" val="1559705293"/>
                  </a:ext>
                </a:extLst>
              </a:tr>
              <a:tr h="293545">
                <a:tc>
                  <a:txBody>
                    <a:bodyPr/>
                    <a:lstStyle/>
                    <a:p>
                      <a:r>
                        <a:rPr lang="ca-ES" sz="1100" dirty="0" err="1"/>
                        <a:t>Accuracy</a:t>
                      </a:r>
                      <a:r>
                        <a:rPr lang="ca-ES" sz="1100" dirty="0"/>
                        <a:t> test</a:t>
                      </a:r>
                    </a:p>
                  </a:txBody>
                  <a:tcPr/>
                </a:tc>
                <a:tc>
                  <a:txBody>
                    <a:bodyPr/>
                    <a:lstStyle/>
                    <a:p>
                      <a:r>
                        <a:rPr lang="ca-ES" sz="1100" dirty="0"/>
                        <a:t>0.74</a:t>
                      </a:r>
                    </a:p>
                  </a:txBody>
                  <a:tcPr/>
                </a:tc>
                <a:extLst>
                  <a:ext uri="{0D108BD9-81ED-4DB2-BD59-A6C34878D82A}">
                    <a16:rowId xmlns:a16="http://schemas.microsoft.com/office/drawing/2014/main" val="1272187103"/>
                  </a:ext>
                </a:extLst>
              </a:tr>
            </a:tbl>
          </a:graphicData>
        </a:graphic>
      </p:graphicFrame>
    </p:spTree>
    <p:extLst>
      <p:ext uri="{BB962C8B-B14F-4D97-AF65-F5344CB8AC3E}">
        <p14:creationId xmlns:p14="http://schemas.microsoft.com/office/powerpoint/2010/main" val="2224626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9474DF-3B1E-B7EB-C47A-C4029B9CA6E2}"/>
              </a:ext>
            </a:extLst>
          </p:cNvPr>
          <p:cNvSpPr>
            <a:spLocks noGrp="1"/>
          </p:cNvSpPr>
          <p:nvPr>
            <p:ph type="title"/>
          </p:nvPr>
        </p:nvSpPr>
        <p:spPr/>
        <p:txBody>
          <a:bodyPr/>
          <a:lstStyle/>
          <a:p>
            <a:endParaRPr lang="ca-ES"/>
          </a:p>
        </p:txBody>
      </p:sp>
      <p:pic>
        <p:nvPicPr>
          <p:cNvPr id="4" name="Imagen 3" descr="Diagrama">
            <a:extLst>
              <a:ext uri="{FF2B5EF4-FFF2-40B4-BE49-F238E27FC236}">
                <a16:creationId xmlns:a16="http://schemas.microsoft.com/office/drawing/2014/main" id="{4DEB307C-6BB4-A6BC-DBA1-DF9FCF41BCAA}"/>
              </a:ext>
            </a:extLst>
          </p:cNvPr>
          <p:cNvPicPr>
            <a:picLocks noChangeAspect="1"/>
          </p:cNvPicPr>
          <p:nvPr/>
        </p:nvPicPr>
        <p:blipFill>
          <a:blip r:embed="rId2"/>
          <a:stretch>
            <a:fillRect/>
          </a:stretch>
        </p:blipFill>
        <p:spPr>
          <a:xfrm>
            <a:off x="0" y="745295"/>
            <a:ext cx="7289822" cy="4103648"/>
          </a:xfrm>
          <a:prstGeom prst="rect">
            <a:avLst/>
          </a:prstGeom>
        </p:spPr>
      </p:pic>
      <p:pic>
        <p:nvPicPr>
          <p:cNvPr id="10" name="Imagen 9" descr="Tabla&#10;&#10;El contenido generado por IA puede ser incorrecto.">
            <a:extLst>
              <a:ext uri="{FF2B5EF4-FFF2-40B4-BE49-F238E27FC236}">
                <a16:creationId xmlns:a16="http://schemas.microsoft.com/office/drawing/2014/main" id="{6722969D-1499-5A0C-8BA0-9DEA6C499B77}"/>
              </a:ext>
            </a:extLst>
          </p:cNvPr>
          <p:cNvPicPr>
            <a:picLocks noChangeAspect="1"/>
          </p:cNvPicPr>
          <p:nvPr/>
        </p:nvPicPr>
        <p:blipFill>
          <a:blip r:embed="rId3"/>
          <a:stretch>
            <a:fillRect/>
          </a:stretch>
        </p:blipFill>
        <p:spPr>
          <a:xfrm>
            <a:off x="7078382" y="2152297"/>
            <a:ext cx="2065618" cy="2103181"/>
          </a:xfrm>
          <a:prstGeom prst="rect">
            <a:avLst/>
          </a:prstGeom>
        </p:spPr>
      </p:pic>
    </p:spTree>
    <p:extLst>
      <p:ext uri="{BB962C8B-B14F-4D97-AF65-F5344CB8AC3E}">
        <p14:creationId xmlns:p14="http://schemas.microsoft.com/office/powerpoint/2010/main" val="26974989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0DB030-9BC2-5D4D-B7DE-F1672C407D20}"/>
              </a:ext>
            </a:extLst>
          </p:cNvPr>
          <p:cNvSpPr>
            <a:spLocks noGrp="1"/>
          </p:cNvSpPr>
          <p:nvPr>
            <p:ph type="title"/>
          </p:nvPr>
        </p:nvSpPr>
        <p:spPr/>
        <p:txBody>
          <a:bodyPr/>
          <a:lstStyle/>
          <a:p>
            <a:r>
              <a:rPr lang="es-ES" dirty="0" err="1"/>
              <a:t>Random</a:t>
            </a:r>
            <a:r>
              <a:rPr lang="es-ES" dirty="0"/>
              <a:t> Forest</a:t>
            </a:r>
          </a:p>
        </p:txBody>
      </p:sp>
    </p:spTree>
    <p:extLst>
      <p:ext uri="{BB962C8B-B14F-4D97-AF65-F5344CB8AC3E}">
        <p14:creationId xmlns:p14="http://schemas.microsoft.com/office/powerpoint/2010/main" val="36277968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35A133-552C-F60D-3767-71D9B2556565}"/>
              </a:ext>
            </a:extLst>
          </p:cNvPr>
          <p:cNvSpPr>
            <a:spLocks noGrp="1"/>
          </p:cNvSpPr>
          <p:nvPr>
            <p:ph type="title"/>
          </p:nvPr>
        </p:nvSpPr>
        <p:spPr/>
        <p:txBody>
          <a:bodyPr/>
          <a:lstStyle/>
          <a:p>
            <a:r>
              <a:rPr lang="es-ES" dirty="0" err="1"/>
              <a:t>XGBoost</a:t>
            </a:r>
            <a:endParaRPr lang="es-ES" dirty="0"/>
          </a:p>
        </p:txBody>
      </p:sp>
    </p:spTree>
    <p:extLst>
      <p:ext uri="{BB962C8B-B14F-4D97-AF65-F5344CB8AC3E}">
        <p14:creationId xmlns:p14="http://schemas.microsoft.com/office/powerpoint/2010/main" val="4400278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D3930F5-ACC3-7379-7FD6-8B2C2ABF6A05}"/>
              </a:ext>
            </a:extLst>
          </p:cNvPr>
          <p:cNvSpPr>
            <a:spLocks noGrp="1"/>
          </p:cNvSpPr>
          <p:nvPr>
            <p:ph type="title"/>
          </p:nvPr>
        </p:nvSpPr>
        <p:spPr/>
        <p:txBody>
          <a:bodyPr/>
          <a:lstStyle/>
          <a:p>
            <a:r>
              <a:rPr lang="es-ES" dirty="0"/>
              <a:t>GLM</a:t>
            </a:r>
          </a:p>
        </p:txBody>
      </p:sp>
    </p:spTree>
    <p:extLst>
      <p:ext uri="{BB962C8B-B14F-4D97-AF65-F5344CB8AC3E}">
        <p14:creationId xmlns:p14="http://schemas.microsoft.com/office/powerpoint/2010/main" val="4022311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3690A8-11D9-D221-FD81-BC5116D5E743}"/>
              </a:ext>
            </a:extLst>
          </p:cNvPr>
          <p:cNvSpPr>
            <a:spLocks noGrp="1"/>
          </p:cNvSpPr>
          <p:nvPr>
            <p:ph type="title"/>
          </p:nvPr>
        </p:nvSpPr>
        <p:spPr/>
        <p:txBody>
          <a:bodyPr/>
          <a:lstStyle/>
          <a:p>
            <a:r>
              <a:rPr lang="es-ES" dirty="0"/>
              <a:t>SVM</a:t>
            </a:r>
          </a:p>
        </p:txBody>
      </p:sp>
    </p:spTree>
    <p:extLst>
      <p:ext uri="{BB962C8B-B14F-4D97-AF65-F5344CB8AC3E}">
        <p14:creationId xmlns:p14="http://schemas.microsoft.com/office/powerpoint/2010/main" val="7510349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9CF6E-112B-D9C4-F76D-9DBE2EFB227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B861A1F-D8C8-E3EE-FB99-A420783A8454}"/>
              </a:ext>
            </a:extLst>
          </p:cNvPr>
          <p:cNvSpPr>
            <a:spLocks noGrp="1"/>
          </p:cNvSpPr>
          <p:nvPr>
            <p:ph type="title"/>
          </p:nvPr>
        </p:nvSpPr>
        <p:spPr/>
        <p:txBody>
          <a:bodyPr/>
          <a:lstStyle/>
          <a:p>
            <a:r>
              <a:rPr lang="es-ES" dirty="0"/>
              <a:t>Mejores modelos i métodos</a:t>
            </a:r>
          </a:p>
        </p:txBody>
      </p:sp>
    </p:spTree>
    <p:extLst>
      <p:ext uri="{BB962C8B-B14F-4D97-AF65-F5344CB8AC3E}">
        <p14:creationId xmlns:p14="http://schemas.microsoft.com/office/powerpoint/2010/main" val="1303636660"/>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Parcel</Template>
  <TotalTime>1075</TotalTime>
  <Words>1342</Words>
  <Application>Microsoft Office PowerPoint</Application>
  <PresentationFormat>Presentación en pantalla (16:9)</PresentationFormat>
  <Paragraphs>240</Paragraphs>
  <Slides>18</Slides>
  <Notes>11</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18</vt:i4>
      </vt:variant>
    </vt:vector>
  </HeadingPairs>
  <TitlesOfParts>
    <vt:vector size="27" baseType="lpstr">
      <vt:lpstr>Raleway</vt:lpstr>
      <vt:lpstr>Arial Rounded MT Bold</vt:lpstr>
      <vt:lpstr>Arial</vt:lpstr>
      <vt:lpstr>Libre Franklin</vt:lpstr>
      <vt:lpstr>Didact Gothic</vt:lpstr>
      <vt:lpstr>Poppins</vt:lpstr>
      <vt:lpstr>Arial Black</vt:lpstr>
      <vt:lpstr>ui-sans-serif</vt:lpstr>
      <vt:lpstr>Cycle Diagrams Theme for a Business Plan by Slidesgo</vt:lpstr>
      <vt:lpstr>Modelo de clasificación  GRUPO 5</vt:lpstr>
      <vt:lpstr>ENTENDIMIENTO DE NEGOCIO</vt:lpstr>
      <vt:lpstr>FRAMEWORK METODOLÓGICO</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vt:lpstr>
      <vt:lpstr>Árbol de desición</vt:lpstr>
      <vt:lpstr>Presentación de PowerPoint</vt:lpstr>
      <vt:lpstr>Random Forest</vt:lpstr>
      <vt:lpstr>XGBoost</vt:lpstr>
      <vt:lpstr>GLM</vt:lpstr>
      <vt:lpstr>SVM</vt:lpstr>
      <vt:lpstr>Mejores modelos i métodos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Mario Aragón Valderrama</cp:lastModifiedBy>
  <cp:revision>18</cp:revision>
  <dcterms:modified xsi:type="dcterms:W3CDTF">2025-12-14T09:38:41Z</dcterms:modified>
</cp:coreProperties>
</file>