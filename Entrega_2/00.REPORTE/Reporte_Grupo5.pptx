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85" r:id="rId2"/>
    <p:sldId id="293" r:id="rId3"/>
    <p:sldId id="299" r:id="rId4"/>
    <p:sldId id="301" r:id="rId5"/>
    <p:sldId id="296" r:id="rId6"/>
    <p:sldId id="302" r:id="rId7"/>
    <p:sldId id="303" r:id="rId8"/>
    <p:sldId id="304" r:id="rId9"/>
    <p:sldId id="305" r:id="rId10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2"/>
    </p:embeddedFont>
    <p:embeddedFont>
      <p:font typeface="Didact Gothic" panose="00000500000000000000" pitchFamily="2" charset="0"/>
      <p:regular r:id="rId13"/>
    </p:embeddedFont>
    <p:embeddedFont>
      <p:font typeface="Libre Franklin" pitchFamily="2" charset="0"/>
      <p:regular r:id="rId14"/>
      <p:bold r:id="rId15"/>
      <p:italic r:id="rId16"/>
      <p:boldItalic r:id="rId17"/>
    </p:embeddedFont>
    <p:embeddedFont>
      <p:font typeface="Lucida Console" panose="020B0609040504020204" pitchFamily="49" charset="0"/>
      <p:regular r:id="rId18"/>
    </p:embeddedFont>
    <p:embeddedFont>
      <p:font typeface="Poppins" panose="000005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FD54D1E-A07F-487E-B709-6B33F14531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>
        <p:scale>
          <a:sx n="100" d="100"/>
          <a:sy n="100" d="100"/>
        </p:scale>
        <p:origin x="859" y="2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siling.guo@estudiantat.ub.edu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6029438"/>
              </p:ext>
            </p:extLst>
          </p:nvPr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3039329"/>
              </p:ext>
            </p:extLst>
          </p:nvPr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9C6DA5-3145-B0ED-C9C6-3EEBA06235C6}"/>
              </a:ext>
            </a:extLst>
          </p:cNvPr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ES" sz="1200" dirty="0"/>
          </a:p>
        </p:txBody>
      </p:sp>
      <p:pic>
        <p:nvPicPr>
          <p:cNvPr id="5" name="Picture 4" descr="A graph with red dots and blue lines&#10;&#10;AI-generated content may be incorrect.">
            <a:extLst>
              <a:ext uri="{FF2B5EF4-FFF2-40B4-BE49-F238E27FC236}">
                <a16:creationId xmlns:a16="http://schemas.microsoft.com/office/drawing/2014/main" id="{DC1FC1D7-9B3C-12AD-0C86-48078DF9D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>
            <a:extLst>
              <a:ext uri="{FF2B5EF4-FFF2-40B4-BE49-F238E27FC236}">
                <a16:creationId xmlns:a16="http://schemas.microsoft.com/office/drawing/2014/main" id="{A3E3CB3F-4865-6CA8-52D6-66CA6A623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3FB6-0B3A-0034-1847-7992A2337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2F289C-7F3A-0FA1-5ADE-478623348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A24C387-6A16-E8AF-E5B9-811810BD2EF2}"/>
              </a:ext>
            </a:extLst>
          </p:cNvPr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960D4467-E153-86D2-A2DC-D941EB45263E}"/>
              </a:ext>
            </a:extLst>
          </p:cNvPr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82BA70BD-DC96-5102-F3C5-E7313A0F35AD}"/>
              </a:ext>
            </a:extLst>
          </p:cNvPr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6A0B7F8B-B8DC-ECFC-2CD9-483238071DB4}"/>
              </a:ext>
            </a:extLst>
          </p:cNvPr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3BD1220-CE1A-331A-047F-390BDD4C319A}"/>
              </a:ext>
            </a:extLst>
          </p:cNvPr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  <p:extLst>
      <p:ext uri="{BB962C8B-B14F-4D97-AF65-F5344CB8AC3E}">
        <p14:creationId xmlns:p14="http://schemas.microsoft.com/office/powerpoint/2010/main" val="2044926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A951853-7897-AE10-A0F0-9FD8A51EE050}"/>
              </a:ext>
            </a:extLst>
          </p:cNvPr>
          <p:cNvSpPr txBox="1"/>
          <p:nvPr/>
        </p:nvSpPr>
        <p:spPr>
          <a:xfrm>
            <a:off x="2286000" y="1446821"/>
            <a:ext cx="4572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En mi caso, p del mejor f1 se encontró en el </a:t>
            </a:r>
            <a:r>
              <a:rPr lang="es-ES" dirty="0" err="1"/>
              <a:t>search</a:t>
            </a:r>
            <a:r>
              <a:rPr lang="es-ES" dirty="0"/>
              <a:t> del </a:t>
            </a:r>
            <a:r>
              <a:rPr lang="es-ES" dirty="0" err="1"/>
              <a:t>best</a:t>
            </a:r>
            <a:r>
              <a:rPr lang="es-ES" dirty="0"/>
              <a:t> p.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Para mayor </a:t>
            </a:r>
            <a:r>
              <a:rPr lang="es-ES" dirty="0" err="1"/>
              <a:t>recall</a:t>
            </a:r>
            <a:r>
              <a:rPr lang="es-ES" dirty="0"/>
              <a:t> ( mas interesante para el proyecto) la p original 0.2071429.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Se creó la variable </a:t>
            </a:r>
            <a:r>
              <a:rPr lang="es-ES" dirty="0" err="1"/>
              <a:t>hasBalance</a:t>
            </a:r>
            <a:r>
              <a:rPr lang="es-ES" dirty="0"/>
              <a:t> y se suprimió el original.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Se ha llevado a cabo </a:t>
            </a:r>
            <a:r>
              <a:rPr lang="es-ES" dirty="0" err="1"/>
              <a:t>biperparamtre</a:t>
            </a:r>
            <a:r>
              <a:rPr lang="es-ES" dirty="0"/>
              <a:t> </a:t>
            </a:r>
            <a:r>
              <a:rPr lang="es-ES" dirty="0" err="1"/>
              <a:t>tuning</a:t>
            </a:r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Caso Melissa.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No 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3930F5-ACC3-7379-7FD6-8B2C2ABF6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19C81F1-A15F-835A-5E3B-0AFBC06BA8D2}"/>
              </a:ext>
            </a:extLst>
          </p:cNvPr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1F418CC-45B9-57D6-1A31-8F0E6480A384}"/>
              </a:ext>
            </a:extLst>
          </p:cNvPr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>
            <a:extLst>
              <a:ext uri="{FF2B5EF4-FFF2-40B4-BE49-F238E27FC236}">
                <a16:creationId xmlns:a16="http://schemas.microsoft.com/office/drawing/2014/main" id="{204E4731-EE50-1A0F-78FA-AB260AF750BB}"/>
              </a:ext>
            </a:extLst>
          </p:cNvPr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>
            <a:extLst>
              <a:ext uri="{FF2B5EF4-FFF2-40B4-BE49-F238E27FC236}">
                <a16:creationId xmlns:a16="http://schemas.microsoft.com/office/drawing/2014/main" id="{6B6A870F-515E-0390-802A-DF886CC83BE7}"/>
              </a:ext>
            </a:extLst>
          </p:cNvPr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7CE7682A-2D1D-1842-85BD-4E3D66105BBF}"/>
              </a:ext>
            </a:extLst>
          </p:cNvPr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>
            <a:extLst>
              <a:ext uri="{FF2B5EF4-FFF2-40B4-BE49-F238E27FC236}">
                <a16:creationId xmlns:a16="http://schemas.microsoft.com/office/drawing/2014/main" id="{C1AEEB45-25E2-1430-61A9-4142E17901FF}"/>
              </a:ext>
            </a:extLst>
          </p:cNvPr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>
            <a:extLst>
              <a:ext uri="{FF2B5EF4-FFF2-40B4-BE49-F238E27FC236}">
                <a16:creationId xmlns:a16="http://schemas.microsoft.com/office/drawing/2014/main" id="{9AA757AE-5FCC-903E-E3FA-E4854B27FAC4}"/>
              </a:ext>
            </a:extLst>
          </p:cNvPr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48A9109A-0AA2-C610-2B4B-661AAC7895C3}"/>
              </a:ext>
            </a:extLst>
          </p:cNvPr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2311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EE568-4D8F-5F01-17E9-DB65C7EE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419854-91CD-FA80-DEB4-670E153C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A72E87C-E95F-280D-799C-C7E838830171}"/>
              </a:ext>
            </a:extLst>
          </p:cNvPr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>
            <a:extLst>
              <a:ext uri="{FF2B5EF4-FFF2-40B4-BE49-F238E27FC236}">
                <a16:creationId xmlns:a16="http://schemas.microsoft.com/office/drawing/2014/main" id="{483E60BC-F27B-9604-330D-EFD1AD852F19}"/>
              </a:ext>
            </a:extLst>
          </p:cNvPr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>
            <a:extLst>
              <a:ext uri="{FF2B5EF4-FFF2-40B4-BE49-F238E27FC236}">
                <a16:creationId xmlns:a16="http://schemas.microsoft.com/office/drawing/2014/main" id="{968B50FB-7201-DE78-F12C-CFAC35129BF2}"/>
              </a:ext>
            </a:extLst>
          </p:cNvPr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>
            <a:extLst>
              <a:ext uri="{FF2B5EF4-FFF2-40B4-BE49-F238E27FC236}">
                <a16:creationId xmlns:a16="http://schemas.microsoft.com/office/drawing/2014/main" id="{099739FD-993F-909D-805D-35A4AF98297B}"/>
              </a:ext>
            </a:extLst>
          </p:cNvPr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89E59608-3FB8-D724-9251-1E4B2D836C96}"/>
              </a:ext>
            </a:extLst>
          </p:cNvPr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70186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F75E8-11BA-7674-DE3A-BF9C2C98E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313715-5039-9E86-CD00-62B5394BE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5AAD5D2-DF63-EE2F-79C1-F0CAB2917DB1}"/>
              </a:ext>
            </a:extLst>
          </p:cNvPr>
          <p:cNvSpPr txBox="1"/>
          <p:nvPr/>
        </p:nvSpPr>
        <p:spPr>
          <a:xfrm>
            <a:off x="823312" y="1880582"/>
            <a:ext cx="7704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la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regla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para Exited=1</a:t>
            </a:r>
          </a:p>
          <a:p>
            <a:pPr algn="l" latinLnBrk="1">
              <a:buNone/>
            </a:pPr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fueron</a:t>
            </a:r>
            <a:r>
              <a:rPr lang="en-US" dirty="0">
                <a:latin typeface="Lucida Console" panose="020B0609040504020204" pitchFamily="49" charset="0"/>
              </a:rPr>
              <a:t> bueno/</a:t>
            </a:r>
            <a:r>
              <a:rPr lang="en-US" dirty="0" err="1">
                <a:latin typeface="Lucida Console" panose="020B0609040504020204" pitchFamily="49" charset="0"/>
              </a:rPr>
              <a:t>malo</a:t>
            </a:r>
            <a:r>
              <a:rPr lang="en-US" dirty="0">
                <a:latin typeface="Lucida Console" panose="020B0609040504020204" pitchFamily="49" charset="0"/>
              </a:rPr>
              <a:t>.</a:t>
            </a:r>
          </a:p>
          <a:p>
            <a:pPr algn="l" latinLnBrk="1">
              <a:buNone/>
            </a:pP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Métricas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3844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CF6E-112B-D9C4-F76D-9DBE2EFB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861A1F-D8C8-E3EE-FB99-A420783A8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FC550B3-19E2-B999-88E4-FAA56B2062BA}"/>
              </a:ext>
            </a:extLst>
          </p:cNvPr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  <p:extLst>
      <p:ext uri="{BB962C8B-B14F-4D97-AF65-F5344CB8AC3E}">
        <p14:creationId xmlns:p14="http://schemas.microsoft.com/office/powerpoint/2010/main" val="1303636660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291</TotalTime>
  <Words>624</Words>
  <Application>Microsoft Office PowerPoint</Application>
  <PresentationFormat>Presentación en pantalla (16:9)</PresentationFormat>
  <Paragraphs>114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7" baseType="lpstr">
      <vt:lpstr>Poppins</vt:lpstr>
      <vt:lpstr>Arial Black</vt:lpstr>
      <vt:lpstr>Didact Gothic</vt:lpstr>
      <vt:lpstr>Arial</vt:lpstr>
      <vt:lpstr>Lucida Console</vt:lpstr>
      <vt:lpstr>Wingdings</vt:lpstr>
      <vt:lpstr>Libre Franklin</vt:lpstr>
      <vt:lpstr>Cycle Diagrams Theme for a Business Plan by Slidesgo</vt:lpstr>
      <vt:lpstr>Modelo de clasificación  GRUPO 5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Wenjia Ye</cp:lastModifiedBy>
  <cp:revision>26</cp:revision>
  <dcterms:created xsi:type="dcterms:W3CDTF">2025-12-15T06:46:40Z</dcterms:created>
  <dcterms:modified xsi:type="dcterms:W3CDTF">2025-12-16T20:34:18Z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