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85" r:id="rId3"/>
    <p:sldId id="270" r:id="rId5"/>
    <p:sldId id="272" r:id="rId6"/>
    <p:sldId id="275" r:id="rId7"/>
    <p:sldId id="291" r:id="rId8"/>
    <p:sldId id="277" r:id="rId9"/>
    <p:sldId id="278" r:id="rId10"/>
    <p:sldId id="279" r:id="rId11"/>
    <p:sldId id="280" r:id="rId12"/>
    <p:sldId id="281" r:id="rId13"/>
    <p:sldId id="292" r:id="rId14"/>
    <p:sldId id="293" r:id="rId15"/>
    <p:sldId id="299" r:id="rId16"/>
    <p:sldId id="294" r:id="rId17"/>
    <p:sldId id="296" r:id="rId18"/>
    <p:sldId id="295" r:id="rId19"/>
    <p:sldId id="297" r:id="rId20"/>
    <p:sldId id="298" r:id="rId21"/>
  </p:sldIdLst>
  <p:sldSz cx="9144000" cy="5143500" type="screen16x9"/>
  <p:notesSz cx="6858000" cy="9144000"/>
  <p:embeddedFontLst>
    <p:embeddedFont>
      <p:font typeface="Poppins" panose="00000500000000000000"/>
      <p:regular r:id="rId26"/>
    </p:embeddedFont>
    <p:embeddedFont>
      <p:font typeface="Didact Gothic" panose="00000500000000000000"/>
      <p:regular r:id="rId27"/>
    </p:embeddedFont>
    <p:embeddedFont>
      <p:font typeface="Raleway"/>
      <p:regular r:id="rId28"/>
    </p:embeddedFont>
    <p:embeddedFont>
      <p:font typeface="Arial Black" panose="020B0A04020102020204" pitchFamily="34" charset="0"/>
      <p:bold r:id="rId29"/>
    </p:embeddedFont>
    <p:embeddedFont>
      <p:font typeface="Arial Rounded MT Bold" panose="020F0704030504030204" pitchFamily="34" charset="0"/>
      <p:regular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10" autoAdjust="0"/>
    <p:restoredTop sz="94648"/>
  </p:normalViewPr>
  <p:slideViewPr>
    <p:cSldViewPr snapToGrid="0">
      <p:cViewPr varScale="1">
        <p:scale>
          <a:sx n="55" d="100"/>
          <a:sy n="55" d="100"/>
        </p:scale>
        <p:origin x="72" y="6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0" Type="http://schemas.openxmlformats.org/officeDocument/2006/relationships/font" Target="fonts/font5.fntdata"/><Relationship Id="rId3" Type="http://schemas.openxmlformats.org/officeDocument/2006/relationships/slide" Target="slides/slide1.xml"/><Relationship Id="rId29" Type="http://schemas.openxmlformats.org/officeDocument/2006/relationships/font" Target="fonts/font4.fntdata"/><Relationship Id="rId28" Type="http://schemas.openxmlformats.org/officeDocument/2006/relationships/font" Target="fonts/font3.fntdata"/><Relationship Id="rId27" Type="http://schemas.openxmlformats.org/officeDocument/2006/relationships/font" Target="fonts/font2.fntdata"/><Relationship Id="rId26" Type="http://schemas.openxmlformats.org/officeDocument/2006/relationships/font" Target="fonts/font1.fntdata"/><Relationship Id="rId25" Type="http://schemas.openxmlformats.org/officeDocument/2006/relationships/commentAuthors" Target="commentAuthors.xml"/><Relationship Id="rId24" Type="http://schemas.openxmlformats.org/officeDocument/2006/relationships/tableStyles" Target="tableStyles.xml"/><Relationship Id="rId23" Type="http://schemas.openxmlformats.org/officeDocument/2006/relationships/viewProps" Target="viewProps.xml"/><Relationship Id="rId22" Type="http://schemas.openxmlformats.org/officeDocument/2006/relationships/presProps" Target="presProps.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iagrams/_rels/data1.xml.rels><?xml version="1.0" encoding="UTF-8" standalone="yes"?>
<Relationships xmlns="http://schemas.openxmlformats.org/package/2006/relationships"><Relationship Id="rId5" Type="http://schemas.openxmlformats.org/officeDocument/2006/relationships/image" Target="../media/image28.png"/><Relationship Id="rId4" Type="http://schemas.openxmlformats.org/officeDocument/2006/relationships/image" Target="../media/image27.png"/><Relationship Id="rId3" Type="http://schemas.openxmlformats.org/officeDocument/2006/relationships/image" Target="../media/image26.jpeg"/><Relationship Id="rId2" Type="http://schemas.openxmlformats.org/officeDocument/2006/relationships/image" Target="../media/image25.jpeg"/><Relationship Id="rId1" Type="http://schemas.openxmlformats.org/officeDocument/2006/relationships/image" Target="../media/image24.jpeg"/></Relationships>
</file>

<file path=ppt/diagrams/_rels/drawing1.xml.rels><?xml version="1.0" encoding="UTF-8" standalone="yes"?>
<Relationships xmlns="http://schemas.openxmlformats.org/package/2006/relationships"><Relationship Id="rId5" Type="http://schemas.openxmlformats.org/officeDocument/2006/relationships/image" Target="../media/image28.png"/><Relationship Id="rId4" Type="http://schemas.openxmlformats.org/officeDocument/2006/relationships/image" Target="../media/image27.png"/><Relationship Id="rId3" Type="http://schemas.openxmlformats.org/officeDocument/2006/relationships/image" Target="../media/image26.jpeg"/><Relationship Id="rId2" Type="http://schemas.openxmlformats.org/officeDocument/2006/relationships/image" Target="../media/image25.jpeg"/><Relationship Id="rId1" Type="http://schemas.openxmlformats.org/officeDocument/2006/relationships/image" Target="../media/image24.jpe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	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cxnId="{2FF3EB71-C7F5-4619-AB74-5943DE39CC10}" type="parTrans">
      <dgm:prSet/>
      <dgm:spPr/>
      <dgm:t>
        <a:bodyPr/>
        <a:lstStyle/>
        <a:p>
          <a:endParaRPr lang="es-ES" sz="2400"/>
        </a:p>
      </dgm:t>
    </dgm:pt>
    <dgm:pt modelId="{2ABCB300-CCE9-44E7-999D-3B03628596E1}" cxnId="{2FF3EB71-C7F5-4619-AB74-5943DE39CC10}" type="sibTrans">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      	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  	Diseño del </a:t>
          </a:r>
          <a:r>
            <a:rPr lang="es-ES" sz="800" dirty="0" err="1"/>
            <a:t>metadata</a:t>
          </a:r>
          <a:r>
            <a:rPr lang="es-ES" sz="800" dirty="0"/>
            <a:t> – Melissa</a:t>
          </a:r>
        </a:p>
        <a:p>
          <a:r>
            <a:rPr lang="es-ES" sz="800" dirty="0"/>
            <a:t>     	EDA– </a:t>
          </a:r>
          <a:r>
            <a:rPr lang="es-ES" sz="800" dirty="0" err="1"/>
            <a:t>Wenjia</a:t>
          </a:r>
          <a:r>
            <a:rPr lang="es-ES" sz="800" dirty="0"/>
            <a:t> y </a:t>
          </a:r>
          <a:r>
            <a:rPr lang="es-ES" sz="800" dirty="0" err="1"/>
            <a:t>Siling</a:t>
          </a:r>
          <a:endParaRPr lang="es-ES" sz="800" dirty="0"/>
        </a:p>
        <a:p>
          <a:r>
            <a:rPr lang="es-ES" sz="800" dirty="0"/>
            <a:t>     	Análisis de </a:t>
          </a:r>
          <a:r>
            <a:rPr lang="es-ES" sz="800" dirty="0" err="1"/>
            <a:t>outliers</a:t>
          </a:r>
          <a:r>
            <a:rPr lang="es-ES" sz="800" dirty="0"/>
            <a:t> (pre-imputación): Mario, Laura y Melissa</a:t>
          </a:r>
        </a:p>
        <a:p>
          <a:endParaRPr lang="es-ES" sz="800" dirty="0"/>
        </a:p>
      </dgm:t>
    </dgm:pt>
    <dgm:pt modelId="{58D673D6-CE1A-45C9-8DE0-8248CFA91FFF}" cxnId="{62EFD2D3-AE51-4D7B-AC9A-B557C95CFE85}" type="parTrans">
      <dgm:prSet/>
      <dgm:spPr/>
      <dgm:t>
        <a:bodyPr/>
        <a:lstStyle/>
        <a:p>
          <a:endParaRPr lang="es-ES" sz="2400"/>
        </a:p>
      </dgm:t>
    </dgm:pt>
    <dgm:pt modelId="{F068E20D-9182-40E9-81D3-3D2119E9E208}" cxnId="{62EFD2D3-AE51-4D7B-AC9A-B557C95CFE85}" type="sibTrans">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 	Data </a:t>
          </a:r>
          <a:r>
            <a:rPr lang="es-ES" sz="800" b="1" dirty="0" err="1">
              <a:solidFill>
                <a:srgbClr val="002060"/>
              </a:solidFill>
            </a:rPr>
            <a:t>preparation</a:t>
          </a:r>
          <a:endParaRPr lang="es-ES" sz="800" b="1" dirty="0">
            <a:solidFill>
              <a:srgbClr val="002060"/>
            </a:solidFill>
          </a:endParaRPr>
        </a:p>
        <a:p>
          <a:r>
            <a:rPr lang="es-ES" sz="800" dirty="0"/>
            <a:t>	Imputación </a:t>
          </a:r>
          <a:r>
            <a:rPr lang="es-ES" sz="800" dirty="0" err="1"/>
            <a:t>missings</a:t>
          </a:r>
          <a:r>
            <a:rPr lang="es-ES" sz="800" dirty="0"/>
            <a:t> – Mario y Laura</a:t>
          </a:r>
        </a:p>
        <a:p>
          <a:r>
            <a:rPr lang="es-ES" sz="800" dirty="0"/>
            <a:t>	</a:t>
          </a:r>
          <a:r>
            <a:rPr lang="es-ES" sz="800" dirty="0" err="1"/>
            <a:t>Tratatamiento</a:t>
          </a:r>
          <a:r>
            <a:rPr lang="es-ES" sz="800" dirty="0"/>
            <a:t> </a:t>
          </a:r>
          <a:r>
            <a:rPr lang="es-ES" sz="800" dirty="0" err="1"/>
            <a:t>Outliers</a:t>
          </a:r>
          <a:r>
            <a:rPr lang="es-ES" sz="800" dirty="0"/>
            <a:t> – Mario, Laura y Melissa</a:t>
          </a:r>
        </a:p>
        <a:p>
          <a:r>
            <a:rPr lang="es-ES" sz="800" dirty="0"/>
            <a:t>	</a:t>
          </a:r>
          <a:r>
            <a:rPr lang="es-ES" sz="800" dirty="0" err="1"/>
            <a:t>Feature</a:t>
          </a:r>
          <a:r>
            <a:rPr lang="es-ES" sz="800" dirty="0"/>
            <a:t> </a:t>
          </a:r>
          <a:r>
            <a:rPr lang="es-ES" sz="800" dirty="0" err="1"/>
            <a:t>Engineering</a:t>
          </a:r>
          <a:r>
            <a:rPr lang="es-ES" sz="800" dirty="0"/>
            <a:t>– </a:t>
          </a:r>
          <a:r>
            <a:rPr lang="es-ES" sz="800" dirty="0" err="1"/>
            <a:t>Wenjia</a:t>
          </a:r>
          <a:r>
            <a:rPr lang="es-ES" sz="800" dirty="0"/>
            <a:t> </a:t>
          </a:r>
        </a:p>
      </dgm:t>
    </dgm:pt>
    <dgm:pt modelId="{9BCB12AF-3FDE-4ECC-9F8F-CED83AED7CCB}" cxnId="{09CD5CFB-F57C-4EA7-9B86-AED2343EDF67}" type="parTrans">
      <dgm:prSet/>
      <dgm:spPr/>
      <dgm:t>
        <a:bodyPr/>
        <a:lstStyle/>
        <a:p>
          <a:endParaRPr lang="es-ES" sz="2400"/>
        </a:p>
      </dgm:t>
    </dgm:pt>
    <dgm:pt modelId="{C16B64A7-40EB-4C86-BE64-8EBACDE653C3}" cxnId="{09CD5CFB-F57C-4EA7-9B86-AED2343EDF67}" type="sibTrans">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            	</a:t>
          </a:r>
          <a:r>
            <a:rPr lang="es-ES" sz="800" b="1" dirty="0" err="1">
              <a:solidFill>
                <a:srgbClr val="002060"/>
              </a:solidFill>
            </a:rPr>
            <a:t>Modeling</a:t>
          </a:r>
          <a:r>
            <a:rPr lang="es-ES" sz="800" b="1" dirty="0">
              <a:solidFill>
                <a:srgbClr val="002060"/>
              </a:solidFill>
            </a:rPr>
            <a:t> &amp; </a:t>
          </a:r>
          <a:r>
            <a:rPr lang="es-ES" sz="800" b="1" dirty="0" err="1">
              <a:solidFill>
                <a:srgbClr val="002060"/>
              </a:solidFill>
            </a:rPr>
            <a:t>Evaluation</a:t>
          </a:r>
          <a:endParaRPr lang="es-ES" sz="800" b="1" dirty="0">
            <a:solidFill>
              <a:srgbClr val="002060"/>
            </a:solidFill>
          </a:endParaRPr>
        </a:p>
        <a:p>
          <a:r>
            <a:rPr lang="es-ES" sz="700" dirty="0"/>
            <a:t>	KNN – </a:t>
          </a:r>
          <a:r>
            <a:rPr lang="es-ES" sz="700" dirty="0" err="1"/>
            <a:t>Siling</a:t>
          </a:r>
          <a:r>
            <a:rPr lang="es-ES" sz="700" dirty="0"/>
            <a:t> y Laura</a:t>
          </a:r>
        </a:p>
        <a:p>
          <a:r>
            <a:rPr lang="es-ES" sz="700" dirty="0"/>
            <a:t>               </a:t>
          </a:r>
          <a:r>
            <a:rPr lang="es-ES" sz="700" dirty="0" err="1"/>
            <a:t>Naive</a:t>
          </a:r>
          <a:r>
            <a:rPr lang="es-ES" sz="700" dirty="0"/>
            <a:t> Bayes – Melissa y </a:t>
          </a:r>
          <a:r>
            <a:rPr lang="es-ES" sz="700" dirty="0" err="1"/>
            <a:t>Wenjia</a:t>
          </a:r>
          <a:endParaRPr lang="es-ES" sz="700" dirty="0"/>
        </a:p>
        <a:p>
          <a:r>
            <a:rPr lang="es-ES" sz="700" dirty="0"/>
            <a:t>               </a:t>
          </a:r>
          <a:r>
            <a:rPr lang="es-ES" sz="700" dirty="0" err="1"/>
            <a:t>Testing</a:t>
          </a:r>
          <a:r>
            <a:rPr lang="es-ES" sz="700" dirty="0"/>
            <a:t> múltiples configuraciones de variables</a:t>
          </a:r>
          <a:endParaRPr lang="es-ES" sz="800" b="1" dirty="0">
            <a:solidFill>
              <a:srgbClr val="002060"/>
            </a:solidFill>
          </a:endParaRPr>
        </a:p>
      </dgm:t>
    </dgm:pt>
    <dgm:pt modelId="{3A914AC6-6594-4B0A-A5A2-C491F53EF95C}" cxnId="{D2E0ED84-53E3-49A1-A292-3EA003DD3B1F}" type="parTrans">
      <dgm:prSet/>
      <dgm:spPr/>
      <dgm:t>
        <a:bodyPr/>
        <a:lstStyle/>
        <a:p>
          <a:endParaRPr lang="es-ES" sz="2400"/>
        </a:p>
      </dgm:t>
    </dgm:pt>
    <dgm:pt modelId="{F982C1E6-BEEF-456A-A8F1-006AD67EDC6F}" cxnId="{D2E0ED84-53E3-49A1-A292-3EA003DD3B1F}" type="sibTrans">
      <dgm:prSet/>
      <dgm:spPr/>
      <dgm:t>
        <a:bodyPr/>
        <a:lstStyle/>
        <a:p>
          <a:endParaRPr lang="es-ES" sz="2400"/>
        </a:p>
      </dgm:t>
    </dgm:pt>
    <dgm:pt modelId="{B9802D42-76B7-4AE8-9963-A689582E6B35}">
      <dgm:prSet phldrT="[Texto]" phldr="0" custT="1"/>
      <dgm:spPr/>
      <dgm:t>
        <a:bodyPr/>
        <a:lstStyle/>
        <a:p>
          <a:r>
            <a:rPr lang="es-ES" sz="800" b="1" dirty="0">
              <a:solidFill>
                <a:srgbClr val="002060"/>
              </a:solidFill>
            </a:rPr>
            <a:t>            	</a:t>
          </a:r>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cxnId="{A44658AC-B46F-4B08-B962-B06FFFD99B33}" type="parTrans">
      <dgm:prSet/>
      <dgm:spPr/>
      <dgm:t>
        <a:bodyPr/>
        <a:lstStyle/>
        <a:p>
          <a:endParaRPr lang="es-ES" sz="2400"/>
        </a:p>
      </dgm:t>
    </dgm:pt>
    <dgm:pt modelId="{1B62F6DE-B574-43AD-B04F-ABDF9E20E863}" cxnId="{A44658AC-B46F-4B08-B962-B06FFFD99B33}" type="sibTrans">
      <dgm:prSet/>
      <dgm:spPr/>
      <dgm:t>
        <a:bodyPr/>
        <a:lstStyle/>
        <a:p>
          <a:endParaRPr lang="es-ES" sz="2400"/>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1"/>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DF5B256E-1BCA-468C-AF06-39814118FCEF}" type="presOf" srcId="{B0A54B65-E829-4553-8B45-B4EBDAF3C233}" destId="{B12AE6C0-B4ED-4A08-98AA-6732B6DC385E}" srcOrd="0" destOrd="0"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712DF1A2-9649-4A26-A0DA-529186D8E53F}" type="presOf" srcId="{D3DB2985-286F-4E1B-A3EF-B67DCD1C08F6}" destId="{9368D843-76C1-42B0-834B-2DA28FCB0771}" srcOrd="0" destOrd="0" presId="urn:microsoft.com/office/officeart/2005/8/layout/vList4"/>
    <dgm:cxn modelId="{A44658AC-B46F-4B08-B962-B06FFFD99B33}" srcId="{E0DBD592-C900-4D5D-A79A-93A58E8DA172}" destId="{B9802D42-76B7-4AE8-9963-A689582E6B35}" srcOrd="4" destOrd="0" parTransId="{5522CECA-745D-4D76-A87A-0DA536D5330D}" sibTransId="{1B62F6DE-B574-43AD-B04F-ABDF9E20E863}"/>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F0F9E5-841B-FF4D-9CB5-2F1286FB0B81}" type="doc">
      <dgm:prSet loTypeId="urn:microsoft.com/office/officeart/2005/8/layout/chevron1" loCatId="list" qsTypeId="urn:microsoft.com/office/officeart/2005/8/quickstyle/simple1" qsCatId="simple" csTypeId="urn:microsoft.com/office/officeart/2005/8/colors/accent1_2" csCatId="accent1" phldr="1"/>
      <dgm:spPr/>
      <dgm:t>
        <a:bodyPr/>
        <a:lstStyle/>
        <a:p>
          <a:endParaRPr lang="en-GB"/>
        </a:p>
      </dgm:t>
    </dgm:pt>
    <dgm:pt modelId="{4B7548F0-E499-254C-9C9F-E02382EEB5E9}">
      <dgm:prSet/>
      <dgm:spPr/>
      <dgm:t>
        <a:bodyPr/>
        <a:lstStyle/>
        <a:p>
          <a:r>
            <a:rPr lang="es-ES" b="1" i="0" dirty="0"/>
            <a:t>9NN</a:t>
          </a:r>
          <a:endParaRPr lang="en-US" dirty="0"/>
        </a:p>
      </dgm:t>
    </dgm:pt>
    <dgm:pt modelId="{C262CEBB-7006-A242-ADD3-B9235EF8735C}" cxnId="{702EFC95-8543-6E42-8059-09D9E582B607}" type="parTrans">
      <dgm:prSet/>
      <dgm:spPr/>
      <dgm:t>
        <a:bodyPr/>
        <a:lstStyle/>
        <a:p>
          <a:endParaRPr lang="en-GB"/>
        </a:p>
      </dgm:t>
    </dgm:pt>
    <dgm:pt modelId="{82304106-D479-C64E-9799-69BDAE43ED77}" cxnId="{702EFC95-8543-6E42-8059-09D9E582B607}" type="sibTrans">
      <dgm:prSet/>
      <dgm:spPr/>
      <dgm:t>
        <a:bodyPr/>
        <a:lstStyle/>
        <a:p>
          <a:endParaRPr lang="en-GB"/>
        </a:p>
      </dgm:t>
    </dgm:pt>
    <dgm:pt modelId="{67E4A056-504D-AF46-98B0-70C35D9DA4E2}" type="pres">
      <dgm:prSet presAssocID="{9DF0F9E5-841B-FF4D-9CB5-2F1286FB0B81}" presName="Name0" presStyleCnt="0">
        <dgm:presLayoutVars>
          <dgm:dir/>
          <dgm:animLvl val="lvl"/>
          <dgm:resizeHandles val="exact"/>
        </dgm:presLayoutVars>
      </dgm:prSet>
      <dgm:spPr/>
    </dgm:pt>
    <dgm:pt modelId="{73A4D826-B1A8-D24F-BF3E-D0DBA84542CC}" type="pres">
      <dgm:prSet presAssocID="{4B7548F0-E499-254C-9C9F-E02382EEB5E9}" presName="parTxOnly" presStyleLbl="node1" presStyleIdx="0" presStyleCnt="1" custScaleY="100359" custLinFactY="20531" custLinFactNeighborX="-24777" custLinFactNeighborY="100000">
        <dgm:presLayoutVars>
          <dgm:chMax val="0"/>
          <dgm:chPref val="0"/>
          <dgm:bulletEnabled val="1"/>
        </dgm:presLayoutVars>
      </dgm:prSet>
      <dgm:spPr/>
    </dgm:pt>
  </dgm:ptLst>
  <dgm:cxnLst>
    <dgm:cxn modelId="{1002DE02-5ED3-4342-BDE1-FA3F312D68AD}" type="presOf" srcId="{4B7548F0-E499-254C-9C9F-E02382EEB5E9}" destId="{73A4D826-B1A8-D24F-BF3E-D0DBA84542CC}" srcOrd="0" destOrd="0" presId="urn:microsoft.com/office/officeart/2005/8/layout/chevron1"/>
    <dgm:cxn modelId="{F9CE3E5F-7A8A-9343-B18D-8C94EFA95159}" type="presOf" srcId="{9DF0F9E5-841B-FF4D-9CB5-2F1286FB0B81}" destId="{67E4A056-504D-AF46-98B0-70C35D9DA4E2}" srcOrd="0" destOrd="0" presId="urn:microsoft.com/office/officeart/2005/8/layout/chevron1"/>
    <dgm:cxn modelId="{702EFC95-8543-6E42-8059-09D9E582B607}" srcId="{9DF0F9E5-841B-FF4D-9CB5-2F1286FB0B81}" destId="{4B7548F0-E499-254C-9C9F-E02382EEB5E9}" srcOrd="0" destOrd="0" parTransId="{C262CEBB-7006-A242-ADD3-B9235EF8735C}" sibTransId="{82304106-D479-C64E-9799-69BDAE43ED77}"/>
    <dgm:cxn modelId="{69D04B74-A752-5042-9CF7-6117575B75E6}" type="presParOf" srcId="{67E4A056-504D-AF46-98B0-70C35D9DA4E2}" destId="{73A4D826-B1A8-D24F-BF3E-D0DBA84542CC}" srcOrd="0"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6A8F40A-6895-D54A-891B-0666CD46C550}" type="doc">
      <dgm:prSet loTypeId="urn:microsoft.com/office/officeart/2005/8/layout/lProcess3" loCatId="process" qsTypeId="urn:microsoft.com/office/officeart/2005/8/quickstyle/simple1" qsCatId="simple" csTypeId="urn:microsoft.com/office/officeart/2005/8/colors/accent1_2" csCatId="accent1" phldr="1"/>
      <dgm:spPr/>
      <dgm:t>
        <a:bodyPr/>
        <a:lstStyle/>
        <a:p>
          <a:endParaRPr lang="en-GB"/>
        </a:p>
      </dgm:t>
    </dgm:pt>
    <dgm:pt modelId="{C1C1743D-B186-F748-A62C-FD5A8898EAD1}">
      <dgm:prSet/>
      <dgm:spPr/>
      <dgm:t>
        <a:bodyPr/>
        <a:lstStyle/>
        <a:p>
          <a:r>
            <a:rPr lang="es-ES" b="1" i="0" dirty="0" err="1"/>
            <a:t>Naive</a:t>
          </a:r>
          <a:r>
            <a:rPr lang="es-ES" b="1" i="0" dirty="0"/>
            <a:t> Bayes</a:t>
          </a:r>
          <a:endParaRPr lang="en-US" dirty="0"/>
        </a:p>
      </dgm:t>
    </dgm:pt>
    <dgm:pt modelId="{BFDED490-0320-3A44-AD14-229EFAEF53D6}" cxnId="{67CFEEEF-B575-2949-97D0-9FE1107E538B}" type="parTrans">
      <dgm:prSet/>
      <dgm:spPr/>
      <dgm:t>
        <a:bodyPr/>
        <a:lstStyle/>
        <a:p>
          <a:endParaRPr lang="en-GB"/>
        </a:p>
      </dgm:t>
    </dgm:pt>
    <dgm:pt modelId="{4D310E4D-EC3C-4D47-A9BB-A0B136EAB064}" cxnId="{67CFEEEF-B575-2949-97D0-9FE1107E538B}" type="sibTrans">
      <dgm:prSet/>
      <dgm:spPr/>
      <dgm:t>
        <a:bodyPr/>
        <a:lstStyle/>
        <a:p>
          <a:endParaRPr lang="en-GB"/>
        </a:p>
      </dgm:t>
    </dgm:pt>
    <dgm:pt modelId="{801AE17F-C31F-CA43-BC84-69CE827808FD}" type="pres">
      <dgm:prSet presAssocID="{06A8F40A-6895-D54A-891B-0666CD46C550}" presName="Name0" presStyleCnt="0">
        <dgm:presLayoutVars>
          <dgm:chPref val="3"/>
          <dgm:dir/>
          <dgm:animLvl val="lvl"/>
          <dgm:resizeHandles/>
        </dgm:presLayoutVars>
      </dgm:prSet>
      <dgm:spPr/>
    </dgm:pt>
    <dgm:pt modelId="{06EE72E4-7873-9447-9BF1-5DC88BD79E5B}" type="pres">
      <dgm:prSet presAssocID="{C1C1743D-B186-F748-A62C-FD5A8898EAD1}" presName="horFlow" presStyleCnt="0"/>
      <dgm:spPr/>
    </dgm:pt>
    <dgm:pt modelId="{259A7068-6F6F-9B4D-894D-518C62EBCA00}" type="pres">
      <dgm:prSet presAssocID="{C1C1743D-B186-F748-A62C-FD5A8898EAD1}" presName="bigChev" presStyleLbl="node1" presStyleIdx="0" presStyleCnt="1" custAng="0" custScaleX="137387" custLinFactNeighborX="23488" custLinFactNeighborY="44"/>
      <dgm:spPr/>
    </dgm:pt>
  </dgm:ptLst>
  <dgm:cxnLst>
    <dgm:cxn modelId="{5CCA5F2A-4954-FF43-8687-2DC8E689D82F}" type="presOf" srcId="{06A8F40A-6895-D54A-891B-0666CD46C550}" destId="{801AE17F-C31F-CA43-BC84-69CE827808FD}" srcOrd="0" destOrd="0" presId="urn:microsoft.com/office/officeart/2005/8/layout/lProcess3"/>
    <dgm:cxn modelId="{556D64A5-CEA6-3040-B2B1-568B85FB8AA7}" type="presOf" srcId="{C1C1743D-B186-F748-A62C-FD5A8898EAD1}" destId="{259A7068-6F6F-9B4D-894D-518C62EBCA00}" srcOrd="0" destOrd="0" presId="urn:microsoft.com/office/officeart/2005/8/layout/lProcess3"/>
    <dgm:cxn modelId="{67CFEEEF-B575-2949-97D0-9FE1107E538B}" srcId="{06A8F40A-6895-D54A-891B-0666CD46C550}" destId="{C1C1743D-B186-F748-A62C-FD5A8898EAD1}" srcOrd="0" destOrd="0" parTransId="{BFDED490-0320-3A44-AD14-229EFAEF53D6}" sibTransId="{4D310E4D-EC3C-4D47-A9BB-A0B136EAB064}"/>
    <dgm:cxn modelId="{FB2D6210-190A-204E-B71F-517859FDEE68}" type="presParOf" srcId="{801AE17F-C31F-CA43-BC84-69CE827808FD}" destId="{06EE72E4-7873-9447-9BF1-5DC88BD79E5B}" srcOrd="0" destOrd="0" presId="urn:microsoft.com/office/officeart/2005/8/layout/lProcess3"/>
    <dgm:cxn modelId="{FB235A8D-837A-A841-8A54-20EA48662ADC}" type="presParOf" srcId="{06EE72E4-7873-9447-9BF1-5DC88BD79E5B}" destId="{259A7068-6F6F-9B4D-894D-518C62EBCA00}" srcOrd="0" destOrd="0" presId="urn:microsoft.com/office/officeart/2005/8/layout/lProcess3"/>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组合 1"/>
      <dsp:cNvGrpSpPr/>
    </dsp:nvGrpSpPr>
    <dsp:grpSpPr>
      <a:xfrm>
        <a:off x="0" y="0"/>
        <a:ext cx="5013063" cy="3685710"/>
        <a:chOff x="0" y="0"/>
        <a:chExt cx="5013063" cy="3685710"/>
      </a:xfrm>
    </dsp:grpSpPr>
    <dsp:sp modelId="{DC08CE2B-3BA2-48DB-B768-70EF00B4488D}">
      <dsp:nvSpPr>
        <dsp:cNvPr id="3" name="圆角矩形 2"/>
        <dsp:cNvSpPr/>
      </dsp:nvSpPr>
      <dsp:spPr bwMode="white">
        <a:xfrm>
          <a:off x="0" y="0"/>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4290" tIns="34290" rIns="34290" bIns="3429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900" b="1" dirty="0">
              <a:solidFill>
                <a:srgbClr val="002060"/>
              </a:solidFill>
            </a:rPr>
            <a:t>	Business </a:t>
          </a:r>
          <a:r>
            <a:rPr lang="es-ES" sz="900" b="1" dirty="0" err="1">
              <a:solidFill>
                <a:srgbClr val="002060"/>
              </a:solidFill>
            </a:rPr>
            <a:t>understanding</a:t>
          </a:r>
          <a:r>
            <a:rPr lang="es-ES" sz="900" b="1" dirty="0">
              <a:solidFill>
                <a:srgbClr val="002060"/>
              </a:solidFill>
            </a:rPr>
            <a:t> </a:t>
          </a:r>
          <a:r>
            <a:rPr lang="es-ES" sz="900" dirty="0"/>
            <a:t>– Todo el equipo</a:t>
          </a:r>
        </a:p>
      </dsp:txBody>
      <dsp:txXfrm>
        <a:off x="0" y="0"/>
        <a:ext cx="5013063" cy="682539"/>
      </dsp:txXfrm>
    </dsp:sp>
    <dsp:sp modelId="{EF2D8EC3-8FE2-4E7C-B86A-83EDAF07162F}">
      <dsp:nvSpPr>
        <dsp:cNvPr id="4" name="圆角矩形 3"/>
        <dsp:cNvSpPr/>
      </dsp:nvSpPr>
      <dsp:spPr bwMode="white">
        <a:xfrm>
          <a:off x="68254" y="68254"/>
          <a:ext cx="1002613" cy="546031"/>
        </a:xfrm>
        <a:prstGeom prst="roundRect">
          <a:avLst>
            <a:gd name="adj" fmla="val 10000"/>
          </a:avLst>
        </a:prstGeom>
        <a:blipFill>
          <a:blip r:embed="rId1"/>
          <a:srcRect/>
          <a:stretch>
            <a:fillRect t="-84000" b="-84000"/>
          </a:stretch>
        </a:blipFill>
      </dsp:spPr>
      <dsp:style>
        <a:lnRef idx="2">
          <a:schemeClr val="lt1"/>
        </a:lnRef>
        <a:fillRef idx="1">
          <a:schemeClr val="accent1">
            <a:tint val="50000"/>
          </a:schemeClr>
        </a:fillRef>
        <a:effectRef idx="0">
          <a:scrgbClr r="0" g="0" b="0"/>
        </a:effectRef>
        <a:fontRef idx="minor"/>
      </dsp:style>
      <dsp:txXfrm>
        <a:off x="68254" y="68254"/>
        <a:ext cx="1002613" cy="546031"/>
      </dsp:txXfrm>
    </dsp:sp>
    <dsp:sp modelId="{B12AE6C0-B4ED-4A08-98AA-6732B6DC385E}">
      <dsp:nvSpPr>
        <dsp:cNvPr id="5" name="圆角矩形 4"/>
        <dsp:cNvSpPr/>
      </dsp:nvSpPr>
      <dsp:spPr bwMode="white">
        <a:xfrm>
          <a:off x="0" y="750793"/>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a:solidFill>
                <a:srgbClr val="002060"/>
              </a:solidFill>
            </a:rPr>
            <a:t>      	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endParaRPr lang="es-ES" sz="800" dirty="0"/>
        </a:p>
        <a:p>
          <a:pPr lvl="0">
            <a:lnSpc>
              <a:spcPct val="100000"/>
            </a:lnSpc>
            <a:spcBef>
              <a:spcPct val="0"/>
            </a:spcBef>
            <a:spcAft>
              <a:spcPct val="35000"/>
            </a:spcAft>
          </a:pPr>
          <a:r>
            <a:rPr lang="es-ES" sz="800" dirty="0"/>
            <a:t>  	Diseño del </a:t>
          </a:r>
          <a:r>
            <a:rPr lang="es-ES" sz="800" dirty="0" err="1"/>
            <a:t>metadata</a:t>
          </a:r>
          <a:r>
            <a:rPr lang="es-ES" sz="800" dirty="0"/>
            <a:t> – Melissa</a:t>
          </a:r>
          <a:endParaRPr lang="es-ES" sz="800" dirty="0"/>
        </a:p>
        <a:p>
          <a:pPr lvl="0">
            <a:lnSpc>
              <a:spcPct val="100000"/>
            </a:lnSpc>
            <a:spcBef>
              <a:spcPct val="0"/>
            </a:spcBef>
            <a:spcAft>
              <a:spcPct val="35000"/>
            </a:spcAft>
          </a:pPr>
          <a:r>
            <a:rPr lang="es-ES" sz="800" dirty="0"/>
            <a:t>     	EDA– </a:t>
          </a:r>
          <a:r>
            <a:rPr lang="es-ES" sz="800" dirty="0" err="1"/>
            <a:t>Wenjia</a:t>
          </a:r>
          <a:r>
            <a:rPr lang="es-ES" sz="800" dirty="0"/>
            <a:t> y </a:t>
          </a:r>
          <a:r>
            <a:rPr lang="es-ES" sz="800" dirty="0" err="1"/>
            <a:t>Siling</a:t>
          </a:r>
          <a:endParaRPr lang="es-ES" sz="800" dirty="0"/>
        </a:p>
        <a:p>
          <a:pPr lvl="0">
            <a:lnSpc>
              <a:spcPct val="100000"/>
            </a:lnSpc>
            <a:spcBef>
              <a:spcPct val="0"/>
            </a:spcBef>
            <a:spcAft>
              <a:spcPct val="35000"/>
            </a:spcAft>
          </a:pPr>
          <a:r>
            <a:rPr lang="es-ES" sz="800" dirty="0"/>
            <a:t>     	Análisis de </a:t>
          </a:r>
          <a:r>
            <a:rPr lang="es-ES" sz="800" dirty="0" err="1"/>
            <a:t>outliers</a:t>
          </a:r>
          <a:r>
            <a:rPr lang="es-ES" sz="800" dirty="0"/>
            <a:t> (pre-imputación): Mario, Laura y Melissa</a:t>
          </a:r>
          <a:endParaRPr lang="es-ES" sz="800" dirty="0"/>
        </a:p>
        <a:p>
          <a:pPr lvl="0">
            <a:lnSpc>
              <a:spcPct val="100000"/>
            </a:lnSpc>
            <a:spcBef>
              <a:spcPct val="0"/>
            </a:spcBef>
            <a:spcAft>
              <a:spcPct val="35000"/>
            </a:spcAft>
          </a:pPr>
          <a:endParaRPr lang="es-ES" sz="800" dirty="0"/>
        </a:p>
      </dsp:txBody>
      <dsp:txXfrm>
        <a:off x="0" y="750793"/>
        <a:ext cx="5013063" cy="682539"/>
      </dsp:txXfrm>
    </dsp:sp>
    <dsp:sp modelId="{C9E8AD8B-B134-4129-BD9A-C060E9DACAFC}">
      <dsp:nvSpPr>
        <dsp:cNvPr id="6" name="圆角矩形 5"/>
        <dsp:cNvSpPr/>
      </dsp:nvSpPr>
      <dsp:spPr bwMode="white">
        <a:xfrm>
          <a:off x="68254" y="819047"/>
          <a:ext cx="1002613" cy="546031"/>
        </a:xfrm>
        <a:prstGeom prst="roundRect">
          <a:avLst>
            <a:gd name="adj" fmla="val 10000"/>
          </a:avLst>
        </a:prstGeom>
        <a:blipFill>
          <a:blip r:embed="rId2"/>
          <a:srcRect/>
          <a:stretch>
            <a:fillRect l="-9000" r="-9000"/>
          </a:stretch>
        </a:blipFill>
      </dsp:spPr>
      <dsp:style>
        <a:lnRef idx="2">
          <a:schemeClr val="lt1"/>
        </a:lnRef>
        <a:fillRef idx="1">
          <a:schemeClr val="accent1">
            <a:tint val="50000"/>
          </a:schemeClr>
        </a:fillRef>
        <a:effectRef idx="0">
          <a:scrgbClr r="0" g="0" b="0"/>
        </a:effectRef>
        <a:fontRef idx="minor"/>
      </dsp:style>
      <dsp:txXfrm>
        <a:off x="68254" y="819047"/>
        <a:ext cx="1002613" cy="546031"/>
      </dsp:txXfrm>
    </dsp:sp>
    <dsp:sp modelId="{C6452C4A-60F5-47BC-8505-428BC48A03CB}">
      <dsp:nvSpPr>
        <dsp:cNvPr id="7" name="圆角矩形 6"/>
        <dsp:cNvSpPr/>
      </dsp:nvSpPr>
      <dsp:spPr bwMode="white">
        <a:xfrm>
          <a:off x="0" y="1501586"/>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a:solidFill>
                <a:srgbClr val="002060"/>
              </a:solidFill>
            </a:rPr>
            <a:t> 	Data </a:t>
          </a:r>
          <a:r>
            <a:rPr lang="es-ES" sz="800" b="1" dirty="0" err="1">
              <a:solidFill>
                <a:srgbClr val="002060"/>
              </a:solidFill>
            </a:rPr>
            <a:t>preparation</a:t>
          </a:r>
          <a:endParaRPr lang="es-ES" sz="800" b="1" dirty="0">
            <a:solidFill>
              <a:srgbClr val="002060"/>
            </a:solidFill>
          </a:endParaRPr>
        </a:p>
        <a:p>
          <a:pPr lvl="0">
            <a:lnSpc>
              <a:spcPct val="100000"/>
            </a:lnSpc>
            <a:spcBef>
              <a:spcPct val="0"/>
            </a:spcBef>
            <a:spcAft>
              <a:spcPct val="35000"/>
            </a:spcAft>
          </a:pPr>
          <a:r>
            <a:rPr lang="es-ES" sz="800" dirty="0"/>
            <a:t>	Imputación </a:t>
          </a:r>
          <a:r>
            <a:rPr lang="es-ES" sz="800" dirty="0" err="1"/>
            <a:t>missings</a:t>
          </a:r>
          <a:r>
            <a:rPr lang="es-ES" sz="800" dirty="0"/>
            <a:t> – Mario y Laura</a:t>
          </a:r>
          <a:endParaRPr lang="es-ES" sz="800" dirty="0"/>
        </a:p>
        <a:p>
          <a:pPr lvl="0">
            <a:lnSpc>
              <a:spcPct val="100000"/>
            </a:lnSpc>
            <a:spcBef>
              <a:spcPct val="0"/>
            </a:spcBef>
            <a:spcAft>
              <a:spcPct val="35000"/>
            </a:spcAft>
          </a:pPr>
          <a:r>
            <a:rPr lang="es-ES" sz="800" dirty="0"/>
            <a:t>	</a:t>
          </a:r>
          <a:r>
            <a:rPr lang="es-ES" sz="800" dirty="0" err="1"/>
            <a:t>Tratatamiento</a:t>
          </a:r>
          <a:r>
            <a:rPr lang="es-ES" sz="800" dirty="0"/>
            <a:t> </a:t>
          </a:r>
          <a:r>
            <a:rPr lang="es-ES" sz="800" dirty="0" err="1"/>
            <a:t>Outliers</a:t>
          </a:r>
          <a:r>
            <a:rPr lang="es-ES" sz="800" dirty="0"/>
            <a:t> – Mario, Laura y Melissa</a:t>
          </a:r>
          <a:endParaRPr lang="es-ES" sz="800" dirty="0"/>
        </a:p>
        <a:p>
          <a:pPr lvl="0">
            <a:lnSpc>
              <a:spcPct val="100000"/>
            </a:lnSpc>
            <a:spcBef>
              <a:spcPct val="0"/>
            </a:spcBef>
            <a:spcAft>
              <a:spcPct val="35000"/>
            </a:spcAft>
          </a:pPr>
          <a:r>
            <a:rPr lang="es-ES" sz="800" dirty="0"/>
            <a:t>	</a:t>
          </a:r>
          <a:r>
            <a:rPr lang="es-ES" sz="800" dirty="0" err="1"/>
            <a:t>Feature</a:t>
          </a:r>
          <a:r>
            <a:rPr lang="es-ES" sz="800" dirty="0"/>
            <a:t> </a:t>
          </a:r>
          <a:r>
            <a:rPr lang="es-ES" sz="800" dirty="0" err="1"/>
            <a:t>Engineering</a:t>
          </a:r>
          <a:r>
            <a:rPr lang="es-ES" sz="800" dirty="0"/>
            <a:t>– </a:t>
          </a:r>
          <a:r>
            <a:rPr lang="es-ES" sz="800" dirty="0" err="1"/>
            <a:t>Wenjia</a:t>
          </a:r>
          <a:r>
            <a:rPr lang="es-ES" sz="800" dirty="0"/>
            <a:t> </a:t>
          </a:r>
        </a:p>
      </dsp:txBody>
      <dsp:txXfrm>
        <a:off x="0" y="1501586"/>
        <a:ext cx="5013063" cy="682539"/>
      </dsp:txXfrm>
    </dsp:sp>
    <dsp:sp modelId="{D306C488-315E-46F7-B989-FFF5212BF6E2}">
      <dsp:nvSpPr>
        <dsp:cNvPr id="8" name="圆角矩形 7"/>
        <dsp:cNvSpPr/>
      </dsp:nvSpPr>
      <dsp:spPr bwMode="white">
        <a:xfrm>
          <a:off x="68254" y="1569839"/>
          <a:ext cx="1002613" cy="546031"/>
        </a:xfrm>
        <a:prstGeom prst="roundRect">
          <a:avLst>
            <a:gd name="adj" fmla="val 10000"/>
          </a:avLst>
        </a:prstGeom>
        <a:blipFill>
          <a:blip r:embed="rId3"/>
          <a:srcRect/>
          <a:stretch>
            <a:fillRect t="-8000" b="-8000"/>
          </a:stretch>
        </a:blipFill>
      </dsp:spPr>
      <dsp:style>
        <a:lnRef idx="2">
          <a:schemeClr val="lt1"/>
        </a:lnRef>
        <a:fillRef idx="1">
          <a:schemeClr val="accent1">
            <a:tint val="50000"/>
          </a:schemeClr>
        </a:fillRef>
        <a:effectRef idx="0">
          <a:scrgbClr r="0" g="0" b="0"/>
        </a:effectRef>
        <a:fontRef idx="minor"/>
      </dsp:style>
      <dsp:txXfrm>
        <a:off x="68254" y="1569839"/>
        <a:ext cx="1002613" cy="546031"/>
      </dsp:txXfrm>
    </dsp:sp>
    <dsp:sp modelId="{9368D843-76C1-42B0-834B-2DA28FCB0771}">
      <dsp:nvSpPr>
        <dsp:cNvPr id="9" name="圆角矩形 8"/>
        <dsp:cNvSpPr/>
      </dsp:nvSpPr>
      <dsp:spPr bwMode="white">
        <a:xfrm>
          <a:off x="0" y="2252378"/>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a:solidFill>
                <a:srgbClr val="002060"/>
              </a:solidFill>
            </a:rPr>
            <a:t>            	</a:t>
          </a:r>
          <a:r>
            <a:rPr lang="es-ES" sz="800" b="1" dirty="0" err="1">
              <a:solidFill>
                <a:srgbClr val="002060"/>
              </a:solidFill>
            </a:rPr>
            <a:t>Modeling</a:t>
          </a:r>
          <a:r>
            <a:rPr lang="es-ES" sz="800" b="1" dirty="0">
              <a:solidFill>
                <a:srgbClr val="002060"/>
              </a:solidFill>
            </a:rPr>
            <a:t> &amp; </a:t>
          </a:r>
          <a:r>
            <a:rPr lang="es-ES" sz="800" b="1" dirty="0" err="1">
              <a:solidFill>
                <a:srgbClr val="002060"/>
              </a:solidFill>
            </a:rPr>
            <a:t>Evaluation</a:t>
          </a:r>
          <a:endParaRPr lang="es-ES" sz="800" b="1" dirty="0">
            <a:solidFill>
              <a:srgbClr val="002060"/>
            </a:solidFill>
          </a:endParaRPr>
        </a:p>
        <a:p>
          <a:pPr lvl="0">
            <a:lnSpc>
              <a:spcPct val="100000"/>
            </a:lnSpc>
            <a:spcBef>
              <a:spcPct val="0"/>
            </a:spcBef>
            <a:spcAft>
              <a:spcPct val="35000"/>
            </a:spcAft>
          </a:pPr>
          <a:r>
            <a:rPr lang="es-ES" sz="700" dirty="0"/>
            <a:t>	KNN – </a:t>
          </a:r>
          <a:r>
            <a:rPr lang="es-ES" sz="700" dirty="0" err="1"/>
            <a:t>Siling</a:t>
          </a:r>
          <a:r>
            <a:rPr lang="es-ES" sz="700" dirty="0"/>
            <a:t> y Laura</a:t>
          </a:r>
          <a:endParaRPr lang="es-ES" sz="700" dirty="0"/>
        </a:p>
        <a:p>
          <a:pPr lvl="0">
            <a:lnSpc>
              <a:spcPct val="100000"/>
            </a:lnSpc>
            <a:spcBef>
              <a:spcPct val="0"/>
            </a:spcBef>
            <a:spcAft>
              <a:spcPct val="35000"/>
            </a:spcAft>
          </a:pPr>
          <a:r>
            <a:rPr lang="es-ES" sz="700" dirty="0"/>
            <a:t>               </a:t>
          </a:r>
          <a:r>
            <a:rPr lang="es-ES" sz="700" dirty="0" err="1"/>
            <a:t>Naive</a:t>
          </a:r>
          <a:r>
            <a:rPr lang="es-ES" sz="700" dirty="0"/>
            <a:t> Bayes – Melissa y </a:t>
          </a:r>
          <a:r>
            <a:rPr lang="es-ES" sz="700" dirty="0" err="1"/>
            <a:t>Wenjia</a:t>
          </a:r>
          <a:endParaRPr lang="es-ES" sz="700" dirty="0"/>
        </a:p>
        <a:p>
          <a:pPr lvl="0">
            <a:lnSpc>
              <a:spcPct val="100000"/>
            </a:lnSpc>
            <a:spcBef>
              <a:spcPct val="0"/>
            </a:spcBef>
            <a:spcAft>
              <a:spcPct val="35000"/>
            </a:spcAft>
          </a:pPr>
          <a:r>
            <a:rPr lang="es-ES" sz="700" dirty="0"/>
            <a:t>               </a:t>
          </a:r>
          <a:r>
            <a:rPr lang="es-ES" sz="700" dirty="0" err="1"/>
            <a:t>Testing</a:t>
          </a:r>
          <a:r>
            <a:rPr lang="es-ES" sz="700" dirty="0"/>
            <a:t> múltiples configuraciones de variables</a:t>
          </a:r>
          <a:endParaRPr lang="es-ES" sz="800" b="1" dirty="0">
            <a:solidFill>
              <a:srgbClr val="002060"/>
            </a:solidFill>
          </a:endParaRPr>
        </a:p>
      </dsp:txBody>
      <dsp:txXfrm>
        <a:off x="0" y="2252378"/>
        <a:ext cx="5013063" cy="682539"/>
      </dsp:txXfrm>
    </dsp:sp>
    <dsp:sp modelId="{D58F51A8-C9AC-49A7-BF07-49E56398E46B}">
      <dsp:nvSpPr>
        <dsp:cNvPr id="10" name="圆角矩形 9"/>
        <dsp:cNvSpPr/>
      </dsp:nvSpPr>
      <dsp:spPr bwMode="white">
        <a:xfrm>
          <a:off x="68254" y="2320632"/>
          <a:ext cx="1002613" cy="546031"/>
        </a:xfrm>
        <a:prstGeom prst="roundRect">
          <a:avLst>
            <a:gd name="adj" fmla="val 10000"/>
          </a:avLst>
        </a:prstGeom>
        <a:blipFill>
          <a:blip r:embed="rId4"/>
          <a:srcRect/>
          <a:stretch>
            <a:fillRect l="-3000" r="-3000"/>
          </a:stretch>
        </a:blipFill>
      </dsp:spPr>
      <dsp:style>
        <a:lnRef idx="2">
          <a:schemeClr val="lt1"/>
        </a:lnRef>
        <a:fillRef idx="1">
          <a:schemeClr val="accent1">
            <a:tint val="50000"/>
          </a:schemeClr>
        </a:fillRef>
        <a:effectRef idx="0">
          <a:scrgbClr r="0" g="0" b="0"/>
        </a:effectRef>
        <a:fontRef idx="minor"/>
      </dsp:style>
      <dsp:txXfrm>
        <a:off x="68254" y="2320632"/>
        <a:ext cx="1002613" cy="546031"/>
      </dsp:txXfrm>
    </dsp:sp>
    <dsp:sp modelId="{34B88185-A619-4D08-836A-F611598437A8}">
      <dsp:nvSpPr>
        <dsp:cNvPr id="11" name="圆角矩形 10"/>
        <dsp:cNvSpPr/>
      </dsp:nvSpPr>
      <dsp:spPr bwMode="white">
        <a:xfrm>
          <a:off x="0" y="3003171"/>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a:solidFill>
                <a:srgbClr val="002060"/>
              </a:solidFill>
            </a:rPr>
            <a:t>            	</a:t>
          </a:r>
          <a:r>
            <a:rPr lang="es-ES" sz="800" b="1" dirty="0" err="1">
              <a:solidFill>
                <a:srgbClr val="002060"/>
              </a:solidFill>
            </a:rPr>
            <a:t>Association</a:t>
          </a:r>
          <a:r>
            <a:rPr lang="es-ES" sz="800" b="1" dirty="0">
              <a:solidFill>
                <a:srgbClr val="002060"/>
              </a:solidFill>
            </a:rPr>
            <a:t> Rules </a:t>
          </a:r>
          <a:r>
            <a:rPr lang="es-ES" sz="800" dirty="0"/>
            <a:t>- Mario</a:t>
          </a:r>
        </a:p>
      </dsp:txBody>
      <dsp:txXfrm>
        <a:off x="0" y="3003171"/>
        <a:ext cx="5013063" cy="682539"/>
      </dsp:txXfrm>
    </dsp:sp>
    <dsp:sp modelId="{F2ED9228-CFBA-4661-8996-A0E7EA7BA1F7}">
      <dsp:nvSpPr>
        <dsp:cNvPr id="12" name="圆角矩形 11"/>
        <dsp:cNvSpPr/>
      </dsp:nvSpPr>
      <dsp:spPr bwMode="white">
        <a:xfrm rot="-10800000" flipV="1">
          <a:off x="68254" y="3071425"/>
          <a:ext cx="1002613" cy="546031"/>
        </a:xfrm>
        <a:prstGeom prst="roundRect">
          <a:avLst>
            <a:gd name="adj" fmla="val 10000"/>
          </a:avLst>
        </a:prstGeom>
        <a:blipFill>
          <a:blip r:embed="rId5"/>
          <a:srcRect/>
          <a:stretch>
            <a:fillRect t="-17000" b="-17000"/>
          </a:stretch>
        </a:blipFill>
      </dsp:spPr>
      <dsp:style>
        <a:lnRef idx="2">
          <a:schemeClr val="lt1"/>
        </a:lnRef>
        <a:fillRef idx="1">
          <a:schemeClr val="accent1">
            <a:tint val="50000"/>
          </a:schemeClr>
        </a:fillRef>
        <a:effectRef idx="0">
          <a:scrgbClr r="0" g="0" b="0"/>
        </a:effectRef>
        <a:fontRef idx="minor"/>
      </dsp:style>
      <dsp:txXfrm rot="-10800000" flipV="1">
        <a:off x="68254" y="3071425"/>
        <a:ext cx="1002613" cy="546031"/>
      </dsp:txXfrm>
    </dsp:sp>
  </dsp:spTree>
</dsp:drawing>
</file>

<file path=ppt/diagrams/drawing2.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组合 1"/>
      <dsp:cNvGrpSpPr/>
    </dsp:nvGrpSpPr>
    <dsp:grpSpPr>
      <a:xfrm>
        <a:off x="0" y="0"/>
        <a:ext cx="1617045" cy="572700"/>
        <a:chOff x="0" y="0"/>
        <a:chExt cx="1617045" cy="572700"/>
      </a:xfrm>
    </dsp:grpSpPr>
    <dsp:sp modelId="{73A4D826-B1A8-D24F-BF3E-D0DBA84542CC}">
      <dsp:nvSpPr>
        <dsp:cNvPr id="3" name="燕尾形 2"/>
        <dsp:cNvSpPr/>
      </dsp:nvSpPr>
      <dsp:spPr bwMode="white">
        <a:xfrm>
          <a:off x="0" y="0"/>
          <a:ext cx="1617045" cy="572700"/>
        </a:xfrm>
        <a:prstGeom prst="chevron">
          <a:avLst/>
        </a:prstGeom>
      </dsp:spPr>
      <dsp:style>
        <a:lnRef idx="2">
          <a:schemeClr val="lt1"/>
        </a:lnRef>
        <a:fillRef idx="1">
          <a:schemeClr val="accent1"/>
        </a:fillRef>
        <a:effectRef idx="0">
          <a:scrgbClr r="0" g="0" b="0"/>
        </a:effectRef>
        <a:fontRef idx="minor">
          <a:schemeClr val="lt1"/>
        </a:fontRef>
      </dsp:style>
      <dsp:txBody>
        <a:bodyPr lIns="124015" tIns="41338" rIns="41338" bIns="41338" anchor="ctr"/>
        <a:lstStyle>
          <a:lvl1pPr algn="ctr">
            <a:defRPr sz="3100"/>
          </a:lvl1pPr>
          <a:lvl2pPr marL="228600" indent="-228600" algn="ctr">
            <a:defRPr sz="2400"/>
          </a:lvl2pPr>
          <a:lvl3pPr marL="457200" indent="-228600" algn="ctr">
            <a:defRPr sz="2400"/>
          </a:lvl3pPr>
          <a:lvl4pPr marL="685800" indent="-228600" algn="ctr">
            <a:defRPr sz="2400"/>
          </a:lvl4pPr>
          <a:lvl5pPr marL="914400" indent="-228600" algn="ctr">
            <a:defRPr sz="2400"/>
          </a:lvl5pPr>
          <a:lvl6pPr marL="1143000" indent="-228600" algn="ctr">
            <a:defRPr sz="2400"/>
          </a:lvl6pPr>
          <a:lvl7pPr marL="1371600" indent="-228600" algn="ctr">
            <a:defRPr sz="2400"/>
          </a:lvl7pPr>
          <a:lvl8pPr marL="1600200" indent="-228600" algn="ctr">
            <a:defRPr sz="2400"/>
          </a:lvl8pPr>
          <a:lvl9pPr marL="1828800" indent="-228600" algn="ctr">
            <a:defRPr sz="2400"/>
          </a:lvl9pPr>
        </a:lstStyle>
        <a:p>
          <a:pPr lvl="0">
            <a:lnSpc>
              <a:spcPct val="100000"/>
            </a:lnSpc>
            <a:spcBef>
              <a:spcPct val="0"/>
            </a:spcBef>
            <a:spcAft>
              <a:spcPct val="35000"/>
            </a:spcAft>
          </a:pPr>
          <a:r>
            <a:rPr lang="es-ES" b="1" i="0" dirty="0"/>
            <a:t>9NN</a:t>
          </a:r>
          <a:endParaRPr lang="en-US" dirty="0"/>
        </a:p>
      </dsp:txBody>
      <dsp:txXfrm>
        <a:off x="0" y="0"/>
        <a:ext cx="1617045" cy="572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组合 1"/>
      <dsp:cNvGrpSpPr/>
    </dsp:nvGrpSpPr>
    <dsp:grpSpPr>
      <a:xfrm>
        <a:off x="0" y="0"/>
        <a:ext cx="2451603" cy="530870"/>
        <a:chOff x="0" y="0"/>
        <a:chExt cx="2451603" cy="530870"/>
      </a:xfrm>
    </dsp:grpSpPr>
    <dsp:sp modelId="{259A7068-6F6F-9B4D-894D-518C62EBCA00}">
      <dsp:nvSpPr>
        <dsp:cNvPr id="3" name="燕尾形 2"/>
        <dsp:cNvSpPr/>
      </dsp:nvSpPr>
      <dsp:spPr bwMode="white">
        <a:xfrm>
          <a:off x="789111" y="0"/>
          <a:ext cx="1327175" cy="530870"/>
        </a:xfrm>
        <a:prstGeom prst="chevron">
          <a:avLst/>
        </a:prstGeom>
      </dsp:spPr>
      <dsp:style>
        <a:lnRef idx="2">
          <a:schemeClr val="lt1"/>
        </a:lnRef>
        <a:fillRef idx="1">
          <a:schemeClr val="accent1"/>
        </a:fillRef>
        <a:effectRef idx="0">
          <a:scrgbClr r="0" g="0" b="0"/>
        </a:effectRef>
        <a:fontRef idx="minor">
          <a:schemeClr val="lt1"/>
        </a:fontRef>
      </dsp:style>
      <dsp:txBody>
        <a:bodyPr lIns="20320" tIns="10160" rIns="0" bIns="10160" anchor="ctr"/>
        <a:lstStyle>
          <a:lvl1pPr algn="ctr">
            <a:defRPr sz="1600"/>
          </a:lvl1pPr>
          <a:lvl2pPr marL="114300" indent="-114300" algn="ctr">
            <a:defRPr sz="1200"/>
          </a:lvl2pPr>
          <a:lvl3pPr marL="228600" indent="-114300" algn="ctr">
            <a:defRPr sz="1200"/>
          </a:lvl3pPr>
          <a:lvl4pPr marL="342900" indent="-114300" algn="ctr">
            <a:defRPr sz="1200"/>
          </a:lvl4pPr>
          <a:lvl5pPr marL="457200" indent="-114300" algn="ctr">
            <a:defRPr sz="1200"/>
          </a:lvl5pPr>
          <a:lvl6pPr marL="571500" indent="-114300" algn="ctr">
            <a:defRPr sz="1200"/>
          </a:lvl6pPr>
          <a:lvl7pPr marL="685800" indent="-114300" algn="ctr">
            <a:defRPr sz="1200"/>
          </a:lvl7pPr>
          <a:lvl8pPr marL="800100" indent="-114300" algn="ctr">
            <a:defRPr sz="1200"/>
          </a:lvl8pPr>
          <a:lvl9pPr marL="914400" indent="-114300" algn="ctr">
            <a:defRPr sz="1200"/>
          </a:lvl9pPr>
        </a:lstStyle>
        <a:p>
          <a:pPr lvl="0">
            <a:lnSpc>
              <a:spcPct val="100000"/>
            </a:lnSpc>
            <a:spcBef>
              <a:spcPct val="0"/>
            </a:spcBef>
            <a:spcAft>
              <a:spcPct val="35000"/>
            </a:spcAft>
          </a:pPr>
          <a:r>
            <a:rPr lang="es-ES" b="1" i="0" dirty="0" err="1"/>
            <a:t>Naive</a:t>
          </a:r>
          <a:r>
            <a:rPr lang="es-ES" b="1" i="0" dirty="0"/>
            <a:t> Bayes</a:t>
          </a:r>
          <a:endParaRPr lang="en-US" dirty="0"/>
        </a:p>
      </dsp:txBody>
      <dsp:txXfrm>
        <a:off x="789111" y="0"/>
        <a:ext cx="1327175" cy="530870"/>
      </dsp:txXfrm>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type="chevron" r:blip="" rot="180">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type="chevron" r:blip="" rot="180">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lProcess3">
  <dgm:title val=""/>
  <dgm:desc val=""/>
  <dgm:catLst>
    <dgm:cat type="process" pri="11000"/>
    <dgm:cat type="convert" pri="1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2"/>
      </dgm:ptLst>
      <dgm:cxnLst>
        <dgm:cxn modelId="4" srcId="0" destId="1" srcOrd="0" destOrd="0"/>
        <dgm:cxn modelId="5" srcId="1" destId="2"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51" srcId="1" destId="11" srcOrd="0" destOrd="0"/>
        <dgm:cxn modelId="61" srcId="2" destId="21" srcOrd="0" destOrd="0"/>
        <dgm:cxn modelId="71" srcId="3" destId="31" srcOrd="0" destOrd="0"/>
        <dgm:cxn modelId="81" srcId="4" destId="41" srcOrd="0" destOrd="0"/>
      </dgm:cxnLst>
      <dgm:bg/>
      <dgm:whole/>
    </dgm:dataModel>
  </dgm:clrData>
  <dgm:layoutNode name="Name0">
    <dgm:varLst>
      <dgm:chPref val="3"/>
      <dgm:dir/>
      <dgm:animLvl val="lvl"/>
      <dgm:resizeHandles/>
    </dgm:varLst>
    <dgm:choose name="Name1">
      <dgm:if name="Name2" func="var" arg="dir" op="equ" val="norm">
        <dgm:alg type="lin">
          <dgm:param type="linDir" val="fromT"/>
          <dgm:param type="nodeVertAlign" val="t"/>
          <dgm:param type="vertAlign" val="mid"/>
          <dgm:param type="nodeHorzAlign" val="l"/>
          <dgm:param type="fallback" val="2D"/>
        </dgm:alg>
      </dgm:if>
      <dgm:else name="Name3">
        <dgm:alg type="lin">
          <dgm:param type="linDir" val="fromT"/>
          <dgm:param type="nodeVertAlign" val="t"/>
          <dgm:param type="vertAlign" val="mid"/>
          <dgm:param type="nodeHorzAlign" val="r"/>
          <dgm:param type="fallback" val="2D"/>
        </dgm:alg>
      </dgm:else>
    </dgm:choose>
    <dgm:shape xmlns:r="http://schemas.openxmlformats.org/officeDocument/2006/relationships" r:blip="">
      <dgm:adjLst/>
    </dgm:shape>
    <dgm:presOf/>
    <dgm:constrLst>
      <dgm:constr type="w" for="des" forName="bigChev" refType="w"/>
      <dgm:constr type="h" for="des" forName="bigChev" refType="w" refFor="des" refForName="bigChev" op="equ" fact="0.4"/>
      <dgm:constr type="w" for="des" forName="node" refType="w" refFor="des" refForName="bigChev" fact="0.83"/>
      <dgm:constr type="h" for="des" forName="node" refType="w" refFor="des" refForName="node" op="equ" fact="0.4"/>
      <dgm:constr type="w" for="des" forName="parTrans" refType="w" refFor="des" refForName="bigChev" op="equ" fact="-0.13"/>
      <dgm:constr type="w" for="des" forName="sibTrans" refType="w" refFor="des" refForName="node" op="equ" fact="-0.14"/>
      <dgm:constr type="h" for="ch" forName="vSp" refType="h" refFor="des" refForName="bigChev" op="equ" fact="0.14"/>
      <dgm:constr type="primFontSz" for="des" forName="node" op="equ"/>
      <dgm:constr type="primFontSz" for="des" forName="bigChev" op="equ"/>
    </dgm:constrLst>
    <dgm:ruleLst/>
    <dgm:forEach name="Name4" axis="ch" ptType="node">
      <dgm:layoutNode name="horFlow">
        <dgm:choose name="Name5">
          <dgm:if name="Name6" func="var" arg="dir" op="equ" val="norm">
            <dgm:alg type="lin">
              <dgm:param type="linDir" val="fromL"/>
              <dgm:param type="nodeVertAlign" val="mid"/>
              <dgm:param type="nodeHorzAlign" val="l"/>
              <dgm:param type="fallback" val="2D"/>
            </dgm:alg>
          </dgm:if>
          <dgm:else name="Name7">
            <dgm:alg type="lin">
              <dgm:param type="linDir" val="fromR"/>
              <dgm:param type="nodeVertAlign" val="mid"/>
              <dgm:param type="nodeHorzAlign" val="r"/>
              <dgm:param type="fallback" val="2D"/>
            </dgm:alg>
          </dgm:else>
        </dgm:choose>
        <dgm:shape xmlns:r="http://schemas.openxmlformats.org/officeDocument/2006/relationships" r:blip="">
          <dgm:adjLst/>
        </dgm:shape>
        <dgm:presOf/>
        <dgm:constrLst/>
        <dgm:ruleLst/>
        <dgm:layoutNode name="bigChev" styleLbl="node1">
          <dgm:alg type="tx"/>
          <dgm:choose name="Name8">
            <dgm:if name="Name9" func="var" arg="dir" op="equ" val="norm">
              <dgm:shape xmlns:r="http://schemas.openxmlformats.org/officeDocument/2006/relationships" type="chevron" r:blip="">
                <dgm:adjLst/>
              </dgm:shape>
              <dgm:presOf axis="self"/>
              <dgm:constrLst>
                <dgm:constr type="primFontSz" val="65"/>
                <dgm:constr type="rMarg"/>
                <dgm:constr type="lMarg" refType="primFontSz" fact="0.1"/>
                <dgm:constr type="tMarg" refType="primFontSz" fact="0.05"/>
                <dgm:constr type="bMarg" refType="primFontSz" fact="0.05"/>
              </dgm:constrLst>
            </dgm:if>
            <dgm:else name="Name10">
              <dgm:shape xmlns:r="http://schemas.openxmlformats.org/officeDocument/2006/relationships" type="chevron" r:blip="" rot="180">
                <dgm:adjLst/>
              </dgm:shape>
              <dgm:presOf axis="self"/>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parTransForEach" axis="ch" ptType="parTrans" cnt="1">
          <dgm:layoutNode name="parTrans">
            <dgm:alg type="sp"/>
            <dgm:shape xmlns:r="http://schemas.openxmlformats.org/officeDocument/2006/relationships" r:blip="">
              <dgm:adjLst/>
            </dgm:shape>
            <dgm:presOf/>
            <dgm:constrLst/>
            <dgm:ruleLst/>
          </dgm:layoutNode>
        </dgm:forEach>
        <dgm:forEach name="Name11" axis="ch" ptType="node">
          <dgm:layoutNode name="node" styleLbl="alignAccFollowNode1">
            <dgm:varLst>
              <dgm:bulletEnabled val="1"/>
            </dgm:varLst>
            <dgm:alg type="tx"/>
            <dgm:choose name="Name12">
              <dgm:if name="Name13" func="var" arg="dir" op="equ" val="norm">
                <dgm:shape xmlns:r="http://schemas.openxmlformats.org/officeDocument/2006/relationships" type="chevron" r:blip="">
                  <dgm:adjLst/>
                </dgm:shape>
                <dgm:presOf axis="desOrSelf" ptType="node"/>
                <dgm:constrLst>
                  <dgm:constr type="primFontSz" val="65"/>
                  <dgm:constr type="rMarg"/>
                  <dgm:constr type="lMarg" refType="primFontSz" fact="0.1"/>
                  <dgm:constr type="tMarg" refType="primFontSz" fact="0.05"/>
                  <dgm:constr type="bMarg" refType="primFontSz" fact="0.05"/>
                </dgm:constrLst>
              </dgm:if>
              <dgm:else name="Name14">
                <dgm:shape xmlns:r="http://schemas.openxmlformats.org/officeDocument/2006/relationships" type="chevron" r:blip="" rot="180">
                  <dgm:adjLst/>
                </dgm:shape>
                <dgm:presOf axis="desOrSelf" ptType="node"/>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choose name="Name15">
        <dgm:if name="Name16" axis="self" ptType="node" func="revPos" op="gte" val="2">
          <dgm:layoutNode name="vSp">
            <dgm:alg type="sp"/>
            <dgm:shape xmlns:r="http://schemas.openxmlformats.org/officeDocument/2006/relationships" r:blip="">
              <dgm:adjLst/>
            </dgm:shape>
            <dgm:presOf/>
            <dgm:constrLst/>
            <dgm:ruleLst/>
          </dgm:layoutNode>
        </dgm:if>
        <dgm:else name="Name17"/>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0"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1pPr>
            <a:lvl2pPr lvl="1"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2pPr>
            <a:lvl3pPr lvl="2"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3pPr>
            <a:lvl4pPr lvl="3"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4pPr>
            <a:lvl5pPr lvl="4"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5pPr>
            <a:lvl6pPr lvl="5"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6pPr>
            <a:lvl7pPr lvl="6"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7pPr>
            <a:lvl8pPr lvl="7"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8pPr>
            <a:lvl9pPr lvl="8"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9pPr>
          </a:lstStyle>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1pPr>
            <a:lvl2pPr marL="914400" lvl="1"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2pPr>
            <a:lvl3pPr marL="1371600" lvl="2"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3pPr>
            <a:lvl4pPr marL="1828800" lvl="3"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4pPr>
            <a:lvl5pPr marL="2286000" lvl="4"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5pPr>
            <a:lvl6pPr marL="2743200" lvl="5"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6pPr>
            <a:lvl7pPr marL="3200400" lvl="6"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7pPr>
            <a:lvl8pPr marL="3657600" lvl="7"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8pPr>
            <a:lvl9pPr marL="4114800" lvl="8"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2.png"/><Relationship Id="rId7" Type="http://schemas.openxmlformats.org/officeDocument/2006/relationships/image" Target="../media/image1.png"/><Relationship Id="rId6" Type="http://schemas.openxmlformats.org/officeDocument/2006/relationships/hyperlink" Target="https://github.com/wen2111/Mineria.git" TargetMode="External"/><Relationship Id="rId5" Type="http://schemas.openxmlformats.org/officeDocument/2006/relationships/hyperlink" Target="mailto:wenjia.ye@estudiantat.upc.edu" TargetMode="External"/><Relationship Id="rId4" Type="http://schemas.openxmlformats.org/officeDocument/2006/relationships/hyperlink" Target="mailto:melissa.Vargas@estudiantat.upc.edu" TargetMode="External"/><Relationship Id="rId3" Type="http://schemas.openxmlformats.org/officeDocument/2006/relationships/hyperlink" Target="mailto:siling.guo@estudiantat.ub.edu" TargetMode="External"/><Relationship Id="rId2" Type="http://schemas.openxmlformats.org/officeDocument/2006/relationships/hyperlink" Target="mailto:laura.Belmonte@estudiantat.upc.edu" TargetMode="External"/><Relationship Id="rId10" Type="http://schemas.openxmlformats.org/officeDocument/2006/relationships/notesSlide" Target="../notesSlides/notesSlide1.xml"/><Relationship Id="rId1" Type="http://schemas.openxmlformats.org/officeDocument/2006/relationships/hyperlink" Target="mailto:maragonvalderrama@gmail.com" TargetMode="Externa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3.xml"/><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3.xml"/><Relationship Id="rId6" Type="http://schemas.openxmlformats.org/officeDocument/2006/relationships/image" Target="../media/image4.png"/><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3.xml"/><Relationship Id="rId2" Type="http://schemas.openxmlformats.org/officeDocument/2006/relationships/image" Target="../media/image6.png"/><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3.xml"/><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image" Target="../media/image7.png"/></Relationships>
</file>

<file path=ppt/slides/_rels/slide6.xml.rels><?xml version="1.0" encoding="UTF-8" standalone="yes"?>
<Relationships xmlns="http://schemas.openxmlformats.org/package/2006/relationships"><Relationship Id="rId6" Type="http://schemas.openxmlformats.org/officeDocument/2006/relationships/notesSlide" Target="../notesSlides/notesSlide6.xml"/><Relationship Id="rId5" Type="http://schemas.openxmlformats.org/officeDocument/2006/relationships/slideLayout" Target="../slideLayouts/slideLayout3.xml"/><Relationship Id="rId4" Type="http://schemas.openxmlformats.org/officeDocument/2006/relationships/image" Target="../media/image13.png"/><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3.xml"/><Relationship Id="rId1"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16.png"/><Relationship Id="rId1" Type="http://schemas.openxmlformats.org/officeDocument/2006/relationships/image" Target="../media/image15.png"/></Relationships>
</file>

<file path=ppt/slides/_rels/slide10.xml.rels><?xml version="1.0" encoding="UTF-8" standalone="yes"?>
<Relationships xmlns="http://schemas.openxmlformats.org/package/2006/relationships"><Relationship Id="rId7" Type="http://schemas.openxmlformats.org/officeDocument/2006/relationships/notesSlide" Target="../notesSlides/notesSlide10.xml"/><Relationship Id="rId6"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 Id="rId3" Type="http://schemas.openxmlformats.org/officeDocument/2006/relationships/image" Target="../media/image19.jpeg"/><Relationship Id="rId2" Type="http://schemas.openxmlformats.org/officeDocument/2006/relationships/image" Target="../media/image18.jpeg"/><Relationship Id="rId1" Type="http://schemas.openxmlformats.org/officeDocument/2006/relationships/image" Target="../media/image17.png"/></Relationships>
</file>

<file path=ppt/slides/_rels/slide11.xml.rels><?xml version="1.0" encoding="UTF-8" standalone="yes"?>
<Relationships xmlns="http://schemas.openxmlformats.org/package/2006/relationships"><Relationship Id="rId9" Type="http://schemas.openxmlformats.org/officeDocument/2006/relationships/diagramQuickStyle" Target="../diagrams/quickStyle3.xml"/><Relationship Id="rId8" Type="http://schemas.openxmlformats.org/officeDocument/2006/relationships/diagramLayout" Target="../diagrams/layout3.xml"/><Relationship Id="rId7" Type="http://schemas.openxmlformats.org/officeDocument/2006/relationships/diagramData" Target="../diagrams/data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 Id="rId3" Type="http://schemas.openxmlformats.org/officeDocument/2006/relationships/diagramLayout" Target="../diagrams/layout2.xml"/><Relationship Id="rId2" Type="http://schemas.openxmlformats.org/officeDocument/2006/relationships/diagramData" Target="../diagrams/data2.xml"/><Relationship Id="rId13" Type="http://schemas.openxmlformats.org/officeDocument/2006/relationships/notesSlide" Target="../notesSlides/notesSlide11.xml"/><Relationship Id="rId12" Type="http://schemas.openxmlformats.org/officeDocument/2006/relationships/slideLayout" Target="../slideLayouts/slideLayout3.xml"/><Relationship Id="rId11" Type="http://schemas.microsoft.com/office/2007/relationships/diagramDrawing" Target="../diagrams/drawing3.xml"/><Relationship Id="rId10" Type="http://schemas.openxmlformats.org/officeDocument/2006/relationships/diagramColors" Target="../diagrams/colors3.xml"/><Relationship Id="rId1" Type="http://schemas.openxmlformats.org/officeDocument/2006/relationships/hyperlink" Target="https://github.com/wen2111/Mineria"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23.png"/><Relationship Id="rId1"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p:cNvSpPr txBox="1"/>
          <p:nvPr/>
        </p:nvSpPr>
        <p:spPr>
          <a:xfrm>
            <a:off x="817580" y="203462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panose="00000500000000000000"/>
              <a:buNone/>
              <a:defRPr sz="16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1pPr>
            <a:lvl2pPr marL="914400" marR="0" lvl="1"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2pPr>
            <a:lvl3pPr marL="1371600" marR="0" lvl="2"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3pPr>
            <a:lvl4pPr marL="1828800" marR="0" lvl="3"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4pPr>
            <a:lvl5pPr marL="2286000" marR="0" lvl="4"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5pPr>
            <a:lvl6pPr marL="2743200" marR="0" lvl="5"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6pPr>
            <a:lvl7pPr marL="3200400" marR="0" lvl="6"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7pPr>
            <a:lvl8pPr marL="3657600" marR="0" lvl="7"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8pPr>
            <a:lvl9pPr marL="4114800" marR="0" lvl="8"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9pPr>
          </a:lstStyle>
          <a:p>
            <a:r>
              <a:rPr lang="es-ES" dirty="0">
                <a:solidFill>
                  <a:schemeClr val="tx1"/>
                </a:solidFill>
              </a:rPr>
              <a:t>- Mario Aragón (</a:t>
            </a:r>
            <a:r>
              <a:rPr lang="es-ES" dirty="0">
                <a:solidFill>
                  <a:schemeClr val="tx1"/>
                </a:solidFill>
                <a:hlinkClick r:id="rId1"/>
              </a:rPr>
              <a:t>maragonvalderrama@gmail.com</a:t>
            </a:r>
            <a:r>
              <a:rPr lang="es-ES" dirty="0">
                <a:solidFill>
                  <a:schemeClr val="tx1"/>
                </a:solidFill>
              </a:rPr>
              <a:t>), (G05 </a:t>
            </a:r>
            <a:r>
              <a:rPr lang="es-ES" dirty="0" err="1">
                <a:solidFill>
                  <a:schemeClr val="tx1"/>
                </a:solidFill>
              </a:rPr>
              <a:t>mariovalde</a:t>
            </a:r>
            <a:r>
              <a:rPr lang="es-ES" dirty="0">
                <a:solidFill>
                  <a:schemeClr val="tx1"/>
                </a:solidFill>
              </a:rPr>
              <a:t>)</a:t>
            </a:r>
            <a:endParaRPr lang="es-ES" dirty="0">
              <a:solidFill>
                <a:schemeClr val="tx1"/>
              </a:solidFill>
            </a:endParaRPr>
          </a:p>
          <a:p>
            <a:r>
              <a:rPr lang="es-ES" dirty="0">
                <a:solidFill>
                  <a:schemeClr val="tx1"/>
                </a:solidFill>
              </a:rPr>
              <a:t>- Laura Belmonte (</a:t>
            </a:r>
            <a:r>
              <a:rPr lang="es-ES" dirty="0">
                <a:solidFill>
                  <a:schemeClr val="tx1"/>
                </a:solidFill>
                <a:hlinkClick r:id="rId2"/>
              </a:rPr>
              <a:t>laura.Belmonte@estudiantat.upc.edu</a:t>
            </a:r>
            <a:r>
              <a:rPr lang="es-ES" dirty="0">
                <a:solidFill>
                  <a:schemeClr val="tx1"/>
                </a:solidFill>
              </a:rPr>
              <a:t>), (G05, </a:t>
            </a:r>
            <a:r>
              <a:rPr lang="es-ES" dirty="0" err="1">
                <a:solidFill>
                  <a:schemeClr val="tx1"/>
                </a:solidFill>
              </a:rPr>
              <a:t>laurabelvel</a:t>
            </a:r>
            <a:r>
              <a:rPr lang="es-ES" dirty="0">
                <a:solidFill>
                  <a:schemeClr val="tx1"/>
                </a:solidFill>
              </a:rPr>
              <a:t>)</a:t>
            </a:r>
            <a:endParaRPr lang="es-ES" dirty="0">
              <a:solidFill>
                <a:schemeClr val="tx1"/>
              </a:solidFill>
            </a:endParaRP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a:t>
            </a:r>
            <a:r>
              <a:rPr lang="es-ES" dirty="0">
                <a:solidFill>
                  <a:schemeClr val="tx1"/>
                </a:solidFill>
                <a:hlinkClick r:id="rId3"/>
              </a:rPr>
              <a:t>siling.guo@estudiantat.ub.edu</a:t>
            </a:r>
            <a:r>
              <a:rPr lang="es-ES" dirty="0">
                <a:solidFill>
                  <a:schemeClr val="tx1"/>
                </a:solidFill>
              </a:rPr>
              <a:t>), (G05, </a:t>
            </a:r>
            <a:r>
              <a:rPr lang="es-ES" dirty="0" err="1">
                <a:solidFill>
                  <a:schemeClr val="tx1"/>
                </a:solidFill>
              </a:rPr>
              <a:t>silinguo</a:t>
            </a:r>
            <a:r>
              <a:rPr lang="es-ES" dirty="0">
                <a:solidFill>
                  <a:schemeClr val="tx1"/>
                </a:solidFill>
              </a:rPr>
              <a:t>)</a:t>
            </a:r>
            <a:endParaRPr lang="es-ES" dirty="0">
              <a:solidFill>
                <a:schemeClr val="tx1"/>
              </a:solidFill>
            </a:endParaRPr>
          </a:p>
          <a:p>
            <a:r>
              <a:rPr lang="es-ES" dirty="0">
                <a:solidFill>
                  <a:schemeClr val="tx1"/>
                </a:solidFill>
              </a:rPr>
              <a:t>- Melissa Vargas (</a:t>
            </a:r>
            <a:r>
              <a:rPr lang="es-ES" dirty="0">
                <a:solidFill>
                  <a:schemeClr val="tx1"/>
                </a:solidFill>
                <a:hlinkClick r:id="rId4"/>
              </a:rPr>
              <a:t>melissa.Vargas@estudiantat.upc.edu</a:t>
            </a:r>
            <a:r>
              <a:rPr lang="es-ES" dirty="0">
                <a:solidFill>
                  <a:schemeClr val="tx1"/>
                </a:solidFill>
              </a:rPr>
              <a:t>), (G05, </a:t>
            </a:r>
            <a:r>
              <a:rPr lang="es-ES" dirty="0" err="1">
                <a:solidFill>
                  <a:schemeClr val="tx1"/>
                </a:solidFill>
              </a:rPr>
              <a:t>matildasanchez</a:t>
            </a:r>
            <a:r>
              <a:rPr lang="es-ES" dirty="0">
                <a:solidFill>
                  <a:schemeClr val="tx1"/>
                </a:solidFill>
              </a:rPr>
              <a:t>)</a:t>
            </a:r>
            <a:endParaRPr lang="es-ES" dirty="0">
              <a:solidFill>
                <a:schemeClr val="tx1"/>
              </a:solidFill>
            </a:endParaRPr>
          </a:p>
          <a:p>
            <a:r>
              <a:rPr lang="es-ES" dirty="0">
                <a:solidFill>
                  <a:schemeClr val="tx1"/>
                </a:solidFill>
              </a:rPr>
              <a:t>- </a:t>
            </a:r>
            <a:r>
              <a:rPr lang="es-ES" dirty="0" err="1">
                <a:solidFill>
                  <a:schemeClr val="tx1"/>
                </a:solidFill>
              </a:rPr>
              <a:t>Wenjia</a:t>
            </a:r>
            <a:r>
              <a:rPr lang="es-ES" dirty="0">
                <a:solidFill>
                  <a:schemeClr val="tx1"/>
                </a:solidFill>
              </a:rPr>
              <a:t> Ye (</a:t>
            </a:r>
            <a:r>
              <a:rPr lang="es-ES" dirty="0">
                <a:solidFill>
                  <a:schemeClr val="tx1"/>
                </a:solidFill>
                <a:hlinkClick r:id="rId5"/>
              </a:rPr>
              <a:t>wenjia.ye@estudiantat.upc.edu</a:t>
            </a:r>
            <a:r>
              <a:rPr lang="es-ES" dirty="0">
                <a:solidFill>
                  <a:schemeClr val="tx1"/>
                </a:solidFill>
              </a:rPr>
              <a:t>), (G05, wenjiaye03)</a:t>
            </a:r>
            <a:endParaRPr lang="es-ES" dirty="0">
              <a:solidFill>
                <a:schemeClr val="tx1"/>
              </a:solidFill>
            </a:endParaRPr>
          </a:p>
          <a:p>
            <a:pPr marL="342900" indent="-342900">
              <a:buFontTx/>
              <a:buChar char="-"/>
            </a:pPr>
            <a:endParaRPr lang="es-ES" dirty="0">
              <a:solidFill>
                <a:schemeClr val="tx1"/>
              </a:solidFill>
            </a:endParaRPr>
          </a:p>
          <a:p>
            <a:r>
              <a:rPr lang="es-ES" dirty="0">
                <a:solidFill>
                  <a:schemeClr val="tx1"/>
                </a:solidFill>
                <a:highlight>
                  <a:srgbClr val="C0C0C0"/>
                </a:highlight>
                <a:hlinkClick r:id="rId6"/>
              </a:rPr>
              <a:t>Enlace </a:t>
            </a:r>
            <a:r>
              <a:rPr lang="es-ES" dirty="0" err="1">
                <a:solidFill>
                  <a:schemeClr val="tx1"/>
                </a:solidFill>
                <a:highlight>
                  <a:srgbClr val="C0C0C0"/>
                </a:highlight>
                <a:hlinkClick r:id="rId6"/>
              </a:rPr>
              <a:t>Github</a:t>
            </a:r>
            <a:endParaRPr lang="es-ES" dirty="0">
              <a:solidFill>
                <a:schemeClr val="tx1"/>
              </a:solidFill>
              <a:highlight>
                <a:srgbClr val="C0C0C0"/>
              </a:highlight>
            </a:endParaRPr>
          </a:p>
          <a:p>
            <a:endParaRPr lang="es-ES" dirty="0">
              <a:solidFill>
                <a:schemeClr val="tx1"/>
              </a:solidFill>
            </a:endParaRPr>
          </a:p>
        </p:txBody>
      </p:sp>
      <p:pic>
        <p:nvPicPr>
          <p:cNvPr id="5" name="Picture 2"/>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924585" y="3919863"/>
            <a:ext cx="2794142" cy="840571"/>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p:cNvSpPr txBox="1"/>
          <p:nvPr/>
        </p:nvSpPr>
        <p:spPr>
          <a:xfrm>
            <a:off x="5924585" y="92108"/>
            <a:ext cx="2254050" cy="307777"/>
          </a:xfrm>
          <a:prstGeom prst="rect">
            <a:avLst/>
          </a:prstGeom>
          <a:noFill/>
        </p:spPr>
        <p:txBody>
          <a:bodyPr wrap="square" rtlCol="0">
            <a:spAutoFit/>
          </a:bodyPr>
          <a:lstStyle/>
          <a:p>
            <a:r>
              <a:rPr lang="es-ES" dirty="0">
                <a:latin typeface="Arial Black" panose="020B0A04020102020204" pitchFamily="34" charset="0"/>
              </a:rPr>
              <a:t>Grado en Estadística</a:t>
            </a:r>
            <a:endParaRPr lang="es-ES" dirty="0">
              <a:latin typeface="Arial Black" panose="020B0A04020102020204" pitchFamily="34" charset="0"/>
            </a:endParaRPr>
          </a:p>
        </p:txBody>
      </p:sp>
      <p:pic>
        <p:nvPicPr>
          <p:cNvPr id="3" name="Picture 2" descr="Blue text on a white background&#10;&#10;Description automatically generated"/>
          <p:cNvPicPr>
            <a:picLocks noChangeAspect="1"/>
          </p:cNvPicPr>
          <p:nvPr/>
        </p:nvPicPr>
        <p:blipFill>
          <a:blip r:embed="rId8"/>
          <a:stretch>
            <a:fillRect/>
          </a:stretch>
        </p:blipFill>
        <p:spPr>
          <a:xfrm>
            <a:off x="1189265" y="3988006"/>
            <a:ext cx="2603500" cy="781050"/>
          </a:xfrm>
          <a:prstGeom prst="rect">
            <a:avLst/>
          </a:prstGeom>
        </p:spPr>
      </p:pic>
      <p:sp>
        <p:nvSpPr>
          <p:cNvPr id="7" name="CuadroTexto 5"/>
          <p:cNvSpPr txBox="1"/>
          <p:nvPr/>
        </p:nvSpPr>
        <p:spPr>
          <a:xfrm>
            <a:off x="874163" y="92109"/>
            <a:ext cx="2254050" cy="307777"/>
          </a:xfrm>
          <a:prstGeom prst="rect">
            <a:avLst/>
          </a:prstGeom>
          <a:noFill/>
        </p:spPr>
        <p:txBody>
          <a:bodyPr wrap="square" rtlCol="0">
            <a:spAutoFit/>
          </a:bodyPr>
          <a:lstStyle/>
          <a:p>
            <a:r>
              <a:rPr lang="es-ES" dirty="0">
                <a:latin typeface="Arial Black" panose="020B0A04020102020204" pitchFamily="34" charset="0"/>
              </a:rPr>
              <a:t>Minería de datos</a:t>
            </a:r>
            <a:endParaRPr lang="es-ES" dirty="0">
              <a:latin typeface="Arial Black" panose="020B0A040201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1003002" y="25989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graphicFrame>
        <p:nvGraphicFramePr>
          <p:cNvPr id="3" name="Table 2"/>
          <p:cNvGraphicFramePr>
            <a:graphicFrameLocks noGrp="1"/>
          </p:cNvGraphicFramePr>
          <p:nvPr/>
        </p:nvGraphicFramePr>
        <p:xfrm>
          <a:off x="170035" y="914400"/>
          <a:ext cx="7318978" cy="3682224"/>
        </p:xfrm>
        <a:graphic>
          <a:graphicData uri="http://schemas.openxmlformats.org/drawingml/2006/table">
            <a:tbl>
              <a:tblPr firstRow="1" bandRow="1">
                <a:tableStyleId>{5C22544A-7EE6-4342-B048-85BDC9FD1C3A}</a:tableStyleId>
              </a:tblPr>
              <a:tblGrid>
                <a:gridCol w="2172643"/>
                <a:gridCol w="5146335"/>
              </a:tblGrid>
              <a:tr h="554796">
                <a:tc>
                  <a:txBody>
                    <a:bodyPr/>
                    <a:lstStyle/>
                    <a:p>
                      <a:pPr algn="l">
                        <a:defRPr sz="1400" b="1">
                          <a:solidFill>
                            <a:srgbClr val="00468C"/>
                          </a:solidFill>
                        </a:defRPr>
                      </a:pPr>
                      <a:r>
                        <a:rPr sz="1200" dirty="0" err="1"/>
                        <a:t>Resumen</a:t>
                      </a:r>
                      <a:r>
                        <a:rPr sz="1200" dirty="0"/>
                        <a:t> del </a:t>
                      </a:r>
                      <a:r>
                        <a:rPr sz="1200" dirty="0" err="1"/>
                        <a:t>problema</a:t>
                      </a:r>
                      <a:endParaRPr sz="1200" dirty="0"/>
                    </a:p>
                  </a:txBody>
                  <a:tcPr/>
                </a:tc>
                <a:tc>
                  <a:txBody>
                    <a:bodyPr/>
                    <a:lstStyle/>
                    <a:p>
                      <a:pPr algn="l">
                        <a:defRPr sz="1200"/>
                      </a:pPr>
                      <a:r>
                        <a:rPr lang="en-GB" i="1" dirty="0" err="1">
                          <a:solidFill>
                            <a:schemeClr val="tx1"/>
                          </a:solidFill>
                        </a:rPr>
                        <a:t>Clasificar</a:t>
                      </a:r>
                      <a:r>
                        <a:rPr lang="en-GB" i="1" dirty="0">
                          <a:solidFill>
                            <a:schemeClr val="tx1"/>
                          </a:solidFill>
                        </a:rPr>
                        <a:t> </a:t>
                      </a:r>
                      <a:r>
                        <a:rPr lang="en-GB" i="1" dirty="0" err="1">
                          <a:solidFill>
                            <a:schemeClr val="tx1"/>
                          </a:solidFill>
                        </a:rPr>
                        <a:t>clientes</a:t>
                      </a:r>
                      <a:r>
                        <a:rPr lang="en-GB" i="1" dirty="0">
                          <a:solidFill>
                            <a:schemeClr val="tx1"/>
                          </a:solidFill>
                        </a:rPr>
                        <a:t> </a:t>
                      </a:r>
                      <a:r>
                        <a:rPr lang="en-GB" i="1" dirty="0" err="1">
                          <a:solidFill>
                            <a:schemeClr val="tx1"/>
                          </a:solidFill>
                        </a:rPr>
                        <a:t>bancarios</a:t>
                      </a:r>
                      <a:r>
                        <a:rPr lang="en-GB" i="1" dirty="0">
                          <a:solidFill>
                            <a:schemeClr val="tx1"/>
                          </a:solidFill>
                        </a:rPr>
                        <a:t> </a:t>
                      </a:r>
                      <a:r>
                        <a:rPr lang="en-GB" i="1" dirty="0" err="1">
                          <a:solidFill>
                            <a:schemeClr val="tx1"/>
                          </a:solidFill>
                        </a:rPr>
                        <a:t>según</a:t>
                      </a:r>
                      <a:r>
                        <a:rPr lang="en-GB" i="1" dirty="0">
                          <a:solidFill>
                            <a:schemeClr val="tx1"/>
                          </a:solidFill>
                        </a:rPr>
                        <a:t> </a:t>
                      </a:r>
                      <a:r>
                        <a:rPr lang="en-GB" i="1" dirty="0" err="1">
                          <a:solidFill>
                            <a:schemeClr val="tx1"/>
                          </a:solidFill>
                        </a:rPr>
                        <a:t>riesgo</a:t>
                      </a:r>
                      <a:r>
                        <a:rPr lang="en-GB" i="1" dirty="0">
                          <a:solidFill>
                            <a:schemeClr val="tx1"/>
                          </a:solidFill>
                        </a:rPr>
                        <a:t> de </a:t>
                      </a:r>
                      <a:r>
                        <a:rPr lang="en-GB" i="1" dirty="0" err="1">
                          <a:solidFill>
                            <a:schemeClr val="tx1"/>
                          </a:solidFill>
                        </a:rPr>
                        <a:t>abandono</a:t>
                      </a:r>
                      <a:r>
                        <a:rPr lang="en-GB" i="1" dirty="0">
                          <a:solidFill>
                            <a:schemeClr val="tx1"/>
                          </a:solidFill>
                        </a:rPr>
                        <a:t> </a:t>
                      </a:r>
                      <a:r>
                        <a:rPr lang="en-GB" i="1" dirty="0" err="1">
                          <a:solidFill>
                            <a:schemeClr val="tx1"/>
                          </a:solidFill>
                        </a:rPr>
                        <a:t>mediante</a:t>
                      </a:r>
                      <a:r>
                        <a:rPr lang="en-GB" i="1" dirty="0">
                          <a:solidFill>
                            <a:schemeClr val="tx1"/>
                          </a:solidFill>
                        </a:rPr>
                        <a:t> variables del </a:t>
                      </a:r>
                      <a:r>
                        <a:rPr lang="en-GB" i="1" dirty="0" err="1">
                          <a:solidFill>
                            <a:schemeClr val="tx1"/>
                          </a:solidFill>
                        </a:rPr>
                        <a:t>usuario</a:t>
                      </a:r>
                      <a:r>
                        <a:rPr lang="en-GB" dirty="0">
                          <a:solidFill>
                            <a:schemeClr val="tx1"/>
                          </a:solidFill>
                        </a:rPr>
                        <a:t>.</a:t>
                      </a:r>
                      <a:endParaRPr dirty="0">
                        <a:solidFill>
                          <a:schemeClr val="tx1"/>
                        </a:solidFill>
                      </a:endParaRPr>
                    </a:p>
                  </a:txBody>
                  <a:tcPr/>
                </a:tc>
              </a:tr>
              <a:tr h="554796">
                <a:tc>
                  <a:txBody>
                    <a:bodyPr/>
                    <a:lstStyle/>
                    <a:p>
                      <a:pPr algn="l">
                        <a:defRPr sz="1400" b="1">
                          <a:solidFill>
                            <a:srgbClr val="00468C"/>
                          </a:solidFill>
                        </a:defRPr>
                      </a:pPr>
                      <a:r>
                        <a:rPr dirty="0" err="1"/>
                        <a:t>Contexto</a:t>
                      </a:r>
                      <a:r>
                        <a:rPr dirty="0"/>
                        <a:t> de </a:t>
                      </a:r>
                      <a:r>
                        <a:rPr dirty="0" err="1"/>
                        <a:t>aplicación</a:t>
                      </a:r>
                      <a:endParaRPr dirty="0"/>
                    </a:p>
                  </a:txBody>
                  <a:tcPr/>
                </a:tc>
                <a:tc>
                  <a:txBody>
                    <a:bodyPr/>
                    <a:lstStyle/>
                    <a:p>
                      <a:pPr algn="l">
                        <a:defRPr sz="1200"/>
                      </a:pPr>
                      <a:r>
                        <a:rPr lang="en-GB" dirty="0"/>
                        <a:t>Identidad </a:t>
                      </a:r>
                      <a:r>
                        <a:rPr lang="en-GB" dirty="0" err="1"/>
                        <a:t>Bancaria</a:t>
                      </a:r>
                      <a:r>
                        <a:rPr lang="en-GB" dirty="0"/>
                        <a:t>           </a:t>
                      </a:r>
                      <a:r>
                        <a:rPr lang="en-GB" dirty="0" err="1"/>
                        <a:t>busca</a:t>
                      </a:r>
                      <a:r>
                        <a:rPr lang="en-GB" dirty="0"/>
                        <a:t> </a:t>
                      </a:r>
                      <a:r>
                        <a:rPr lang="en-GB" dirty="0" err="1"/>
                        <a:t>identificar</a:t>
                      </a:r>
                      <a:r>
                        <a:rPr lang="en-GB" dirty="0"/>
                        <a:t> </a:t>
                      </a:r>
                      <a:r>
                        <a:rPr lang="en-GB" dirty="0" err="1"/>
                        <a:t>causas</a:t>
                      </a:r>
                      <a:r>
                        <a:rPr lang="en-GB" dirty="0"/>
                        <a:t> del </a:t>
                      </a:r>
                      <a:r>
                        <a:rPr lang="en-GB" dirty="0" err="1"/>
                        <a:t>abandono</a:t>
                      </a:r>
                      <a:r>
                        <a:rPr lang="en-GB" dirty="0"/>
                        <a:t> de sus </a:t>
                      </a:r>
                      <a:r>
                        <a:rPr lang="en-GB" dirty="0" err="1"/>
                        <a:t>clientes</a:t>
                      </a:r>
                      <a:endParaRPr dirty="0"/>
                    </a:p>
                  </a:txBody>
                  <a:tcPr/>
                </a:tc>
              </a:tr>
              <a:tr h="554796">
                <a:tc>
                  <a:txBody>
                    <a:bodyPr/>
                    <a:lstStyle/>
                    <a:p>
                      <a:pPr algn="l">
                        <a:defRPr sz="1400" b="1">
                          <a:solidFill>
                            <a:srgbClr val="00468C"/>
                          </a:solidFill>
                        </a:defRPr>
                      </a:pPr>
                      <a:r>
                        <a:t>Objetivo principal</a:t>
                      </a:r>
                    </a:p>
                  </a:txBody>
                  <a:tcPr/>
                </a:tc>
                <a:tc>
                  <a:txBody>
                    <a:bodyPr/>
                    <a:lstStyle/>
                    <a:p>
                      <a:pPr algn="l">
                        <a:defRPr sz="1200"/>
                      </a:pPr>
                      <a:r>
                        <a:rPr dirty="0" err="1"/>
                        <a:t>Modelizar</a:t>
                      </a:r>
                      <a:r>
                        <a:rPr dirty="0"/>
                        <a:t> la </a:t>
                      </a:r>
                      <a:r>
                        <a:rPr dirty="0" err="1"/>
                        <a:t>pérdida</a:t>
                      </a:r>
                      <a:r>
                        <a:rPr dirty="0"/>
                        <a:t> de </a:t>
                      </a:r>
                      <a:r>
                        <a:rPr dirty="0" err="1"/>
                        <a:t>clientes</a:t>
                      </a:r>
                      <a:r>
                        <a:rPr dirty="0"/>
                        <a:t> (churn) </a:t>
                      </a:r>
                      <a:r>
                        <a:rPr dirty="0" err="1"/>
                        <a:t>en</a:t>
                      </a:r>
                      <a:r>
                        <a:rPr dirty="0"/>
                        <a:t> </a:t>
                      </a:r>
                      <a:r>
                        <a:rPr dirty="0" err="1"/>
                        <a:t>función</a:t>
                      </a:r>
                      <a:r>
                        <a:rPr dirty="0"/>
                        <a:t> de variables del </a:t>
                      </a:r>
                      <a:r>
                        <a:rPr dirty="0" err="1"/>
                        <a:t>usuario</a:t>
                      </a:r>
                      <a:r>
                        <a:rPr dirty="0"/>
                        <a:t>.</a:t>
                      </a:r>
                      <a:endParaRPr dirty="0"/>
                    </a:p>
                  </a:txBody>
                  <a:tcPr/>
                </a:tc>
              </a:tr>
              <a:tr h="612776">
                <a:tc>
                  <a:txBody>
                    <a:bodyPr/>
                    <a:lstStyle/>
                    <a:p>
                      <a:pPr algn="l">
                        <a:defRPr sz="1400" b="1">
                          <a:solidFill>
                            <a:srgbClr val="00468C"/>
                          </a:solidFill>
                        </a:defRPr>
                      </a:pPr>
                      <a:r>
                        <a:t>Objetivos secundarios</a:t>
                      </a:r>
                    </a:p>
                  </a:txBody>
                  <a:tcPr/>
                </a:tc>
                <a:tc>
                  <a:txBody>
                    <a:bodyPr/>
                    <a:lstStyle/>
                    <a:p>
                      <a:pPr algn="l">
                        <a:defRPr sz="1200"/>
                      </a:pPr>
                      <a:r>
                        <a:rPr dirty="0"/>
                        <a:t>• </a:t>
                      </a:r>
                      <a:r>
                        <a:rPr dirty="0" err="1"/>
                        <a:t>Analizar</a:t>
                      </a:r>
                      <a:r>
                        <a:rPr dirty="0"/>
                        <a:t> la </a:t>
                      </a:r>
                      <a:r>
                        <a:rPr dirty="0" err="1"/>
                        <a:t>estructura</a:t>
                      </a:r>
                      <a:r>
                        <a:rPr dirty="0"/>
                        <a:t> de </a:t>
                      </a:r>
                      <a:r>
                        <a:rPr dirty="0" err="1"/>
                        <a:t>los</a:t>
                      </a:r>
                      <a:r>
                        <a:rPr dirty="0"/>
                        <a:t> </a:t>
                      </a:r>
                      <a:r>
                        <a:rPr dirty="0" err="1"/>
                        <a:t>datos</a:t>
                      </a:r>
                      <a:r>
                        <a:rPr dirty="0"/>
                        <a:t>.</a:t>
                      </a:r>
                      <a:br>
                        <a:rPr dirty="0"/>
                      </a:br>
                      <a:r>
                        <a:rPr dirty="0"/>
                        <a:t>• </a:t>
                      </a:r>
                      <a:r>
                        <a:rPr dirty="0" err="1"/>
                        <a:t>Identificar</a:t>
                      </a:r>
                      <a:r>
                        <a:rPr dirty="0"/>
                        <a:t> </a:t>
                      </a:r>
                      <a:r>
                        <a:rPr dirty="0" err="1"/>
                        <a:t>relaciones</a:t>
                      </a:r>
                      <a:r>
                        <a:rPr dirty="0"/>
                        <a:t> entre variables.</a:t>
                      </a:r>
                      <a:br>
                        <a:rPr dirty="0"/>
                      </a:br>
                      <a:r>
                        <a:rPr dirty="0"/>
                        <a:t>• </a:t>
                      </a:r>
                      <a:r>
                        <a:rPr dirty="0" err="1"/>
                        <a:t>Evaluar</a:t>
                      </a:r>
                      <a:r>
                        <a:rPr dirty="0"/>
                        <a:t> la </a:t>
                      </a:r>
                      <a:r>
                        <a:rPr dirty="0" err="1"/>
                        <a:t>influencia</a:t>
                      </a:r>
                      <a:r>
                        <a:rPr dirty="0"/>
                        <a:t> de las variables </a:t>
                      </a:r>
                      <a:r>
                        <a:rPr dirty="0" err="1"/>
                        <a:t>en</a:t>
                      </a:r>
                      <a:r>
                        <a:rPr dirty="0"/>
                        <a:t> la </a:t>
                      </a:r>
                      <a:r>
                        <a:rPr dirty="0" err="1"/>
                        <a:t>permanencia</a:t>
                      </a:r>
                      <a:r>
                        <a:rPr dirty="0"/>
                        <a:t> del </a:t>
                      </a:r>
                      <a:r>
                        <a:rPr dirty="0" err="1"/>
                        <a:t>cliente</a:t>
                      </a:r>
                      <a:r>
                        <a:rPr dirty="0"/>
                        <a:t>.</a:t>
                      </a:r>
                      <a:endParaRPr dirty="0"/>
                    </a:p>
                  </a:txBody>
                  <a:tcPr/>
                </a:tc>
              </a:tr>
              <a:tr h="787855">
                <a:tc>
                  <a:txBody>
                    <a:bodyPr/>
                    <a:lstStyle/>
                    <a:p>
                      <a:pPr algn="l">
                        <a:defRPr sz="1400" b="1">
                          <a:solidFill>
                            <a:srgbClr val="00468C"/>
                          </a:solidFill>
                        </a:defRPr>
                      </a:pPr>
                      <a:r>
                        <a:t>KPIs de control (modelo)</a:t>
                      </a:r>
                    </a:p>
                  </a:txBody>
                  <a:tcPr/>
                </a:tc>
                <a:tc>
                  <a:txBody>
                    <a:bodyPr/>
                    <a:lstStyle/>
                    <a:p>
                      <a:pPr algn="l">
                        <a:defRPr sz="1200"/>
                      </a:pPr>
                      <a:r>
                        <a:rPr dirty="0"/>
                        <a:t>• Accuracy</a:t>
                      </a:r>
                      <a:br>
                        <a:rPr dirty="0"/>
                      </a:br>
                      <a:r>
                        <a:rPr dirty="0"/>
                        <a:t>• Precision / Recall</a:t>
                      </a:r>
                      <a:br>
                        <a:rPr dirty="0"/>
                      </a:br>
                      <a:r>
                        <a:rPr dirty="0"/>
                        <a:t>• F1-Score</a:t>
                      </a:r>
                      <a:br>
                        <a:rPr dirty="0"/>
                      </a:br>
                      <a:r>
                        <a:rPr dirty="0"/>
                        <a:t>• AUC-ROC</a:t>
                      </a:r>
                      <a:endParaRPr dirty="0"/>
                    </a:p>
                  </a:txBody>
                  <a:tcPr/>
                </a:tc>
              </a:tr>
              <a:tr h="554796">
                <a:tc>
                  <a:txBody>
                    <a:bodyPr/>
                    <a:lstStyle/>
                    <a:p>
                      <a:pPr algn="l">
                        <a:defRPr sz="1400" b="1">
                          <a:solidFill>
                            <a:srgbClr val="00468C"/>
                          </a:solidFill>
                        </a:defRPr>
                      </a:pPr>
                      <a:r>
                        <a:t>KPI de negocio</a:t>
                      </a:r>
                    </a:p>
                  </a:txBody>
                  <a:tcPr/>
                </a:tc>
                <a:tc>
                  <a:txBody>
                    <a:bodyPr/>
                    <a:lstStyle/>
                    <a:p>
                      <a:pPr algn="l">
                        <a:defRPr sz="1200"/>
                      </a:pPr>
                      <a:r>
                        <a:rPr dirty="0"/>
                        <a:t>Tasa de </a:t>
                      </a:r>
                      <a:r>
                        <a:rPr dirty="0" err="1"/>
                        <a:t>retención</a:t>
                      </a:r>
                      <a:r>
                        <a:rPr dirty="0"/>
                        <a:t> de </a:t>
                      </a:r>
                      <a:r>
                        <a:rPr dirty="0" err="1"/>
                        <a:t>clientes</a:t>
                      </a:r>
                      <a:r>
                        <a:rPr dirty="0"/>
                        <a:t>.</a:t>
                      </a:r>
                      <a:endParaRPr dirty="0"/>
                    </a:p>
                  </a:txBody>
                  <a:tcPr/>
                </a:tc>
              </a:tr>
            </a:tbl>
          </a:graphicData>
        </a:graphic>
      </p:graphicFrame>
      <p:cxnSp>
        <p:nvCxnSpPr>
          <p:cNvPr id="5" name="Straight Arrow Connector 4"/>
          <p:cNvCxnSpPr/>
          <p:nvPr/>
        </p:nvCxnSpPr>
        <p:spPr>
          <a:xfrm>
            <a:off x="3829524" y="1636004"/>
            <a:ext cx="3022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Picture 7" descr="A black and white logo&#10;&#10;AI-generated content may be incorrect."/>
          <p:cNvPicPr>
            <a:picLocks noChangeAspect="1"/>
          </p:cNvPicPr>
          <p:nvPr/>
        </p:nvPicPr>
        <p:blipFill>
          <a:blip r:embed="rId1"/>
          <a:stretch>
            <a:fillRect/>
          </a:stretch>
        </p:blipFill>
        <p:spPr>
          <a:xfrm>
            <a:off x="7489013" y="332509"/>
            <a:ext cx="1566241" cy="130092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p:cNvGraphicFramePr/>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
        <p:nvSpPr>
          <p:cNvPr id="5" name="CuadroTexto 4"/>
          <p:cNvSpPr txBox="1"/>
          <p:nvPr/>
        </p:nvSpPr>
        <p:spPr>
          <a:xfrm>
            <a:off x="279699" y="1112200"/>
            <a:ext cx="3131238" cy="1231106"/>
          </a:xfrm>
          <a:prstGeom prst="rect">
            <a:avLst/>
          </a:prstGeom>
          <a:noFill/>
        </p:spPr>
        <p:txBody>
          <a:bodyPr wrap="square" rtlCol="0">
            <a:spAutoFit/>
          </a:bodyPr>
          <a:lstStyle/>
          <a:p>
            <a:pPr marL="285750" indent="-285750">
              <a:buFont typeface="Arial" panose="020B0604020202020204" pitchFamily="34" charset="0"/>
              <a:buChar char="•"/>
            </a:pPr>
            <a:r>
              <a:rPr lang="en-GB" sz="1200" dirty="0" err="1"/>
              <a:t>Metodología</a:t>
            </a:r>
            <a:r>
              <a:rPr lang="en-GB" sz="1200" dirty="0"/>
              <a:t>: CRISP-DM (Cross Industry Standard Process for Data Mining)</a:t>
            </a:r>
            <a:endParaRPr lang="en-GB" sz="1200" dirty="0"/>
          </a:p>
          <a:p>
            <a:pPr marL="285750" indent="-285750">
              <a:buFont typeface="Arial" panose="020B0604020202020204" pitchFamily="34" charset="0"/>
              <a:buChar char="•"/>
            </a:pPr>
            <a:r>
              <a:rPr lang="en-GB" sz="1200" dirty="0" err="1"/>
              <a:t>Enfoque</a:t>
            </a:r>
            <a:r>
              <a:rPr lang="en-GB" sz="1200" dirty="0"/>
              <a:t>: </a:t>
            </a:r>
            <a:r>
              <a:rPr lang="en-GB" sz="1200" dirty="0" err="1"/>
              <a:t>Trabajo</a:t>
            </a:r>
            <a:r>
              <a:rPr lang="en-GB" sz="1200" dirty="0"/>
              <a:t> </a:t>
            </a:r>
            <a:r>
              <a:rPr lang="en-GB" sz="1200" dirty="0" err="1"/>
              <a:t>colaborativo</a:t>
            </a:r>
            <a:r>
              <a:rPr lang="en-GB" sz="1200" dirty="0"/>
              <a:t> con </a:t>
            </a:r>
            <a:r>
              <a:rPr lang="en-GB" sz="1200" dirty="0" err="1"/>
              <a:t>asignación</a:t>
            </a:r>
            <a:r>
              <a:rPr lang="en-GB" sz="1200" dirty="0"/>
              <a:t> de </a:t>
            </a:r>
            <a:r>
              <a:rPr lang="en-GB" sz="1200" dirty="0" err="1"/>
              <a:t>responsables</a:t>
            </a:r>
            <a:r>
              <a:rPr lang="en-GB" sz="1200" dirty="0"/>
              <a:t> </a:t>
            </a:r>
            <a:r>
              <a:rPr lang="en-GB" sz="1200" dirty="0" err="1"/>
              <a:t>por</a:t>
            </a:r>
            <a:r>
              <a:rPr lang="en-GB" sz="1200" dirty="0"/>
              <a:t> </a:t>
            </a:r>
            <a:r>
              <a:rPr lang="en-GB" sz="1200" dirty="0" err="1"/>
              <a:t>fase</a:t>
            </a:r>
            <a:endParaRPr lang="en-GB" sz="1200" dirty="0"/>
          </a:p>
          <a:p>
            <a:pPr marL="285750" indent="-285750">
              <a:buFont typeface="Arial" panose="020B0604020202020204" pitchFamily="34" charset="0"/>
              <a:buChar char="•"/>
            </a:pPr>
            <a:endParaRPr lang="es-ES" b="1" dirty="0"/>
          </a:p>
        </p:txBody>
      </p:sp>
      <p:pic>
        <p:nvPicPr>
          <p:cNvPr id="9" name="Imagen 8"/>
          <p:cNvPicPr>
            <a:picLocks noChangeAspect="1"/>
          </p:cNvPicPr>
          <p:nvPr/>
        </p:nvPicPr>
        <p:blipFill>
          <a:blip r:embed="rId6"/>
          <a:stretch>
            <a:fillRect/>
          </a:stretch>
        </p:blipFill>
        <p:spPr>
          <a:xfrm>
            <a:off x="374437" y="2250295"/>
            <a:ext cx="2750004" cy="2663526"/>
          </a:xfrm>
          <a:prstGeom prst="rect">
            <a:avLst/>
          </a:prstGeom>
          <a:ln>
            <a:solidFill>
              <a:schemeClr val="bg2"/>
            </a:soli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pic>
        <p:nvPicPr>
          <p:cNvPr id="6" name="Imagen 5"/>
          <p:cNvPicPr>
            <a:picLocks noChangeAspect="1"/>
          </p:cNvPicPr>
          <p:nvPr/>
        </p:nvPicPr>
        <p:blipFill>
          <a:blip r:embed="rId1"/>
          <a:stretch>
            <a:fillRect/>
          </a:stretch>
        </p:blipFill>
        <p:spPr>
          <a:xfrm>
            <a:off x="20443" y="2251639"/>
            <a:ext cx="4381801" cy="2848282"/>
          </a:xfrm>
          <a:prstGeom prst="rect">
            <a:avLst/>
          </a:prstGeom>
        </p:spPr>
      </p:pic>
      <p:pic>
        <p:nvPicPr>
          <p:cNvPr id="8" name="Imagen 7"/>
          <p:cNvPicPr>
            <a:picLocks noChangeAspect="1"/>
          </p:cNvPicPr>
          <p:nvPr/>
        </p:nvPicPr>
        <p:blipFill>
          <a:blip r:embed="rId2"/>
          <a:stretch>
            <a:fillRect/>
          </a:stretch>
        </p:blipFill>
        <p:spPr>
          <a:xfrm>
            <a:off x="4402244" y="2240217"/>
            <a:ext cx="4626707" cy="2872676"/>
          </a:xfrm>
          <a:prstGeom prst="rect">
            <a:avLst/>
          </a:prstGeom>
        </p:spPr>
      </p:pic>
      <p:sp>
        <p:nvSpPr>
          <p:cNvPr id="2" name="Rounded Rectangle 1"/>
          <p:cNvSpPr/>
          <p:nvPr/>
        </p:nvSpPr>
        <p:spPr>
          <a:xfrm>
            <a:off x="115049" y="709411"/>
            <a:ext cx="1432397" cy="248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Detección</a:t>
            </a:r>
            <a:endParaRPr lang="en-US" dirty="0"/>
          </a:p>
        </p:txBody>
      </p:sp>
      <p:sp>
        <p:nvSpPr>
          <p:cNvPr id="3" name="TextBox 2"/>
          <p:cNvSpPr txBox="1"/>
          <p:nvPr/>
        </p:nvSpPr>
        <p:spPr>
          <a:xfrm>
            <a:off x="115049" y="1024623"/>
            <a:ext cx="2589581" cy="1231106"/>
          </a:xfrm>
          <a:prstGeom prst="rect">
            <a:avLst/>
          </a:prstGeom>
          <a:noFill/>
        </p:spPr>
        <p:txBody>
          <a:bodyPr wrap="square" rtlCol="0">
            <a:spAutoFit/>
          </a:bodyPr>
          <a:lstStyle/>
          <a:p>
            <a:r>
              <a:rPr lang="en-GB" sz="1200" b="1" dirty="0"/>
              <a:t>30% </a:t>
            </a:r>
            <a:r>
              <a:rPr lang="en-GB" sz="1200" dirty="0" err="1"/>
              <a:t>en</a:t>
            </a:r>
            <a:r>
              <a:rPr lang="en-GB" sz="1200" dirty="0"/>
              <a:t> </a:t>
            </a:r>
            <a:r>
              <a:rPr lang="en-GB" sz="1200" dirty="0" err="1"/>
              <a:t>todas</a:t>
            </a:r>
            <a:r>
              <a:rPr lang="en-GB" sz="1200" dirty="0"/>
              <a:t> las variables (</a:t>
            </a:r>
            <a:r>
              <a:rPr lang="en-GB" sz="1200" dirty="0" err="1"/>
              <a:t>excepto</a:t>
            </a:r>
            <a:r>
              <a:rPr lang="en-GB" sz="1200" dirty="0"/>
              <a:t> ID)</a:t>
            </a:r>
            <a:endParaRPr lang="en-GB" sz="1200" dirty="0"/>
          </a:p>
          <a:p>
            <a:r>
              <a:rPr lang="en-GB" sz="1200" b="1" dirty="0">
                <a:highlight>
                  <a:srgbClr val="FFFF00"/>
                </a:highlight>
              </a:rPr>
              <a:t>Test MCAR</a:t>
            </a:r>
            <a:endParaRPr lang="en-GB" sz="1200" b="1" dirty="0">
              <a:highlight>
                <a:srgbClr val="FFFF00"/>
              </a:highlight>
            </a:endParaRPr>
          </a:p>
          <a:p>
            <a:r>
              <a:rPr lang="en-GB" sz="1200" b="1" dirty="0"/>
              <a:t>p-</a:t>
            </a:r>
            <a:r>
              <a:rPr lang="en-GB" sz="1200" b="1" dirty="0" err="1"/>
              <a:t>valor</a:t>
            </a:r>
            <a:r>
              <a:rPr lang="en-GB" sz="1200" b="1" dirty="0"/>
              <a:t> = 0.39</a:t>
            </a:r>
            <a:endParaRPr lang="en-GB" sz="1200" b="1" dirty="0"/>
          </a:p>
          <a:p>
            <a:r>
              <a:rPr lang="en-GB" sz="1200" dirty="0"/>
              <a:t>✓ </a:t>
            </a:r>
            <a:r>
              <a:rPr lang="en-GB" sz="1200" dirty="0" err="1"/>
              <a:t>Aleatoriedad</a:t>
            </a:r>
            <a:r>
              <a:rPr lang="en-GB" sz="1200" dirty="0"/>
              <a:t> </a:t>
            </a:r>
            <a:r>
              <a:rPr lang="en-GB" sz="1200" dirty="0" err="1"/>
              <a:t>confirmada</a:t>
            </a:r>
            <a:endParaRPr lang="en-GB" sz="1200" dirty="0"/>
          </a:p>
          <a:p>
            <a:endParaRPr lang="en-US" dirty="0"/>
          </a:p>
        </p:txBody>
      </p:sp>
      <p:sp>
        <p:nvSpPr>
          <p:cNvPr id="4" name="TextBox 3"/>
          <p:cNvSpPr txBox="1"/>
          <p:nvPr/>
        </p:nvSpPr>
        <p:spPr>
          <a:xfrm>
            <a:off x="2240937" y="605827"/>
            <a:ext cx="3391877" cy="1269578"/>
          </a:xfrm>
          <a:prstGeom prst="rect">
            <a:avLst/>
          </a:prstGeom>
          <a:noFill/>
        </p:spPr>
        <p:txBody>
          <a:bodyPr wrap="square">
            <a:spAutoFit/>
          </a:bodyPr>
          <a:lstStyle/>
          <a:p>
            <a:pPr algn="l">
              <a:buNone/>
            </a:pPr>
            <a:br>
              <a:rPr lang="en-GB" b="1" i="0" dirty="0">
                <a:solidFill>
                  <a:srgbClr val="030712"/>
                </a:solidFill>
                <a:effectLst/>
                <a:latin typeface="ui-sans-serif"/>
              </a:rPr>
            </a:br>
            <a:r>
              <a:rPr lang="en-GB" sz="1100" b="1" i="0" dirty="0" err="1">
                <a:solidFill>
                  <a:srgbClr val="030712"/>
                </a:solidFill>
                <a:effectLst/>
                <a:latin typeface="ui-sans-serif"/>
              </a:rPr>
              <a:t>Métodos</a:t>
            </a:r>
            <a:r>
              <a:rPr lang="en-GB" sz="1100" b="1" i="0" dirty="0">
                <a:solidFill>
                  <a:srgbClr val="030712"/>
                </a:solidFill>
                <a:effectLst/>
                <a:latin typeface="ui-sans-serif"/>
              </a:rPr>
              <a:t> </a:t>
            </a:r>
            <a:r>
              <a:rPr lang="en-GB" sz="1100" b="1" i="0" dirty="0" err="1">
                <a:solidFill>
                  <a:srgbClr val="030712"/>
                </a:solidFill>
                <a:effectLst/>
                <a:latin typeface="ui-sans-serif"/>
              </a:rPr>
              <a:t>Probados</a:t>
            </a:r>
            <a:r>
              <a:rPr lang="en-GB" sz="1100" b="1" i="0" dirty="0">
                <a:solidFill>
                  <a:srgbClr val="030712"/>
                </a:solidFill>
                <a:effectLst/>
                <a:latin typeface="ui-sans-serif"/>
              </a:rPr>
              <a:t> </a:t>
            </a:r>
            <a:r>
              <a:rPr lang="en-GB" sz="1100" b="1" i="0" dirty="0" err="1">
                <a:solidFill>
                  <a:srgbClr val="030712"/>
                </a:solidFill>
                <a:effectLst/>
                <a:latin typeface="ui-sans-serif"/>
              </a:rPr>
              <a:t>Implementados</a:t>
            </a:r>
            <a:r>
              <a:rPr lang="en-GB" sz="1100" b="1" i="0" dirty="0">
                <a:solidFill>
                  <a:srgbClr val="030712"/>
                </a:solidFill>
                <a:effectLst/>
                <a:latin typeface="ui-sans-serif"/>
              </a:rPr>
              <a:t> </a:t>
            </a:r>
            <a:endParaRPr lang="en-GB" sz="1100" b="1" i="0" dirty="0">
              <a:solidFill>
                <a:srgbClr val="030712"/>
              </a:solidFill>
              <a:effectLst/>
              <a:latin typeface="ui-sans-serif"/>
            </a:endParaRPr>
          </a:p>
          <a:p>
            <a:pPr algn="l">
              <a:buNone/>
            </a:pPr>
            <a:r>
              <a:rPr lang="en-GB" sz="1100" b="1" i="0" dirty="0">
                <a:solidFill>
                  <a:srgbClr val="7F1D1D"/>
                </a:solidFill>
                <a:effectLst/>
                <a:latin typeface="ui-sans-serif"/>
              </a:rPr>
              <a:t>- </a:t>
            </a:r>
            <a:r>
              <a:rPr lang="en-GB" sz="1100" b="1" i="0" dirty="0" err="1">
                <a:solidFill>
                  <a:srgbClr val="7F1D1D"/>
                </a:solidFill>
                <a:effectLst/>
                <a:latin typeface="ui-sans-serif"/>
              </a:rPr>
              <a:t>Imputación</a:t>
            </a:r>
            <a:r>
              <a:rPr lang="en-GB" sz="1100" b="1" i="0" dirty="0">
                <a:solidFill>
                  <a:srgbClr val="7F1D1D"/>
                </a:solidFill>
                <a:effectLst/>
                <a:latin typeface="ui-sans-serif"/>
              </a:rPr>
              <a:t> Simple</a:t>
            </a:r>
            <a:endParaRPr lang="en-GB" sz="1100" b="1" i="0" dirty="0">
              <a:solidFill>
                <a:srgbClr val="7F1D1D"/>
              </a:solidFill>
              <a:effectLst/>
              <a:latin typeface="ui-sans-serif"/>
            </a:endParaRPr>
          </a:p>
          <a:p>
            <a:pPr algn="l">
              <a:buNone/>
            </a:pPr>
            <a:r>
              <a:rPr lang="en-GB" sz="1100" b="0" i="0" dirty="0">
                <a:solidFill>
                  <a:srgbClr val="4B5563"/>
                </a:solidFill>
                <a:effectLst/>
                <a:latin typeface="ui-sans-serif"/>
              </a:rPr>
              <a:t>Media/</a:t>
            </a:r>
            <a:r>
              <a:rPr lang="en-GB" sz="1100" b="0" i="0" dirty="0" err="1">
                <a:solidFill>
                  <a:srgbClr val="4B5563"/>
                </a:solidFill>
                <a:effectLst/>
                <a:latin typeface="ui-sans-serif"/>
              </a:rPr>
              <a:t>mediana</a:t>
            </a:r>
            <a:r>
              <a:rPr lang="en-GB" sz="1100" b="0" i="0" dirty="0">
                <a:solidFill>
                  <a:srgbClr val="4B5563"/>
                </a:solidFill>
                <a:effectLst/>
                <a:latin typeface="ui-sans-serif"/>
              </a:rPr>
              <a:t>/</a:t>
            </a:r>
            <a:r>
              <a:rPr lang="en-GB" sz="1100" b="0" i="0" dirty="0" err="1">
                <a:solidFill>
                  <a:srgbClr val="4B5563"/>
                </a:solidFill>
                <a:effectLst/>
                <a:latin typeface="ui-sans-serif"/>
              </a:rPr>
              <a:t>moda</a:t>
            </a:r>
            <a:endParaRPr lang="en-GB" sz="1100" b="0" i="0" dirty="0">
              <a:solidFill>
                <a:srgbClr val="4B5563"/>
              </a:solidFill>
              <a:effectLst/>
              <a:latin typeface="ui-sans-serif"/>
            </a:endParaRPr>
          </a:p>
          <a:p>
            <a:pPr algn="l">
              <a:buNone/>
            </a:pPr>
            <a:r>
              <a:rPr lang="en-GB" sz="1100" b="0" i="1" dirty="0" err="1">
                <a:solidFill>
                  <a:srgbClr val="B91C1C"/>
                </a:solidFill>
                <a:effectLst/>
                <a:latin typeface="ui-sans-serif"/>
              </a:rPr>
              <a:t>Distorsiona</a:t>
            </a:r>
            <a:r>
              <a:rPr lang="en-GB" sz="1100" b="0" i="1" dirty="0">
                <a:solidFill>
                  <a:srgbClr val="B91C1C"/>
                </a:solidFill>
                <a:effectLst/>
                <a:latin typeface="ui-sans-serif"/>
              </a:rPr>
              <a:t> </a:t>
            </a:r>
            <a:r>
              <a:rPr lang="en-GB" sz="1100" b="0" i="1" dirty="0" err="1">
                <a:solidFill>
                  <a:srgbClr val="B91C1C"/>
                </a:solidFill>
                <a:effectLst/>
                <a:latin typeface="ui-sans-serif"/>
              </a:rPr>
              <a:t>distribuciones</a:t>
            </a:r>
            <a:endParaRPr lang="en-GB" sz="1100" b="0" i="1" dirty="0">
              <a:solidFill>
                <a:srgbClr val="B91C1C"/>
              </a:solidFill>
              <a:effectLst/>
              <a:latin typeface="ui-sans-serif"/>
            </a:endParaRPr>
          </a:p>
          <a:p>
            <a:pPr marL="171450" indent="-171450" algn="l">
              <a:spcBef>
                <a:spcPts val="900"/>
              </a:spcBef>
              <a:buFontTx/>
              <a:buChar char="-"/>
            </a:pPr>
            <a:r>
              <a:rPr lang="en-GB" sz="1100" b="1" i="0" dirty="0">
                <a:solidFill>
                  <a:srgbClr val="713F12"/>
                </a:solidFill>
                <a:effectLst/>
                <a:latin typeface="ui-sans-serif"/>
              </a:rPr>
              <a:t>KNN </a:t>
            </a:r>
            <a:r>
              <a:rPr lang="en-GB" sz="1100" b="1" i="0" dirty="0" err="1">
                <a:solidFill>
                  <a:srgbClr val="713F12"/>
                </a:solidFill>
                <a:effectLst/>
                <a:latin typeface="ui-sans-serif"/>
              </a:rPr>
              <a:t>Multivariante</a:t>
            </a:r>
            <a:endParaRPr lang="en-GB" sz="1100" b="1" dirty="0">
              <a:solidFill>
                <a:srgbClr val="713F12"/>
              </a:solidFill>
              <a:latin typeface="ui-sans-serif"/>
            </a:endParaRPr>
          </a:p>
        </p:txBody>
      </p:sp>
      <p:sp>
        <p:nvSpPr>
          <p:cNvPr id="5" name="TextBox 4"/>
          <p:cNvSpPr txBox="1"/>
          <p:nvPr/>
        </p:nvSpPr>
        <p:spPr>
          <a:xfrm>
            <a:off x="3832213" y="1046039"/>
            <a:ext cx="3321538" cy="1331134"/>
          </a:xfrm>
          <a:prstGeom prst="rect">
            <a:avLst/>
          </a:prstGeom>
          <a:noFill/>
        </p:spPr>
        <p:txBody>
          <a:bodyPr wrap="square" rtlCol="0">
            <a:spAutoFit/>
          </a:bodyPr>
          <a:lstStyle/>
          <a:p>
            <a:pPr>
              <a:spcBef>
                <a:spcPts val="900"/>
              </a:spcBef>
            </a:pPr>
            <a:r>
              <a:rPr lang="en-GB" sz="1100" dirty="0">
                <a:solidFill>
                  <a:srgbClr val="4B5563"/>
                </a:solidFill>
                <a:latin typeface="ui-sans-serif"/>
              </a:rPr>
              <a:t>Mejor </a:t>
            </a:r>
            <a:r>
              <a:rPr lang="en-GB" sz="1100" dirty="0" err="1">
                <a:solidFill>
                  <a:srgbClr val="4B5563"/>
                </a:solidFill>
                <a:latin typeface="ui-sans-serif"/>
              </a:rPr>
              <a:t>ajuste</a:t>
            </a:r>
            <a:r>
              <a:rPr lang="en-GB" sz="1100" dirty="0">
                <a:solidFill>
                  <a:srgbClr val="4B5563"/>
                </a:solidFill>
                <a:latin typeface="ui-sans-serif"/>
              </a:rPr>
              <a:t>, </a:t>
            </a:r>
            <a:r>
              <a:rPr lang="en-GB" sz="1100" dirty="0" err="1">
                <a:solidFill>
                  <a:srgbClr val="4B5563"/>
                </a:solidFill>
                <a:latin typeface="ui-sans-serif"/>
              </a:rPr>
              <a:t>pero</a:t>
            </a:r>
            <a:r>
              <a:rPr lang="en-GB" sz="1100" dirty="0">
                <a:solidFill>
                  <a:srgbClr val="4B5563"/>
                </a:solidFill>
                <a:latin typeface="ui-sans-serif"/>
              </a:rPr>
              <a:t> </a:t>
            </a:r>
            <a:r>
              <a:rPr lang="en-GB" sz="1100" dirty="0" err="1">
                <a:solidFill>
                  <a:srgbClr val="4B5563"/>
                </a:solidFill>
                <a:latin typeface="ui-sans-serif"/>
              </a:rPr>
              <a:t>mejorable</a:t>
            </a:r>
            <a:endParaRPr lang="en-GB" sz="1100" dirty="0">
              <a:solidFill>
                <a:srgbClr val="4B5563"/>
              </a:solidFill>
              <a:latin typeface="ui-sans-serif"/>
            </a:endParaRPr>
          </a:p>
          <a:p>
            <a:pPr>
              <a:spcBef>
                <a:spcPts val="900"/>
              </a:spcBef>
            </a:pPr>
            <a:r>
              <a:rPr lang="en-GB" sz="1100" b="1" dirty="0">
                <a:solidFill>
                  <a:srgbClr val="14532D"/>
                </a:solidFill>
                <a:highlight>
                  <a:srgbClr val="FFFF00"/>
                </a:highlight>
                <a:latin typeface="ui-sans-serif"/>
              </a:rPr>
              <a:t>- MICE (</a:t>
            </a:r>
            <a:r>
              <a:rPr lang="en-GB" sz="1100" b="1" dirty="0" err="1">
                <a:solidFill>
                  <a:srgbClr val="14532D"/>
                </a:solidFill>
                <a:highlight>
                  <a:srgbClr val="FFFF00"/>
                </a:highlight>
                <a:latin typeface="ui-sans-serif"/>
              </a:rPr>
              <a:t>Multivariante</a:t>
            </a:r>
            <a:r>
              <a:rPr lang="en-GB" sz="1100" b="1" dirty="0">
                <a:solidFill>
                  <a:srgbClr val="14532D"/>
                </a:solidFill>
                <a:highlight>
                  <a:srgbClr val="FFFF00"/>
                </a:highlight>
                <a:latin typeface="ui-sans-serif"/>
              </a:rPr>
              <a:t>)</a:t>
            </a:r>
            <a:endParaRPr lang="en-GB" sz="1100" b="1" dirty="0">
              <a:solidFill>
                <a:srgbClr val="14532D"/>
              </a:solidFill>
              <a:highlight>
                <a:srgbClr val="FFFF00"/>
              </a:highlight>
              <a:latin typeface="ui-sans-serif"/>
            </a:endParaRPr>
          </a:p>
          <a:p>
            <a:pPr>
              <a:spcBef>
                <a:spcPts val="900"/>
              </a:spcBef>
            </a:pPr>
            <a:r>
              <a:rPr lang="en-GB" sz="1100" dirty="0" err="1">
                <a:solidFill>
                  <a:srgbClr val="4B5563"/>
                </a:solidFill>
                <a:latin typeface="ui-sans-serif"/>
              </a:rPr>
              <a:t>Ajuste</a:t>
            </a:r>
            <a:r>
              <a:rPr lang="en-GB" sz="1100" dirty="0">
                <a:solidFill>
                  <a:srgbClr val="4B5563"/>
                </a:solidFill>
                <a:latin typeface="ui-sans-serif"/>
              </a:rPr>
              <a:t> perfecto de </a:t>
            </a:r>
            <a:r>
              <a:rPr lang="en-GB" sz="1100" dirty="0" err="1">
                <a:solidFill>
                  <a:srgbClr val="4B5563"/>
                </a:solidFill>
                <a:latin typeface="ui-sans-serif"/>
              </a:rPr>
              <a:t>distribuciones</a:t>
            </a:r>
            <a:endParaRPr lang="en-GB" sz="1100" dirty="0">
              <a:solidFill>
                <a:srgbClr val="4B5563"/>
              </a:solidFill>
              <a:latin typeface="ui-sans-serif"/>
            </a:endParaRPr>
          </a:p>
          <a:p>
            <a:pPr>
              <a:spcBef>
                <a:spcPts val="900"/>
              </a:spcBef>
            </a:pPr>
            <a:r>
              <a:rPr lang="en-GB" sz="1100" b="1" dirty="0">
                <a:solidFill>
                  <a:srgbClr val="166534"/>
                </a:solidFill>
                <a:latin typeface="ui-sans-serif"/>
              </a:rPr>
              <a:t>✓ MÉTODO SELECCIONADO</a:t>
            </a:r>
            <a:endParaRPr lang="en-GB" sz="1100" b="1" dirty="0">
              <a:solidFill>
                <a:srgbClr val="166534"/>
              </a:solidFill>
              <a:latin typeface="ui-sans-serif"/>
            </a:endParaRPr>
          </a:p>
          <a:p>
            <a:endParaRPr lang="en-US" dirty="0"/>
          </a:p>
        </p:txBody>
      </p:sp>
      <p:cxnSp>
        <p:nvCxnSpPr>
          <p:cNvPr id="9" name="Straight Connector 8"/>
          <p:cNvCxnSpPr/>
          <p:nvPr/>
        </p:nvCxnSpPr>
        <p:spPr>
          <a:xfrm>
            <a:off x="2110153" y="590805"/>
            <a:ext cx="0" cy="159433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5920153" y="661390"/>
            <a:ext cx="0" cy="1594339"/>
          </a:xfrm>
          <a:prstGeom prst="line">
            <a:avLst/>
          </a:prstGeom>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942367" y="674103"/>
            <a:ext cx="3044340" cy="1277273"/>
          </a:xfrm>
          <a:prstGeom prst="rect">
            <a:avLst/>
          </a:prstGeom>
          <a:noFill/>
        </p:spPr>
        <p:txBody>
          <a:bodyPr wrap="square" rtlCol="0">
            <a:spAutoFit/>
          </a:bodyPr>
          <a:lstStyle/>
          <a:p>
            <a:pPr algn="just"/>
            <a:r>
              <a:rPr lang="es-ES" sz="1100" i="1" dirty="0"/>
              <a:t>Finalmente, tras aplicar el método </a:t>
            </a:r>
            <a:r>
              <a:rPr lang="es-ES" sz="1100" b="1" i="1" dirty="0"/>
              <a:t>MICE</a:t>
            </a:r>
            <a:r>
              <a:rPr lang="es-ES" sz="1100" i="1" dirty="0"/>
              <a:t> (multivariante), llegamos a unos resultados muy buenos, encontrando un ajuste prácticamente perfecto de las distribuciones. </a:t>
            </a:r>
            <a:endParaRPr lang="es-ES" sz="1100" i="1" dirty="0"/>
          </a:p>
          <a:p>
            <a:pPr algn="just"/>
            <a:endParaRPr lang="es-ES" sz="1100" i="1" dirty="0"/>
          </a:p>
          <a:p>
            <a:pPr algn="just"/>
            <a:r>
              <a:rPr lang="es-ES" sz="1100" i="1" dirty="0"/>
              <a:t>Se decidió validar el método y la base de datos imputada por MICE.</a:t>
            </a:r>
            <a:endParaRPr lang="es-ES" sz="1100" i="1"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3" name="CuadroTexto 2"/>
          <p:cNvSpPr txBox="1"/>
          <p:nvPr/>
        </p:nvSpPr>
        <p:spPr>
          <a:xfrm>
            <a:off x="299922" y="4096818"/>
            <a:ext cx="8306195" cy="938719"/>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s-ES" sz="1100" dirty="0">
                <a:solidFill>
                  <a:schemeClr val="tx1"/>
                </a:solidFill>
              </a:rPr>
              <a:t>Se realizó un estudio de </a:t>
            </a:r>
            <a:r>
              <a:rPr lang="es-ES" sz="1100" dirty="0" err="1">
                <a:solidFill>
                  <a:schemeClr val="tx1"/>
                </a:solidFill>
              </a:rPr>
              <a:t>outliers</a:t>
            </a:r>
            <a:r>
              <a:rPr lang="es-ES" sz="1100" dirty="0">
                <a:solidFill>
                  <a:schemeClr val="tx1"/>
                </a:solidFill>
              </a:rPr>
              <a:t> previo y posterior a la imputación, obteniendo los mismos resultados tanto a nivel univariante como multivariante.</a:t>
            </a:r>
            <a:endParaRPr lang="es-ES" sz="1100" dirty="0">
              <a:solidFill>
                <a:schemeClr val="tx1"/>
              </a:solidFill>
            </a:endParaRPr>
          </a:p>
          <a:p>
            <a:endParaRPr lang="es-ES" sz="1100" dirty="0">
              <a:solidFill>
                <a:schemeClr val="tx1"/>
              </a:solidFill>
            </a:endParaRPr>
          </a:p>
          <a:p>
            <a:r>
              <a:rPr lang="es-ES" sz="1100" dirty="0">
                <a:solidFill>
                  <a:schemeClr val="tx1"/>
                </a:solidFill>
              </a:rPr>
              <a:t>Se decidió mantenerlos en la base de datos, ya que suponían una proporción que se puede entender como normal (~4-5%) y no se observaron valores extremos </a:t>
            </a:r>
            <a:r>
              <a:rPr lang="es-ES" sz="1100">
                <a:solidFill>
                  <a:schemeClr val="tx1"/>
                </a:solidFill>
              </a:rPr>
              <a:t>o imposibles.</a:t>
            </a:r>
            <a:endParaRPr lang="es-ES" sz="1100" dirty="0">
              <a:solidFill>
                <a:schemeClr val="tx1"/>
              </a:solidFill>
            </a:endParaRPr>
          </a:p>
        </p:txBody>
      </p:sp>
      <p:graphicFrame>
        <p:nvGraphicFramePr>
          <p:cNvPr id="4" name="Table 3"/>
          <p:cNvGraphicFramePr>
            <a:graphicFrameLocks noGrp="1"/>
          </p:cNvGraphicFramePr>
          <p:nvPr/>
        </p:nvGraphicFramePr>
        <p:xfrm>
          <a:off x="299923" y="1101572"/>
          <a:ext cx="5398617" cy="1630680"/>
        </p:xfrm>
        <a:graphic>
          <a:graphicData uri="http://schemas.openxmlformats.org/drawingml/2006/table">
            <a:tbl>
              <a:tblPr firstRow="1" bandRow="1">
                <a:tableStyleId>{7FD54D1E-A07F-487E-B709-6B33F1453160}</a:tableStyleId>
              </a:tblPr>
              <a:tblGrid>
                <a:gridCol w="1080507"/>
                <a:gridCol w="1439370"/>
                <a:gridCol w="1439370"/>
                <a:gridCol w="1439370"/>
              </a:tblGrid>
              <a:tr h="251459">
                <a:tc>
                  <a:txBody>
                    <a:bodyPr/>
                    <a:lstStyle/>
                    <a:p>
                      <a:r>
                        <a:rPr lang="en-US" sz="1100" b="1" dirty="0"/>
                        <a:t>Nivel</a:t>
                      </a:r>
                      <a:endParaRPr lang="en-US" sz="1100" b="1" dirty="0"/>
                    </a:p>
                  </a:txBody>
                  <a:tcPr>
                    <a:solidFill>
                      <a:schemeClr val="accent2"/>
                    </a:solidFill>
                  </a:tcPr>
                </a:tc>
                <a:tc>
                  <a:txBody>
                    <a:bodyPr/>
                    <a:lstStyle/>
                    <a:p>
                      <a:r>
                        <a:rPr lang="en-US" sz="1100" b="1" dirty="0"/>
                        <a:t>Tipo de Variable </a:t>
                      </a:r>
                      <a:endParaRPr lang="en-US" sz="1100" b="1" dirty="0"/>
                    </a:p>
                  </a:txBody>
                  <a:tcPr>
                    <a:solidFill>
                      <a:schemeClr val="accent2"/>
                    </a:solidFill>
                  </a:tcPr>
                </a:tc>
                <a:tc>
                  <a:txBody>
                    <a:bodyPr/>
                    <a:lstStyle/>
                    <a:p>
                      <a:r>
                        <a:rPr lang="en-US" sz="1100" b="1" dirty="0"/>
                        <a:t>Método</a:t>
                      </a:r>
                      <a:endParaRPr lang="en-US" sz="1100" b="1" dirty="0"/>
                    </a:p>
                  </a:txBody>
                  <a:tcPr>
                    <a:solidFill>
                      <a:schemeClr val="accent2"/>
                    </a:solidFill>
                  </a:tcPr>
                </a:tc>
                <a:tc>
                  <a:txBody>
                    <a:bodyPr/>
                    <a:lstStyle/>
                    <a:p>
                      <a:r>
                        <a:rPr lang="en-US" sz="1100" b="1" dirty="0"/>
                        <a:t>Criterio</a:t>
                      </a:r>
                      <a:endParaRPr lang="en-US" sz="1100" b="1" dirty="0"/>
                    </a:p>
                  </a:txBody>
                  <a:tcPr>
                    <a:solidFill>
                      <a:schemeClr val="accent2"/>
                    </a:solidFill>
                  </a:tcPr>
                </a:tc>
              </a:tr>
              <a:tr h="251459">
                <a:tc>
                  <a:txBody>
                    <a:bodyPr/>
                    <a:lstStyle/>
                    <a:p>
                      <a:r>
                        <a:rPr lang="en-US" sz="1100" dirty="0"/>
                        <a:t>Univariante</a:t>
                      </a:r>
                      <a:endParaRPr lang="en-US" sz="1100" dirty="0"/>
                    </a:p>
                  </a:txBody>
                  <a:tcPr/>
                </a:tc>
                <a:tc>
                  <a:txBody>
                    <a:bodyPr/>
                    <a:lstStyle/>
                    <a:p>
                      <a:r>
                        <a:rPr lang="en-GB" sz="1100" dirty="0" err="1"/>
                        <a:t>Simétricas</a:t>
                      </a:r>
                      <a:endParaRPr lang="en-US" sz="1100" dirty="0"/>
                    </a:p>
                  </a:txBody>
                  <a:tcPr/>
                </a:tc>
                <a:tc>
                  <a:txBody>
                    <a:bodyPr/>
                    <a:lstStyle/>
                    <a:p>
                      <a:r>
                        <a:rPr lang="en-US" sz="1100" dirty="0"/>
                        <a:t>IQR</a:t>
                      </a:r>
                      <a:endParaRPr lang="en-US" sz="1100" dirty="0"/>
                    </a:p>
                  </a:txBody>
                  <a:tcPr/>
                </a:tc>
                <a:tc>
                  <a:txBody>
                    <a:bodyPr/>
                    <a:lstStyle/>
                    <a:p>
                      <a:r>
                        <a:rPr lang="en-GB" sz="1100" dirty="0"/>
                        <a:t>1.5 × IQR</a:t>
                      </a:r>
                      <a:endParaRPr lang="en-US" sz="1100" dirty="0"/>
                    </a:p>
                  </a:txBody>
                  <a:tcPr/>
                </a:tc>
              </a:tr>
              <a:tr h="251459">
                <a:tc>
                  <a:txBody>
                    <a:bodyPr/>
                    <a:lstStyle/>
                    <a:p>
                      <a:r>
                        <a:rPr lang="en-US" sz="1100" dirty="0"/>
                        <a:t>Univariante </a:t>
                      </a:r>
                      <a:endParaRPr lang="en-US" sz="1100" dirty="0"/>
                    </a:p>
                  </a:txBody>
                  <a:tcPr/>
                </a:tc>
                <a:tc>
                  <a:txBody>
                    <a:bodyPr/>
                    <a:lstStyle/>
                    <a:p>
                      <a:r>
                        <a:rPr lang="en-GB" sz="1100" dirty="0"/>
                        <a:t>No </a:t>
                      </a:r>
                      <a:r>
                        <a:rPr lang="en-GB" sz="1100" dirty="0" err="1"/>
                        <a:t>simétricas</a:t>
                      </a:r>
                      <a:endParaRPr lang="en-US" sz="1100" dirty="0"/>
                    </a:p>
                  </a:txBody>
                  <a:tcPr/>
                </a:tc>
                <a:tc>
                  <a:txBody>
                    <a:bodyPr/>
                    <a:lstStyle/>
                    <a:p>
                      <a:r>
                        <a:rPr lang="en-US" sz="1100" dirty="0"/>
                        <a:t>Hampel</a:t>
                      </a:r>
                      <a:endParaRPr lang="en-US" sz="1100" dirty="0"/>
                    </a:p>
                  </a:txBody>
                  <a:tcPr/>
                </a:tc>
                <a:tc>
                  <a:txBody>
                    <a:bodyPr/>
                    <a:lstStyle/>
                    <a:p>
                      <a:r>
                        <a:rPr lang="en-GB" sz="1100" dirty="0"/>
                        <a:t>Mediana + MAD</a:t>
                      </a:r>
                      <a:endParaRPr lang="en-US" sz="1100" dirty="0"/>
                    </a:p>
                  </a:txBody>
                  <a:tcPr/>
                </a:tc>
              </a:tr>
              <a:tr h="251459">
                <a:tc>
                  <a:txBody>
                    <a:bodyPr/>
                    <a:lstStyle/>
                    <a:p>
                      <a:r>
                        <a:rPr lang="en-US" sz="1100" dirty="0"/>
                        <a:t>Univariante </a:t>
                      </a:r>
                      <a:endParaRPr lang="en-US" sz="1100" dirty="0"/>
                    </a:p>
                  </a:txBody>
                  <a:tcPr/>
                </a:tc>
                <a:tc>
                  <a:txBody>
                    <a:bodyPr/>
                    <a:lstStyle/>
                    <a:p>
                      <a:r>
                        <a:rPr lang="en-GB" sz="1100" dirty="0" err="1"/>
                        <a:t>Categóricas</a:t>
                      </a:r>
                      <a:endParaRPr lang="en-US" sz="1100" dirty="0"/>
                    </a:p>
                  </a:txBody>
                  <a:tcPr/>
                </a:tc>
                <a:tc>
                  <a:txBody>
                    <a:bodyPr/>
                    <a:lstStyle/>
                    <a:p>
                      <a:r>
                        <a:rPr lang="en-GB" sz="1100" dirty="0" err="1"/>
                        <a:t>Frecuencias</a:t>
                      </a:r>
                      <a:r>
                        <a:rPr lang="en-GB" sz="1100" dirty="0"/>
                        <a:t> </a:t>
                      </a:r>
                      <a:r>
                        <a:rPr lang="en-GB" sz="1100" dirty="0" err="1"/>
                        <a:t>relativas</a:t>
                      </a:r>
                      <a:endParaRPr lang="en-US" sz="1100" dirty="0"/>
                    </a:p>
                  </a:txBody>
                  <a:tcPr/>
                </a:tc>
                <a:tc>
                  <a:txBody>
                    <a:bodyPr/>
                    <a:lstStyle/>
                    <a:p>
                      <a:r>
                        <a:rPr lang="en-GB" sz="1100" dirty="0"/>
                        <a:t>&lt; 5% del total</a:t>
                      </a:r>
                      <a:endParaRPr lang="en-US" sz="1100" dirty="0"/>
                    </a:p>
                  </a:txBody>
                  <a:tcPr/>
                </a:tc>
              </a:tr>
              <a:tr h="306609">
                <a:tc>
                  <a:txBody>
                    <a:bodyPr/>
                    <a:lstStyle/>
                    <a:p>
                      <a:r>
                        <a:rPr lang="en-US" sz="1100" dirty="0"/>
                        <a:t>Multivariante</a:t>
                      </a:r>
                      <a:endParaRPr lang="en-US" sz="1100" dirty="0"/>
                    </a:p>
                  </a:txBody>
                  <a:tcPr/>
                </a:tc>
                <a:tc>
                  <a:txBody>
                    <a:bodyPr/>
                    <a:lstStyle/>
                    <a:p>
                      <a:r>
                        <a:rPr lang="en-US" sz="1100" dirty="0"/>
                        <a:t>Númericas</a:t>
                      </a:r>
                      <a:endParaRPr lang="en-US" sz="1100" dirty="0"/>
                    </a:p>
                  </a:txBody>
                  <a:tcPr/>
                </a:tc>
                <a:tc>
                  <a:txBody>
                    <a:bodyPr/>
                    <a:lstStyle/>
                    <a:p>
                      <a:r>
                        <a:rPr lang="en-GB" sz="1100" dirty="0"/>
                        <a:t>Distancia </a:t>
                      </a:r>
                      <a:r>
                        <a:rPr lang="en-GB" sz="1100" dirty="0" err="1"/>
                        <a:t>Mahalanobis</a:t>
                      </a:r>
                      <a:r>
                        <a:rPr lang="en-GB" sz="1100" dirty="0"/>
                        <a:t> + LOF</a:t>
                      </a:r>
                      <a:endParaRPr lang="en-US" sz="1100" dirty="0"/>
                    </a:p>
                  </a:txBody>
                  <a:tcPr/>
                </a:tc>
                <a:tc>
                  <a:txBody>
                    <a:bodyPr/>
                    <a:lstStyle/>
                    <a:p>
                      <a:r>
                        <a:rPr lang="en-US" sz="1100" dirty="0"/>
                        <a:t>Gràficos </a:t>
                      </a:r>
                      <a:endParaRPr lang="en-US" sz="1100" dirty="0"/>
                    </a:p>
                  </a:txBody>
                  <a:tcPr/>
                </a:tc>
              </a:tr>
            </a:tbl>
          </a:graphicData>
        </a:graphic>
      </p:graphicFrame>
      <p:sp>
        <p:nvSpPr>
          <p:cNvPr id="5" name="Rounded Rectangle 4"/>
          <p:cNvSpPr/>
          <p:nvPr/>
        </p:nvSpPr>
        <p:spPr>
          <a:xfrm>
            <a:off x="1338682" y="838225"/>
            <a:ext cx="2355494" cy="20053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Métodos</a:t>
            </a:r>
            <a:endParaRPr lang="en-US" dirty="0"/>
          </a:p>
        </p:txBody>
      </p:sp>
      <p:pic>
        <p:nvPicPr>
          <p:cNvPr id="8" name="Picture 7" descr="A diagram of a graph&#10;&#10;AI-generated content may be incorrect."/>
          <p:cNvPicPr>
            <a:picLocks noChangeAspect="1"/>
          </p:cNvPicPr>
          <p:nvPr/>
        </p:nvPicPr>
        <p:blipFill>
          <a:blip r:embed="rId1"/>
          <a:stretch>
            <a:fillRect/>
          </a:stretch>
        </p:blipFill>
        <p:spPr>
          <a:xfrm>
            <a:off x="5897580" y="1101572"/>
            <a:ext cx="2895290" cy="1630680"/>
          </a:xfrm>
          <a:prstGeom prst="rect">
            <a:avLst/>
          </a:prstGeom>
        </p:spPr>
      </p:pic>
      <p:graphicFrame>
        <p:nvGraphicFramePr>
          <p:cNvPr id="10" name="Table 9"/>
          <p:cNvGraphicFramePr>
            <a:graphicFrameLocks noGrp="1"/>
          </p:cNvGraphicFramePr>
          <p:nvPr/>
        </p:nvGraphicFramePr>
        <p:xfrm>
          <a:off x="204824" y="2795066"/>
          <a:ext cx="8219176" cy="1220012"/>
        </p:xfrm>
        <a:graphic>
          <a:graphicData uri="http://schemas.openxmlformats.org/drawingml/2006/table">
            <a:tbl>
              <a:tblPr firstRow="1" bandRow="1">
                <a:tableStyleId>{7FD54D1E-A07F-487E-B709-6B33F1453160}</a:tableStyleId>
              </a:tblPr>
              <a:tblGrid>
                <a:gridCol w="2054794"/>
                <a:gridCol w="2054794"/>
                <a:gridCol w="2054794"/>
                <a:gridCol w="2054794"/>
              </a:tblGrid>
              <a:tr h="305003">
                <a:tc>
                  <a:txBody>
                    <a:bodyPr/>
                    <a:lstStyle/>
                    <a:p>
                      <a:r>
                        <a:rPr lang="en-US" dirty="0"/>
                        <a:t>Variable </a:t>
                      </a:r>
                      <a:endParaRPr lang="en-US" dirty="0"/>
                    </a:p>
                  </a:txBody>
                  <a:tcPr/>
                </a:tc>
                <a:tc>
                  <a:txBody>
                    <a:bodyPr/>
                    <a:lstStyle/>
                    <a:p>
                      <a:r>
                        <a:rPr lang="en-US" dirty="0"/>
                        <a:t>Outliers detected</a:t>
                      </a:r>
                      <a:endParaRPr lang="en-US" dirty="0"/>
                    </a:p>
                  </a:txBody>
                  <a:tcPr/>
                </a:tc>
                <a:tc>
                  <a:txBody>
                    <a:bodyPr/>
                    <a:lstStyle/>
                    <a:p>
                      <a:r>
                        <a:rPr lang="en-US" dirty="0"/>
                        <a:t>Ubicación</a:t>
                      </a:r>
                      <a:endParaRPr lang="en-US" dirty="0"/>
                    </a:p>
                  </a:txBody>
                  <a:tcPr/>
                </a:tc>
                <a:tc>
                  <a:txBody>
                    <a:bodyPr/>
                    <a:lstStyle/>
                    <a:p>
                      <a:r>
                        <a:rPr lang="en-US" dirty="0"/>
                        <a:t>Características</a:t>
                      </a:r>
                      <a:endParaRPr lang="en-US" dirty="0"/>
                    </a:p>
                  </a:txBody>
                  <a:tcPr/>
                </a:tc>
              </a:tr>
              <a:tr h="305003">
                <a:tc>
                  <a:txBody>
                    <a:bodyPr/>
                    <a:lstStyle/>
                    <a:p>
                      <a:r>
                        <a:rPr lang="en-US" dirty="0"/>
                        <a:t>Age</a:t>
                      </a:r>
                      <a:endParaRPr lang="en-US" dirty="0"/>
                    </a:p>
                  </a:txBody>
                  <a:tcPr/>
                </a:tc>
                <a:tc>
                  <a:txBody>
                    <a:bodyPr/>
                    <a:lstStyle/>
                    <a:p>
                      <a:endParaRPr lang="en-US" dirty="0"/>
                    </a:p>
                  </a:txBody>
                  <a:tcPr/>
                </a:tc>
                <a:tc>
                  <a:txBody>
                    <a:bodyPr/>
                    <a:lstStyle/>
                    <a:p>
                      <a:r>
                        <a:rPr lang="en-US" dirty="0"/>
                        <a:t>Cola Derecha</a:t>
                      </a:r>
                      <a:endParaRPr lang="en-US" dirty="0"/>
                    </a:p>
                  </a:txBody>
                  <a:tcPr/>
                </a:tc>
                <a:tc>
                  <a:txBody>
                    <a:bodyPr/>
                    <a:lstStyle/>
                    <a:p>
                      <a:r>
                        <a:rPr lang="en-GB" dirty="0"/>
                        <a:t>Valores </a:t>
                      </a:r>
                      <a:r>
                        <a:rPr lang="en-GB" dirty="0" err="1"/>
                        <a:t>extremos</a:t>
                      </a:r>
                      <a:r>
                        <a:rPr lang="en-GB" dirty="0"/>
                        <a:t> altos</a:t>
                      </a:r>
                      <a:endParaRPr lang="en-US" dirty="0"/>
                    </a:p>
                  </a:txBody>
                  <a:tcPr/>
                </a:tc>
              </a:tr>
              <a:tr h="305003">
                <a:tc>
                  <a:txBody>
                    <a:bodyPr/>
                    <a:lstStyle/>
                    <a:p>
                      <a:r>
                        <a:rPr lang="en-US" dirty="0"/>
                        <a:t>Estimated Salary</a:t>
                      </a:r>
                      <a:endParaRPr lang="en-US" dirty="0"/>
                    </a:p>
                  </a:txBody>
                  <a:tcPr/>
                </a:tc>
                <a:tc>
                  <a:txBody>
                    <a:bodyPr/>
                    <a:lstStyle/>
                    <a:p>
                      <a:endParaRPr lang="en-US" dirty="0"/>
                    </a:p>
                  </a:txBody>
                  <a:tcPr/>
                </a:tc>
                <a:tc>
                  <a:txBody>
                    <a:bodyPr/>
                    <a:lstStyle/>
                    <a:p>
                      <a:r>
                        <a:rPr lang="en-US" dirty="0"/>
                        <a:t>Cola Derecha</a:t>
                      </a:r>
                      <a:endParaRPr lang="en-US" dirty="0"/>
                    </a:p>
                  </a:txBody>
                  <a:tcPr/>
                </a:tc>
                <a:tc>
                  <a:txBody>
                    <a:bodyPr/>
                    <a:lstStyle/>
                    <a:p>
                      <a:r>
                        <a:rPr lang="en-GB" dirty="0" err="1"/>
                        <a:t>Salarios</a:t>
                      </a:r>
                      <a:r>
                        <a:rPr lang="en-GB" dirty="0"/>
                        <a:t> </a:t>
                      </a:r>
                      <a:r>
                        <a:rPr lang="en-GB" dirty="0" err="1"/>
                        <a:t>muy</a:t>
                      </a:r>
                      <a:r>
                        <a:rPr lang="en-GB" dirty="0"/>
                        <a:t> </a:t>
                      </a:r>
                      <a:r>
                        <a:rPr lang="en-GB" dirty="0" err="1"/>
                        <a:t>elevados</a:t>
                      </a:r>
                      <a:endParaRPr lang="en-US" dirty="0"/>
                    </a:p>
                  </a:txBody>
                  <a:tcPr/>
                </a:tc>
              </a:tr>
              <a:tr h="305003">
                <a:tc>
                  <a:txBody>
                    <a:bodyPr/>
                    <a:lstStyle/>
                    <a:p>
                      <a:r>
                        <a:rPr lang="en-US" dirty="0"/>
                        <a:t>Balance</a:t>
                      </a:r>
                      <a:endParaRPr lang="en-US" dirty="0"/>
                    </a:p>
                  </a:txBody>
                  <a:tcPr/>
                </a:tc>
                <a:tc>
                  <a:txBody>
                    <a:bodyPr/>
                    <a:lstStyle/>
                    <a:p>
                      <a:endParaRPr lang="en-US" dirty="0"/>
                    </a:p>
                  </a:txBody>
                  <a:tcPr/>
                </a:tc>
                <a:tc>
                  <a:txBody>
                    <a:bodyPr/>
                    <a:lstStyle/>
                    <a:p>
                      <a:r>
                        <a:rPr lang="en-US" dirty="0"/>
                        <a:t>Cola Derecha</a:t>
                      </a:r>
                      <a:endParaRPr lang="en-US" dirty="0"/>
                    </a:p>
                  </a:txBody>
                  <a:tcPr/>
                </a:tc>
                <a:tc>
                  <a:txBody>
                    <a:bodyPr/>
                    <a:lstStyle/>
                    <a:p>
                      <a:r>
                        <a:rPr lang="en-GB" dirty="0"/>
                        <a:t>Balances </a:t>
                      </a:r>
                      <a:r>
                        <a:rPr lang="en-GB" dirty="0" err="1"/>
                        <a:t>superiores</a:t>
                      </a:r>
                      <a:endParaRPr lang="en-US" dirty="0"/>
                    </a:p>
                  </a:txBody>
                  <a:tcPr/>
                </a:tc>
              </a:tr>
            </a:tbl>
          </a:graphicData>
        </a:graphic>
      </p:graphicFrame>
      <p:pic>
        <p:nvPicPr>
          <p:cNvPr id="12" name="Graphic 11" descr="Tick with solid fill"/>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724912" y="3031540"/>
            <a:ext cx="373532" cy="373532"/>
          </a:xfrm>
          <a:prstGeom prst="rect">
            <a:avLst/>
          </a:prstGeom>
        </p:spPr>
      </p:pic>
      <p:pic>
        <p:nvPicPr>
          <p:cNvPr id="13" name="Graphic 12" descr="Tick with solid fill"/>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724912" y="3377413"/>
            <a:ext cx="373532" cy="373532"/>
          </a:xfrm>
          <a:prstGeom prst="rect">
            <a:avLst/>
          </a:prstGeom>
        </p:spPr>
      </p:pic>
      <p:pic>
        <p:nvPicPr>
          <p:cNvPr id="14" name="Graphic 13" descr="Tick with solid fill"/>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801112" y="3742158"/>
            <a:ext cx="221132" cy="2817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p:cNvSpPr txBox="1"/>
          <p:nvPr/>
        </p:nvSpPr>
        <p:spPr>
          <a:xfrm>
            <a:off x="349607" y="1114861"/>
            <a:ext cx="3948057" cy="1600438"/>
          </a:xfrm>
          <a:prstGeom prst="rect">
            <a:avLst/>
          </a:prstGeom>
          <a:noFill/>
        </p:spPr>
        <p:txBody>
          <a:bodyPr wrap="square" rtlCol="0">
            <a:spAutoFit/>
          </a:bodyPr>
          <a:lstStyle/>
          <a:p>
            <a:pPr algn="just"/>
            <a:r>
              <a:rPr lang="es-ES" b="1" dirty="0" err="1"/>
              <a:t>ComplaintsCount</a:t>
            </a:r>
            <a:endParaRPr lang="es-ES" b="1" dirty="0"/>
          </a:p>
          <a:p>
            <a:pPr lvl="0" eaLnBrk="0" fontAlgn="base" hangingPunct="0">
              <a:spcBef>
                <a:spcPct val="0"/>
              </a:spcBef>
              <a:spcAft>
                <a:spcPct val="0"/>
              </a:spcAft>
              <a:buClrTx/>
              <a:buFontTx/>
              <a:buChar char="•"/>
            </a:pPr>
            <a:r>
              <a:rPr lang="en-US" altLang="en-US" dirty="0">
                <a:solidFill>
                  <a:schemeClr val="tx1"/>
                </a:solidFill>
                <a:latin typeface="Arial" panose="020B0604020202020204" pitchFamily="34" charset="0"/>
              </a:rPr>
              <a:t>Se decidió </a:t>
            </a:r>
            <a:r>
              <a:rPr lang="en-US" altLang="en-US" b="1" dirty="0">
                <a:solidFill>
                  <a:schemeClr val="tx1"/>
                </a:solidFill>
                <a:latin typeface="Arial" panose="020B0604020202020204" pitchFamily="34" charset="0"/>
              </a:rPr>
              <a:t>dummyficar la variable</a:t>
            </a:r>
            <a:endParaRPr lang="en-US" altLang="en-US" b="1" dirty="0">
              <a:solidFill>
                <a:schemeClr val="tx1"/>
              </a:solidFill>
              <a:latin typeface="Arial" panose="020B0604020202020204" pitchFamily="34" charset="0"/>
            </a:endParaRPr>
          </a:p>
          <a:p>
            <a:pPr lvl="0" eaLnBrk="0" fontAlgn="base" hangingPunct="0">
              <a:spcBef>
                <a:spcPct val="0"/>
              </a:spcBef>
              <a:spcAft>
                <a:spcPct val="0"/>
              </a:spcAft>
              <a:buClrTx/>
              <a:buFontTx/>
              <a:buChar char="•"/>
            </a:pPr>
            <a:r>
              <a:rPr lang="en-US" altLang="en-US" dirty="0">
                <a:solidFill>
                  <a:schemeClr val="tx1"/>
                </a:solidFill>
                <a:latin typeface="Arial" panose="020B0604020202020204" pitchFamily="34" charset="0"/>
              </a:rPr>
              <a:t>. La información se simplifica para indicar </a:t>
            </a:r>
            <a:endParaRPr lang="en-US" altLang="en-US" dirty="0">
              <a:solidFill>
                <a:schemeClr val="tx1"/>
              </a:solidFill>
              <a:latin typeface="Arial" panose="020B0604020202020204" pitchFamily="34" charset="0"/>
            </a:endParaRPr>
          </a:p>
          <a:p>
            <a:pPr lvl="0" eaLnBrk="0" fontAlgn="base" hangingPunct="0">
              <a:spcBef>
                <a:spcPct val="0"/>
              </a:spcBef>
              <a:spcAft>
                <a:spcPct val="0"/>
              </a:spcAft>
              <a:buClrTx/>
            </a:pPr>
            <a:r>
              <a:rPr lang="en-US" altLang="en-US" b="1" dirty="0">
                <a:solidFill>
                  <a:schemeClr val="tx1"/>
                </a:solidFill>
                <a:latin typeface="Arial" panose="020B0604020202020204" pitchFamily="34" charset="0"/>
              </a:rPr>
              <a:t>si el cliente ha emitido alguna queja o no</a:t>
            </a:r>
            <a:endParaRPr lang="en-US" altLang="en-US" b="1" dirty="0">
              <a:solidFill>
                <a:schemeClr val="tx1"/>
              </a:solidFill>
              <a:latin typeface="Arial" panose="020B0604020202020204" pitchFamily="34" charset="0"/>
            </a:endParaRPr>
          </a:p>
          <a:p>
            <a:pPr marL="285750" lvl="0" indent="-285750" eaLnBrk="0" fontAlgn="base" hangingPunct="0">
              <a:spcBef>
                <a:spcPct val="0"/>
              </a:spcBef>
              <a:spcAft>
                <a:spcPct val="0"/>
              </a:spcAft>
              <a:buClrTx/>
              <a:buFont typeface="Arial" panose="020B0604020202020204" pitchFamily="34" charset="0"/>
              <a:buChar char="•"/>
            </a:pPr>
            <a:r>
              <a:rPr lang="en-US" altLang="en-US" dirty="0">
                <a:solidFill>
                  <a:schemeClr val="tx1"/>
                </a:solidFill>
                <a:latin typeface="Arial" panose="020B0604020202020204" pitchFamily="34" charset="0"/>
              </a:rPr>
              <a:t>Variable: Númerica            Factor binario</a:t>
            </a:r>
            <a:endParaRPr lang="en-US" altLang="en-US" dirty="0">
              <a:solidFill>
                <a:schemeClr val="tx1"/>
              </a:solidFill>
              <a:latin typeface="Arial" panose="020B0604020202020204" pitchFamily="34" charset="0"/>
            </a:endParaRPr>
          </a:p>
          <a:p>
            <a:pPr lvl="0" eaLnBrk="0" fontAlgn="base" hangingPunct="0">
              <a:spcBef>
                <a:spcPct val="0"/>
              </a:spcBef>
              <a:spcAft>
                <a:spcPct val="0"/>
              </a:spcAft>
              <a:buClrTx/>
            </a:pPr>
            <a:endParaRPr lang="es-ES" b="1" dirty="0"/>
          </a:p>
          <a:p>
            <a:pPr marL="285750" indent="-285750" algn="just">
              <a:buFont typeface="Arial" panose="020B0604020202020204" pitchFamily="34" charset="0"/>
              <a:buChar char="•"/>
            </a:pPr>
            <a:endParaRPr lang="es-ES" b="1" dirty="0"/>
          </a:p>
        </p:txBody>
      </p:sp>
      <p:pic>
        <p:nvPicPr>
          <p:cNvPr id="6" name="Imagen 5"/>
          <p:cNvPicPr>
            <a:picLocks noChangeAspect="1"/>
          </p:cNvPicPr>
          <p:nvPr/>
        </p:nvPicPr>
        <p:blipFill>
          <a:blip r:embed="rId1"/>
          <a:stretch>
            <a:fillRect/>
          </a:stretch>
        </p:blipFill>
        <p:spPr>
          <a:xfrm>
            <a:off x="164468" y="2467226"/>
            <a:ext cx="1794612" cy="2110462"/>
          </a:xfrm>
          <a:prstGeom prst="rect">
            <a:avLst/>
          </a:prstGeom>
        </p:spPr>
      </p:pic>
      <p:pic>
        <p:nvPicPr>
          <p:cNvPr id="8" name="Imagen 7"/>
          <p:cNvPicPr>
            <a:picLocks noChangeAspect="1"/>
          </p:cNvPicPr>
          <p:nvPr/>
        </p:nvPicPr>
        <p:blipFill>
          <a:blip r:embed="rId2"/>
          <a:stretch>
            <a:fillRect/>
          </a:stretch>
        </p:blipFill>
        <p:spPr>
          <a:xfrm>
            <a:off x="2615049" y="2364902"/>
            <a:ext cx="1776956" cy="2315110"/>
          </a:xfrm>
          <a:prstGeom prst="rect">
            <a:avLst/>
          </a:prstGeom>
        </p:spPr>
      </p:pic>
      <p:sp>
        <p:nvSpPr>
          <p:cNvPr id="9" name="Flecha: a la derecha 8"/>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marL="285750" indent="-285750" algn="just">
              <a:buFont typeface="Arial" panose="020B0604020202020204" pitchFamily="34" charset="0"/>
              <a:buChar char="•"/>
            </a:pPr>
            <a:r>
              <a:rPr lang="es-ES" dirty="0" err="1"/>
              <a:t>Mayoria</a:t>
            </a:r>
            <a:r>
              <a:rPr lang="es-ES" dirty="0"/>
              <a:t> de clientes tienes </a:t>
            </a:r>
            <a:r>
              <a:rPr lang="es-ES" b="1" dirty="0"/>
              <a:t>1 | 2 productos </a:t>
            </a:r>
            <a:endParaRPr lang="es-ES" b="1" dirty="0"/>
          </a:p>
          <a:p>
            <a:pPr marL="285750" indent="-285750" algn="just">
              <a:buFont typeface="Arial" panose="020B0604020202020204" pitchFamily="34" charset="0"/>
              <a:buChar char="•"/>
            </a:pPr>
            <a:r>
              <a:rPr lang="es-ES" b="1" dirty="0" err="1"/>
              <a:t>Minoria</a:t>
            </a:r>
            <a:r>
              <a:rPr lang="es-ES" b="1" dirty="0"/>
              <a:t>         </a:t>
            </a:r>
            <a:r>
              <a:rPr lang="es-ES" dirty="0"/>
              <a:t>3 o más productos</a:t>
            </a:r>
            <a:endParaRPr lang="es-ES" dirty="0"/>
          </a:p>
          <a:p>
            <a:pPr marL="285750" indent="-285750" algn="just">
              <a:buFont typeface="Arial" panose="020B0604020202020204" pitchFamily="34" charset="0"/>
              <a:buChar char="•"/>
            </a:pPr>
            <a:r>
              <a:rPr lang="es-ES" dirty="0"/>
              <a:t>Categorización de la variable (1, 2, +3 productos)</a:t>
            </a:r>
            <a:endParaRPr lang="es-ES" dirty="0"/>
          </a:p>
        </p:txBody>
      </p:sp>
      <p:sp>
        <p:nvSpPr>
          <p:cNvPr id="11" name="Elipse 10"/>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p:cNvPicPr>
            <a:picLocks noChangeAspect="1"/>
          </p:cNvPicPr>
          <p:nvPr/>
        </p:nvPicPr>
        <p:blipFill>
          <a:blip r:embed="rId3"/>
          <a:stretch>
            <a:fillRect/>
          </a:stretch>
        </p:blipFill>
        <p:spPr>
          <a:xfrm>
            <a:off x="7052376" y="2182859"/>
            <a:ext cx="2022543" cy="2315110"/>
          </a:xfrm>
          <a:prstGeom prst="rect">
            <a:avLst/>
          </a:prstGeom>
        </p:spPr>
      </p:pic>
      <p:pic>
        <p:nvPicPr>
          <p:cNvPr id="15" name="Imagen 14"/>
          <p:cNvPicPr>
            <a:picLocks noChangeAspect="1"/>
          </p:cNvPicPr>
          <p:nvPr/>
        </p:nvPicPr>
        <p:blipFill>
          <a:blip r:embed="rId4"/>
          <a:stretch>
            <a:fillRect/>
          </a:stretch>
        </p:blipFill>
        <p:spPr>
          <a:xfrm>
            <a:off x="4799666" y="2256490"/>
            <a:ext cx="1878076" cy="2280143"/>
          </a:xfrm>
          <a:prstGeom prst="rect">
            <a:avLst/>
          </a:prstGeom>
        </p:spPr>
      </p:pic>
      <p:sp>
        <p:nvSpPr>
          <p:cNvPr id="16" name="Flecha: a la derecha 15"/>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2" name="Straight Arrow Connector 11"/>
          <p:cNvCxnSpPr/>
          <p:nvPr/>
        </p:nvCxnSpPr>
        <p:spPr>
          <a:xfrm>
            <a:off x="2314507" y="2182859"/>
            <a:ext cx="49342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6117579" y="1658867"/>
            <a:ext cx="3236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2" name="Google Shape;633;p34"/>
          <p:cNvSpPr txBox="1">
            <a:spLocks noGrp="1"/>
          </p:cNvSpPr>
          <p:nvPr>
            <p:ph type="title"/>
          </p:nvPr>
        </p:nvSpPr>
        <p:spPr>
          <a:xfrm>
            <a:off x="720725" y="428526"/>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p:cNvSpPr txBox="1"/>
          <p:nvPr/>
        </p:nvSpPr>
        <p:spPr>
          <a:xfrm>
            <a:off x="2117102" y="1253058"/>
            <a:ext cx="7702550" cy="1384995"/>
          </a:xfrm>
          <a:prstGeom prst="rect">
            <a:avLst/>
          </a:prstGeom>
          <a:noFill/>
        </p:spPr>
        <p:txBody>
          <a:bodyPr wrap="square" rtlCol="0">
            <a:spAutoFit/>
          </a:bodyPr>
          <a:lstStyle/>
          <a:p>
            <a:endParaRPr lang="es-ES" sz="1200" dirty="0"/>
          </a:p>
          <a:p>
            <a:endParaRPr lang="es-ES" sz="1200" dirty="0"/>
          </a:p>
          <a:p>
            <a:pPr marL="171450" indent="-171450">
              <a:buFont typeface="Arial" panose="020B0604020202020204" pitchFamily="34" charset="0"/>
              <a:buChar char="•"/>
            </a:pPr>
            <a:r>
              <a:rPr lang="es-ES" sz="1200" dirty="0"/>
              <a:t>Variables numéricas: Test de mediana</a:t>
            </a:r>
            <a:endParaRPr lang="es-ES" sz="1200" dirty="0"/>
          </a:p>
          <a:p>
            <a:pPr marL="171450" indent="-171450">
              <a:buFont typeface="Arial" panose="020B0604020202020204" pitchFamily="34" charset="0"/>
              <a:buChar char="•"/>
            </a:pPr>
            <a:r>
              <a:rPr lang="es-ES" sz="1200" dirty="0"/>
              <a:t>Variables categóricas: Test de Chi-cuadrado</a:t>
            </a:r>
            <a:endParaRPr lang="es-ES" sz="1200" dirty="0"/>
          </a:p>
          <a:p>
            <a:endParaRPr lang="es-ES" sz="1200" dirty="0"/>
          </a:p>
          <a:p>
            <a:r>
              <a:rPr lang="es-ES" sz="1200" dirty="0"/>
              <a:t>Las variables con un p-valor inferior a 0.05 han sido las siguientes:</a:t>
            </a:r>
            <a:endParaRPr lang="es-ES" sz="1200" dirty="0"/>
          </a:p>
          <a:p>
            <a:endParaRPr lang="es-ES" sz="1200" dirty="0"/>
          </a:p>
        </p:txBody>
      </p:sp>
      <p:pic>
        <p:nvPicPr>
          <p:cNvPr id="7" name="Imagen 6"/>
          <p:cNvPicPr>
            <a:picLocks noChangeAspect="1"/>
          </p:cNvPicPr>
          <p:nvPr/>
        </p:nvPicPr>
        <p:blipFill>
          <a:blip r:embed="rId1"/>
          <a:stretch>
            <a:fillRect/>
          </a:stretch>
        </p:blipFill>
        <p:spPr>
          <a:xfrm>
            <a:off x="2119997" y="2510828"/>
            <a:ext cx="4594061" cy="1418710"/>
          </a:xfrm>
          <a:prstGeom prst="rect">
            <a:avLst/>
          </a:prstGeom>
        </p:spPr>
      </p:pic>
      <p:sp>
        <p:nvSpPr>
          <p:cNvPr id="8" name="CuadroTexto 7"/>
          <p:cNvSpPr txBox="1"/>
          <p:nvPr/>
        </p:nvSpPr>
        <p:spPr>
          <a:xfrm>
            <a:off x="408790" y="4046018"/>
            <a:ext cx="8178017" cy="461665"/>
          </a:xfrm>
          <a:prstGeom prst="rect">
            <a:avLst/>
          </a:prstGeom>
          <a:noFill/>
        </p:spPr>
        <p:txBody>
          <a:bodyPr wrap="square" rtlCol="0">
            <a:spAutoFit/>
          </a:bodyPr>
          <a:lstStyle/>
          <a:p>
            <a:pPr marL="171450" indent="-171450">
              <a:buFont typeface="Arial" panose="020B0604020202020204" pitchFamily="34" charset="0"/>
              <a:buChar char="•"/>
              <a:defRPr sz="1600">
                <a:latin typeface="Arial" panose="020B0604020202020204"/>
              </a:defRPr>
            </a:pPr>
            <a:r>
              <a:rPr lang="en-GB" sz="1200" dirty="0"/>
              <a:t>Las variables </a:t>
            </a:r>
            <a:r>
              <a:rPr lang="en-GB" sz="1200" b="1" dirty="0" err="1"/>
              <a:t>EstimatedSalary</a:t>
            </a:r>
            <a:r>
              <a:rPr lang="en-GB" sz="1200" b="1" dirty="0"/>
              <a:t> y </a:t>
            </a:r>
            <a:r>
              <a:rPr lang="en-GB" sz="1200" b="1" dirty="0" err="1"/>
              <a:t>CreditScore</a:t>
            </a:r>
            <a:r>
              <a:rPr lang="en-GB" sz="1200" b="1" dirty="0"/>
              <a:t>         </a:t>
            </a:r>
            <a:r>
              <a:rPr lang="en-GB" sz="1200" dirty="0"/>
              <a:t>p-</a:t>
            </a:r>
            <a:r>
              <a:rPr lang="en-GB" sz="1200" dirty="0" err="1"/>
              <a:t>valores</a:t>
            </a:r>
            <a:r>
              <a:rPr lang="en-GB" sz="1200" dirty="0"/>
              <a:t> </a:t>
            </a:r>
            <a:r>
              <a:rPr lang="en-GB" sz="1200" dirty="0" err="1"/>
              <a:t>cercanos</a:t>
            </a:r>
            <a:r>
              <a:rPr lang="en-GB" sz="1200" dirty="0"/>
              <a:t> a 0.05 antes de la </a:t>
            </a:r>
            <a:r>
              <a:rPr lang="en-GB" sz="1200" dirty="0" err="1"/>
              <a:t>imputación</a:t>
            </a:r>
            <a:r>
              <a:rPr lang="en-GB" sz="1200" dirty="0"/>
              <a:t> de NA.</a:t>
            </a:r>
            <a:endParaRPr lang="en-GB" sz="1200" dirty="0"/>
          </a:p>
          <a:p>
            <a:pPr marL="171450" indent="-171450">
              <a:buFont typeface="Arial" panose="020B0604020202020204" pitchFamily="34" charset="0"/>
              <a:buChar char="•"/>
              <a:defRPr sz="1600">
                <a:latin typeface="Arial" panose="020B0604020202020204"/>
              </a:defRPr>
            </a:pPr>
            <a:r>
              <a:rPr lang="en-GB" sz="1200" dirty="0"/>
              <a:t>Se </a:t>
            </a:r>
            <a:r>
              <a:rPr lang="en-GB" sz="1200" dirty="0" err="1"/>
              <a:t>probará</a:t>
            </a:r>
            <a:r>
              <a:rPr lang="en-GB" sz="1200" dirty="0"/>
              <a:t> </a:t>
            </a:r>
            <a:r>
              <a:rPr lang="en-GB" sz="1200" dirty="0" err="1"/>
              <a:t>el</a:t>
            </a:r>
            <a:r>
              <a:rPr lang="en-GB" sz="1200" dirty="0"/>
              <a:t> </a:t>
            </a:r>
            <a:r>
              <a:rPr lang="en-GB" sz="1200" dirty="0" err="1"/>
              <a:t>modelo</a:t>
            </a:r>
            <a:r>
              <a:rPr lang="en-GB" sz="1200" dirty="0"/>
              <a:t> con y sin </a:t>
            </a:r>
            <a:r>
              <a:rPr lang="en-GB" sz="1200" dirty="0" err="1"/>
              <a:t>estas</a:t>
            </a:r>
            <a:r>
              <a:rPr lang="en-GB" sz="1200" dirty="0"/>
              <a:t> dos variables para </a:t>
            </a:r>
            <a:r>
              <a:rPr lang="en-GB" sz="1200" dirty="0" err="1"/>
              <a:t>verificar</a:t>
            </a:r>
            <a:r>
              <a:rPr lang="en-GB" sz="1200" dirty="0"/>
              <a:t> </a:t>
            </a:r>
            <a:r>
              <a:rPr lang="en-GB" sz="1200" b="1" dirty="0" err="1"/>
              <a:t>diferencias</a:t>
            </a:r>
            <a:r>
              <a:rPr lang="en-GB" sz="1200" b="1" dirty="0"/>
              <a:t> </a:t>
            </a:r>
            <a:r>
              <a:rPr lang="en-GB" sz="1200" b="1" dirty="0" err="1"/>
              <a:t>en</a:t>
            </a:r>
            <a:r>
              <a:rPr lang="en-GB" sz="1200" b="1" dirty="0"/>
              <a:t> </a:t>
            </a:r>
            <a:r>
              <a:rPr lang="en-GB" sz="1200" b="1" dirty="0" err="1"/>
              <a:t>los</a:t>
            </a:r>
            <a:r>
              <a:rPr lang="en-GB" sz="1200" b="1" dirty="0"/>
              <a:t> </a:t>
            </a:r>
            <a:r>
              <a:rPr lang="en-GB" sz="1200" b="1" dirty="0" err="1"/>
              <a:t>resultados</a:t>
            </a:r>
            <a:r>
              <a:rPr lang="en-GB" sz="1200" b="1" dirty="0"/>
              <a:t>.</a:t>
            </a:r>
            <a:endParaRPr lang="en-GB" sz="1200" b="1" dirty="0"/>
          </a:p>
        </p:txBody>
      </p:sp>
      <p:sp>
        <p:nvSpPr>
          <p:cNvPr id="4" name="Rounded Rectangle 3"/>
          <p:cNvSpPr/>
          <p:nvPr/>
        </p:nvSpPr>
        <p:spPr>
          <a:xfrm>
            <a:off x="817297" y="964666"/>
            <a:ext cx="7025864" cy="4334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sz="1100" dirty="0"/>
              <a:t>Sobre la base de datos imputada y transformada se realizaron </a:t>
            </a:r>
            <a:r>
              <a:rPr lang="es-ES" sz="1100" dirty="0" err="1"/>
              <a:t>tests</a:t>
            </a:r>
            <a:r>
              <a:rPr lang="es-ES" sz="1100" dirty="0"/>
              <a:t> de significancia para determinar qué variables son importantes para describir el comportamiento de la variable </a:t>
            </a:r>
            <a:r>
              <a:rPr lang="es-ES" sz="1100" dirty="0" err="1"/>
              <a:t>Exited</a:t>
            </a:r>
            <a:endParaRPr lang="en-US" sz="1100" dirty="0"/>
          </a:p>
        </p:txBody>
      </p:sp>
      <p:cxnSp>
        <p:nvCxnSpPr>
          <p:cNvPr id="6" name="Straight Arrow Connector 5"/>
          <p:cNvCxnSpPr/>
          <p:nvPr/>
        </p:nvCxnSpPr>
        <p:spPr>
          <a:xfrm>
            <a:off x="3876085" y="4046018"/>
            <a:ext cx="21039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endParaRPr lang="es-ES" b="1" dirty="0"/>
          </a:p>
          <a:p>
            <a:pPr marL="285750" indent="-285750">
              <a:buFontTx/>
              <a:buChar char="-"/>
            </a:pPr>
            <a:r>
              <a:rPr lang="es-ES" dirty="0"/>
              <a:t>Se categorizó las variables numéricas aplicando cortes lógicos ajustados a cada variable.</a:t>
            </a:r>
            <a:endParaRPr lang="es-ES" dirty="0"/>
          </a:p>
          <a:p>
            <a:pPr marL="285750" indent="-285750">
              <a:buFontTx/>
              <a:buChar char="-"/>
            </a:pPr>
            <a:r>
              <a:rPr lang="es-ES" dirty="0"/>
              <a:t>Se trabajó únicamente con los datos Train debido a los NA para </a:t>
            </a:r>
            <a:r>
              <a:rPr lang="es-ES" dirty="0" err="1"/>
              <a:t>Exited</a:t>
            </a:r>
            <a:r>
              <a:rPr lang="es-ES" dirty="0"/>
              <a:t> en los datos test.</a:t>
            </a:r>
            <a:endParaRPr lang="es-ES" dirty="0"/>
          </a:p>
          <a:p>
            <a:pPr marL="285750" indent="-285750">
              <a:buFontTx/>
              <a:buChar char="-"/>
            </a:pPr>
            <a:r>
              <a:rPr lang="es-ES" dirty="0"/>
              <a:t>La base de datos transaccional se compuso de 7000 filas y 73 ítems.</a:t>
            </a:r>
            <a:endParaRPr lang="es-ES" dirty="0"/>
          </a:p>
          <a:p>
            <a:pPr marL="285750" indent="-285750">
              <a:buFontTx/>
              <a:buChar char="-"/>
            </a:pPr>
            <a:endParaRPr lang="es-ES" dirty="0"/>
          </a:p>
          <a:p>
            <a:r>
              <a:rPr lang="es-ES" b="1" dirty="0"/>
              <a:t>Sobre la parametrización</a:t>
            </a:r>
            <a:endParaRPr lang="es-ES" b="1" dirty="0"/>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endParaRPr lang="es-ES" dirty="0"/>
          </a:p>
          <a:p>
            <a:endParaRPr lang="es-ES" dirty="0"/>
          </a:p>
          <a:p>
            <a:pPr algn="just"/>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pPr algn="just"/>
            <a:endParaRPr lang="es-ES" dirty="0"/>
          </a:p>
          <a:p>
            <a:pPr algn="just"/>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endParaRPr lang="es-E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p:cNvGrpSpPr/>
          <p:nvPr/>
        </p:nvGrpSpPr>
        <p:grpSpPr>
          <a:xfrm>
            <a:off x="1263704" y="2892821"/>
            <a:ext cx="362991" cy="290018"/>
            <a:chOff x="3049653" y="2321468"/>
            <a:chExt cx="362991" cy="290018"/>
          </a:xfrm>
        </p:grpSpPr>
        <p:sp>
          <p:nvSpPr>
            <p:cNvPr id="617" name="Google Shape;895;p25"/>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8" name="Google Shape;896;p25"/>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9" name="Google Shape;897;p25"/>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0" name="Google Shape;898;p25"/>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628" name="Imagen 627"/>
          <p:cNvPicPr>
            <a:picLocks noChangeAspect="1"/>
          </p:cNvPicPr>
          <p:nvPr/>
        </p:nvPicPr>
        <p:blipFill>
          <a:blip r:embed="rId1"/>
          <a:stretch>
            <a:fillRect/>
          </a:stretch>
        </p:blipFill>
        <p:spPr>
          <a:xfrm>
            <a:off x="221950" y="970344"/>
            <a:ext cx="3952017" cy="2329037"/>
          </a:xfrm>
          <a:prstGeom prst="rect">
            <a:avLst/>
          </a:prstGeom>
        </p:spPr>
      </p:pic>
      <p:sp>
        <p:nvSpPr>
          <p:cNvPr id="59" name="Google Shape;849;p25"/>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p:cNvSpPr/>
          <p:nvPr/>
        </p:nvSpPr>
        <p:spPr>
          <a:xfrm>
            <a:off x="147827" y="741395"/>
            <a:ext cx="4026138"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 (el cliente se queda)</a:t>
            </a:r>
            <a:endParaRPr dirty="0">
              <a:latin typeface="Arial Rounded MT Bold" panose="020F0704030504030204" pitchFamily="34" charset="0"/>
            </a:endParaRPr>
          </a:p>
        </p:txBody>
      </p:sp>
      <p:pic>
        <p:nvPicPr>
          <p:cNvPr id="630" name="Imagen 629"/>
          <p:cNvPicPr>
            <a:picLocks noChangeAspect="1"/>
          </p:cNvPicPr>
          <p:nvPr/>
        </p:nvPicPr>
        <p:blipFill>
          <a:blip r:embed="rId2"/>
          <a:stretch>
            <a:fillRect/>
          </a:stretch>
        </p:blipFill>
        <p:spPr>
          <a:xfrm>
            <a:off x="4649663" y="1051342"/>
            <a:ext cx="4101022" cy="2248039"/>
          </a:xfrm>
          <a:prstGeom prst="rect">
            <a:avLst/>
          </a:prstGeom>
        </p:spPr>
      </p:pic>
      <p:sp>
        <p:nvSpPr>
          <p:cNvPr id="631" name="CuadroTexto 630"/>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endParaRPr lang="es-ES" sz="1100" dirty="0"/>
          </a:p>
        </p:txBody>
      </p:sp>
      <p:sp>
        <p:nvSpPr>
          <p:cNvPr id="632" name="CuadroTexto 631"/>
          <p:cNvSpPr txBox="1"/>
          <p:nvPr/>
        </p:nvSpPr>
        <p:spPr>
          <a:xfrm>
            <a:off x="4649663" y="3336128"/>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endParaRPr lang="es-ES" sz="1100" dirty="0"/>
          </a:p>
          <a:p>
            <a:pPr algn="just"/>
            <a:endParaRPr lang="es-ES" sz="1100" dirty="0"/>
          </a:p>
          <a:p>
            <a:pPr algn="just"/>
            <a:r>
              <a:rPr lang="es-ES" sz="1100" dirty="0"/>
              <a:t>Preocupante segmento de edad 46-55 años en mujeres y nacionalidad alemana.</a:t>
            </a:r>
            <a:endParaRPr lang="es-ES" sz="1100" dirty="0"/>
          </a:p>
          <a:p>
            <a:pPr algn="just"/>
            <a:r>
              <a:rPr lang="es-ES" sz="1100" dirty="0"/>
              <a:t>Revisar las condiciones que ofrece el banco a clientes con 3 productos o más.</a:t>
            </a:r>
            <a:endParaRPr lang="es-ES" sz="1100" dirty="0"/>
          </a:p>
        </p:txBody>
      </p:sp>
      <p:sp>
        <p:nvSpPr>
          <p:cNvPr id="583" name="Google Shape;861;p25"/>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7" name="Google Shape;865;p25"/>
          <p:cNvSpPr/>
          <p:nvPr/>
        </p:nvSpPr>
        <p:spPr>
          <a:xfrm>
            <a:off x="4582757" y="730815"/>
            <a:ext cx="3774337"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 (el cliente se va)</a:t>
            </a:r>
            <a:endParaRPr lang="es-ES" dirty="0">
              <a:latin typeface="Arial Rounded MT Bold" panose="020F0704030504030204" pitchFamily="34" charset="0"/>
            </a:endParaRPr>
          </a:p>
        </p:txBody>
      </p:sp>
      <p:sp>
        <p:nvSpPr>
          <p:cNvPr id="634" name="CuadroTexto 633"/>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solidFill>
                  <a:schemeClr val="tx1"/>
                </a:solidFill>
              </a:rPr>
              <a:t>Variables declaradas previamente como significativas concuerdan con las que aparecen en las reglas más informativas: </a:t>
            </a:r>
            <a:r>
              <a:rPr lang="es-ES" sz="1200" b="1" i="1" u="sng" dirty="0">
                <a:solidFill>
                  <a:schemeClr val="tx1"/>
                </a:solidFill>
              </a:rPr>
              <a:t>Validación de la significancia</a:t>
            </a:r>
            <a:endParaRPr lang="es-ES" sz="1200" b="1" i="1" u="sng" dirty="0">
              <a:solidFill>
                <a:schemeClr val="tx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673945" y="285499"/>
            <a:ext cx="7704000" cy="572700"/>
          </a:xfrm>
          <a:prstGeom prst="rect">
            <a:avLst/>
          </a:prstGeom>
        </p:spPr>
        <p:txBody>
          <a:bodyPr spcFirstLastPara="1" wrap="square" lIns="91425" tIns="91425" rIns="91425" bIns="91425" anchor="t" anchorCtr="0">
            <a:noAutofit/>
          </a:bodyPr>
          <a:lstStyle/>
          <a:p>
            <a:pPr lvl="0"/>
            <a:r>
              <a:rPr lang="es-ES" dirty="0"/>
              <a:t>PREPARACIÓN PARA EL MODELADO</a:t>
            </a:r>
            <a:endParaRPr dirty="0"/>
          </a:p>
        </p:txBody>
      </p:sp>
      <p:pic>
        <p:nvPicPr>
          <p:cNvPr id="1026" name="Picture 2" descr="Handling Imbalanced Dataset In Machine Learning. | by Shivam Chhetry |  Medium"/>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60448" y="1073150"/>
            <a:ext cx="2318042" cy="11557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p:cNvSpPr txBox="1"/>
          <p:nvPr/>
        </p:nvSpPr>
        <p:spPr>
          <a:xfrm>
            <a:off x="559833" y="748484"/>
            <a:ext cx="2064989" cy="307777"/>
          </a:xfrm>
          <a:prstGeom prst="rect">
            <a:avLst/>
          </a:prstGeom>
          <a:noFill/>
        </p:spPr>
        <p:txBody>
          <a:bodyPr wrap="none" rtlCol="0">
            <a:spAutoFit/>
          </a:bodyPr>
          <a:lstStyle/>
          <a:p>
            <a:r>
              <a:rPr lang="en-US" dirty="0"/>
              <a:t>Dataset desbalanceado</a:t>
            </a:r>
            <a:endParaRPr lang="en-US" dirty="0"/>
          </a:p>
        </p:txBody>
      </p:sp>
      <p:sp>
        <p:nvSpPr>
          <p:cNvPr id="5" name="TextBox 4"/>
          <p:cNvSpPr txBox="1"/>
          <p:nvPr/>
        </p:nvSpPr>
        <p:spPr>
          <a:xfrm>
            <a:off x="862078" y="2242522"/>
            <a:ext cx="1460500" cy="430887"/>
          </a:xfrm>
          <a:prstGeom prst="rect">
            <a:avLst/>
          </a:prstGeom>
          <a:noFill/>
        </p:spPr>
        <p:txBody>
          <a:bodyPr wrap="square">
            <a:spAutoFit/>
          </a:bodyPr>
          <a:lstStyle/>
          <a:p>
            <a:pPr algn="ctr"/>
            <a:r>
              <a:rPr lang="en-US" sz="1100" dirty="0"/>
              <a:t>Clase negativa 80%</a:t>
            </a:r>
            <a:br>
              <a:rPr lang="en-US" sz="1100" dirty="0"/>
            </a:br>
            <a:r>
              <a:rPr lang="en-US" sz="1100" dirty="0"/>
              <a:t>Modelo sesgado</a:t>
            </a:r>
            <a:endParaRPr lang="en-US" sz="1100" dirty="0"/>
          </a:p>
        </p:txBody>
      </p:sp>
      <p:pic>
        <p:nvPicPr>
          <p:cNvPr id="1028" name="Picture 4" descr="71 mil resultados de imágenes, fotos de stock e ilustraciones libres de  regalías para Red x symbol | Shutterstock"/>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25485" y="2301581"/>
            <a:ext cx="458759" cy="421716"/>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p:cNvCxnSpPr/>
          <p:nvPr/>
        </p:nvCxnSpPr>
        <p:spPr>
          <a:xfrm>
            <a:off x="2908300" y="1651000"/>
            <a:ext cx="8442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TextBox 7"/>
          <p:cNvSpPr txBox="1"/>
          <p:nvPr/>
        </p:nvSpPr>
        <p:spPr>
          <a:xfrm>
            <a:off x="3752551" y="765373"/>
            <a:ext cx="1925527" cy="307777"/>
          </a:xfrm>
          <a:prstGeom prst="rect">
            <a:avLst/>
          </a:prstGeom>
          <a:noFill/>
        </p:spPr>
        <p:txBody>
          <a:bodyPr wrap="none" rtlCol="0">
            <a:spAutoFit/>
          </a:bodyPr>
          <a:lstStyle/>
          <a:p>
            <a:r>
              <a:rPr lang="en-US" dirty="0"/>
              <a:t>Técnicas de balanceo</a:t>
            </a:r>
            <a:endParaRPr lang="en-US" dirty="0"/>
          </a:p>
        </p:txBody>
      </p:sp>
      <p:pic>
        <p:nvPicPr>
          <p:cNvPr id="1030" name="Picture 6" descr="Imbalanced Vs Balanced Dataset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77710" y="855762"/>
            <a:ext cx="2318042" cy="159098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p:cNvSpPr txBox="1"/>
          <p:nvPr/>
        </p:nvSpPr>
        <p:spPr>
          <a:xfrm>
            <a:off x="6706863" y="740645"/>
            <a:ext cx="1717137" cy="307777"/>
          </a:xfrm>
          <a:prstGeom prst="rect">
            <a:avLst/>
          </a:prstGeom>
          <a:noFill/>
        </p:spPr>
        <p:txBody>
          <a:bodyPr wrap="none" rtlCol="0">
            <a:spAutoFit/>
          </a:bodyPr>
          <a:lstStyle/>
          <a:p>
            <a:r>
              <a:rPr lang="en-US" dirty="0"/>
              <a:t>Datos balanceados</a:t>
            </a:r>
            <a:endParaRPr lang="en-US" dirty="0"/>
          </a:p>
        </p:txBody>
      </p:sp>
      <p:sp>
        <p:nvSpPr>
          <p:cNvPr id="10" name="TextBox 9"/>
          <p:cNvSpPr txBox="1"/>
          <p:nvPr/>
        </p:nvSpPr>
        <p:spPr>
          <a:xfrm>
            <a:off x="6836802" y="2455328"/>
            <a:ext cx="1313180" cy="261610"/>
          </a:xfrm>
          <a:prstGeom prst="rect">
            <a:avLst/>
          </a:prstGeom>
          <a:noFill/>
        </p:spPr>
        <p:txBody>
          <a:bodyPr wrap="none" rtlCol="0">
            <a:spAutoFit/>
          </a:bodyPr>
          <a:lstStyle/>
          <a:p>
            <a:r>
              <a:rPr lang="en-US" sz="1100" dirty="0"/>
              <a:t>Mejor rendimiento</a:t>
            </a:r>
            <a:endParaRPr lang="en-US" sz="1100" dirty="0"/>
          </a:p>
        </p:txBody>
      </p:sp>
      <p:cxnSp>
        <p:nvCxnSpPr>
          <p:cNvPr id="11" name="Straight Arrow Connector 10"/>
          <p:cNvCxnSpPr/>
          <p:nvPr/>
        </p:nvCxnSpPr>
        <p:spPr>
          <a:xfrm>
            <a:off x="5630353" y="1651000"/>
            <a:ext cx="78062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034" name="Picture 10" descr="30.600+ Tick Verde Fotografías de stock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0364" y="2348495"/>
            <a:ext cx="475275" cy="475275"/>
          </a:xfrm>
          <a:prstGeom prst="rect">
            <a:avLst/>
          </a:prstGeom>
          <a:noFill/>
          <a:extLst>
            <a:ext uri="{909E8E84-426E-40DD-AFC4-6F175D3DCCD1}">
              <a14:hiddenFill xmlns:a14="http://schemas.microsoft.com/office/drawing/2010/main">
                <a:solidFill>
                  <a:srgbClr val="FFFFFF"/>
                </a:solidFill>
              </a14:hiddenFill>
            </a:ext>
          </a:extLst>
        </p:spPr>
      </p:pic>
      <p:sp>
        <p:nvSpPr>
          <p:cNvPr id="12" name="Rounded Rectangle 11"/>
          <p:cNvSpPr/>
          <p:nvPr/>
        </p:nvSpPr>
        <p:spPr>
          <a:xfrm>
            <a:off x="3860728" y="1084156"/>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O</a:t>
            </a:r>
            <a:r>
              <a:rPr lang="en-US" dirty="0">
                <a:solidFill>
                  <a:schemeClr val="tx1"/>
                </a:solidFill>
              </a:rPr>
              <a:t>versampling</a:t>
            </a:r>
            <a:endParaRPr lang="en-US" dirty="0">
              <a:solidFill>
                <a:schemeClr val="tx1"/>
              </a:solidFill>
            </a:endParaRPr>
          </a:p>
        </p:txBody>
      </p:sp>
      <p:sp>
        <p:nvSpPr>
          <p:cNvPr id="14" name="Rounded Rectangle 13"/>
          <p:cNvSpPr/>
          <p:nvPr/>
        </p:nvSpPr>
        <p:spPr>
          <a:xfrm>
            <a:off x="3850487" y="1456037"/>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a:solidFill>
                  <a:schemeClr val="tx1"/>
                </a:solidFill>
              </a:rPr>
              <a:t>Undersampling</a:t>
            </a:r>
            <a:endParaRPr lang="en-US" dirty="0">
              <a:solidFill>
                <a:schemeClr val="tx1"/>
              </a:solidFill>
            </a:endParaRPr>
          </a:p>
        </p:txBody>
      </p:sp>
      <p:sp>
        <p:nvSpPr>
          <p:cNvPr id="15" name="Rounded Rectangle 14"/>
          <p:cNvSpPr/>
          <p:nvPr/>
        </p:nvSpPr>
        <p:spPr>
          <a:xfrm>
            <a:off x="3850486" y="1839743"/>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ROSE</a:t>
            </a:r>
            <a:endParaRPr lang="en-US" dirty="0">
              <a:solidFill>
                <a:schemeClr val="tx1"/>
              </a:solidFill>
            </a:endParaRPr>
          </a:p>
        </p:txBody>
      </p:sp>
      <p:sp>
        <p:nvSpPr>
          <p:cNvPr id="18" name="TextBox 17"/>
          <p:cNvSpPr txBox="1"/>
          <p:nvPr/>
        </p:nvSpPr>
        <p:spPr>
          <a:xfrm>
            <a:off x="3330425" y="2439538"/>
            <a:ext cx="2520242" cy="261610"/>
          </a:xfrm>
          <a:prstGeom prst="rect">
            <a:avLst/>
          </a:prstGeom>
          <a:noFill/>
        </p:spPr>
        <p:txBody>
          <a:bodyPr wrap="none" rtlCol="0">
            <a:spAutoFit/>
          </a:bodyPr>
          <a:lstStyle/>
          <a:p>
            <a:r>
              <a:rPr lang="en-US" sz="1100" dirty="0"/>
              <a:t>Todas las técnicas mejoran resultado</a:t>
            </a:r>
            <a:endParaRPr lang="en-US" sz="1100" dirty="0"/>
          </a:p>
        </p:txBody>
      </p:sp>
      <p:pic>
        <p:nvPicPr>
          <p:cNvPr id="19" name="Picture 18"/>
          <p:cNvPicPr>
            <a:picLocks noChangeAspect="1"/>
          </p:cNvPicPr>
          <p:nvPr/>
        </p:nvPicPr>
        <p:blipFill>
          <a:blip r:embed="rId5"/>
          <a:stretch>
            <a:fillRect/>
          </a:stretch>
        </p:blipFill>
        <p:spPr>
          <a:xfrm>
            <a:off x="317403" y="3028784"/>
            <a:ext cx="8609085" cy="2052892"/>
          </a:xfrm>
          <a:prstGeom prst="rect">
            <a:avLst/>
          </a:prstGeom>
        </p:spPr>
      </p:pic>
      <p:sp>
        <p:nvSpPr>
          <p:cNvPr id="3" name="Rounded Rectangle 2"/>
          <p:cNvSpPr/>
          <p:nvPr/>
        </p:nvSpPr>
        <p:spPr>
          <a:xfrm>
            <a:off x="3860726" y="2163638"/>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SMOTE</a:t>
            </a:r>
            <a:endParaRPr lang="en-US" dirty="0">
              <a:solidFill>
                <a:schemeClr val="tx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a:t>
            </a:r>
            <a:endParaRPr dirty="0"/>
          </a:p>
        </p:txBody>
      </p:sp>
      <p:graphicFrame>
        <p:nvGraphicFramePr>
          <p:cNvPr id="4" name="Tabla 3"/>
          <p:cNvGraphicFramePr>
            <a:graphicFrameLocks noGrp="1"/>
          </p:cNvGraphicFramePr>
          <p:nvPr/>
        </p:nvGraphicFramePr>
        <p:xfrm>
          <a:off x="2462406" y="2051066"/>
          <a:ext cx="4374692" cy="520684"/>
        </p:xfrm>
        <a:graphic>
          <a:graphicData uri="http://schemas.openxmlformats.org/drawingml/2006/table">
            <a:tbl>
              <a:tblPr>
                <a:tableStyleId>{7FD54D1E-A07F-487E-B709-6B33F1453160}</a:tableStyleId>
              </a:tblPr>
              <a:tblGrid>
                <a:gridCol w="611319"/>
                <a:gridCol w="736805"/>
                <a:gridCol w="736805"/>
                <a:gridCol w="816153"/>
                <a:gridCol w="736805"/>
                <a:gridCol w="736805"/>
              </a:tblGrid>
              <a:tr h="260342">
                <a:tc>
                  <a:txBody>
                    <a:bodyPr/>
                    <a:lstStyle/>
                    <a:p>
                      <a:pPr algn="l" fontAlgn="ctr">
                        <a:buNone/>
                      </a:pPr>
                      <a:r>
                        <a:rPr lang="es-ES" sz="1100" b="1" i="0" u="none" strike="noStrike" dirty="0">
                          <a:solidFill>
                            <a:srgbClr val="000000"/>
                          </a:solidFill>
                          <a:effectLst/>
                          <a:latin typeface="+mj-lt"/>
                        </a:rPr>
                        <a:t>TRAIN</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0.7477551</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0.4010743</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a:effectLst/>
                          <a:latin typeface="+mj-lt"/>
                        </a:rPr>
                        <a:t>0.4413793</a:t>
                      </a:r>
                      <a:endParaRPr lang="es-ES" sz="1100" b="1" i="0" u="none" strike="noStrike">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0.8277992</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0.4202627</a:t>
                      </a:r>
                      <a:endParaRPr lang="es-ES" sz="1100" b="1" i="0" u="none" strike="noStrike" dirty="0">
                        <a:solidFill>
                          <a:srgbClr val="000000"/>
                        </a:solidFill>
                        <a:effectLst/>
                        <a:latin typeface="+mj-lt"/>
                      </a:endParaRPr>
                    </a:p>
                  </a:txBody>
                  <a:tcPr marL="7620" marR="7620" marT="7620" marB="0" anchor="ctr"/>
                </a:tc>
              </a:tr>
              <a:tr h="260342">
                <a:tc>
                  <a:txBody>
                    <a:bodyPr/>
                    <a:lstStyle/>
                    <a:p>
                      <a:pPr algn="l" fontAlgn="ctr">
                        <a:buNone/>
                      </a:pPr>
                      <a:r>
                        <a:rPr lang="es-ES" sz="1100" b="1" i="0" u="none" strike="noStrike" dirty="0">
                          <a:solidFill>
                            <a:srgbClr val="000000"/>
                          </a:solidFill>
                          <a:effectLst/>
                          <a:latin typeface="+mj-lt"/>
                        </a:rPr>
                        <a:t>TEST</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0.7595238</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0.4264706</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0.4666667</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0.8360360</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0.4456641</a:t>
                      </a:r>
                      <a:endParaRPr lang="es-ES" sz="1100" b="1" i="0" u="none" strike="noStrike" dirty="0">
                        <a:solidFill>
                          <a:srgbClr val="000000"/>
                        </a:solidFill>
                        <a:effectLst/>
                        <a:latin typeface="+mj-lt"/>
                      </a:endParaRPr>
                    </a:p>
                  </a:txBody>
                  <a:tcPr marL="7620" marR="7620" marT="7620" marB="0" anchor="ctr"/>
                </a:tc>
              </a:tr>
            </a:tbl>
          </a:graphicData>
        </a:graphic>
      </p:graphicFrame>
      <p:graphicFrame>
        <p:nvGraphicFramePr>
          <p:cNvPr id="5" name="Tabla 4"/>
          <p:cNvGraphicFramePr>
            <a:graphicFrameLocks noGrp="1"/>
          </p:cNvGraphicFramePr>
          <p:nvPr/>
        </p:nvGraphicFramePr>
        <p:xfrm>
          <a:off x="2455224" y="1148854"/>
          <a:ext cx="4381876" cy="778842"/>
        </p:xfrm>
        <a:graphic>
          <a:graphicData uri="http://schemas.openxmlformats.org/drawingml/2006/table">
            <a:tbl>
              <a:tblPr>
                <a:tableStyleId>{7FD54D1E-A07F-487E-B709-6B33F1453160}</a:tableStyleId>
              </a:tblPr>
              <a:tblGrid>
                <a:gridCol w="641276"/>
                <a:gridCol w="709607"/>
                <a:gridCol w="730054"/>
                <a:gridCol w="839275"/>
                <a:gridCol w="713544"/>
                <a:gridCol w="748120"/>
              </a:tblGrid>
              <a:tr h="329827">
                <a:tc>
                  <a:txBody>
                    <a:bodyPr/>
                    <a:lstStyle/>
                    <a:p>
                      <a:pPr algn="l" fontAlgn="ctr">
                        <a:buNone/>
                      </a:pPr>
                      <a:r>
                        <a:rPr lang="en-US" altLang="es-ES" sz="1100" b="1" i="0" u="none" strike="noStrike" dirty="0">
                          <a:solidFill>
                            <a:srgbClr val="7030A0"/>
                          </a:solidFill>
                          <a:effectLst/>
                          <a:latin typeface="+mj-lt"/>
                        </a:rPr>
                        <a:t>Split</a:t>
                      </a:r>
                      <a:endParaRPr lang="en-US" altLang="es-ES" sz="1100" b="1" i="0" u="none" strike="noStrike" dirty="0">
                        <a:solidFill>
                          <a:srgbClr val="7030A0"/>
                        </a:solidFill>
                        <a:effectLst/>
                        <a:latin typeface="+mj-lt"/>
                      </a:endParaRPr>
                    </a:p>
                  </a:txBody>
                  <a:tcPr marL="7620" marR="7620" marT="7620" marB="0" anchor="ctr"/>
                </a:tc>
                <a:tc>
                  <a:txBody>
                    <a:bodyPr/>
                    <a:lstStyle/>
                    <a:p>
                      <a:pPr algn="l" fontAlgn="ctr">
                        <a:buNone/>
                      </a:pPr>
                      <a:r>
                        <a:rPr lang="en-US" altLang="es-ES" sz="1100" b="1" dirty="0">
                          <a:solidFill>
                            <a:srgbClr val="7030A0"/>
                          </a:solidFill>
                          <a:effectLst/>
                          <a:latin typeface="+mj-lt"/>
                          <a:sym typeface="+mn-ea"/>
                        </a:rPr>
                        <a:t>Accuracy</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zh-CN" sz="1100" b="1" i="0" u="none" strike="noStrike" dirty="0">
                          <a:solidFill>
                            <a:srgbClr val="7030A0"/>
                          </a:solidFill>
                          <a:effectLst/>
                          <a:latin typeface="+mj-lt"/>
                        </a:rPr>
                        <a:t>Precision</a:t>
                      </a:r>
                      <a:endParaRPr lang="en-US" altLang="zh-CN" sz="1100" b="1" i="0" u="none" strike="noStrike" dirty="0">
                        <a:solidFill>
                          <a:srgbClr val="7030A0"/>
                        </a:solidFill>
                        <a:effectLst/>
                        <a:latin typeface="+mj-lt"/>
                      </a:endParaRPr>
                    </a:p>
                  </a:txBody>
                  <a:tcPr marL="7620" marR="7620" marT="7620" marB="0" anchor="ctr"/>
                </a:tc>
                <a:tc>
                  <a:txBody>
                    <a:bodyPr/>
                    <a:lstStyle/>
                    <a:p>
                      <a:pPr algn="l" fontAlgn="ctr">
                        <a:buNone/>
                      </a:pPr>
                      <a:r>
                        <a:rPr lang="en-US" altLang="es-ES" sz="1100" b="1" dirty="0">
                          <a:solidFill>
                            <a:srgbClr val="7030A0"/>
                          </a:solidFill>
                          <a:effectLst/>
                          <a:latin typeface="+mj-lt"/>
                          <a:sym typeface="+mn-ea"/>
                        </a:rPr>
                        <a:t>Recall</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Specificity</a:t>
                      </a:r>
                      <a:endParaRPr lang="en-US" altLang="es-ES" sz="1100" b="1" i="0" u="none" strike="noStrike" dirty="0">
                        <a:solidFill>
                          <a:srgbClr val="7030A0"/>
                        </a:solidFill>
                        <a:effectLst/>
                        <a:latin typeface="+mj-lt"/>
                      </a:endParaRP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F1-Score</a:t>
                      </a:r>
                      <a:endParaRPr lang="en-US" altLang="es-ES" sz="1100" b="1" i="0" u="none" strike="noStrike" dirty="0">
                        <a:solidFill>
                          <a:srgbClr val="7030A0"/>
                        </a:solidFill>
                        <a:effectLst/>
                        <a:latin typeface="+mj-lt"/>
                      </a:endParaRPr>
                    </a:p>
                  </a:txBody>
                  <a:tcPr marL="7620" marR="7620" marT="7620" marB="0" anchor="ctr"/>
                </a:tc>
              </a:tr>
              <a:tr h="244469">
                <a:tc>
                  <a:txBody>
                    <a:bodyPr/>
                    <a:lstStyle/>
                    <a:p>
                      <a:pPr algn="l" fontAlgn="ctr">
                        <a:buNone/>
                      </a:pPr>
                      <a:r>
                        <a:rPr lang="es-ES" sz="1100" b="1" i="0" u="none" strike="noStrike" dirty="0">
                          <a:solidFill>
                            <a:srgbClr val="000000"/>
                          </a:solidFill>
                          <a:effectLst/>
                        </a:rPr>
                        <a:t>TRAIN</a:t>
                      </a:r>
                      <a:endParaRPr lang="es-ES" sz="1100" b="1" i="0" u="none" strike="noStrike" dirty="0">
                        <a:solidFill>
                          <a:srgbClr val="000000"/>
                        </a:solidFill>
                        <a:effectLst/>
                      </a:endParaRPr>
                    </a:p>
                  </a:txBody>
                  <a:tcPr marL="7620" marR="7620" marT="7620" marB="0" anchor="ctr"/>
                </a:tc>
                <a:tc>
                  <a:txBody>
                    <a:bodyPr/>
                    <a:lstStyle/>
                    <a:p>
                      <a:pPr algn="l" fontAlgn="ctr"/>
                      <a:r>
                        <a:rPr lang="es-ES" sz="1100" b="1" i="0" dirty="0">
                          <a:solidFill>
                            <a:srgbClr val="000000"/>
                          </a:solidFill>
                          <a:effectLst/>
                        </a:rPr>
                        <a:t>0.7708163</a:t>
                      </a:r>
                      <a:endParaRPr lang="es-ES" sz="1100" b="1" i="0" dirty="0">
                        <a:solidFill>
                          <a:srgbClr val="000000"/>
                        </a:solidFill>
                        <a:effectLst/>
                      </a:endParaRPr>
                    </a:p>
                  </a:txBody>
                  <a:tcPr marL="9842" marR="9842" marT="9842" marB="0" anchor="ctr"/>
                </a:tc>
                <a:tc>
                  <a:txBody>
                    <a:bodyPr/>
                    <a:lstStyle/>
                    <a:p>
                      <a:pPr algn="l" fontAlgn="ctr">
                        <a:buNone/>
                      </a:pPr>
                      <a:r>
                        <a:rPr lang="es-ES" sz="1100" b="1" u="none" strike="noStrike" dirty="0">
                          <a:effectLst/>
                        </a:rPr>
                        <a:t>0.4686241</a:t>
                      </a:r>
                      <a:endParaRPr lang="es-ES" sz="1100" b="1" u="none" strike="noStrike" dirty="0">
                        <a:effectLst/>
                      </a:endParaRPr>
                    </a:p>
                  </a:txBody>
                  <a:tcPr marL="7620" marR="7620" marT="7620" marB="0" anchor="ctr"/>
                </a:tc>
                <a:tc>
                  <a:txBody>
                    <a:bodyPr/>
                    <a:lstStyle/>
                    <a:p>
                      <a:pPr algn="l" fontAlgn="ctr"/>
                      <a:r>
                        <a:rPr lang="es-ES" sz="1100" b="1" i="0" dirty="0">
                          <a:solidFill>
                            <a:srgbClr val="000000"/>
                          </a:solidFill>
                          <a:effectLst/>
                        </a:rPr>
                        <a:t>0.8027613</a:t>
                      </a:r>
                      <a:endParaRPr lang="es-ES" sz="1100" b="1" i="0" dirty="0">
                        <a:solidFill>
                          <a:srgbClr val="000000"/>
                        </a:solidFill>
                        <a:effectLst/>
                      </a:endParaRPr>
                    </a:p>
                  </a:txBody>
                  <a:tcPr marL="9842" marR="9842" marT="9842" marB="0" anchor="ctr"/>
                </a:tc>
                <a:tc>
                  <a:txBody>
                    <a:bodyPr/>
                    <a:lstStyle/>
                    <a:p>
                      <a:pPr algn="l" fontAlgn="ctr"/>
                      <a:r>
                        <a:rPr lang="es-ES" sz="1100" b="1" i="0" dirty="0">
                          <a:solidFill>
                            <a:srgbClr val="000000"/>
                          </a:solidFill>
                          <a:effectLst/>
                        </a:rPr>
                        <a:t>0.7624807</a:t>
                      </a:r>
                      <a:endParaRPr lang="es-ES" sz="1100" b="1" i="0" dirty="0">
                        <a:solidFill>
                          <a:srgbClr val="000000"/>
                        </a:solidFill>
                        <a:effectLst/>
                      </a:endParaRPr>
                    </a:p>
                  </a:txBody>
                  <a:tcPr marL="9842" marR="9842" marT="9842" marB="0" anchor="ctr"/>
                </a:tc>
                <a:tc>
                  <a:txBody>
                    <a:bodyPr/>
                    <a:lstStyle/>
                    <a:p>
                      <a:pPr algn="l" fontAlgn="ctr"/>
                      <a:r>
                        <a:rPr lang="es-ES" sz="1100" b="1" i="0" dirty="0">
                          <a:solidFill>
                            <a:srgbClr val="000000"/>
                          </a:solidFill>
                          <a:effectLst/>
                        </a:rPr>
                        <a:t>0.5917848</a:t>
                      </a:r>
                      <a:endParaRPr lang="es-ES" sz="1100" b="1" i="0" dirty="0">
                        <a:solidFill>
                          <a:srgbClr val="000000"/>
                        </a:solidFill>
                        <a:effectLst/>
                      </a:endParaRPr>
                    </a:p>
                  </a:txBody>
                  <a:tcPr marL="9842" marR="9842" marT="9842" marB="0" anchor="ctr"/>
                </a:tc>
              </a:tr>
              <a:tr h="204546">
                <a:tc>
                  <a:txBody>
                    <a:bodyPr/>
                    <a:lstStyle/>
                    <a:p>
                      <a:pPr algn="l" fontAlgn="ctr">
                        <a:buNone/>
                      </a:pPr>
                      <a:r>
                        <a:rPr lang="es-ES" sz="1100" b="1" i="0" u="none" strike="noStrike" dirty="0">
                          <a:solidFill>
                            <a:srgbClr val="000000"/>
                          </a:solidFill>
                          <a:effectLst/>
                        </a:rPr>
                        <a:t>TEST</a:t>
                      </a:r>
                      <a:endParaRPr lang="es-ES" sz="1100" b="1" i="0" u="none" strike="noStrike" dirty="0">
                        <a:solidFill>
                          <a:srgbClr val="000000"/>
                        </a:solidFill>
                        <a:effectLst/>
                      </a:endParaRPr>
                    </a:p>
                  </a:txBody>
                  <a:tcPr marL="7620" marR="7620" marT="7620" marB="0" anchor="ctr"/>
                </a:tc>
                <a:tc>
                  <a:txBody>
                    <a:bodyPr/>
                    <a:lstStyle/>
                    <a:p>
                      <a:pPr algn="l" fontAlgn="b"/>
                      <a:r>
                        <a:rPr lang="es-ES" sz="1100" b="1" i="0" dirty="0">
                          <a:solidFill>
                            <a:srgbClr val="000000"/>
                          </a:solidFill>
                          <a:effectLst/>
                        </a:rPr>
                        <a:t>0.6790476</a:t>
                      </a:r>
                      <a:endParaRPr lang="es-ES" sz="1100" b="1" i="0" dirty="0">
                        <a:solidFill>
                          <a:srgbClr val="000000"/>
                        </a:solidFill>
                        <a:effectLst/>
                      </a:endParaRPr>
                    </a:p>
                  </a:txBody>
                  <a:tcPr marL="9842" marR="9842" marT="9842" marB="0" anchor="b"/>
                </a:tc>
                <a:tc>
                  <a:txBody>
                    <a:bodyPr/>
                    <a:lstStyle/>
                    <a:p>
                      <a:pPr algn="l" fontAlgn="b"/>
                      <a:r>
                        <a:rPr lang="es-ES" sz="1100" b="1" i="0" dirty="0">
                          <a:solidFill>
                            <a:srgbClr val="000000"/>
                          </a:solidFill>
                          <a:effectLst/>
                        </a:rPr>
                        <a:t>0.3342618</a:t>
                      </a:r>
                      <a:endParaRPr lang="es-ES" sz="1100" b="1" i="0" dirty="0">
                        <a:solidFill>
                          <a:srgbClr val="000000"/>
                        </a:solidFill>
                        <a:effectLst/>
                      </a:endParaRPr>
                    </a:p>
                  </a:txBody>
                  <a:tcPr marL="9842" marR="9842" marT="9842" marB="0" anchor="b"/>
                </a:tc>
                <a:tc>
                  <a:txBody>
                    <a:bodyPr/>
                    <a:lstStyle/>
                    <a:p>
                      <a:pPr algn="l" fontAlgn="b"/>
                      <a:r>
                        <a:rPr lang="es-ES" sz="1100" b="1" i="0" dirty="0">
                          <a:solidFill>
                            <a:srgbClr val="000000"/>
                          </a:solidFill>
                          <a:effectLst/>
                        </a:rPr>
                        <a:t>0.5504587</a:t>
                      </a:r>
                      <a:endParaRPr lang="es-ES" sz="1100" b="1" i="0" dirty="0">
                        <a:solidFill>
                          <a:srgbClr val="000000"/>
                        </a:solidFill>
                        <a:effectLst/>
                      </a:endParaRPr>
                    </a:p>
                  </a:txBody>
                  <a:tcPr marL="9842" marR="9842" marT="9842" marB="0" anchor="b"/>
                </a:tc>
                <a:tc>
                  <a:txBody>
                    <a:bodyPr/>
                    <a:lstStyle/>
                    <a:p>
                      <a:pPr algn="l" fontAlgn="b"/>
                      <a:r>
                        <a:rPr lang="es-ES" sz="1100" b="1" i="0" dirty="0">
                          <a:solidFill>
                            <a:srgbClr val="000000"/>
                          </a:solidFill>
                          <a:effectLst/>
                        </a:rPr>
                        <a:t>0.7127404</a:t>
                      </a:r>
                      <a:endParaRPr lang="es-ES" sz="1100" b="1" i="0" dirty="0">
                        <a:solidFill>
                          <a:srgbClr val="000000"/>
                        </a:solidFill>
                        <a:effectLst/>
                      </a:endParaRPr>
                    </a:p>
                  </a:txBody>
                  <a:tcPr marL="9842" marR="9842" marT="9842" marB="0" anchor="b"/>
                </a:tc>
                <a:tc>
                  <a:txBody>
                    <a:bodyPr/>
                    <a:lstStyle/>
                    <a:p>
                      <a:pPr algn="l" fontAlgn="b"/>
                      <a:r>
                        <a:rPr lang="es-ES" sz="1100" b="1" i="0" dirty="0">
                          <a:solidFill>
                            <a:srgbClr val="000000"/>
                          </a:solidFill>
                          <a:effectLst/>
                        </a:rPr>
                        <a:t>0.4159445</a:t>
                      </a:r>
                      <a:endParaRPr lang="es-ES" sz="1100" b="1" i="0" dirty="0">
                        <a:solidFill>
                          <a:srgbClr val="000000"/>
                        </a:solidFill>
                        <a:effectLst/>
                      </a:endParaRPr>
                    </a:p>
                  </a:txBody>
                  <a:tcPr marL="9842" marR="9842" marT="9842" marB="0" anchor="b"/>
                </a:tc>
              </a:tr>
            </a:tbl>
          </a:graphicData>
        </a:graphic>
      </p:graphicFrame>
      <p:sp>
        <p:nvSpPr>
          <p:cNvPr id="7" name="CuadroTexto 6"/>
          <p:cNvSpPr txBox="1"/>
          <p:nvPr/>
        </p:nvSpPr>
        <p:spPr>
          <a:xfrm>
            <a:off x="534539" y="2607967"/>
            <a:ext cx="8609461" cy="2446824"/>
          </a:xfrm>
          <a:prstGeom prst="rect">
            <a:avLst/>
          </a:prstGeom>
          <a:noFill/>
        </p:spPr>
        <p:txBody>
          <a:bodyPr wrap="square">
            <a:spAutoFit/>
          </a:bodyPr>
          <a:lstStyle/>
          <a:p>
            <a:r>
              <a:rPr lang="en-GB" sz="1300" b="1" dirty="0"/>
              <a:t>Naive Bayes:</a:t>
            </a:r>
            <a:r>
              <a:rPr lang="en-GB" sz="1300" dirty="0"/>
              <a:t> </a:t>
            </a:r>
            <a:endParaRPr lang="en-GB" sz="1300" dirty="0"/>
          </a:p>
          <a:p>
            <a:pPr marL="285750" indent="-285750">
              <a:buFont typeface="Arial" panose="020B0604020202020204" pitchFamily="34" charset="0"/>
              <a:buChar char="•"/>
            </a:pPr>
            <a:r>
              <a:rPr lang="en-GB" sz="1300" dirty="0"/>
              <a:t>Se </a:t>
            </a:r>
            <a:r>
              <a:rPr lang="en-GB" sz="1300" dirty="0" err="1"/>
              <a:t>aplicó</a:t>
            </a:r>
            <a:r>
              <a:rPr lang="en-GB" sz="1300" dirty="0"/>
              <a:t> </a:t>
            </a:r>
            <a:r>
              <a:rPr lang="en-GB" sz="1300" dirty="0" err="1"/>
              <a:t>el</a:t>
            </a:r>
            <a:r>
              <a:rPr lang="en-GB" sz="1300" dirty="0"/>
              <a:t> </a:t>
            </a:r>
            <a:r>
              <a:rPr lang="en-GB" sz="1300" dirty="0">
                <a:solidFill>
                  <a:srgbClr val="FF0000"/>
                </a:solidFill>
              </a:rPr>
              <a:t>FAMD</a:t>
            </a:r>
            <a:r>
              <a:rPr lang="en-GB" sz="1300" dirty="0"/>
              <a:t>, </a:t>
            </a:r>
            <a:r>
              <a:rPr lang="en-GB" sz="1300" dirty="0" err="1"/>
              <a:t>obteniendo</a:t>
            </a:r>
            <a:r>
              <a:rPr lang="en-GB" sz="1300" dirty="0"/>
              <a:t> </a:t>
            </a:r>
            <a:r>
              <a:rPr lang="en-GB" sz="1300" dirty="0" err="1"/>
              <a:t>una</a:t>
            </a:r>
            <a:r>
              <a:rPr lang="en-GB" sz="1300" dirty="0"/>
              <a:t> </a:t>
            </a:r>
            <a:r>
              <a:rPr lang="en-GB" sz="1300" dirty="0" err="1"/>
              <a:t>leve</a:t>
            </a:r>
            <a:r>
              <a:rPr lang="en-GB" sz="1300" dirty="0"/>
              <a:t> </a:t>
            </a:r>
            <a:r>
              <a:rPr lang="en-GB" sz="1300" dirty="0" err="1"/>
              <a:t>mejora</a:t>
            </a:r>
            <a:r>
              <a:rPr lang="en-GB" sz="1300" dirty="0"/>
              <a:t> general </a:t>
            </a:r>
            <a:r>
              <a:rPr lang="en-GB" sz="1300" dirty="0" err="1"/>
              <a:t>en</a:t>
            </a:r>
            <a:r>
              <a:rPr lang="en-GB" sz="1300" dirty="0"/>
              <a:t> las </a:t>
            </a:r>
            <a:r>
              <a:rPr lang="en-GB" sz="1300" dirty="0" err="1"/>
              <a:t>métricas</a:t>
            </a:r>
            <a:endParaRPr lang="en-GB" sz="1300" dirty="0"/>
          </a:p>
          <a:p>
            <a:pPr marL="285750" indent="-285750">
              <a:buFont typeface="Arial" panose="020B0604020202020204" pitchFamily="34" charset="0"/>
              <a:buChar char="•"/>
            </a:pPr>
            <a:r>
              <a:rPr lang="en-GB" sz="1300" dirty="0"/>
              <a:t>No se ha </a:t>
            </a:r>
            <a:r>
              <a:rPr lang="en-GB" sz="1300" dirty="0" err="1"/>
              <a:t>detectado</a:t>
            </a:r>
            <a:r>
              <a:rPr lang="en-GB" sz="1300" dirty="0"/>
              <a:t> </a:t>
            </a:r>
            <a:r>
              <a:rPr lang="en-GB" sz="1300" dirty="0" err="1"/>
              <a:t>sobreajuste</a:t>
            </a:r>
            <a:endParaRPr lang="en-GB" sz="1300" dirty="0"/>
          </a:p>
          <a:p>
            <a:pPr marL="285750" indent="-285750">
              <a:buFont typeface="Arial" panose="020B0604020202020204" pitchFamily="34" charset="0"/>
              <a:buChar char="•"/>
            </a:pPr>
            <a:r>
              <a:rPr lang="en-GB" sz="1300" dirty="0"/>
              <a:t>No hay </a:t>
            </a:r>
            <a:r>
              <a:rPr lang="en-GB" sz="1300" dirty="0" err="1"/>
              <a:t>diferencia</a:t>
            </a:r>
            <a:r>
              <a:rPr lang="en-GB" sz="1300" dirty="0"/>
              <a:t> entre </a:t>
            </a:r>
            <a:r>
              <a:rPr lang="en-GB" sz="1300" dirty="0" err="1"/>
              <a:t>métodos</a:t>
            </a:r>
            <a:r>
              <a:rPr lang="en-GB" sz="1300" dirty="0"/>
              <a:t> de </a:t>
            </a:r>
            <a:r>
              <a:rPr lang="en-GB" sz="1300" dirty="0" err="1"/>
              <a:t>balanceo</a:t>
            </a:r>
            <a:endParaRPr lang="en-GB" sz="1300" dirty="0"/>
          </a:p>
          <a:p>
            <a:r>
              <a:rPr lang="en-GB" sz="1300" b="1" dirty="0"/>
              <a:t>KNN (9NN)</a:t>
            </a:r>
            <a:endParaRPr lang="en-GB" sz="1300" b="1" dirty="0"/>
          </a:p>
          <a:p>
            <a:pPr marL="285750" indent="-285750">
              <a:buFont typeface="Arial" panose="020B0604020202020204" pitchFamily="34" charset="0"/>
              <a:buChar char="•"/>
            </a:pPr>
            <a:r>
              <a:rPr lang="en-GB" sz="1300" dirty="0"/>
              <a:t>Entre </a:t>
            </a:r>
            <a:r>
              <a:rPr lang="en-GB" sz="1300" dirty="0" err="1"/>
              <a:t>los</a:t>
            </a:r>
            <a:r>
              <a:rPr lang="en-GB" sz="1300" dirty="0"/>
              <a:t> </a:t>
            </a:r>
            <a:r>
              <a:rPr lang="en-GB" sz="1300" dirty="0" err="1"/>
              <a:t>métodos</a:t>
            </a:r>
            <a:r>
              <a:rPr lang="en-GB" sz="1300" dirty="0"/>
              <a:t> de </a:t>
            </a:r>
            <a:r>
              <a:rPr lang="en-GB" sz="1300" dirty="0" err="1"/>
              <a:t>balanceo</a:t>
            </a:r>
            <a:r>
              <a:rPr lang="en-GB" sz="1300" dirty="0"/>
              <a:t>, </a:t>
            </a:r>
            <a:r>
              <a:rPr lang="en-GB" sz="1300" i="1" dirty="0">
                <a:solidFill>
                  <a:srgbClr val="7030A0"/>
                </a:solidFill>
              </a:rPr>
              <a:t>SMOTE</a:t>
            </a:r>
            <a:r>
              <a:rPr lang="en-GB" sz="1300" i="1" dirty="0"/>
              <a:t>, (</a:t>
            </a:r>
            <a:r>
              <a:rPr lang="en-GB" sz="1300" dirty="0" err="1"/>
              <a:t>ofreció</a:t>
            </a:r>
            <a:r>
              <a:rPr lang="en-GB" sz="1300" dirty="0"/>
              <a:t> </a:t>
            </a:r>
            <a:r>
              <a:rPr lang="en-GB" sz="1300" dirty="0" err="1"/>
              <a:t>los</a:t>
            </a:r>
            <a:r>
              <a:rPr lang="en-GB" sz="1300" dirty="0"/>
              <a:t> </a:t>
            </a:r>
            <a:r>
              <a:rPr lang="en-GB" sz="1300" dirty="0" err="1"/>
              <a:t>mejoros</a:t>
            </a:r>
            <a:r>
              <a:rPr lang="en-GB" sz="1300" dirty="0"/>
              <a:t> </a:t>
            </a:r>
            <a:r>
              <a:rPr lang="en-GB" sz="1300" dirty="0" err="1"/>
              <a:t>resultados</a:t>
            </a:r>
            <a:r>
              <a:rPr lang="en-GB" sz="1300" dirty="0"/>
              <a:t> via </a:t>
            </a:r>
            <a:r>
              <a:rPr lang="en-GB" sz="1300" dirty="0" err="1"/>
              <a:t>poca</a:t>
            </a:r>
            <a:r>
              <a:rPr lang="en-GB" sz="1300" dirty="0"/>
              <a:t> </a:t>
            </a:r>
            <a:r>
              <a:rPr lang="en-GB" sz="1300" dirty="0" err="1"/>
              <a:t>diferencia</a:t>
            </a:r>
            <a:r>
              <a:rPr lang="en-GB" sz="1300" dirty="0"/>
              <a:t>)</a:t>
            </a:r>
            <a:endParaRPr lang="en-GB" sz="1300" dirty="0"/>
          </a:p>
          <a:p>
            <a:pPr marL="285750" indent="-285750">
              <a:buFont typeface="Arial" panose="020B0604020202020204" pitchFamily="34" charset="0"/>
              <a:buChar char="•"/>
            </a:pPr>
            <a:r>
              <a:rPr lang="en-GB" sz="1300" dirty="0" err="1"/>
              <a:t>Detección</a:t>
            </a:r>
            <a:r>
              <a:rPr lang="en-GB" sz="1300" dirty="0"/>
              <a:t> de </a:t>
            </a:r>
            <a:r>
              <a:rPr lang="en-GB" sz="1300" i="1" dirty="0">
                <a:solidFill>
                  <a:srgbClr val="7030A0"/>
                </a:solidFill>
              </a:rPr>
              <a:t>ligero </a:t>
            </a:r>
            <a:r>
              <a:rPr lang="en-GB" sz="1300" i="1" dirty="0" err="1">
                <a:solidFill>
                  <a:srgbClr val="7030A0"/>
                </a:solidFill>
              </a:rPr>
              <a:t>sobreajuste</a:t>
            </a:r>
            <a:endParaRPr lang="en-GB" sz="1300" i="1" dirty="0">
              <a:solidFill>
                <a:srgbClr val="7030A0"/>
              </a:solidFill>
            </a:endParaRPr>
          </a:p>
          <a:p>
            <a:endParaRPr lang="en-GB" i="1" dirty="0"/>
          </a:p>
          <a:p>
            <a:r>
              <a:rPr lang="en-GB" sz="1200" i="1" dirty="0"/>
              <a:t>En ambos temenos </a:t>
            </a:r>
            <a:r>
              <a:rPr lang="en-GB" sz="1200" i="1" dirty="0" err="1"/>
              <a:t>una</a:t>
            </a:r>
            <a:r>
              <a:rPr lang="en-GB" sz="1200" i="1" dirty="0"/>
              <a:t> </a:t>
            </a:r>
            <a:r>
              <a:rPr lang="en-GB" sz="1200" i="1" dirty="0" err="1"/>
              <a:t>alta</a:t>
            </a:r>
            <a:r>
              <a:rPr lang="en-GB" sz="1200" i="1" dirty="0"/>
              <a:t> </a:t>
            </a:r>
            <a:r>
              <a:rPr lang="en-GB" sz="1200" i="1" dirty="0" err="1"/>
              <a:t>especificidad</a:t>
            </a:r>
            <a:r>
              <a:rPr lang="en-GB" sz="1200" i="1" dirty="0"/>
              <a:t>, </a:t>
            </a:r>
            <a:r>
              <a:rPr lang="en-GB" sz="1200" i="1" dirty="0" err="1"/>
              <a:t>por</a:t>
            </a:r>
            <a:r>
              <a:rPr lang="en-GB" sz="1200" i="1" dirty="0"/>
              <a:t> lo tanto, </a:t>
            </a:r>
            <a:r>
              <a:rPr lang="en-GB" sz="1200" i="1" dirty="0" err="1"/>
              <a:t>correcto</a:t>
            </a:r>
            <a:r>
              <a:rPr lang="en-GB" sz="1200" i="1" dirty="0"/>
              <a:t> para detector </a:t>
            </a:r>
            <a:r>
              <a:rPr lang="en-GB" sz="1200" i="1" dirty="0" err="1"/>
              <a:t>los</a:t>
            </a:r>
            <a:r>
              <a:rPr lang="en-GB" sz="1200" i="1" dirty="0"/>
              <a:t> </a:t>
            </a:r>
            <a:r>
              <a:rPr lang="en-GB" sz="1200" i="1" dirty="0" err="1"/>
              <a:t>casos</a:t>
            </a:r>
            <a:r>
              <a:rPr lang="en-GB" sz="1200" i="1" dirty="0"/>
              <a:t> </a:t>
            </a:r>
            <a:r>
              <a:rPr lang="en-GB" sz="1200" i="1" dirty="0" err="1"/>
              <a:t>negativos</a:t>
            </a:r>
            <a:r>
              <a:rPr lang="en-GB" sz="1200" i="1" dirty="0"/>
              <a:t> </a:t>
            </a:r>
            <a:r>
              <a:rPr lang="en-GB" sz="1200" i="1" dirty="0" err="1"/>
              <a:t>pero</a:t>
            </a:r>
            <a:r>
              <a:rPr lang="en-GB" sz="1200" i="1" dirty="0"/>
              <a:t> </a:t>
            </a:r>
            <a:r>
              <a:rPr lang="en-GB" sz="1200" i="1" dirty="0" err="1"/>
              <a:t>en</a:t>
            </a:r>
            <a:r>
              <a:rPr lang="en-GB" sz="1200" i="1" dirty="0"/>
              <a:t> </a:t>
            </a:r>
            <a:r>
              <a:rPr lang="en-GB" sz="1200" i="1" dirty="0" err="1"/>
              <a:t>nuestro</a:t>
            </a:r>
            <a:r>
              <a:rPr lang="en-GB" sz="1200" i="1" dirty="0"/>
              <a:t> </a:t>
            </a:r>
            <a:r>
              <a:rPr lang="en-GB" sz="1200" i="1" dirty="0" err="1"/>
              <a:t>estudio</a:t>
            </a:r>
            <a:r>
              <a:rPr lang="en-GB" sz="1200" i="1" dirty="0"/>
              <a:t> </a:t>
            </a:r>
            <a:r>
              <a:rPr lang="en-GB" sz="1200" i="1" dirty="0" err="1"/>
              <a:t>nos</a:t>
            </a:r>
            <a:r>
              <a:rPr lang="en-GB" sz="1200" i="1" dirty="0"/>
              <a:t> </a:t>
            </a:r>
            <a:r>
              <a:rPr lang="en-GB" sz="1200" i="1" dirty="0" err="1"/>
              <a:t>interesa</a:t>
            </a:r>
            <a:r>
              <a:rPr lang="en-GB" sz="1200" i="1" dirty="0"/>
              <a:t> la </a:t>
            </a:r>
            <a:r>
              <a:rPr lang="en-GB" sz="1200" i="1" dirty="0" err="1"/>
              <a:t>clase</a:t>
            </a:r>
            <a:r>
              <a:rPr lang="en-GB" sz="1200" i="1" dirty="0"/>
              <a:t> positive, </a:t>
            </a:r>
            <a:r>
              <a:rPr lang="en-GB" sz="1200" i="1" dirty="0" err="1"/>
              <a:t>indicando</a:t>
            </a:r>
            <a:r>
              <a:rPr lang="en-GB" sz="1200" i="1" dirty="0"/>
              <a:t> </a:t>
            </a:r>
            <a:r>
              <a:rPr lang="en-GB" sz="1200" i="1" dirty="0" err="1"/>
              <a:t>que</a:t>
            </a:r>
            <a:r>
              <a:rPr lang="en-GB" sz="1200" i="1" dirty="0"/>
              <a:t> para </a:t>
            </a:r>
            <a:r>
              <a:rPr lang="en-GB" sz="1200" i="1" dirty="0" err="1"/>
              <a:t>nuestro</a:t>
            </a:r>
            <a:r>
              <a:rPr lang="en-GB" sz="1200" i="1" dirty="0"/>
              <a:t> </a:t>
            </a:r>
            <a:r>
              <a:rPr lang="en-GB" sz="1200" i="1" dirty="0" err="1"/>
              <a:t>trabajo</a:t>
            </a:r>
            <a:r>
              <a:rPr lang="en-GB" sz="1200" i="1" dirty="0"/>
              <a:t> no es tan </a:t>
            </a:r>
            <a:r>
              <a:rPr lang="en-GB" sz="1200" i="1" dirty="0" err="1"/>
              <a:t>útil</a:t>
            </a:r>
            <a:r>
              <a:rPr lang="en-GB" sz="1200" i="1" dirty="0"/>
              <a:t>. </a:t>
            </a:r>
            <a:endParaRPr lang="en-GB" sz="1200" i="1" dirty="0"/>
          </a:p>
          <a:p>
            <a:r>
              <a:rPr lang="en-GB" sz="1200" i="1" dirty="0"/>
              <a:t>Al ser </a:t>
            </a:r>
            <a:r>
              <a:rPr lang="en-GB" sz="1200" i="1" dirty="0" err="1"/>
              <a:t>datos</a:t>
            </a:r>
            <a:r>
              <a:rPr lang="en-GB" sz="1200" i="1" dirty="0"/>
              <a:t> </a:t>
            </a:r>
            <a:r>
              <a:rPr lang="en-GB" sz="1200" i="1" dirty="0" err="1"/>
              <a:t>desbalancedos</a:t>
            </a:r>
            <a:r>
              <a:rPr lang="en-GB" sz="1200" i="1" dirty="0"/>
              <a:t>. El accuracy no da </a:t>
            </a:r>
            <a:r>
              <a:rPr lang="en-GB" sz="1200" i="1" dirty="0" err="1"/>
              <a:t>una</a:t>
            </a:r>
            <a:r>
              <a:rPr lang="en-GB" sz="1200" i="1" dirty="0"/>
              <a:t> </a:t>
            </a:r>
            <a:r>
              <a:rPr lang="en-GB" sz="1200" i="1" dirty="0" err="1"/>
              <a:t>métrica</a:t>
            </a:r>
            <a:r>
              <a:rPr lang="en-GB" sz="1200" i="1" dirty="0"/>
              <a:t> </a:t>
            </a:r>
            <a:r>
              <a:rPr lang="en-GB" sz="1200" i="1" dirty="0" err="1"/>
              <a:t>correcta</a:t>
            </a:r>
            <a:r>
              <a:rPr lang="en-GB" sz="1200" i="1" dirty="0"/>
              <a:t> o </a:t>
            </a:r>
            <a:r>
              <a:rPr lang="en-GB" sz="1200" i="1" dirty="0" err="1"/>
              <a:t>creïble</a:t>
            </a:r>
            <a:r>
              <a:rPr lang="en-GB" sz="1200" i="1" dirty="0"/>
              <a:t>. </a:t>
            </a:r>
            <a:endParaRPr lang="en-GB" sz="1200" i="1" dirty="0"/>
          </a:p>
          <a:p>
            <a:pPr lvl="5"/>
            <a:r>
              <a:rPr lang="es-ES" sz="1200" i="1" dirty="0"/>
              <a:t>(Ver todas las modelizaciones realizadas en “Registros </a:t>
            </a:r>
            <a:r>
              <a:rPr lang="es-ES" sz="1200" i="1" dirty="0" err="1"/>
              <a:t>modelos.xlsx</a:t>
            </a:r>
            <a:r>
              <a:rPr lang="es-ES" sz="1200" i="1" dirty="0"/>
              <a:t>” evaluados en </a:t>
            </a:r>
            <a:r>
              <a:rPr lang="es-ES" sz="1200" i="1" dirty="0">
                <a:hlinkClick r:id="rId1"/>
              </a:rPr>
              <a:t>Github</a:t>
            </a:r>
            <a:r>
              <a:rPr lang="es-ES" sz="1200" i="1" dirty="0"/>
              <a:t>)</a:t>
            </a:r>
            <a:endParaRPr lang="ca-ES" sz="1200" i="1" dirty="0"/>
          </a:p>
        </p:txBody>
      </p:sp>
      <p:sp>
        <p:nvSpPr>
          <p:cNvPr id="10" name="Flecha: hacia la izquierda 9"/>
          <p:cNvSpPr/>
          <p:nvPr/>
        </p:nvSpPr>
        <p:spPr>
          <a:xfrm>
            <a:off x="7050491" y="1944838"/>
            <a:ext cx="1840101" cy="673582"/>
          </a:xfrm>
          <a:prstGeom prst="lef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sz="1200" dirty="0" err="1">
                <a:solidFill>
                  <a:srgbClr val="FF0000"/>
                </a:solidFill>
              </a:rPr>
              <a:t>Insufficient</a:t>
            </a:r>
            <a:r>
              <a:rPr lang="ca-ES" sz="1200" dirty="0">
                <a:solidFill>
                  <a:srgbClr val="FF0000"/>
                </a:solidFill>
              </a:rPr>
              <a:t> </a:t>
            </a:r>
            <a:r>
              <a:rPr lang="ca-ES" sz="1200" dirty="0" err="1">
                <a:solidFill>
                  <a:srgbClr val="FF0000"/>
                </a:solidFill>
              </a:rPr>
              <a:t>results</a:t>
            </a:r>
            <a:r>
              <a:rPr lang="ca-ES" sz="1200" dirty="0">
                <a:solidFill>
                  <a:srgbClr val="FF0000"/>
                </a:solidFill>
              </a:rPr>
              <a:t> F1&lt;0,5</a:t>
            </a:r>
            <a:endParaRPr lang="ca-ES" sz="1200" dirty="0">
              <a:solidFill>
                <a:srgbClr val="FF0000"/>
              </a:solidFill>
            </a:endParaRPr>
          </a:p>
        </p:txBody>
      </p:sp>
      <p:graphicFrame>
        <p:nvGraphicFramePr>
          <p:cNvPr id="15" name="Diagram 14"/>
          <p:cNvGraphicFramePr/>
          <p:nvPr/>
        </p:nvGraphicFramePr>
        <p:xfrm>
          <a:off x="782760" y="1353106"/>
          <a:ext cx="1617045" cy="572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16" name="Diagram 15"/>
          <p:cNvGraphicFramePr/>
          <p:nvPr/>
        </p:nvGraphicFramePr>
        <p:xfrm>
          <a:off x="-51798" y="2004664"/>
          <a:ext cx="2451603" cy="53087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2" name="Left Arrow 1"/>
          <p:cNvSpPr/>
          <p:nvPr/>
        </p:nvSpPr>
        <p:spPr>
          <a:xfrm>
            <a:off x="7012237" y="1156497"/>
            <a:ext cx="1916610" cy="45382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Cross Validation</a:t>
            </a:r>
            <a:endParaRPr lang="en-US" dirty="0"/>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noProof="0" dirty="0"/>
              <a:t>Árbol de </a:t>
            </a:r>
            <a:r>
              <a:rPr lang="es-ES" noProof="0" dirty="0" err="1"/>
              <a:t>desición</a:t>
            </a:r>
            <a:endParaRPr lang="es-ES" noProof="0" dirty="0"/>
          </a:p>
        </p:txBody>
      </p:sp>
      <p:graphicFrame>
        <p:nvGraphicFramePr>
          <p:cNvPr id="5" name="Tabla 4"/>
          <p:cNvGraphicFramePr>
            <a:graphicFrameLocks noGrp="1"/>
          </p:cNvGraphicFramePr>
          <p:nvPr/>
        </p:nvGraphicFramePr>
        <p:xfrm>
          <a:off x="720000" y="1590563"/>
          <a:ext cx="4427034" cy="2758440"/>
        </p:xfrm>
        <a:graphic>
          <a:graphicData uri="http://schemas.openxmlformats.org/drawingml/2006/table">
            <a:tbl>
              <a:tblPr firstRow="1" bandRow="1">
                <a:tableStyleId>{69012ECD-51FC-41F1-AA8D-1B2483CD663E}</a:tableStyleId>
              </a:tblPr>
              <a:tblGrid>
                <a:gridCol w="2213517"/>
                <a:gridCol w="2213517"/>
              </a:tblGrid>
              <a:tr h="212904">
                <a:tc>
                  <a:txBody>
                    <a:bodyPr/>
                    <a:lstStyle/>
                    <a:p>
                      <a:r>
                        <a:rPr lang="ca-ES" sz="1100" dirty="0"/>
                        <a:t>Característica</a:t>
                      </a:r>
                      <a:endParaRPr lang="ca-ES" sz="1100" dirty="0"/>
                    </a:p>
                  </a:txBody>
                  <a:tcPr/>
                </a:tc>
                <a:tc>
                  <a:txBody>
                    <a:bodyPr/>
                    <a:lstStyle/>
                    <a:p>
                      <a:r>
                        <a:rPr lang="ca-ES" sz="1100" dirty="0"/>
                        <a:t>Valor</a:t>
                      </a:r>
                      <a:endParaRPr lang="ca-ES" sz="1100" dirty="0"/>
                    </a:p>
                  </a:txBody>
                  <a:tcPr/>
                </a:tc>
              </a:tr>
              <a:tr h="212904">
                <a:tc>
                  <a:txBody>
                    <a:bodyPr/>
                    <a:lstStyle/>
                    <a:p>
                      <a:r>
                        <a:rPr lang="ca-ES" sz="1100" dirty="0" err="1"/>
                        <a:t>Balanceo</a:t>
                      </a:r>
                      <a:endParaRPr lang="ca-ES" sz="1100" dirty="0"/>
                    </a:p>
                  </a:txBody>
                  <a:tcPr/>
                </a:tc>
                <a:tc>
                  <a:txBody>
                    <a:bodyPr/>
                    <a:lstStyle/>
                    <a:p>
                      <a:r>
                        <a:rPr lang="ca-ES" sz="1100" dirty="0"/>
                        <a:t>Sí (ROSE: 43-57)</a:t>
                      </a:r>
                      <a:endParaRPr lang="ca-ES" sz="1100" dirty="0"/>
                    </a:p>
                  </a:txBody>
                  <a:tcPr/>
                </a:tc>
              </a:tr>
              <a:tr h="212904">
                <a:tc>
                  <a:txBody>
                    <a:bodyPr/>
                    <a:lstStyle/>
                    <a:p>
                      <a:r>
                        <a:rPr lang="ca-ES" sz="1100" dirty="0"/>
                        <a:t>Umbral de </a:t>
                      </a:r>
                      <a:r>
                        <a:rPr lang="ca-ES" sz="1100" dirty="0" err="1"/>
                        <a:t>discriminación</a:t>
                      </a:r>
                      <a:endParaRPr lang="ca-ES" sz="1100" dirty="0"/>
                    </a:p>
                  </a:txBody>
                  <a:tcPr/>
                </a:tc>
                <a:tc>
                  <a:txBody>
                    <a:bodyPr/>
                    <a:lstStyle/>
                    <a:p>
                      <a:r>
                        <a:rPr lang="ca-ES" sz="1100" dirty="0"/>
                        <a:t>0.43</a:t>
                      </a:r>
                      <a:endParaRPr lang="ca-ES" sz="1100" dirty="0"/>
                    </a:p>
                  </a:txBody>
                  <a:tcPr/>
                </a:tc>
              </a:tr>
              <a:tr h="212904">
                <a:tc>
                  <a:txBody>
                    <a:bodyPr/>
                    <a:lstStyle/>
                    <a:p>
                      <a:r>
                        <a:rPr lang="ca-ES" sz="1100" dirty="0" err="1"/>
                        <a:t>Escalado</a:t>
                      </a:r>
                      <a:r>
                        <a:rPr lang="ca-ES" sz="1100" dirty="0"/>
                        <a:t> de </a:t>
                      </a:r>
                      <a:r>
                        <a:rPr lang="ca-ES" sz="1100" dirty="0" err="1"/>
                        <a:t>numéricas</a:t>
                      </a:r>
                      <a:endParaRPr lang="ca-ES" sz="1100" dirty="0"/>
                    </a:p>
                  </a:txBody>
                  <a:tcPr/>
                </a:tc>
                <a:tc>
                  <a:txBody>
                    <a:bodyPr/>
                    <a:lstStyle/>
                    <a:p>
                      <a:r>
                        <a:rPr lang="ca-ES" sz="1100" dirty="0"/>
                        <a:t>Sí</a:t>
                      </a:r>
                      <a:endParaRPr lang="ca-ES" sz="1100" dirty="0"/>
                    </a:p>
                  </a:txBody>
                  <a:tcPr/>
                </a:tc>
              </a:tr>
              <a:tr h="212904">
                <a:tc>
                  <a:txBody>
                    <a:bodyPr/>
                    <a:lstStyle/>
                    <a:p>
                      <a:r>
                        <a:rPr lang="ca-ES" sz="1100" dirty="0"/>
                        <a:t>Cross </a:t>
                      </a:r>
                      <a:r>
                        <a:rPr lang="ca-ES" sz="1100" dirty="0" err="1"/>
                        <a:t>Validation</a:t>
                      </a:r>
                      <a:endParaRPr lang="ca-ES" sz="1100" dirty="0"/>
                    </a:p>
                  </a:txBody>
                  <a:tcPr/>
                </a:tc>
                <a:tc>
                  <a:txBody>
                    <a:bodyPr/>
                    <a:lstStyle/>
                    <a:p>
                      <a:r>
                        <a:rPr lang="ca-ES" sz="1100" dirty="0"/>
                        <a:t>Sí (10 </a:t>
                      </a:r>
                      <a:r>
                        <a:rPr lang="ca-ES" sz="1100" dirty="0" err="1"/>
                        <a:t>folds</a:t>
                      </a:r>
                      <a:r>
                        <a:rPr lang="ca-ES" sz="1100" dirty="0"/>
                        <a:t>)</a:t>
                      </a:r>
                      <a:endParaRPr lang="ca-ES" sz="1100" dirty="0"/>
                    </a:p>
                  </a:txBody>
                  <a:tcPr/>
                </a:tc>
              </a:tr>
              <a:tr h="212904">
                <a:tc>
                  <a:txBody>
                    <a:bodyPr/>
                    <a:lstStyle/>
                    <a:p>
                      <a:r>
                        <a:rPr lang="ca-ES" sz="1100" dirty="0" err="1"/>
                        <a:t>Criterio</a:t>
                      </a:r>
                      <a:r>
                        <a:rPr lang="ca-ES" sz="1100" dirty="0"/>
                        <a:t> para dividir </a:t>
                      </a:r>
                      <a:r>
                        <a:rPr lang="ca-ES" sz="1100" dirty="0" err="1"/>
                        <a:t>nodos</a:t>
                      </a:r>
                      <a:endParaRPr lang="ca-ES" sz="1100" dirty="0"/>
                    </a:p>
                  </a:txBody>
                  <a:tcPr/>
                </a:tc>
                <a:tc>
                  <a:txBody>
                    <a:bodyPr/>
                    <a:lstStyle/>
                    <a:p>
                      <a:r>
                        <a:rPr lang="ca-ES" sz="1100" dirty="0" err="1"/>
                        <a:t>Índice</a:t>
                      </a:r>
                      <a:r>
                        <a:rPr lang="ca-ES" sz="1100" dirty="0"/>
                        <a:t> de </a:t>
                      </a:r>
                      <a:r>
                        <a:rPr lang="ca-ES" sz="1100" dirty="0" err="1"/>
                        <a:t>Gini</a:t>
                      </a:r>
                      <a:endParaRPr lang="ca-ES" sz="1100" dirty="0"/>
                    </a:p>
                  </a:txBody>
                  <a:tcPr/>
                </a:tc>
              </a:tr>
              <a:tr h="361936">
                <a:tc>
                  <a:txBody>
                    <a:bodyPr/>
                    <a:lstStyle/>
                    <a:p>
                      <a:r>
                        <a:rPr lang="ca-ES" sz="1100" dirty="0" err="1"/>
                        <a:t>Parámetro</a:t>
                      </a:r>
                      <a:r>
                        <a:rPr lang="ca-ES" sz="1100" dirty="0"/>
                        <a:t> de </a:t>
                      </a:r>
                      <a:r>
                        <a:rPr lang="ca-ES" sz="1100" dirty="0" err="1"/>
                        <a:t>complejidad</a:t>
                      </a:r>
                      <a:r>
                        <a:rPr lang="ca-ES" sz="1100" dirty="0"/>
                        <a:t> </a:t>
                      </a:r>
                      <a:r>
                        <a:rPr lang="ca-ES" sz="1100" dirty="0" err="1"/>
                        <a:t>Cp</a:t>
                      </a:r>
                      <a:endParaRPr lang="ca-ES" sz="1100" dirty="0"/>
                    </a:p>
                  </a:txBody>
                  <a:tcPr/>
                </a:tc>
                <a:tc>
                  <a:txBody>
                    <a:bodyPr/>
                    <a:lstStyle/>
                    <a:p>
                      <a:r>
                        <a:rPr lang="ca-ES" sz="1100" dirty="0" err="1"/>
                        <a:t>Optimizado</a:t>
                      </a:r>
                      <a:r>
                        <a:rPr lang="ca-ES" sz="1100" dirty="0"/>
                        <a:t> </a:t>
                      </a:r>
                      <a:r>
                        <a:rPr lang="ca-ES" sz="1100" dirty="0" err="1"/>
                        <a:t>vía</a:t>
                      </a:r>
                      <a:r>
                        <a:rPr lang="ca-ES" sz="1100" dirty="0"/>
                        <a:t> CV=&gt; </a:t>
                      </a:r>
                      <a:r>
                        <a:rPr lang="es-ES" sz="1100" dirty="0"/>
                        <a:t>0.004039924</a:t>
                      </a:r>
                      <a:endParaRPr lang="ca-ES" sz="1100" dirty="0"/>
                    </a:p>
                  </a:txBody>
                  <a:tcPr/>
                </a:tc>
              </a:tr>
              <a:tr h="212904">
                <a:tc>
                  <a:txBody>
                    <a:bodyPr/>
                    <a:lstStyle/>
                    <a:p>
                      <a:r>
                        <a:rPr lang="ca-ES" sz="1100" dirty="0"/>
                        <a:t>Número total de </a:t>
                      </a:r>
                      <a:r>
                        <a:rPr lang="ca-ES" sz="1100" dirty="0" err="1"/>
                        <a:t>nodos</a:t>
                      </a:r>
                      <a:endParaRPr lang="ca-ES" sz="1100" dirty="0"/>
                    </a:p>
                  </a:txBody>
                  <a:tcPr/>
                </a:tc>
                <a:tc>
                  <a:txBody>
                    <a:bodyPr/>
                    <a:lstStyle/>
                    <a:p>
                      <a:r>
                        <a:rPr lang="ca-ES" sz="1100" dirty="0"/>
                        <a:t>27</a:t>
                      </a:r>
                      <a:endParaRPr lang="ca-ES" sz="1100" dirty="0"/>
                    </a:p>
                  </a:txBody>
                  <a:tcPr/>
                </a:tc>
              </a:tr>
              <a:tr h="212904">
                <a:tc>
                  <a:txBody>
                    <a:bodyPr/>
                    <a:lstStyle/>
                    <a:p>
                      <a:r>
                        <a:rPr lang="ca-ES" sz="1100" dirty="0"/>
                        <a:t>Número de </a:t>
                      </a:r>
                      <a:r>
                        <a:rPr lang="ca-ES" sz="1100" dirty="0" err="1"/>
                        <a:t>hojas</a:t>
                      </a:r>
                      <a:endParaRPr lang="ca-ES" sz="1100" dirty="0"/>
                    </a:p>
                  </a:txBody>
                  <a:tcPr/>
                </a:tc>
                <a:tc>
                  <a:txBody>
                    <a:bodyPr/>
                    <a:lstStyle/>
                    <a:p>
                      <a:r>
                        <a:rPr lang="ca-ES" sz="1100" dirty="0"/>
                        <a:t>14</a:t>
                      </a:r>
                      <a:endParaRPr lang="ca-ES" sz="1100" dirty="0"/>
                    </a:p>
                  </a:txBody>
                  <a:tcPr/>
                </a:tc>
              </a:tr>
              <a:tr h="212904">
                <a:tc>
                  <a:txBody>
                    <a:bodyPr/>
                    <a:lstStyle/>
                    <a:p>
                      <a:r>
                        <a:rPr lang="ca-ES" sz="1100" dirty="0" err="1"/>
                        <a:t>Tamáño</a:t>
                      </a:r>
                      <a:r>
                        <a:rPr lang="ca-ES" sz="1100" dirty="0"/>
                        <a:t> </a:t>
                      </a:r>
                      <a:r>
                        <a:rPr lang="ca-ES" sz="1100" dirty="0" err="1"/>
                        <a:t>mínimo</a:t>
                      </a:r>
                      <a:r>
                        <a:rPr lang="ca-ES" sz="1100" dirty="0"/>
                        <a:t> de </a:t>
                      </a:r>
                      <a:r>
                        <a:rPr lang="ca-ES" sz="1100" dirty="0" err="1"/>
                        <a:t>hoja</a:t>
                      </a:r>
                      <a:endParaRPr lang="ca-ES" sz="1100" dirty="0"/>
                    </a:p>
                  </a:txBody>
                  <a:tcPr/>
                </a:tc>
                <a:tc>
                  <a:txBody>
                    <a:bodyPr/>
                    <a:lstStyle/>
                    <a:p>
                      <a:r>
                        <a:rPr lang="ca-ES" sz="1100" dirty="0"/>
                        <a:t>15</a:t>
                      </a:r>
                      <a:endParaRPr lang="ca-ES" sz="1100" dirty="0"/>
                    </a:p>
                  </a:txBody>
                  <a:tcPr/>
                </a:tc>
              </a:tr>
            </a:tbl>
          </a:graphicData>
        </a:graphic>
      </p:graphicFrame>
      <p:sp>
        <p:nvSpPr>
          <p:cNvPr id="6" name="AutoShape 2"/>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ca-ES"/>
          </a:p>
        </p:txBody>
      </p:sp>
      <p:graphicFrame>
        <p:nvGraphicFramePr>
          <p:cNvPr id="7" name="Tabla 6"/>
          <p:cNvGraphicFramePr>
            <a:graphicFrameLocks noGrp="1"/>
          </p:cNvGraphicFramePr>
          <p:nvPr/>
        </p:nvGraphicFramePr>
        <p:xfrm>
          <a:off x="5293793" y="1590562"/>
          <a:ext cx="3552842" cy="2758444"/>
        </p:xfrm>
        <a:graphic>
          <a:graphicData uri="http://schemas.openxmlformats.org/drawingml/2006/table">
            <a:tbl>
              <a:tblPr firstRow="1" bandRow="1">
                <a:tableStyleId>{69012ECD-51FC-41F1-AA8D-1B2483CD663E}</a:tableStyleId>
              </a:tblPr>
              <a:tblGrid>
                <a:gridCol w="1776421"/>
                <a:gridCol w="1776421"/>
              </a:tblGrid>
              <a:tr h="293545">
                <a:tc>
                  <a:txBody>
                    <a:bodyPr/>
                    <a:lstStyle/>
                    <a:p>
                      <a:r>
                        <a:rPr lang="ca-ES" sz="1100" dirty="0"/>
                        <a:t>KPI</a:t>
                      </a:r>
                      <a:endParaRPr lang="ca-ES" sz="1100" dirty="0"/>
                    </a:p>
                  </a:txBody>
                  <a:tcPr/>
                </a:tc>
                <a:tc>
                  <a:txBody>
                    <a:bodyPr/>
                    <a:lstStyle/>
                    <a:p>
                      <a:r>
                        <a:rPr lang="ca-ES" sz="1100" dirty="0"/>
                        <a:t>Valor</a:t>
                      </a:r>
                      <a:endParaRPr lang="ca-ES" sz="1100" dirty="0"/>
                    </a:p>
                  </a:txBody>
                  <a:tcPr/>
                </a:tc>
              </a:tr>
              <a:tr h="293545">
                <a:tc>
                  <a:txBody>
                    <a:bodyPr/>
                    <a:lstStyle/>
                    <a:p>
                      <a:r>
                        <a:rPr lang="ca-ES" sz="1100" dirty="0"/>
                        <a:t>F1 </a:t>
                      </a:r>
                      <a:r>
                        <a:rPr lang="ca-ES" sz="1100" dirty="0" err="1"/>
                        <a:t>train</a:t>
                      </a:r>
                      <a:endParaRPr lang="ca-ES" sz="1100" dirty="0"/>
                    </a:p>
                  </a:txBody>
                  <a:tcPr/>
                </a:tc>
                <a:tc>
                  <a:txBody>
                    <a:bodyPr/>
                    <a:lstStyle/>
                    <a:p>
                      <a:r>
                        <a:rPr lang="ca-ES" sz="1100" dirty="0"/>
                        <a:t>0.4870878</a:t>
                      </a:r>
                      <a:endParaRPr lang="ca-ES" sz="1100" dirty="0"/>
                    </a:p>
                  </a:txBody>
                  <a:tcPr/>
                </a:tc>
              </a:tr>
              <a:tr h="293545">
                <a:tc>
                  <a:txBody>
                    <a:bodyPr/>
                    <a:lstStyle/>
                    <a:p>
                      <a:r>
                        <a:rPr lang="ca-ES" sz="1100" dirty="0"/>
                        <a:t>F1 test</a:t>
                      </a:r>
                      <a:endParaRPr lang="ca-ES" sz="1100" dirty="0"/>
                    </a:p>
                  </a:txBody>
                  <a:tcPr/>
                </a:tc>
                <a:tc>
                  <a:txBody>
                    <a:bodyPr/>
                    <a:lstStyle/>
                    <a:p>
                      <a:r>
                        <a:rPr lang="ca-ES" sz="1100" dirty="0"/>
                        <a:t>0.4990826</a:t>
                      </a:r>
                      <a:endParaRPr lang="ca-ES" sz="1100" dirty="0"/>
                    </a:p>
                  </a:txBody>
                  <a:tcPr/>
                </a:tc>
              </a:tr>
              <a:tr h="293545">
                <a:tc>
                  <a:txBody>
                    <a:bodyPr/>
                    <a:lstStyle/>
                    <a:p>
                      <a:r>
                        <a:rPr lang="ca-ES" sz="1100" dirty="0" err="1"/>
                        <a:t>Recall</a:t>
                      </a:r>
                      <a:r>
                        <a:rPr lang="ca-ES" sz="1100" dirty="0"/>
                        <a:t> </a:t>
                      </a:r>
                      <a:r>
                        <a:rPr lang="ca-ES" sz="1100" dirty="0" err="1"/>
                        <a:t>train</a:t>
                      </a:r>
                      <a:endParaRPr lang="ca-ES" sz="1100" dirty="0"/>
                    </a:p>
                  </a:txBody>
                  <a:tcPr/>
                </a:tc>
                <a:tc>
                  <a:txBody>
                    <a:bodyPr/>
                    <a:lstStyle/>
                    <a:p>
                      <a:r>
                        <a:rPr lang="ca-ES" sz="1100" dirty="0"/>
                        <a:t>0.607</a:t>
                      </a:r>
                      <a:endParaRPr lang="ca-ES" sz="1100" dirty="0"/>
                    </a:p>
                  </a:txBody>
                  <a:tcPr/>
                </a:tc>
              </a:tr>
              <a:tr h="293545">
                <a:tc>
                  <a:txBody>
                    <a:bodyPr/>
                    <a:lstStyle/>
                    <a:p>
                      <a:r>
                        <a:rPr lang="ca-ES" sz="1100" dirty="0" err="1"/>
                        <a:t>Recall</a:t>
                      </a:r>
                      <a:r>
                        <a:rPr lang="ca-ES" sz="1100" dirty="0"/>
                        <a:t> test</a:t>
                      </a:r>
                      <a:endParaRPr lang="ca-ES" sz="1100" dirty="0"/>
                    </a:p>
                  </a:txBody>
                  <a:tcPr/>
                </a:tc>
                <a:tc>
                  <a:txBody>
                    <a:bodyPr/>
                    <a:lstStyle/>
                    <a:p>
                      <a:r>
                        <a:rPr lang="ca-ES" sz="1100" dirty="0"/>
                        <a:t>0.61678</a:t>
                      </a:r>
                      <a:endParaRPr lang="ca-ES" sz="1100" dirty="0"/>
                    </a:p>
                  </a:txBody>
                  <a:tcPr/>
                </a:tc>
              </a:tr>
              <a:tr h="293545">
                <a:tc>
                  <a:txBody>
                    <a:bodyPr/>
                    <a:lstStyle/>
                    <a:p>
                      <a:r>
                        <a:rPr lang="ca-ES" sz="1100" dirty="0" err="1"/>
                        <a:t>Sprecificity_train</a:t>
                      </a:r>
                      <a:endParaRPr lang="ca-ES" sz="1100" dirty="0"/>
                    </a:p>
                  </a:txBody>
                  <a:tcPr/>
                </a:tc>
                <a:tc>
                  <a:txBody>
                    <a:bodyPr/>
                    <a:lstStyle/>
                    <a:p>
                      <a:r>
                        <a:rPr lang="ca-ES" sz="1100" dirty="0"/>
                        <a:t>0.769982</a:t>
                      </a:r>
                      <a:endParaRPr lang="ca-ES" sz="1100" dirty="0"/>
                    </a:p>
                  </a:txBody>
                  <a:tcPr/>
                </a:tc>
              </a:tr>
              <a:tr h="410084">
                <a:tc>
                  <a:txBody>
                    <a:bodyPr/>
                    <a:lstStyle/>
                    <a:p>
                      <a:r>
                        <a:rPr lang="ca-ES" sz="1100" dirty="0" err="1"/>
                        <a:t>Specificity</a:t>
                      </a:r>
                      <a:r>
                        <a:rPr lang="ca-ES" sz="1100" dirty="0"/>
                        <a:t> test</a:t>
                      </a:r>
                      <a:endParaRPr lang="ca-ES" sz="1100" dirty="0"/>
                    </a:p>
                  </a:txBody>
                  <a:tcPr/>
                </a:tc>
                <a:tc>
                  <a:txBody>
                    <a:bodyPr/>
                    <a:lstStyle/>
                    <a:p>
                      <a:r>
                        <a:rPr lang="ca-ES" sz="1100" dirty="0"/>
                        <a:t>0.7727</a:t>
                      </a:r>
                      <a:endParaRPr lang="ca-ES" sz="1100" dirty="0"/>
                    </a:p>
                  </a:txBody>
                  <a:tcPr/>
                </a:tc>
              </a:tr>
              <a:tr h="293545">
                <a:tc>
                  <a:txBody>
                    <a:bodyPr/>
                    <a:lstStyle/>
                    <a:p>
                      <a:r>
                        <a:rPr lang="ca-ES" sz="1100" dirty="0" err="1"/>
                        <a:t>Accuracy</a:t>
                      </a:r>
                      <a:r>
                        <a:rPr lang="ca-ES" sz="1100" dirty="0"/>
                        <a:t> </a:t>
                      </a:r>
                      <a:r>
                        <a:rPr lang="ca-ES" sz="1100" dirty="0" err="1"/>
                        <a:t>train</a:t>
                      </a:r>
                      <a:endParaRPr lang="ca-ES" sz="1100" dirty="0"/>
                    </a:p>
                  </a:txBody>
                  <a:tcPr/>
                </a:tc>
                <a:tc>
                  <a:txBody>
                    <a:bodyPr/>
                    <a:lstStyle/>
                    <a:p>
                      <a:r>
                        <a:rPr lang="ca-ES" sz="1100" dirty="0"/>
                        <a:t>0.7365306</a:t>
                      </a:r>
                      <a:endParaRPr lang="ca-ES" sz="1100" dirty="0"/>
                    </a:p>
                  </a:txBody>
                  <a:tcPr/>
                </a:tc>
              </a:tr>
              <a:tr h="293545">
                <a:tc>
                  <a:txBody>
                    <a:bodyPr/>
                    <a:lstStyle/>
                    <a:p>
                      <a:r>
                        <a:rPr lang="ca-ES" sz="1100" dirty="0" err="1"/>
                        <a:t>Accuracy</a:t>
                      </a:r>
                      <a:r>
                        <a:rPr lang="ca-ES" sz="1100" dirty="0"/>
                        <a:t> test</a:t>
                      </a:r>
                      <a:endParaRPr lang="ca-ES" sz="1100" dirty="0"/>
                    </a:p>
                  </a:txBody>
                  <a:tcPr/>
                </a:tc>
                <a:tc>
                  <a:txBody>
                    <a:bodyPr/>
                    <a:lstStyle/>
                    <a:p>
                      <a:r>
                        <a:rPr lang="ca-ES" sz="1100" dirty="0"/>
                        <a:t>0.74</a:t>
                      </a:r>
                      <a:endParaRPr lang="ca-ES" sz="1100" dirty="0"/>
                    </a:p>
                  </a:txBody>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Diagrama"/>
          <p:cNvPicPr>
            <a:picLocks noChangeAspect="1"/>
          </p:cNvPicPr>
          <p:nvPr/>
        </p:nvPicPr>
        <p:blipFill>
          <a:blip r:embed="rId1"/>
          <a:stretch>
            <a:fillRect/>
          </a:stretch>
        </p:blipFill>
        <p:spPr>
          <a:xfrm>
            <a:off x="0" y="745295"/>
            <a:ext cx="7289822" cy="4103648"/>
          </a:xfrm>
          <a:prstGeom prst="rect">
            <a:avLst/>
          </a:prstGeom>
        </p:spPr>
      </p:pic>
      <p:pic>
        <p:nvPicPr>
          <p:cNvPr id="10" name="Imagen 9" descr="Tabla&#10;&#10;El contenido generado por IA puede ser incorrecto."/>
          <p:cNvPicPr>
            <a:picLocks noChangeAspect="1"/>
          </p:cNvPicPr>
          <p:nvPr/>
        </p:nvPicPr>
        <p:blipFill>
          <a:blip r:embed="rId2"/>
          <a:stretch>
            <a:fillRect/>
          </a:stretch>
        </p:blipFill>
        <p:spPr>
          <a:xfrm>
            <a:off x="7078382" y="2152297"/>
            <a:ext cx="2065618" cy="210318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err="1"/>
              <a:t>Random</a:t>
            </a:r>
            <a:r>
              <a:rPr lang="es-ES" dirty="0"/>
              <a:t> Forest</a:t>
            </a:r>
            <a:endParaRPr lang="es-E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err="1"/>
              <a:t>XGBoost</a:t>
            </a:r>
            <a:endParaRPr lang="es-E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GLM</a:t>
            </a:r>
            <a:endParaRPr lang="es-E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SVM</a:t>
            </a:r>
            <a:endParaRPr lang="es-E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Mejores modelos i métodos</a:t>
            </a:r>
            <a:endParaRPr lang="es-ES" dirty="0"/>
          </a:p>
        </p:txBody>
      </p:sp>
    </p:spTree>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0</TotalTime>
  <Words>7092</Words>
  <Application>WPS 演示</Application>
  <PresentationFormat>Presentación en pantalla (16:9)</PresentationFormat>
  <Paragraphs>395</Paragraphs>
  <Slides>18</Slides>
  <Notes>11</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18</vt:i4>
      </vt:variant>
    </vt:vector>
  </HeadingPairs>
  <TitlesOfParts>
    <vt:vector size="33" baseType="lpstr">
      <vt:lpstr>Arial</vt:lpstr>
      <vt:lpstr>宋体</vt:lpstr>
      <vt:lpstr>Wingdings</vt:lpstr>
      <vt:lpstr>Arial</vt:lpstr>
      <vt:lpstr>Poppins</vt:lpstr>
      <vt:lpstr>Didact Gothic</vt:lpstr>
      <vt:lpstr>Libre Franklin</vt:lpstr>
      <vt:lpstr>Raleway</vt:lpstr>
      <vt:lpstr>Arial Black</vt:lpstr>
      <vt:lpstr>ui-sans-serif</vt:lpstr>
      <vt:lpstr>Segoe Print</vt:lpstr>
      <vt:lpstr>Arial Rounded MT Bold</vt:lpstr>
      <vt:lpstr>微软雅黑</vt:lpstr>
      <vt:lpstr>Arial Unicode MS</vt:lpstr>
      <vt:lpstr>Cycle Diagrams Theme for a Business Plan by Slidesgo</vt:lpstr>
      <vt:lpstr>Modelo de clasificación  GRUPO 5</vt:lpstr>
      <vt:lpstr>ENTENDIMIENTO DE NEGOCIO</vt:lpstr>
      <vt:lpstr>FRAMEWORK METODOLÓGICO</vt:lpstr>
      <vt:lpstr>Tratamiento de Missing</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vt:lpstr>
      <vt:lpstr>Árbol de desición</vt:lpstr>
      <vt:lpstr>PowerPoint 演示文稿</vt:lpstr>
      <vt:lpstr>Random Forest</vt:lpstr>
      <vt:lpstr>XGBoost</vt:lpstr>
      <vt:lpstr>GLM</vt:lpstr>
      <vt:lpstr>SVM</vt:lpstr>
      <vt:lpstr>Mejores modelos i métodos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Modelo de clasificación  GRUPO 5</dc:title>
  <dc:creator>Mario Aragón Valderrama</dc:creator>
  <cp:lastModifiedBy>Senri</cp:lastModifiedBy>
  <cp:revision>19</cp:revision>
  <dcterms:created xsi:type="dcterms:W3CDTF">2025-12-15T06:46:40Z</dcterms:created>
  <dcterms:modified xsi:type="dcterms:W3CDTF">2025-12-15T06:47:15Z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060FF5A1F8DE40999C85C594E7927946_12</vt:lpwstr>
  </property>
  <property fmtid="{D5CDD505-2E9C-101B-9397-08002B2CF9AE}" pid="3" name="KSOProductBuildVer">
    <vt:lpwstr>2052-12.1.0.24034</vt:lpwstr>
  </property>
</Properties>
</file>