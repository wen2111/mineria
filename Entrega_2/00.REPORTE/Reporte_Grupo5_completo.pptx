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85" r:id="rId2"/>
    <p:sldId id="270" r:id="rId3"/>
    <p:sldId id="272" r:id="rId4"/>
    <p:sldId id="275" r:id="rId5"/>
    <p:sldId id="291" r:id="rId6"/>
    <p:sldId id="277" r:id="rId7"/>
    <p:sldId id="278" r:id="rId8"/>
    <p:sldId id="281" r:id="rId9"/>
    <p:sldId id="301" r:id="rId10"/>
    <p:sldId id="299" r:id="rId11"/>
    <p:sldId id="302" r:id="rId12"/>
    <p:sldId id="303" r:id="rId13"/>
    <p:sldId id="304" r:id="rId14"/>
    <p:sldId id="295" r:id="rId15"/>
    <p:sldId id="305" r:id="rId16"/>
    <p:sldId id="306" r:id="rId17"/>
    <p:sldId id="307" r:id="rId18"/>
    <p:sldId id="308" r:id="rId19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21"/>
    </p:embeddedFont>
    <p:embeddedFont>
      <p:font typeface="Libre Franklin" pitchFamily="2" charset="0"/>
      <p:regular r:id="rId22"/>
      <p:bold r:id="rId23"/>
      <p:italic r:id="rId24"/>
      <p:boldItalic r:id="rId25"/>
    </p:embeddedFont>
    <p:embeddedFont>
      <p:font typeface="Lucida Console" panose="020B0609040504020204" pitchFamily="49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io Aragón Valderrama" initials="M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C41C9F-06CD-AC74-6477-F8232BBF759E}" v="2" dt="2025-12-17T13:41:34.324"/>
    <p1510:client id="{645232EF-6BE0-7D9C-D649-EBE87B436A34}" v="53" dt="2025-12-17T18:21:43.2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FD54D1E-A07F-487E-B709-6B33F14531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 autoAdjust="0"/>
    <p:restoredTop sz="94668"/>
  </p:normalViewPr>
  <p:slideViewPr>
    <p:cSldViewPr snapToGrid="0">
      <p:cViewPr varScale="1">
        <p:scale>
          <a:sx n="125" d="100"/>
          <a:sy n="125" d="100"/>
        </p:scale>
        <p:origin x="168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ling G" userId="c2e56b80bdc69756" providerId="Windows Live" clId="Web-{35C41C9F-06CD-AC74-6477-F8232BBF759E}"/>
    <pc:docChg chg="modSld">
      <pc:chgData name="Siling G" userId="c2e56b80bdc69756" providerId="Windows Live" clId="Web-{35C41C9F-06CD-AC74-6477-F8232BBF759E}" dt="2025-12-17T13:41:34.324" v="1" actId="20577"/>
      <pc:docMkLst>
        <pc:docMk/>
      </pc:docMkLst>
      <pc:sldChg chg="modSp">
        <pc:chgData name="Siling G" userId="c2e56b80bdc69756" providerId="Windows Live" clId="Web-{35C41C9F-06CD-AC74-6477-F8232BBF759E}" dt="2025-12-17T13:41:34.324" v="1" actId="20577"/>
        <pc:sldMkLst>
          <pc:docMk/>
          <pc:sldMk cId="0" sldId="285"/>
        </pc:sldMkLst>
        <pc:spChg chg="mod">
          <ac:chgData name="Siling G" userId="c2e56b80bdc69756" providerId="Windows Live" clId="Web-{35C41C9F-06CD-AC74-6477-F8232BBF759E}" dt="2025-12-17T13:41:34.324" v="1" actId="20577"/>
          <ac:spMkLst>
            <pc:docMk/>
            <pc:sldMk cId="0" sldId="285"/>
            <ac:spMk id="4" creationId="{00000000-0000-0000-0000-000000000000}"/>
          </ac:spMkLst>
        </pc:spChg>
      </pc:sldChg>
    </pc:docChg>
  </pc:docChgLst>
  <pc:docChgLst>
    <pc:chgData name="Siling G" userId="c2e56b80bdc69756" providerId="Windows Live" clId="Web-{645232EF-6BE0-7D9C-D649-EBE87B436A34}"/>
    <pc:docChg chg="addSld delSld modSld sldOrd">
      <pc:chgData name="Siling G" userId="c2e56b80bdc69756" providerId="Windows Live" clId="Web-{645232EF-6BE0-7D9C-D649-EBE87B436A34}" dt="2025-12-17T18:21:41.621" v="49" actId="20577"/>
      <pc:docMkLst>
        <pc:docMk/>
      </pc:docMkLst>
      <pc:sldChg chg="add del">
        <pc:chgData name="Siling G" userId="c2e56b80bdc69756" providerId="Windows Live" clId="Web-{645232EF-6BE0-7D9C-D649-EBE87B436A34}" dt="2025-12-17T18:14:44.662" v="4"/>
        <pc:sldMkLst>
          <pc:docMk/>
          <pc:sldMk cId="0" sldId="279"/>
        </pc:sldMkLst>
      </pc:sldChg>
      <pc:sldChg chg="add del">
        <pc:chgData name="Siling G" userId="c2e56b80bdc69756" providerId="Windows Live" clId="Web-{645232EF-6BE0-7D9C-D649-EBE87B436A34}" dt="2025-12-17T18:15:16.991" v="11"/>
        <pc:sldMkLst>
          <pc:docMk/>
          <pc:sldMk cId="0" sldId="280"/>
        </pc:sldMkLst>
      </pc:sldChg>
      <pc:sldChg chg="add del">
        <pc:chgData name="Siling G" userId="c2e56b80bdc69756" providerId="Windows Live" clId="Web-{645232EF-6BE0-7D9C-D649-EBE87B436A34}" dt="2025-12-17T18:15:10.194" v="9"/>
        <pc:sldMkLst>
          <pc:docMk/>
          <pc:sldMk cId="0" sldId="281"/>
        </pc:sldMkLst>
      </pc:sldChg>
      <pc:sldChg chg="add del">
        <pc:chgData name="Siling G" userId="c2e56b80bdc69756" providerId="Windows Live" clId="Web-{645232EF-6BE0-7D9C-D649-EBE87B436A34}" dt="2025-12-17T18:15:48.132" v="12"/>
        <pc:sldMkLst>
          <pc:docMk/>
          <pc:sldMk cId="0" sldId="292"/>
        </pc:sldMkLst>
      </pc:sldChg>
      <pc:sldChg chg="del">
        <pc:chgData name="Siling G" userId="c2e56b80bdc69756" providerId="Windows Live" clId="Web-{645232EF-6BE0-7D9C-D649-EBE87B436A34}" dt="2025-12-17T18:16:12.023" v="14"/>
        <pc:sldMkLst>
          <pc:docMk/>
          <pc:sldMk cId="0" sldId="293"/>
        </pc:sldMkLst>
      </pc:sldChg>
      <pc:sldChg chg="del">
        <pc:chgData name="Siling G" userId="c2e56b80bdc69756" providerId="Windows Live" clId="Web-{645232EF-6BE0-7D9C-D649-EBE87B436A34}" dt="2025-12-17T18:16:24.742" v="15"/>
        <pc:sldMkLst>
          <pc:docMk/>
          <pc:sldMk cId="0" sldId="294"/>
        </pc:sldMkLst>
      </pc:sldChg>
      <pc:sldChg chg="ord">
        <pc:chgData name="Siling G" userId="c2e56b80bdc69756" providerId="Windows Live" clId="Web-{645232EF-6BE0-7D9C-D649-EBE87B436A34}" dt="2025-12-17T18:18:29.358" v="26"/>
        <pc:sldMkLst>
          <pc:docMk/>
          <pc:sldMk cId="0" sldId="295"/>
        </pc:sldMkLst>
      </pc:sldChg>
      <pc:sldChg chg="del ord">
        <pc:chgData name="Siling G" userId="c2e56b80bdc69756" providerId="Windows Live" clId="Web-{645232EF-6BE0-7D9C-D649-EBE87B436A34}" dt="2025-12-17T18:19:03.814" v="30"/>
        <pc:sldMkLst>
          <pc:docMk/>
          <pc:sldMk cId="0" sldId="296"/>
        </pc:sldMkLst>
      </pc:sldChg>
      <pc:sldChg chg="del">
        <pc:chgData name="Siling G" userId="c2e56b80bdc69756" providerId="Windows Live" clId="Web-{645232EF-6BE0-7D9C-D649-EBE87B436A34}" dt="2025-12-17T18:19:03.799" v="28"/>
        <pc:sldMkLst>
          <pc:docMk/>
          <pc:sldMk cId="0" sldId="297"/>
        </pc:sldMkLst>
      </pc:sldChg>
      <pc:sldChg chg="del">
        <pc:chgData name="Siling G" userId="c2e56b80bdc69756" providerId="Windows Live" clId="Web-{645232EF-6BE0-7D9C-D649-EBE87B436A34}" dt="2025-12-17T18:19:03.799" v="27"/>
        <pc:sldMkLst>
          <pc:docMk/>
          <pc:sldMk cId="0" sldId="298"/>
        </pc:sldMkLst>
      </pc:sldChg>
      <pc:sldChg chg="del">
        <pc:chgData name="Siling G" userId="c2e56b80bdc69756" providerId="Windows Live" clId="Web-{645232EF-6BE0-7D9C-D649-EBE87B436A34}" dt="2025-12-17T18:19:03.814" v="29"/>
        <pc:sldMkLst>
          <pc:docMk/>
          <pc:sldMk cId="2694522043" sldId="300"/>
        </pc:sldMkLst>
      </pc:sldChg>
      <pc:sldChg chg="add">
        <pc:chgData name="Siling G" userId="c2e56b80bdc69756" providerId="Windows Live" clId="Web-{645232EF-6BE0-7D9C-D649-EBE87B436A34}" dt="2025-12-17T18:16:10.085" v="13"/>
        <pc:sldMkLst>
          <pc:docMk/>
          <pc:sldMk cId="1080588372" sldId="301"/>
        </pc:sldMkLst>
      </pc:sldChg>
      <pc:sldChg chg="add">
        <pc:chgData name="Siling G" userId="c2e56b80bdc69756" providerId="Windows Live" clId="Web-{645232EF-6BE0-7D9C-D649-EBE87B436A34}" dt="2025-12-17T18:17:24.977" v="20"/>
        <pc:sldMkLst>
          <pc:docMk/>
          <pc:sldMk cId="1474104658" sldId="302"/>
        </pc:sldMkLst>
      </pc:sldChg>
      <pc:sldChg chg="add del">
        <pc:chgData name="Siling G" userId="c2e56b80bdc69756" providerId="Windows Live" clId="Web-{645232EF-6BE0-7D9C-D649-EBE87B436A34}" dt="2025-12-17T18:17:09.211" v="19"/>
        <pc:sldMkLst>
          <pc:docMk/>
          <pc:sldMk cId="2090640455" sldId="302"/>
        </pc:sldMkLst>
      </pc:sldChg>
      <pc:sldChg chg="add">
        <pc:chgData name="Siling G" userId="c2e56b80bdc69756" providerId="Windows Live" clId="Web-{645232EF-6BE0-7D9C-D649-EBE87B436A34}" dt="2025-12-17T18:17:31.994" v="21"/>
        <pc:sldMkLst>
          <pc:docMk/>
          <pc:sldMk cId="1524408290" sldId="303"/>
        </pc:sldMkLst>
      </pc:sldChg>
      <pc:sldChg chg="add">
        <pc:chgData name="Siling G" userId="c2e56b80bdc69756" providerId="Windows Live" clId="Web-{645232EF-6BE0-7D9C-D649-EBE87B436A34}" dt="2025-12-17T18:17:38.963" v="22"/>
        <pc:sldMkLst>
          <pc:docMk/>
          <pc:sldMk cId="2309209517" sldId="304"/>
        </pc:sldMkLst>
      </pc:sldChg>
      <pc:sldChg chg="add">
        <pc:chgData name="Siling G" userId="c2e56b80bdc69756" providerId="Windows Live" clId="Web-{645232EF-6BE0-7D9C-D649-EBE87B436A34}" dt="2025-12-17T18:17:45.995" v="23"/>
        <pc:sldMkLst>
          <pc:docMk/>
          <pc:sldMk cId="3322791335" sldId="305"/>
        </pc:sldMkLst>
      </pc:sldChg>
      <pc:sldChg chg="add">
        <pc:chgData name="Siling G" userId="c2e56b80bdc69756" providerId="Windows Live" clId="Web-{645232EF-6BE0-7D9C-D649-EBE87B436A34}" dt="2025-12-17T18:17:53.730" v="24"/>
        <pc:sldMkLst>
          <pc:docMk/>
          <pc:sldMk cId="3944751260" sldId="306"/>
        </pc:sldMkLst>
      </pc:sldChg>
      <pc:sldChg chg="modSp add">
        <pc:chgData name="Siling G" userId="c2e56b80bdc69756" providerId="Windows Live" clId="Web-{645232EF-6BE0-7D9C-D649-EBE87B436A34}" dt="2025-12-17T18:21:41.621" v="49" actId="20577"/>
        <pc:sldMkLst>
          <pc:docMk/>
          <pc:sldMk cId="1319515764" sldId="307"/>
        </pc:sldMkLst>
        <pc:spChg chg="mod">
          <ac:chgData name="Siling G" userId="c2e56b80bdc69756" providerId="Windows Live" clId="Web-{645232EF-6BE0-7D9C-D649-EBE87B436A34}" dt="2025-12-17T18:21:41.621" v="49" actId="20577"/>
          <ac:spMkLst>
            <pc:docMk/>
            <pc:sldMk cId="1319515764" sldId="307"/>
            <ac:spMk id="2" creationId="{00000000-0000-0000-0000-000000000000}"/>
          </ac:spMkLst>
        </pc:spChg>
      </pc:sldChg>
      <pc:sldChg chg="delSp modSp add replId">
        <pc:chgData name="Siling G" userId="c2e56b80bdc69756" providerId="Windows Live" clId="Web-{645232EF-6BE0-7D9C-D649-EBE87B436A34}" dt="2025-12-17T18:21:34.183" v="47" actId="20577"/>
        <pc:sldMkLst>
          <pc:docMk/>
          <pc:sldMk cId="3373186615" sldId="308"/>
        </pc:sldMkLst>
        <pc:spChg chg="mod">
          <ac:chgData name="Siling G" userId="c2e56b80bdc69756" providerId="Windows Live" clId="Web-{645232EF-6BE0-7D9C-D649-EBE87B436A34}" dt="2025-12-17T18:21:34.183" v="47" actId="20577"/>
          <ac:spMkLst>
            <pc:docMk/>
            <pc:sldMk cId="3373186615" sldId="308"/>
            <ac:spMk id="2" creationId="{744E8F24-AF72-DFA5-9CAE-072E2FD20465}"/>
          </ac:spMkLst>
        </pc:spChg>
        <pc:spChg chg="del mod">
          <ac:chgData name="Siling G" userId="c2e56b80bdc69756" providerId="Windows Live" clId="Web-{645232EF-6BE0-7D9C-D649-EBE87B436A34}" dt="2025-12-17T18:21:21.151" v="34"/>
          <ac:spMkLst>
            <pc:docMk/>
            <pc:sldMk cId="3373186615" sldId="308"/>
            <ac:spMk id="4" creationId="{E7B4D647-6399-6EF9-C2BD-1503E74C6F6E}"/>
          </ac:spMkLst>
        </pc:spChg>
      </pc:sldChg>
      <pc:sldChg chg="add del replId">
        <pc:chgData name="Siling G" userId="c2e56b80bdc69756" providerId="Windows Live" clId="Web-{645232EF-6BE0-7D9C-D649-EBE87B436A34}" dt="2025-12-17T18:21:25.542" v="38"/>
        <pc:sldMkLst>
          <pc:docMk/>
          <pc:sldMk cId="3671772499" sldId="309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DBD592-C900-4D5D-A79A-93A58E8DA172}" type="doc">
      <dgm:prSet loTypeId="urn:microsoft.com/office/officeart/2005/8/layout/vList4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s-ES"/>
        </a:p>
      </dgm:t>
    </dgm:pt>
    <dgm:pt modelId="{C9F99139-B66D-4219-861A-3EA127D493C0}">
      <dgm:prSet phldrT="[Texto]" phldr="0" custT="1"/>
      <dgm:spPr/>
      <dgm:t>
        <a:bodyPr/>
        <a:lstStyle/>
        <a:p>
          <a:r>
            <a:rPr lang="es-ES" sz="900" b="1" dirty="0">
              <a:solidFill>
                <a:srgbClr val="002060"/>
              </a:solidFill>
            </a:rPr>
            <a:t>	Business </a:t>
          </a:r>
          <a:r>
            <a:rPr lang="es-ES" sz="900" b="1" dirty="0" err="1">
              <a:solidFill>
                <a:srgbClr val="002060"/>
              </a:solidFill>
            </a:rPr>
            <a:t>understanding</a:t>
          </a:r>
          <a:r>
            <a:rPr lang="es-ES" sz="900" b="1" dirty="0">
              <a:solidFill>
                <a:srgbClr val="002060"/>
              </a:solidFill>
            </a:rPr>
            <a:t> </a:t>
          </a:r>
          <a:r>
            <a:rPr lang="es-ES" sz="900" dirty="0"/>
            <a:t>– Todo el equipo</a:t>
          </a:r>
        </a:p>
      </dgm:t>
    </dgm:pt>
    <dgm:pt modelId="{1C880A37-22BC-4FD9-8955-F47618D81BCC}" type="parTrans" cxnId="{2FF3EB71-C7F5-4619-AB74-5943DE39CC10}">
      <dgm:prSet/>
      <dgm:spPr/>
      <dgm:t>
        <a:bodyPr/>
        <a:lstStyle/>
        <a:p>
          <a:endParaRPr lang="es-ES" sz="2400"/>
        </a:p>
      </dgm:t>
    </dgm:pt>
    <dgm:pt modelId="{2ABCB300-CCE9-44E7-999D-3B03628596E1}" type="sibTrans" cxnId="{2FF3EB71-C7F5-4619-AB74-5943DE39CC10}">
      <dgm:prSet/>
      <dgm:spPr/>
      <dgm:t>
        <a:bodyPr/>
        <a:lstStyle/>
        <a:p>
          <a:endParaRPr lang="es-ES" sz="2400"/>
        </a:p>
      </dgm:t>
    </dgm:pt>
    <dgm:pt modelId="{B0A54B65-E829-4553-8B45-B4EBDAF3C233}">
      <dgm:prSet phldrT="[Texto]" phldr="0" custT="1"/>
      <dgm:spPr/>
      <dgm:t>
        <a:bodyPr/>
        <a:lstStyle/>
        <a:p>
          <a:r>
            <a:rPr lang="es-ES" sz="800" b="1" dirty="0">
              <a:solidFill>
                <a:srgbClr val="002060"/>
              </a:solidFill>
            </a:rPr>
            <a:t>      	Data </a:t>
          </a:r>
          <a:r>
            <a:rPr lang="es-ES" sz="800" b="1" dirty="0" err="1">
              <a:solidFill>
                <a:srgbClr val="002060"/>
              </a:solidFill>
            </a:rPr>
            <a:t>understanding</a:t>
          </a:r>
          <a:r>
            <a:rPr lang="es-ES" sz="800" b="1" dirty="0">
              <a:solidFill>
                <a:srgbClr val="002060"/>
              </a:solidFill>
            </a:rPr>
            <a:t> </a:t>
          </a:r>
          <a:r>
            <a:rPr lang="es-ES" sz="800" b="1" dirty="0"/>
            <a:t>-</a:t>
          </a:r>
          <a:r>
            <a:rPr lang="es-ES" sz="800" dirty="0"/>
            <a:t>  Todo el equipo</a:t>
          </a:r>
        </a:p>
        <a:p>
          <a:r>
            <a:rPr lang="es-ES" sz="800" dirty="0"/>
            <a:t>  	Diseño del </a:t>
          </a:r>
          <a:r>
            <a:rPr lang="es-ES" sz="800" dirty="0" err="1"/>
            <a:t>metadata</a:t>
          </a:r>
          <a:r>
            <a:rPr lang="es-ES" sz="800" dirty="0"/>
            <a:t> – Melissa</a:t>
          </a:r>
        </a:p>
        <a:p>
          <a:r>
            <a:rPr lang="es-ES" sz="800" dirty="0"/>
            <a:t>     	EDA– </a:t>
          </a:r>
          <a:r>
            <a:rPr lang="es-ES" sz="800" dirty="0" err="1"/>
            <a:t>Wenjia</a:t>
          </a:r>
          <a:r>
            <a:rPr lang="es-ES" sz="800" dirty="0"/>
            <a:t> y </a:t>
          </a:r>
          <a:r>
            <a:rPr lang="es-ES" sz="800" dirty="0" err="1"/>
            <a:t>Siling</a:t>
          </a:r>
          <a:endParaRPr lang="es-ES" sz="800" dirty="0"/>
        </a:p>
        <a:p>
          <a:r>
            <a:rPr lang="es-ES" sz="800" dirty="0"/>
            <a:t>     	Análisis de </a:t>
          </a:r>
          <a:r>
            <a:rPr lang="es-ES" sz="800" dirty="0" err="1"/>
            <a:t>outliers</a:t>
          </a:r>
          <a:r>
            <a:rPr lang="es-ES" sz="800" dirty="0"/>
            <a:t> (pre-imputación): Mario, Laura y Melissa</a:t>
          </a:r>
        </a:p>
        <a:p>
          <a:endParaRPr lang="es-ES" sz="800" dirty="0"/>
        </a:p>
      </dgm:t>
    </dgm:pt>
    <dgm:pt modelId="{58D673D6-CE1A-45C9-8DE0-8248CFA91FFF}" type="parTrans" cxnId="{62EFD2D3-AE51-4D7B-AC9A-B557C95CFE85}">
      <dgm:prSet/>
      <dgm:spPr/>
      <dgm:t>
        <a:bodyPr/>
        <a:lstStyle/>
        <a:p>
          <a:endParaRPr lang="es-ES" sz="2400"/>
        </a:p>
      </dgm:t>
    </dgm:pt>
    <dgm:pt modelId="{F068E20D-9182-40E9-81D3-3D2119E9E208}" type="sibTrans" cxnId="{62EFD2D3-AE51-4D7B-AC9A-B557C95CFE85}">
      <dgm:prSet/>
      <dgm:spPr/>
      <dgm:t>
        <a:bodyPr/>
        <a:lstStyle/>
        <a:p>
          <a:endParaRPr lang="es-ES" sz="2400"/>
        </a:p>
      </dgm:t>
    </dgm:pt>
    <dgm:pt modelId="{EBF196C3-A6DB-42DE-B168-0612EDF03693}">
      <dgm:prSet phldrT="[Texto]" phldr="0" custT="1"/>
      <dgm:spPr/>
      <dgm:t>
        <a:bodyPr/>
        <a:lstStyle/>
        <a:p>
          <a:r>
            <a:rPr lang="es-ES" sz="800" b="1" dirty="0">
              <a:solidFill>
                <a:srgbClr val="002060"/>
              </a:solidFill>
            </a:rPr>
            <a:t> 	Data </a:t>
          </a:r>
          <a:r>
            <a:rPr lang="es-ES" sz="800" b="1" dirty="0" err="1">
              <a:solidFill>
                <a:srgbClr val="002060"/>
              </a:solidFill>
            </a:rPr>
            <a:t>preparation</a:t>
          </a:r>
          <a:endParaRPr lang="es-ES" sz="800" b="1" dirty="0">
            <a:solidFill>
              <a:srgbClr val="002060"/>
            </a:solidFill>
          </a:endParaRPr>
        </a:p>
        <a:p>
          <a:r>
            <a:rPr lang="es-ES" sz="800" dirty="0"/>
            <a:t>	Imputación </a:t>
          </a:r>
          <a:r>
            <a:rPr lang="es-ES" sz="800" dirty="0" err="1"/>
            <a:t>missings</a:t>
          </a:r>
          <a:r>
            <a:rPr lang="es-ES" sz="800" dirty="0"/>
            <a:t> – Mario y Laura</a:t>
          </a:r>
        </a:p>
        <a:p>
          <a:r>
            <a:rPr lang="es-ES" sz="800" dirty="0"/>
            <a:t>	</a:t>
          </a:r>
          <a:r>
            <a:rPr lang="es-ES" sz="800" dirty="0" err="1"/>
            <a:t>Tratatamiento</a:t>
          </a:r>
          <a:r>
            <a:rPr lang="es-ES" sz="800" dirty="0"/>
            <a:t> </a:t>
          </a:r>
          <a:r>
            <a:rPr lang="es-ES" sz="800" dirty="0" err="1"/>
            <a:t>Outliers</a:t>
          </a:r>
          <a:r>
            <a:rPr lang="es-ES" sz="800" dirty="0"/>
            <a:t> – Mario, Laura y Melissa</a:t>
          </a:r>
        </a:p>
        <a:p>
          <a:r>
            <a:rPr lang="es-ES" sz="800" dirty="0"/>
            <a:t>	</a:t>
          </a:r>
          <a:r>
            <a:rPr lang="es-ES" sz="800" dirty="0" err="1"/>
            <a:t>Feature</a:t>
          </a:r>
          <a:r>
            <a:rPr lang="es-ES" sz="800" dirty="0"/>
            <a:t> </a:t>
          </a:r>
          <a:r>
            <a:rPr lang="es-ES" sz="800" dirty="0" err="1"/>
            <a:t>Engineering</a:t>
          </a:r>
          <a:r>
            <a:rPr lang="es-ES" sz="800" dirty="0"/>
            <a:t>– </a:t>
          </a:r>
          <a:r>
            <a:rPr lang="es-ES" sz="800" dirty="0" err="1"/>
            <a:t>Wenjia</a:t>
          </a:r>
          <a:r>
            <a:rPr lang="es-ES" sz="800" dirty="0"/>
            <a:t>, Melissa</a:t>
          </a:r>
        </a:p>
      </dgm:t>
    </dgm:pt>
    <dgm:pt modelId="{9BCB12AF-3FDE-4ECC-9F8F-CED83AED7CCB}" type="parTrans" cxnId="{09CD5CFB-F57C-4EA7-9B86-AED2343EDF67}">
      <dgm:prSet/>
      <dgm:spPr/>
      <dgm:t>
        <a:bodyPr/>
        <a:lstStyle/>
        <a:p>
          <a:endParaRPr lang="es-ES" sz="2400"/>
        </a:p>
      </dgm:t>
    </dgm:pt>
    <dgm:pt modelId="{C16B64A7-40EB-4C86-BE64-8EBACDE653C3}" type="sibTrans" cxnId="{09CD5CFB-F57C-4EA7-9B86-AED2343EDF67}">
      <dgm:prSet/>
      <dgm:spPr/>
      <dgm:t>
        <a:bodyPr/>
        <a:lstStyle/>
        <a:p>
          <a:endParaRPr lang="es-ES" sz="2400"/>
        </a:p>
      </dgm:t>
    </dgm:pt>
    <dgm:pt modelId="{D3DB2985-286F-4E1B-A3EF-B67DCD1C08F6}">
      <dgm:prSet phldrT="[Texto]" phldr="0" custT="1"/>
      <dgm:spPr/>
      <dgm:t>
        <a:bodyPr/>
        <a:lstStyle/>
        <a:p>
          <a:r>
            <a:rPr lang="es-ES" sz="800" b="1" dirty="0">
              <a:solidFill>
                <a:srgbClr val="002060"/>
              </a:solidFill>
            </a:rPr>
            <a:t>            	</a:t>
          </a:r>
          <a:r>
            <a:rPr lang="es-ES" sz="800" b="1" dirty="0" err="1">
              <a:solidFill>
                <a:srgbClr val="002060"/>
              </a:solidFill>
            </a:rPr>
            <a:t>Modeling</a:t>
          </a:r>
          <a:r>
            <a:rPr lang="es-ES" sz="800" b="1" dirty="0">
              <a:solidFill>
                <a:srgbClr val="002060"/>
              </a:solidFill>
            </a:rPr>
            <a:t> &amp; </a:t>
          </a:r>
          <a:r>
            <a:rPr lang="es-ES" sz="800" b="1" dirty="0" err="1">
              <a:solidFill>
                <a:srgbClr val="002060"/>
              </a:solidFill>
            </a:rPr>
            <a:t>Evaluation</a:t>
          </a:r>
          <a:endParaRPr lang="es-ES" sz="800" b="1" dirty="0">
            <a:solidFill>
              <a:srgbClr val="002060"/>
            </a:solidFill>
          </a:endParaRPr>
        </a:p>
        <a:p>
          <a:r>
            <a:rPr lang="es-ES" sz="700" dirty="0"/>
            <a:t>	KNN - </a:t>
          </a:r>
          <a:r>
            <a:rPr lang="es-ES" sz="700" dirty="0" err="1"/>
            <a:t>Siling</a:t>
          </a:r>
          <a:r>
            <a:rPr lang="es-ES" sz="700" dirty="0"/>
            <a:t>, Laura		SVM - Laura, Mario, </a:t>
          </a:r>
          <a:r>
            <a:rPr lang="es-ES" sz="700" dirty="0" err="1"/>
            <a:t>Wenjia</a:t>
          </a:r>
          <a:r>
            <a:rPr lang="es-ES" sz="700" dirty="0"/>
            <a:t>	</a:t>
          </a:r>
        </a:p>
        <a:p>
          <a:r>
            <a:rPr lang="es-ES" sz="700" dirty="0"/>
            <a:t>               </a:t>
          </a:r>
          <a:r>
            <a:rPr lang="es-ES" sz="700" dirty="0" err="1"/>
            <a:t>Naive</a:t>
          </a:r>
          <a:r>
            <a:rPr lang="es-ES" sz="700" dirty="0"/>
            <a:t> Bayes - Melissa, </a:t>
          </a:r>
          <a:r>
            <a:rPr lang="es-ES" sz="700" dirty="0" err="1"/>
            <a:t>Wenjia</a:t>
          </a:r>
          <a:r>
            <a:rPr lang="es-ES" sz="700" dirty="0"/>
            <a:t>	</a:t>
          </a:r>
          <a:r>
            <a:rPr lang="es-ES" sz="700" dirty="0" err="1"/>
            <a:t>XGBoost</a:t>
          </a:r>
          <a:r>
            <a:rPr lang="es-ES" sz="700" dirty="0"/>
            <a:t> - </a:t>
          </a:r>
          <a:r>
            <a:rPr lang="es-ES" sz="700" dirty="0" err="1"/>
            <a:t>Wenjia</a:t>
          </a:r>
          <a:r>
            <a:rPr lang="es-ES" sz="700" dirty="0"/>
            <a:t>, Melissa, </a:t>
          </a:r>
          <a:r>
            <a:rPr lang="es-ES" sz="700" dirty="0" err="1"/>
            <a:t>Siling</a:t>
          </a:r>
          <a:r>
            <a:rPr lang="es-ES" sz="700" dirty="0"/>
            <a:t>, Mario</a:t>
          </a:r>
        </a:p>
        <a:p>
          <a:r>
            <a:rPr lang="es-ES" sz="700" dirty="0"/>
            <a:t>               GLM - </a:t>
          </a:r>
          <a:r>
            <a:rPr lang="es-ES" sz="700" dirty="0" err="1"/>
            <a:t>Wenjia</a:t>
          </a:r>
          <a:r>
            <a:rPr lang="es-ES" sz="700" dirty="0"/>
            <a:t>, Melissa		</a:t>
          </a:r>
          <a:r>
            <a:rPr lang="es-ES" sz="700" dirty="0" err="1"/>
            <a:t>Random</a:t>
          </a:r>
          <a:r>
            <a:rPr lang="es-ES" sz="700" dirty="0"/>
            <a:t> Forest - </a:t>
          </a:r>
          <a:r>
            <a:rPr lang="es-ES" sz="700" dirty="0" err="1"/>
            <a:t>Wenjia</a:t>
          </a:r>
          <a:r>
            <a:rPr lang="es-ES" sz="700" dirty="0"/>
            <a:t>, Melissa, Mario</a:t>
          </a:r>
          <a:endParaRPr lang="es-ES" sz="800" b="1" dirty="0">
            <a:solidFill>
              <a:srgbClr val="002060"/>
            </a:solidFill>
          </a:endParaRPr>
        </a:p>
      </dgm:t>
    </dgm:pt>
    <dgm:pt modelId="{3A914AC6-6594-4B0A-A5A2-C491F53EF95C}" type="parTrans" cxnId="{D2E0ED84-53E3-49A1-A292-3EA003DD3B1F}">
      <dgm:prSet/>
      <dgm:spPr/>
      <dgm:t>
        <a:bodyPr/>
        <a:lstStyle/>
        <a:p>
          <a:endParaRPr lang="es-ES" sz="2400"/>
        </a:p>
      </dgm:t>
    </dgm:pt>
    <dgm:pt modelId="{F982C1E6-BEEF-456A-A8F1-006AD67EDC6F}" type="sibTrans" cxnId="{D2E0ED84-53E3-49A1-A292-3EA003DD3B1F}">
      <dgm:prSet/>
      <dgm:spPr/>
      <dgm:t>
        <a:bodyPr/>
        <a:lstStyle/>
        <a:p>
          <a:endParaRPr lang="es-ES" sz="2400"/>
        </a:p>
      </dgm:t>
    </dgm:pt>
    <dgm:pt modelId="{B9802D42-76B7-4AE8-9963-A689582E6B35}">
      <dgm:prSet phldrT="[Texto]" phldr="0" custT="1"/>
      <dgm:spPr/>
      <dgm:t>
        <a:bodyPr/>
        <a:lstStyle/>
        <a:p>
          <a:r>
            <a:rPr lang="es-ES" sz="800" b="1" dirty="0">
              <a:solidFill>
                <a:srgbClr val="002060"/>
              </a:solidFill>
            </a:rPr>
            <a:t>            	</a:t>
          </a:r>
          <a:r>
            <a:rPr lang="es-ES" sz="800" b="1" dirty="0" err="1">
              <a:solidFill>
                <a:srgbClr val="002060"/>
              </a:solidFill>
            </a:rPr>
            <a:t>Association</a:t>
          </a:r>
          <a:r>
            <a:rPr lang="es-ES" sz="800" b="1" dirty="0">
              <a:solidFill>
                <a:srgbClr val="002060"/>
              </a:solidFill>
            </a:rPr>
            <a:t> Rules </a:t>
          </a:r>
          <a:r>
            <a:rPr lang="es-ES" sz="800" dirty="0"/>
            <a:t>- Mario</a:t>
          </a:r>
        </a:p>
      </dgm:t>
    </dgm:pt>
    <dgm:pt modelId="{5522CECA-745D-4D76-A87A-0DA536D5330D}" type="parTrans" cxnId="{A44658AC-B46F-4B08-B962-B06FFFD99B33}">
      <dgm:prSet/>
      <dgm:spPr/>
      <dgm:t>
        <a:bodyPr/>
        <a:lstStyle/>
        <a:p>
          <a:endParaRPr lang="es-ES" sz="2400"/>
        </a:p>
      </dgm:t>
    </dgm:pt>
    <dgm:pt modelId="{1B62F6DE-B574-43AD-B04F-ABDF9E20E863}" type="sibTrans" cxnId="{A44658AC-B46F-4B08-B962-B06FFFD99B33}">
      <dgm:prSet/>
      <dgm:spPr/>
      <dgm:t>
        <a:bodyPr/>
        <a:lstStyle/>
        <a:p>
          <a:endParaRPr lang="es-ES" sz="2400"/>
        </a:p>
      </dgm:t>
    </dgm:pt>
    <dgm:pt modelId="{2D5738C4-EC9E-4779-B540-31D33BE25B70}" type="pres">
      <dgm:prSet presAssocID="{E0DBD592-C900-4D5D-A79A-93A58E8DA172}" presName="linear" presStyleCnt="0">
        <dgm:presLayoutVars>
          <dgm:dir/>
          <dgm:resizeHandles val="exact"/>
        </dgm:presLayoutVars>
      </dgm:prSet>
      <dgm:spPr/>
    </dgm:pt>
    <dgm:pt modelId="{3495E656-1F14-4307-80DE-ABD969E4FEFA}" type="pres">
      <dgm:prSet presAssocID="{C9F99139-B66D-4219-861A-3EA127D493C0}" presName="comp" presStyleCnt="0"/>
      <dgm:spPr/>
    </dgm:pt>
    <dgm:pt modelId="{DC08CE2B-3BA2-48DB-B768-70EF00B4488D}" type="pres">
      <dgm:prSet presAssocID="{C9F99139-B66D-4219-861A-3EA127D493C0}" presName="box" presStyleLbl="node1" presStyleIdx="0" presStyleCnt="5" custScaleY="71211"/>
      <dgm:spPr/>
    </dgm:pt>
    <dgm:pt modelId="{EF2D8EC3-8FE2-4E7C-B86A-83EDAF07162F}" type="pres">
      <dgm:prSet presAssocID="{C9F99139-B66D-4219-861A-3EA127D493C0}" presName="img" presStyleLbl="fgImgPlace1" presStyleIdx="0" presStyleCnt="5" custScaleY="69563"/>
      <dgm:spPr>
        <a:blipFill>
          <a:blip xmlns:r="http://schemas.openxmlformats.org/officeDocument/2006/relationships" r:embed="rId1"/>
          <a:srcRect/>
          <a:stretch>
            <a:fillRect t="-84000" b="-84000"/>
          </a:stretch>
        </a:blipFill>
      </dgm:spPr>
    </dgm:pt>
    <dgm:pt modelId="{51F715FF-4B49-486A-B461-C35D3C55EEB6}" type="pres">
      <dgm:prSet presAssocID="{C9F99139-B66D-4219-861A-3EA127D493C0}" presName="text" presStyleLbl="node1" presStyleIdx="0" presStyleCnt="5">
        <dgm:presLayoutVars>
          <dgm:bulletEnabled val="1"/>
        </dgm:presLayoutVars>
      </dgm:prSet>
      <dgm:spPr/>
    </dgm:pt>
    <dgm:pt modelId="{A85E9522-9A51-4F9B-825C-5AAE997BCC79}" type="pres">
      <dgm:prSet presAssocID="{2ABCB300-CCE9-44E7-999D-3B03628596E1}" presName="spacer" presStyleCnt="0"/>
      <dgm:spPr/>
    </dgm:pt>
    <dgm:pt modelId="{9C15E9F4-CE56-4E8D-9AC4-025934C7C1D4}" type="pres">
      <dgm:prSet presAssocID="{B0A54B65-E829-4553-8B45-B4EBDAF3C233}" presName="comp" presStyleCnt="0"/>
      <dgm:spPr/>
    </dgm:pt>
    <dgm:pt modelId="{B12AE6C0-B4ED-4A08-98AA-6732B6DC385E}" type="pres">
      <dgm:prSet presAssocID="{B0A54B65-E829-4553-8B45-B4EBDAF3C233}" presName="box" presStyleLbl="node1" presStyleIdx="1" presStyleCnt="5" custScaleY="119178"/>
      <dgm:spPr/>
    </dgm:pt>
    <dgm:pt modelId="{C9E8AD8B-B134-4129-BD9A-C060E9DACAFC}" type="pres">
      <dgm:prSet presAssocID="{B0A54B65-E829-4553-8B45-B4EBDAF3C233}" presName="img" presStyleLbl="fgImgPlace1" presStyleIdx="1" presStyleCnt="5" custScaleY="120571"/>
      <dgm:spPr>
        <a:blipFill>
          <a:blip xmlns:r="http://schemas.openxmlformats.org/officeDocument/2006/relationships" r:embed="rId2"/>
          <a:srcRect/>
          <a:stretch>
            <a:fillRect l="-9000" r="-9000"/>
          </a:stretch>
        </a:blipFill>
      </dgm:spPr>
    </dgm:pt>
    <dgm:pt modelId="{3D1FE89A-8ADF-4C10-94D7-ABA6570F8C42}" type="pres">
      <dgm:prSet presAssocID="{B0A54B65-E829-4553-8B45-B4EBDAF3C233}" presName="text" presStyleLbl="node1" presStyleIdx="1" presStyleCnt="5">
        <dgm:presLayoutVars>
          <dgm:bulletEnabled val="1"/>
        </dgm:presLayoutVars>
      </dgm:prSet>
      <dgm:spPr/>
    </dgm:pt>
    <dgm:pt modelId="{3ADE5778-2B09-4D2C-BFA0-9E09D3AB850F}" type="pres">
      <dgm:prSet presAssocID="{F068E20D-9182-40E9-81D3-3D2119E9E208}" presName="spacer" presStyleCnt="0"/>
      <dgm:spPr/>
    </dgm:pt>
    <dgm:pt modelId="{394CAA2C-B39A-45C2-8692-4F108831F697}" type="pres">
      <dgm:prSet presAssocID="{EBF196C3-A6DB-42DE-B168-0612EDF03693}" presName="comp" presStyleCnt="0"/>
      <dgm:spPr/>
    </dgm:pt>
    <dgm:pt modelId="{C6452C4A-60F5-47BC-8505-428BC48A03CB}" type="pres">
      <dgm:prSet presAssocID="{EBF196C3-A6DB-42DE-B168-0612EDF03693}" presName="box" presStyleLbl="node1" presStyleIdx="2" presStyleCnt="5" custScaleY="130909"/>
      <dgm:spPr/>
    </dgm:pt>
    <dgm:pt modelId="{D306C488-315E-46F7-B989-FFF5212BF6E2}" type="pres">
      <dgm:prSet presAssocID="{EBF196C3-A6DB-42DE-B168-0612EDF03693}" presName="img" presStyleLbl="fgImgPlace1" presStyleIdx="2" presStyleCnt="5" custScaleY="119041"/>
      <dgm:spPr>
        <a:blipFill>
          <a:blip xmlns:r="http://schemas.openxmlformats.org/officeDocument/2006/relationships" r:embed="rId3"/>
          <a:srcRect/>
          <a:stretch>
            <a:fillRect t="-8000" b="-8000"/>
          </a:stretch>
        </a:blipFill>
      </dgm:spPr>
    </dgm:pt>
    <dgm:pt modelId="{E67E17D0-D90F-49C4-814B-C75905BED48F}" type="pres">
      <dgm:prSet presAssocID="{EBF196C3-A6DB-42DE-B168-0612EDF03693}" presName="text" presStyleLbl="node1" presStyleIdx="2" presStyleCnt="5">
        <dgm:presLayoutVars>
          <dgm:bulletEnabled val="1"/>
        </dgm:presLayoutVars>
      </dgm:prSet>
      <dgm:spPr/>
    </dgm:pt>
    <dgm:pt modelId="{A4B9FD97-CD6C-45E6-BB2C-BADD153BE16D}" type="pres">
      <dgm:prSet presAssocID="{C16B64A7-40EB-4C86-BE64-8EBACDE653C3}" presName="spacer" presStyleCnt="0"/>
      <dgm:spPr/>
    </dgm:pt>
    <dgm:pt modelId="{FA11953F-C793-41F3-944C-F9C478C0015E}" type="pres">
      <dgm:prSet presAssocID="{D3DB2985-286F-4E1B-A3EF-B67DCD1C08F6}" presName="comp" presStyleCnt="0"/>
      <dgm:spPr/>
    </dgm:pt>
    <dgm:pt modelId="{9368D843-76C1-42B0-834B-2DA28FCB0771}" type="pres">
      <dgm:prSet presAssocID="{D3DB2985-286F-4E1B-A3EF-B67DCD1C08F6}" presName="box" presStyleLbl="node1" presStyleIdx="3" presStyleCnt="5"/>
      <dgm:spPr/>
    </dgm:pt>
    <dgm:pt modelId="{D58F51A8-C9AC-49A7-BF07-49E56398E46B}" type="pres">
      <dgm:prSet presAssocID="{D3DB2985-286F-4E1B-A3EF-B67DCD1C08F6}" presName="img" presStyleLbl="fgImgPlace1" presStyleIdx="3" presStyleCnt="5"/>
      <dgm:spPr>
        <a:blipFill>
          <a:blip xmlns:r="http://schemas.openxmlformats.org/officeDocument/2006/relationships" r:embed="rId4"/>
          <a:srcRect/>
          <a:stretch>
            <a:fillRect l="-3000" r="-3000"/>
          </a:stretch>
        </a:blipFill>
      </dgm:spPr>
    </dgm:pt>
    <dgm:pt modelId="{CCCE771C-F880-4686-A4B6-89572DC603BC}" type="pres">
      <dgm:prSet presAssocID="{D3DB2985-286F-4E1B-A3EF-B67DCD1C08F6}" presName="text" presStyleLbl="node1" presStyleIdx="3" presStyleCnt="5">
        <dgm:presLayoutVars>
          <dgm:bulletEnabled val="1"/>
        </dgm:presLayoutVars>
      </dgm:prSet>
      <dgm:spPr/>
    </dgm:pt>
    <dgm:pt modelId="{3A49B040-FDA1-4A12-B511-8E073D364A2F}" type="pres">
      <dgm:prSet presAssocID="{F982C1E6-BEEF-456A-A8F1-006AD67EDC6F}" presName="spacer" presStyleCnt="0"/>
      <dgm:spPr/>
    </dgm:pt>
    <dgm:pt modelId="{290DC7B3-86F4-4764-849C-490D39CB5F58}" type="pres">
      <dgm:prSet presAssocID="{B9802D42-76B7-4AE8-9963-A689582E6B35}" presName="comp" presStyleCnt="0"/>
      <dgm:spPr/>
    </dgm:pt>
    <dgm:pt modelId="{34B88185-A619-4D08-836A-F611598437A8}" type="pres">
      <dgm:prSet presAssocID="{B9802D42-76B7-4AE8-9963-A689582E6B35}" presName="box" presStyleLbl="node1" presStyleIdx="4" presStyleCnt="5" custScaleY="71948" custLinFactNeighborX="-6009" custLinFactNeighborY="597"/>
      <dgm:spPr/>
    </dgm:pt>
    <dgm:pt modelId="{F2ED9228-CFBA-4661-8996-A0E7EA7BA1F7}" type="pres">
      <dgm:prSet presAssocID="{B9802D42-76B7-4AE8-9963-A689582E6B35}" presName="img" presStyleLbl="fgImgPlace1" presStyleIdx="4" presStyleCnt="5" custAng="10800000" custFlipVert="1" custScaleY="68307"/>
      <dgm:spPr>
        <a:blipFill>
          <a:blip xmlns:r="http://schemas.openxmlformats.org/officeDocument/2006/relationships" r:embed="rId5"/>
          <a:srcRect/>
          <a:stretch>
            <a:fillRect t="-17000" b="-17000"/>
          </a:stretch>
        </a:blipFill>
      </dgm:spPr>
    </dgm:pt>
    <dgm:pt modelId="{1EA42E4A-7A77-461B-A3EF-ED6EF71F796A}" type="pres">
      <dgm:prSet presAssocID="{B9802D42-76B7-4AE8-9963-A689582E6B35}" presName="text" presStyleLbl="node1" presStyleIdx="4" presStyleCnt="5">
        <dgm:presLayoutVars>
          <dgm:bulletEnabled val="1"/>
        </dgm:presLayoutVars>
      </dgm:prSet>
      <dgm:spPr/>
    </dgm:pt>
  </dgm:ptLst>
  <dgm:cxnLst>
    <dgm:cxn modelId="{D7771514-C386-46C1-946B-E4D34C195D50}" type="presOf" srcId="{E0DBD592-C900-4D5D-A79A-93A58E8DA172}" destId="{2D5738C4-EC9E-4779-B540-31D33BE25B70}" srcOrd="0" destOrd="0" presId="urn:microsoft.com/office/officeart/2005/8/layout/vList4"/>
    <dgm:cxn modelId="{441FA015-EE80-4570-970B-A56A475256EF}" type="presOf" srcId="{C9F99139-B66D-4219-861A-3EA127D493C0}" destId="{DC08CE2B-3BA2-48DB-B768-70EF00B4488D}" srcOrd="0" destOrd="0" presId="urn:microsoft.com/office/officeart/2005/8/layout/vList4"/>
    <dgm:cxn modelId="{DF5B256E-1BCA-468C-AF06-39814118FCEF}" type="presOf" srcId="{B0A54B65-E829-4553-8B45-B4EBDAF3C233}" destId="{B12AE6C0-B4ED-4A08-98AA-6732B6DC385E}" srcOrd="0" destOrd="0" presId="urn:microsoft.com/office/officeart/2005/8/layout/vList4"/>
    <dgm:cxn modelId="{2FF3EB71-C7F5-4619-AB74-5943DE39CC10}" srcId="{E0DBD592-C900-4D5D-A79A-93A58E8DA172}" destId="{C9F99139-B66D-4219-861A-3EA127D493C0}" srcOrd="0" destOrd="0" parTransId="{1C880A37-22BC-4FD9-8955-F47618D81BCC}" sibTransId="{2ABCB300-CCE9-44E7-999D-3B03628596E1}"/>
    <dgm:cxn modelId="{16458B7B-01D5-46EA-95CB-21064FA40DA3}" type="presOf" srcId="{B9802D42-76B7-4AE8-9963-A689582E6B35}" destId="{1EA42E4A-7A77-461B-A3EF-ED6EF71F796A}" srcOrd="1" destOrd="0" presId="urn:microsoft.com/office/officeart/2005/8/layout/vList4"/>
    <dgm:cxn modelId="{D2E0ED84-53E3-49A1-A292-3EA003DD3B1F}" srcId="{E0DBD592-C900-4D5D-A79A-93A58E8DA172}" destId="{D3DB2985-286F-4E1B-A3EF-B67DCD1C08F6}" srcOrd="3" destOrd="0" parTransId="{3A914AC6-6594-4B0A-A5A2-C491F53EF95C}" sibTransId="{F982C1E6-BEEF-456A-A8F1-006AD67EDC6F}"/>
    <dgm:cxn modelId="{712DF1A2-9649-4A26-A0DA-529186D8E53F}" type="presOf" srcId="{D3DB2985-286F-4E1B-A3EF-B67DCD1C08F6}" destId="{9368D843-76C1-42B0-834B-2DA28FCB0771}" srcOrd="0" destOrd="0" presId="urn:microsoft.com/office/officeart/2005/8/layout/vList4"/>
    <dgm:cxn modelId="{A44658AC-B46F-4B08-B962-B06FFFD99B33}" srcId="{E0DBD592-C900-4D5D-A79A-93A58E8DA172}" destId="{B9802D42-76B7-4AE8-9963-A689582E6B35}" srcOrd="4" destOrd="0" parTransId="{5522CECA-745D-4D76-A87A-0DA536D5330D}" sibTransId="{1B62F6DE-B574-43AD-B04F-ABDF9E20E863}"/>
    <dgm:cxn modelId="{CADC53CB-EC25-4D6E-882B-972A19677F10}" type="presOf" srcId="{D3DB2985-286F-4E1B-A3EF-B67DCD1C08F6}" destId="{CCCE771C-F880-4686-A4B6-89572DC603BC}" srcOrd="1" destOrd="0" presId="urn:microsoft.com/office/officeart/2005/8/layout/vList4"/>
    <dgm:cxn modelId="{C6E967D2-333A-4712-830E-A69583B49116}" type="presOf" srcId="{B9802D42-76B7-4AE8-9963-A689582E6B35}" destId="{34B88185-A619-4D08-836A-F611598437A8}" srcOrd="0" destOrd="0" presId="urn:microsoft.com/office/officeart/2005/8/layout/vList4"/>
    <dgm:cxn modelId="{62EFD2D3-AE51-4D7B-AC9A-B557C95CFE85}" srcId="{E0DBD592-C900-4D5D-A79A-93A58E8DA172}" destId="{B0A54B65-E829-4553-8B45-B4EBDAF3C233}" srcOrd="1" destOrd="0" parTransId="{58D673D6-CE1A-45C9-8DE0-8248CFA91FFF}" sibTransId="{F068E20D-9182-40E9-81D3-3D2119E9E208}"/>
    <dgm:cxn modelId="{A4BF16E6-FAE2-49A6-8E9A-22FE4B1019A9}" type="presOf" srcId="{EBF196C3-A6DB-42DE-B168-0612EDF03693}" destId="{C6452C4A-60F5-47BC-8505-428BC48A03CB}" srcOrd="0" destOrd="0" presId="urn:microsoft.com/office/officeart/2005/8/layout/vList4"/>
    <dgm:cxn modelId="{F31FFAE6-B3DF-4875-8480-C0F41B21D4B2}" type="presOf" srcId="{B0A54B65-E829-4553-8B45-B4EBDAF3C233}" destId="{3D1FE89A-8ADF-4C10-94D7-ABA6570F8C42}" srcOrd="1" destOrd="0" presId="urn:microsoft.com/office/officeart/2005/8/layout/vList4"/>
    <dgm:cxn modelId="{983B2CED-E271-4C8A-9468-B16025433270}" type="presOf" srcId="{C9F99139-B66D-4219-861A-3EA127D493C0}" destId="{51F715FF-4B49-486A-B461-C35D3C55EEB6}" srcOrd="1" destOrd="0" presId="urn:microsoft.com/office/officeart/2005/8/layout/vList4"/>
    <dgm:cxn modelId="{09CD5CFB-F57C-4EA7-9B86-AED2343EDF67}" srcId="{E0DBD592-C900-4D5D-A79A-93A58E8DA172}" destId="{EBF196C3-A6DB-42DE-B168-0612EDF03693}" srcOrd="2" destOrd="0" parTransId="{9BCB12AF-3FDE-4ECC-9F8F-CED83AED7CCB}" sibTransId="{C16B64A7-40EB-4C86-BE64-8EBACDE653C3}"/>
    <dgm:cxn modelId="{4D52D9FF-8814-4832-AAFD-6DD4FA592C36}" type="presOf" srcId="{EBF196C3-A6DB-42DE-B168-0612EDF03693}" destId="{E67E17D0-D90F-49C4-814B-C75905BED48F}" srcOrd="1" destOrd="0" presId="urn:microsoft.com/office/officeart/2005/8/layout/vList4"/>
    <dgm:cxn modelId="{EF6542DF-4537-4DC2-B1D9-B78444899BEC}" type="presParOf" srcId="{2D5738C4-EC9E-4779-B540-31D33BE25B70}" destId="{3495E656-1F14-4307-80DE-ABD969E4FEFA}" srcOrd="0" destOrd="0" presId="urn:microsoft.com/office/officeart/2005/8/layout/vList4"/>
    <dgm:cxn modelId="{E754B661-2C85-40F8-9635-1E3B84D8F76E}" type="presParOf" srcId="{3495E656-1F14-4307-80DE-ABD969E4FEFA}" destId="{DC08CE2B-3BA2-48DB-B768-70EF00B4488D}" srcOrd="0" destOrd="0" presId="urn:microsoft.com/office/officeart/2005/8/layout/vList4"/>
    <dgm:cxn modelId="{DDC0104C-69C6-4C22-8DDA-37422DD457EB}" type="presParOf" srcId="{3495E656-1F14-4307-80DE-ABD969E4FEFA}" destId="{EF2D8EC3-8FE2-4E7C-B86A-83EDAF07162F}" srcOrd="1" destOrd="0" presId="urn:microsoft.com/office/officeart/2005/8/layout/vList4"/>
    <dgm:cxn modelId="{712E3B41-46F6-4BB0-8C90-5002339AB84F}" type="presParOf" srcId="{3495E656-1F14-4307-80DE-ABD969E4FEFA}" destId="{51F715FF-4B49-486A-B461-C35D3C55EEB6}" srcOrd="2" destOrd="0" presId="urn:microsoft.com/office/officeart/2005/8/layout/vList4"/>
    <dgm:cxn modelId="{DFC7B6B5-59F6-4A57-A84F-0850103975EA}" type="presParOf" srcId="{2D5738C4-EC9E-4779-B540-31D33BE25B70}" destId="{A85E9522-9A51-4F9B-825C-5AAE997BCC79}" srcOrd="1" destOrd="0" presId="urn:microsoft.com/office/officeart/2005/8/layout/vList4"/>
    <dgm:cxn modelId="{DD6A45F7-31A4-4567-9B0C-DAB37FAA4FDB}" type="presParOf" srcId="{2D5738C4-EC9E-4779-B540-31D33BE25B70}" destId="{9C15E9F4-CE56-4E8D-9AC4-025934C7C1D4}" srcOrd="2" destOrd="0" presId="urn:microsoft.com/office/officeart/2005/8/layout/vList4"/>
    <dgm:cxn modelId="{F8DAF924-F73D-41DC-B2E9-9682829D2561}" type="presParOf" srcId="{9C15E9F4-CE56-4E8D-9AC4-025934C7C1D4}" destId="{B12AE6C0-B4ED-4A08-98AA-6732B6DC385E}" srcOrd="0" destOrd="0" presId="urn:microsoft.com/office/officeart/2005/8/layout/vList4"/>
    <dgm:cxn modelId="{41611BF0-B5B2-4B8C-9E68-B8B35264280D}" type="presParOf" srcId="{9C15E9F4-CE56-4E8D-9AC4-025934C7C1D4}" destId="{C9E8AD8B-B134-4129-BD9A-C060E9DACAFC}" srcOrd="1" destOrd="0" presId="urn:microsoft.com/office/officeart/2005/8/layout/vList4"/>
    <dgm:cxn modelId="{A70DB30D-F7C5-4C01-9738-E0DE48D12509}" type="presParOf" srcId="{9C15E9F4-CE56-4E8D-9AC4-025934C7C1D4}" destId="{3D1FE89A-8ADF-4C10-94D7-ABA6570F8C42}" srcOrd="2" destOrd="0" presId="urn:microsoft.com/office/officeart/2005/8/layout/vList4"/>
    <dgm:cxn modelId="{72A817E0-9F11-4CE9-9F3E-F26DF95F0CBA}" type="presParOf" srcId="{2D5738C4-EC9E-4779-B540-31D33BE25B70}" destId="{3ADE5778-2B09-4D2C-BFA0-9E09D3AB850F}" srcOrd="3" destOrd="0" presId="urn:microsoft.com/office/officeart/2005/8/layout/vList4"/>
    <dgm:cxn modelId="{21D79D85-6A79-4C95-AB05-4B9FBCEEFB38}" type="presParOf" srcId="{2D5738C4-EC9E-4779-B540-31D33BE25B70}" destId="{394CAA2C-B39A-45C2-8692-4F108831F697}" srcOrd="4" destOrd="0" presId="urn:microsoft.com/office/officeart/2005/8/layout/vList4"/>
    <dgm:cxn modelId="{1B5F7425-81F1-4E75-BE49-07209D8A9C92}" type="presParOf" srcId="{394CAA2C-B39A-45C2-8692-4F108831F697}" destId="{C6452C4A-60F5-47BC-8505-428BC48A03CB}" srcOrd="0" destOrd="0" presId="urn:microsoft.com/office/officeart/2005/8/layout/vList4"/>
    <dgm:cxn modelId="{9D32D5E8-902D-4D45-8002-75E51E6E0EAC}" type="presParOf" srcId="{394CAA2C-B39A-45C2-8692-4F108831F697}" destId="{D306C488-315E-46F7-B989-FFF5212BF6E2}" srcOrd="1" destOrd="0" presId="urn:microsoft.com/office/officeart/2005/8/layout/vList4"/>
    <dgm:cxn modelId="{39D6149B-BA07-4DFB-A0E9-B769847AEDE3}" type="presParOf" srcId="{394CAA2C-B39A-45C2-8692-4F108831F697}" destId="{E67E17D0-D90F-49C4-814B-C75905BED48F}" srcOrd="2" destOrd="0" presId="urn:microsoft.com/office/officeart/2005/8/layout/vList4"/>
    <dgm:cxn modelId="{AB430D4A-F663-4F65-90FB-5EBB31C3C10E}" type="presParOf" srcId="{2D5738C4-EC9E-4779-B540-31D33BE25B70}" destId="{A4B9FD97-CD6C-45E6-BB2C-BADD153BE16D}" srcOrd="5" destOrd="0" presId="urn:microsoft.com/office/officeart/2005/8/layout/vList4"/>
    <dgm:cxn modelId="{E0AEF6AC-2CA9-42C1-80DA-C45C252413C0}" type="presParOf" srcId="{2D5738C4-EC9E-4779-B540-31D33BE25B70}" destId="{FA11953F-C793-41F3-944C-F9C478C0015E}" srcOrd="6" destOrd="0" presId="urn:microsoft.com/office/officeart/2005/8/layout/vList4"/>
    <dgm:cxn modelId="{3E3E90B7-E7F4-4098-86CE-456FD145D474}" type="presParOf" srcId="{FA11953F-C793-41F3-944C-F9C478C0015E}" destId="{9368D843-76C1-42B0-834B-2DA28FCB0771}" srcOrd="0" destOrd="0" presId="urn:microsoft.com/office/officeart/2005/8/layout/vList4"/>
    <dgm:cxn modelId="{4583DEA2-C6B9-4321-9D84-F35A1237B997}" type="presParOf" srcId="{FA11953F-C793-41F3-944C-F9C478C0015E}" destId="{D58F51A8-C9AC-49A7-BF07-49E56398E46B}" srcOrd="1" destOrd="0" presId="urn:microsoft.com/office/officeart/2005/8/layout/vList4"/>
    <dgm:cxn modelId="{A3F62817-40C2-4A24-9118-2F626F64F4D0}" type="presParOf" srcId="{FA11953F-C793-41F3-944C-F9C478C0015E}" destId="{CCCE771C-F880-4686-A4B6-89572DC603BC}" srcOrd="2" destOrd="0" presId="urn:microsoft.com/office/officeart/2005/8/layout/vList4"/>
    <dgm:cxn modelId="{1F65D5CB-4A82-448E-9FF8-BD87C2EB4A5C}" type="presParOf" srcId="{2D5738C4-EC9E-4779-B540-31D33BE25B70}" destId="{3A49B040-FDA1-4A12-B511-8E073D364A2F}" srcOrd="7" destOrd="0" presId="urn:microsoft.com/office/officeart/2005/8/layout/vList4"/>
    <dgm:cxn modelId="{FD1E39F0-3AAF-49C8-B9CA-33029DD7BC49}" type="presParOf" srcId="{2D5738C4-EC9E-4779-B540-31D33BE25B70}" destId="{290DC7B3-86F4-4764-849C-490D39CB5F58}" srcOrd="8" destOrd="0" presId="urn:microsoft.com/office/officeart/2005/8/layout/vList4"/>
    <dgm:cxn modelId="{93E65382-6E82-4214-B1F8-0D80A1BAE75B}" type="presParOf" srcId="{290DC7B3-86F4-4764-849C-490D39CB5F58}" destId="{34B88185-A619-4D08-836A-F611598437A8}" srcOrd="0" destOrd="0" presId="urn:microsoft.com/office/officeart/2005/8/layout/vList4"/>
    <dgm:cxn modelId="{9535B602-BF4C-4731-BA5D-CD132A921303}" type="presParOf" srcId="{290DC7B3-86F4-4764-849C-490D39CB5F58}" destId="{F2ED9228-CFBA-4661-8996-A0E7EA7BA1F7}" srcOrd="1" destOrd="0" presId="urn:microsoft.com/office/officeart/2005/8/layout/vList4"/>
    <dgm:cxn modelId="{68ECDDD6-AA1A-465B-A746-7234866EC438}" type="presParOf" srcId="{290DC7B3-86F4-4764-849C-490D39CB5F58}" destId="{1EA42E4A-7A77-461B-A3EF-ED6EF71F796A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08CE2B-3BA2-48DB-B768-70EF00B4488D}">
      <dsp:nvSpPr>
        <dsp:cNvPr id="0" name=""/>
        <dsp:cNvSpPr/>
      </dsp:nvSpPr>
      <dsp:spPr bwMode="white">
        <a:xfrm>
          <a:off x="0" y="0"/>
          <a:ext cx="5013062" cy="4921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b="1" kern="1200" dirty="0">
              <a:solidFill>
                <a:srgbClr val="002060"/>
              </a:solidFill>
            </a:rPr>
            <a:t>	Business </a:t>
          </a:r>
          <a:r>
            <a:rPr lang="es-ES" sz="900" b="1" kern="1200" dirty="0" err="1">
              <a:solidFill>
                <a:srgbClr val="002060"/>
              </a:solidFill>
            </a:rPr>
            <a:t>understanding</a:t>
          </a:r>
          <a:r>
            <a:rPr lang="es-ES" sz="900" b="1" kern="1200" dirty="0">
              <a:solidFill>
                <a:srgbClr val="002060"/>
              </a:solidFill>
            </a:rPr>
            <a:t> </a:t>
          </a:r>
          <a:r>
            <a:rPr lang="es-ES" sz="900" kern="1200" dirty="0"/>
            <a:t>– Todo el equipo</a:t>
          </a:r>
        </a:p>
      </dsp:txBody>
      <dsp:txXfrm>
        <a:off x="1071719" y="0"/>
        <a:ext cx="3941343" cy="492118"/>
      </dsp:txXfrm>
    </dsp:sp>
    <dsp:sp modelId="{EF2D8EC3-8FE2-4E7C-B86A-83EDAF07162F}">
      <dsp:nvSpPr>
        <dsp:cNvPr id="0" name=""/>
        <dsp:cNvSpPr/>
      </dsp:nvSpPr>
      <dsp:spPr>
        <a:xfrm>
          <a:off x="69107" y="53767"/>
          <a:ext cx="1002612" cy="384583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t="-84000" b="-8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2AE6C0-B4ED-4A08-98AA-6732B6DC385E}">
      <dsp:nvSpPr>
        <dsp:cNvPr id="0" name=""/>
        <dsp:cNvSpPr/>
      </dsp:nvSpPr>
      <dsp:spPr bwMode="white">
        <a:xfrm>
          <a:off x="0" y="561225"/>
          <a:ext cx="5013062" cy="8236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b="1" kern="1200" dirty="0">
              <a:solidFill>
                <a:srgbClr val="002060"/>
              </a:solidFill>
            </a:rPr>
            <a:t>      	Data </a:t>
          </a:r>
          <a:r>
            <a:rPr lang="es-ES" sz="800" b="1" kern="1200" dirty="0" err="1">
              <a:solidFill>
                <a:srgbClr val="002060"/>
              </a:solidFill>
            </a:rPr>
            <a:t>understanding</a:t>
          </a:r>
          <a:r>
            <a:rPr lang="es-ES" sz="800" b="1" kern="1200" dirty="0">
              <a:solidFill>
                <a:srgbClr val="002060"/>
              </a:solidFill>
            </a:rPr>
            <a:t> </a:t>
          </a:r>
          <a:r>
            <a:rPr lang="es-ES" sz="800" b="1" kern="1200" dirty="0"/>
            <a:t>-</a:t>
          </a:r>
          <a:r>
            <a:rPr lang="es-ES" sz="800" kern="1200" dirty="0"/>
            <a:t>  Todo el equipo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/>
            <a:t>  	Diseño del </a:t>
          </a:r>
          <a:r>
            <a:rPr lang="es-ES" sz="800" kern="1200" dirty="0" err="1"/>
            <a:t>metadata</a:t>
          </a:r>
          <a:r>
            <a:rPr lang="es-ES" sz="800" kern="1200" dirty="0"/>
            <a:t> – Melissa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/>
            <a:t>     	EDA– </a:t>
          </a:r>
          <a:r>
            <a:rPr lang="es-ES" sz="800" kern="1200" dirty="0" err="1"/>
            <a:t>Wenjia</a:t>
          </a:r>
          <a:r>
            <a:rPr lang="es-ES" sz="800" kern="1200" dirty="0"/>
            <a:t> y </a:t>
          </a:r>
          <a:r>
            <a:rPr lang="es-ES" sz="800" kern="1200" dirty="0" err="1"/>
            <a:t>Siling</a:t>
          </a:r>
          <a:endParaRPr lang="es-ES" sz="800" kern="1200" dirty="0"/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/>
            <a:t>     	Análisis de </a:t>
          </a:r>
          <a:r>
            <a:rPr lang="es-ES" sz="800" kern="1200" dirty="0" err="1"/>
            <a:t>outliers</a:t>
          </a:r>
          <a:r>
            <a:rPr lang="es-ES" sz="800" kern="1200" dirty="0"/>
            <a:t> (pre-imputación): Mario, Laura y Melissa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800" kern="1200" dirty="0"/>
        </a:p>
      </dsp:txBody>
      <dsp:txXfrm>
        <a:off x="1071719" y="561225"/>
        <a:ext cx="3941343" cy="823604"/>
      </dsp:txXfrm>
    </dsp:sp>
    <dsp:sp modelId="{C9E8AD8B-B134-4129-BD9A-C060E9DACAFC}">
      <dsp:nvSpPr>
        <dsp:cNvPr id="0" name=""/>
        <dsp:cNvSpPr/>
      </dsp:nvSpPr>
      <dsp:spPr>
        <a:xfrm>
          <a:off x="69107" y="639735"/>
          <a:ext cx="1002612" cy="66658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l="-9000" r="-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452C4A-60F5-47BC-8505-428BC48A03CB}">
      <dsp:nvSpPr>
        <dsp:cNvPr id="0" name=""/>
        <dsp:cNvSpPr/>
      </dsp:nvSpPr>
      <dsp:spPr bwMode="white">
        <a:xfrm>
          <a:off x="0" y="1453936"/>
          <a:ext cx="5013062" cy="904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b="1" kern="1200" dirty="0">
              <a:solidFill>
                <a:srgbClr val="002060"/>
              </a:solidFill>
            </a:rPr>
            <a:t> 	Data </a:t>
          </a:r>
          <a:r>
            <a:rPr lang="es-ES" sz="800" b="1" kern="1200" dirty="0" err="1">
              <a:solidFill>
                <a:srgbClr val="002060"/>
              </a:solidFill>
            </a:rPr>
            <a:t>preparation</a:t>
          </a:r>
          <a:endParaRPr lang="es-ES" sz="800" b="1" kern="1200" dirty="0">
            <a:solidFill>
              <a:srgbClr val="002060"/>
            </a:solidFill>
          </a:endParaRP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/>
            <a:t>	Imputación </a:t>
          </a:r>
          <a:r>
            <a:rPr lang="es-ES" sz="800" kern="1200" dirty="0" err="1"/>
            <a:t>missings</a:t>
          </a:r>
          <a:r>
            <a:rPr lang="es-ES" sz="800" kern="1200" dirty="0"/>
            <a:t> – Mario y Laura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/>
            <a:t>	</a:t>
          </a:r>
          <a:r>
            <a:rPr lang="es-ES" sz="800" kern="1200" dirty="0" err="1"/>
            <a:t>Tratatamiento</a:t>
          </a:r>
          <a:r>
            <a:rPr lang="es-ES" sz="800" kern="1200" dirty="0"/>
            <a:t> </a:t>
          </a:r>
          <a:r>
            <a:rPr lang="es-ES" sz="800" kern="1200" dirty="0" err="1"/>
            <a:t>Outliers</a:t>
          </a:r>
          <a:r>
            <a:rPr lang="es-ES" sz="800" kern="1200" dirty="0"/>
            <a:t> – Mario, Laura y Melissa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kern="1200" dirty="0"/>
            <a:t>	</a:t>
          </a:r>
          <a:r>
            <a:rPr lang="es-ES" sz="800" kern="1200" dirty="0" err="1"/>
            <a:t>Feature</a:t>
          </a:r>
          <a:r>
            <a:rPr lang="es-ES" sz="800" kern="1200" dirty="0"/>
            <a:t> </a:t>
          </a:r>
          <a:r>
            <a:rPr lang="es-ES" sz="800" kern="1200" dirty="0" err="1"/>
            <a:t>Engineering</a:t>
          </a:r>
          <a:r>
            <a:rPr lang="es-ES" sz="800" kern="1200" dirty="0"/>
            <a:t>– </a:t>
          </a:r>
          <a:r>
            <a:rPr lang="es-ES" sz="800" kern="1200" dirty="0" err="1"/>
            <a:t>Wenjia</a:t>
          </a:r>
          <a:r>
            <a:rPr lang="es-ES" sz="800" kern="1200" dirty="0"/>
            <a:t>, Melissa</a:t>
          </a:r>
        </a:p>
      </dsp:txBody>
      <dsp:txXfrm>
        <a:off x="1071719" y="1453936"/>
        <a:ext cx="3941343" cy="904673"/>
      </dsp:txXfrm>
    </dsp:sp>
    <dsp:sp modelId="{D306C488-315E-46F7-B989-FFF5212BF6E2}">
      <dsp:nvSpPr>
        <dsp:cNvPr id="0" name=""/>
        <dsp:cNvSpPr/>
      </dsp:nvSpPr>
      <dsp:spPr>
        <a:xfrm>
          <a:off x="69107" y="1577210"/>
          <a:ext cx="1002612" cy="65812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t="-8000" b="-8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68D843-76C1-42B0-834B-2DA28FCB0771}">
      <dsp:nvSpPr>
        <dsp:cNvPr id="0" name=""/>
        <dsp:cNvSpPr/>
      </dsp:nvSpPr>
      <dsp:spPr bwMode="white">
        <a:xfrm>
          <a:off x="0" y="2427717"/>
          <a:ext cx="5013062" cy="6910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b="1" kern="1200" dirty="0">
              <a:solidFill>
                <a:srgbClr val="002060"/>
              </a:solidFill>
            </a:rPr>
            <a:t>            	</a:t>
          </a:r>
          <a:r>
            <a:rPr lang="es-ES" sz="800" b="1" kern="1200" dirty="0" err="1">
              <a:solidFill>
                <a:srgbClr val="002060"/>
              </a:solidFill>
            </a:rPr>
            <a:t>Modeling</a:t>
          </a:r>
          <a:r>
            <a:rPr lang="es-ES" sz="800" b="1" kern="1200" dirty="0">
              <a:solidFill>
                <a:srgbClr val="002060"/>
              </a:solidFill>
            </a:rPr>
            <a:t> &amp; </a:t>
          </a:r>
          <a:r>
            <a:rPr lang="es-ES" sz="800" b="1" kern="1200" dirty="0" err="1">
              <a:solidFill>
                <a:srgbClr val="002060"/>
              </a:solidFill>
            </a:rPr>
            <a:t>Evaluation</a:t>
          </a:r>
          <a:endParaRPr lang="es-ES" sz="800" b="1" kern="1200" dirty="0">
            <a:solidFill>
              <a:srgbClr val="002060"/>
            </a:solidFill>
          </a:endParaRP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	KNN - </a:t>
          </a:r>
          <a:r>
            <a:rPr lang="es-ES" sz="700" kern="1200" dirty="0" err="1"/>
            <a:t>Siling</a:t>
          </a:r>
          <a:r>
            <a:rPr lang="es-ES" sz="700" kern="1200" dirty="0"/>
            <a:t>, Laura		SVM - Laura, Mario, </a:t>
          </a:r>
          <a:r>
            <a:rPr lang="es-ES" sz="700" kern="1200" dirty="0" err="1"/>
            <a:t>Wenjia</a:t>
          </a:r>
          <a:r>
            <a:rPr lang="es-ES" sz="700" kern="1200" dirty="0"/>
            <a:t>	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               </a:t>
          </a:r>
          <a:r>
            <a:rPr lang="es-ES" sz="700" kern="1200" dirty="0" err="1"/>
            <a:t>Naive</a:t>
          </a:r>
          <a:r>
            <a:rPr lang="es-ES" sz="700" kern="1200" dirty="0"/>
            <a:t> Bayes - Melissa, </a:t>
          </a:r>
          <a:r>
            <a:rPr lang="es-ES" sz="700" kern="1200" dirty="0" err="1"/>
            <a:t>Wenjia</a:t>
          </a:r>
          <a:r>
            <a:rPr lang="es-ES" sz="700" kern="1200" dirty="0"/>
            <a:t>	</a:t>
          </a:r>
          <a:r>
            <a:rPr lang="es-ES" sz="700" kern="1200" dirty="0" err="1"/>
            <a:t>XGBoost</a:t>
          </a:r>
          <a:r>
            <a:rPr lang="es-ES" sz="700" kern="1200" dirty="0"/>
            <a:t> - </a:t>
          </a:r>
          <a:r>
            <a:rPr lang="es-ES" sz="700" kern="1200" dirty="0" err="1"/>
            <a:t>Wenjia</a:t>
          </a:r>
          <a:r>
            <a:rPr lang="es-ES" sz="700" kern="1200" dirty="0"/>
            <a:t>, Melissa, </a:t>
          </a:r>
          <a:r>
            <a:rPr lang="es-ES" sz="700" kern="1200" dirty="0" err="1"/>
            <a:t>Siling</a:t>
          </a:r>
          <a:r>
            <a:rPr lang="es-ES" sz="700" kern="1200" dirty="0"/>
            <a:t>, Mario</a:t>
          </a:r>
        </a:p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700" kern="1200" dirty="0"/>
            <a:t>               GLM - </a:t>
          </a:r>
          <a:r>
            <a:rPr lang="es-ES" sz="700" kern="1200" dirty="0" err="1"/>
            <a:t>Wenjia</a:t>
          </a:r>
          <a:r>
            <a:rPr lang="es-ES" sz="700" kern="1200" dirty="0"/>
            <a:t>, Melissa		</a:t>
          </a:r>
          <a:r>
            <a:rPr lang="es-ES" sz="700" kern="1200" dirty="0" err="1"/>
            <a:t>Random</a:t>
          </a:r>
          <a:r>
            <a:rPr lang="es-ES" sz="700" kern="1200" dirty="0"/>
            <a:t> Forest - </a:t>
          </a:r>
          <a:r>
            <a:rPr lang="es-ES" sz="700" kern="1200" dirty="0" err="1"/>
            <a:t>Wenjia</a:t>
          </a:r>
          <a:r>
            <a:rPr lang="es-ES" sz="700" kern="1200" dirty="0"/>
            <a:t>, Melissa, Mario</a:t>
          </a:r>
          <a:endParaRPr lang="es-ES" sz="800" b="1" kern="1200" dirty="0">
            <a:solidFill>
              <a:srgbClr val="002060"/>
            </a:solidFill>
          </a:endParaRPr>
        </a:p>
      </dsp:txBody>
      <dsp:txXfrm>
        <a:off x="1071719" y="2427717"/>
        <a:ext cx="3941343" cy="691070"/>
      </dsp:txXfrm>
    </dsp:sp>
    <dsp:sp modelId="{D58F51A8-C9AC-49A7-BF07-49E56398E46B}">
      <dsp:nvSpPr>
        <dsp:cNvPr id="0" name=""/>
        <dsp:cNvSpPr/>
      </dsp:nvSpPr>
      <dsp:spPr>
        <a:xfrm>
          <a:off x="69107" y="2496824"/>
          <a:ext cx="1002612" cy="55285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/>
          <a:srcRect/>
          <a:stretch>
            <a:fillRect l="-3000" r="-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B88185-A619-4D08-836A-F611598437A8}">
      <dsp:nvSpPr>
        <dsp:cNvPr id="0" name=""/>
        <dsp:cNvSpPr/>
      </dsp:nvSpPr>
      <dsp:spPr bwMode="white">
        <a:xfrm>
          <a:off x="0" y="3188498"/>
          <a:ext cx="5013062" cy="4972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800" b="1" kern="1200" dirty="0">
              <a:solidFill>
                <a:srgbClr val="002060"/>
              </a:solidFill>
            </a:rPr>
            <a:t>            	</a:t>
          </a:r>
          <a:r>
            <a:rPr lang="es-ES" sz="800" b="1" kern="1200" dirty="0" err="1">
              <a:solidFill>
                <a:srgbClr val="002060"/>
              </a:solidFill>
            </a:rPr>
            <a:t>Association</a:t>
          </a:r>
          <a:r>
            <a:rPr lang="es-ES" sz="800" b="1" kern="1200" dirty="0">
              <a:solidFill>
                <a:srgbClr val="002060"/>
              </a:solidFill>
            </a:rPr>
            <a:t> Rules </a:t>
          </a:r>
          <a:r>
            <a:rPr lang="es-ES" sz="800" kern="1200" dirty="0"/>
            <a:t>- Mario</a:t>
          </a:r>
        </a:p>
      </dsp:txBody>
      <dsp:txXfrm>
        <a:off x="1071719" y="3188498"/>
        <a:ext cx="3941343" cy="497211"/>
      </dsp:txXfrm>
    </dsp:sp>
    <dsp:sp modelId="{F2ED9228-CFBA-4661-8996-A0E7EA7BA1F7}">
      <dsp:nvSpPr>
        <dsp:cNvPr id="0" name=""/>
        <dsp:cNvSpPr/>
      </dsp:nvSpPr>
      <dsp:spPr>
        <a:xfrm rot="10800000" flipV="1">
          <a:off x="69107" y="3247680"/>
          <a:ext cx="1002612" cy="37763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/>
          <a:srcRect/>
          <a:stretch>
            <a:fillRect t="-17000" b="-17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2b1022eedc3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2b1022eedc3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2b1022eedc3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2b1022eedc3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2b1022eedc3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2b1022eedc3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Comentar que no había duplicados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2b1022eedc3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2b1022eedc3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2b1022eedc3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2b1022eedc3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2b1022eedc3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2b1022eedc3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2b1022eedc3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2b1022eedc3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355125" y="814525"/>
            <a:ext cx="6350100" cy="26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355125" y="374585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12" name="Google Shape;12;p2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5056151" y="2574154"/>
            <a:ext cx="27690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2"/>
          </p:nvPr>
        </p:nvSpPr>
        <p:spPr>
          <a:xfrm>
            <a:off x="1318850" y="2574154"/>
            <a:ext cx="27690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3"/>
          </p:nvPr>
        </p:nvSpPr>
        <p:spPr>
          <a:xfrm>
            <a:off x="1318850" y="1771900"/>
            <a:ext cx="2769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4"/>
          </p:nvPr>
        </p:nvSpPr>
        <p:spPr>
          <a:xfrm>
            <a:off x="5056153" y="1771900"/>
            <a:ext cx="2769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30" name="Google Shape;30;p5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31" name="Google Shape;31;p5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5" name="Google Shape;35;p6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36" name="Google Shape;36;p6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7" name="Google Shape;37;p6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811975" y="2001200"/>
            <a:ext cx="4294800" cy="22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811975" y="1017225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2" name="Google Shape;42;p7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43" name="Google Shape;43;p7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4" name="Google Shape;44;p7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47" name="Google Shape;47;p8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48" name="Google Shape;48;p8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9" name="Google Shape;49;p8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53" name="Google Shape;53;p9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54" name="Google Shape;54;p9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5" name="Google Shape;55;p9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303775"/>
            <a:ext cx="6576000" cy="16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1" name="Google Shape;61;p11"/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62" name="Google Shape;62;p11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63" name="Google Shape;63;p11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4" name="Google Shape;64;p11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6"/>
          <p:cNvGrpSpPr/>
          <p:nvPr/>
        </p:nvGrpSpPr>
        <p:grpSpPr>
          <a:xfrm rot="10800000">
            <a:off x="0" y="4830900"/>
            <a:ext cx="9144000" cy="312600"/>
            <a:chOff x="0" y="0"/>
            <a:chExt cx="9144000" cy="312600"/>
          </a:xfrm>
        </p:grpSpPr>
        <p:sp>
          <p:nvSpPr>
            <p:cNvPr id="96" name="Google Shape;96;p16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●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○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Char char="■"/>
              <a:defRPr sz="1200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wen2111/Mineria.git" TargetMode="External"/><Relationship Id="rId3" Type="http://schemas.openxmlformats.org/officeDocument/2006/relationships/hyperlink" Target="mailto:maragonvalderrama@gmail.com" TargetMode="External"/><Relationship Id="rId7" Type="http://schemas.openxmlformats.org/officeDocument/2006/relationships/hyperlink" Target="mailto:wenjia.ye@estudiantat.upc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melissa.Vargas@estudiantat.upc.edu" TargetMode="External"/><Relationship Id="rId5" Type="http://schemas.openxmlformats.org/officeDocument/2006/relationships/hyperlink" Target="mailto:siling.guo@estudiantat.ub.edu" TargetMode="External"/><Relationship Id="rId10" Type="http://schemas.openxmlformats.org/officeDocument/2006/relationships/image" Target="../media/image2.png"/><Relationship Id="rId4" Type="http://schemas.openxmlformats.org/officeDocument/2006/relationships/hyperlink" Target="mailto:laura.Belmonte@estudiantat.upc.edu" TargetMode="Externa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ctrTitle"/>
          </p:nvPr>
        </p:nvSpPr>
        <p:spPr>
          <a:xfrm>
            <a:off x="817580" y="-573274"/>
            <a:ext cx="8509299" cy="26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ES" sz="4800" dirty="0"/>
              <a:t>Modelo de clasificación  GRUPO 5</a:t>
            </a:r>
            <a:endParaRPr sz="4800" b="0" dirty="0"/>
          </a:p>
        </p:txBody>
      </p:sp>
      <p:sp>
        <p:nvSpPr>
          <p:cNvPr id="4" name="Subtítulo 2"/>
          <p:cNvSpPr txBox="1"/>
          <p:nvPr/>
        </p:nvSpPr>
        <p:spPr>
          <a:xfrm>
            <a:off x="817580" y="2034626"/>
            <a:ext cx="8116888" cy="33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 panose="00000500000000000000"/>
              <a:buNone/>
              <a:defRPr sz="16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 panose="00000500000000000000"/>
              <a:buNone/>
              <a:defRPr sz="18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 panose="00000500000000000000"/>
              <a:buNone/>
              <a:defRPr sz="18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 panose="00000500000000000000"/>
              <a:buNone/>
              <a:defRPr sz="18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 panose="00000500000000000000"/>
              <a:buNone/>
              <a:defRPr sz="18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 panose="00000500000000000000"/>
              <a:buNone/>
              <a:defRPr sz="18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 panose="00000500000000000000"/>
              <a:buNone/>
              <a:defRPr sz="18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 panose="00000500000000000000"/>
              <a:buNone/>
              <a:defRPr sz="18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 panose="00000500000000000000"/>
              <a:buNone/>
              <a:defRPr sz="1800" b="0" i="0" u="none" strike="noStrike" cap="none">
                <a:solidFill>
                  <a:schemeClr val="dk1"/>
                </a:solidFill>
                <a:latin typeface="Didact Gothic" panose="00000500000000000000"/>
                <a:ea typeface="Didact Gothic" panose="00000500000000000000"/>
                <a:cs typeface="Didact Gothic" panose="00000500000000000000"/>
                <a:sym typeface="Didact Gothic" panose="00000500000000000000"/>
              </a:defRPr>
            </a:lvl9pPr>
          </a:lstStyle>
          <a:p>
            <a:r>
              <a:rPr lang="es-ES" dirty="0">
                <a:solidFill>
                  <a:schemeClr val="tx1"/>
                </a:solidFill>
              </a:rPr>
              <a:t>- Mario Aragón (</a:t>
            </a:r>
            <a:r>
              <a:rPr lang="es-ES" dirty="0">
                <a:solidFill>
                  <a:schemeClr val="tx1"/>
                </a:solidFill>
                <a:hlinkClick r:id="rId3"/>
              </a:rPr>
              <a:t>maragonvalderrama@gmail.com</a:t>
            </a:r>
            <a:r>
              <a:rPr lang="es-ES" dirty="0">
                <a:solidFill>
                  <a:schemeClr val="tx1"/>
                </a:solidFill>
              </a:rPr>
              <a:t>), (G05 </a:t>
            </a:r>
            <a:r>
              <a:rPr lang="es-ES" dirty="0" err="1">
                <a:solidFill>
                  <a:schemeClr val="tx1"/>
                </a:solidFill>
              </a:rPr>
              <a:t>mariovalde</a:t>
            </a:r>
            <a:r>
              <a:rPr lang="es-ES" dirty="0">
                <a:solidFill>
                  <a:schemeClr val="tx1"/>
                </a:solidFill>
              </a:rPr>
              <a:t>)</a:t>
            </a:r>
          </a:p>
          <a:p>
            <a:r>
              <a:rPr lang="es-ES" dirty="0">
                <a:solidFill>
                  <a:schemeClr val="tx1"/>
                </a:solidFill>
              </a:rPr>
              <a:t>- Laura Belmonte (</a:t>
            </a:r>
            <a:r>
              <a:rPr lang="es-ES" dirty="0">
                <a:solidFill>
                  <a:schemeClr val="tx1"/>
                </a:solidFill>
                <a:hlinkClick r:id="rId4"/>
              </a:rPr>
              <a:t>laura.Belmonte@estudiantat.upc.edu</a:t>
            </a:r>
            <a:r>
              <a:rPr lang="es-ES" dirty="0">
                <a:solidFill>
                  <a:schemeClr val="tx1"/>
                </a:solidFill>
              </a:rPr>
              <a:t>), (G05, </a:t>
            </a:r>
            <a:r>
              <a:rPr lang="es-ES" dirty="0" err="1">
                <a:solidFill>
                  <a:schemeClr val="tx1"/>
                </a:solidFill>
              </a:rPr>
              <a:t>laurabelvel</a:t>
            </a:r>
            <a:r>
              <a:rPr lang="es-ES" dirty="0">
                <a:solidFill>
                  <a:schemeClr val="tx1"/>
                </a:solidFill>
              </a:rPr>
              <a:t>)</a:t>
            </a:r>
          </a:p>
          <a:p>
            <a:r>
              <a:rPr lang="es-ES" dirty="0">
                <a:solidFill>
                  <a:schemeClr val="tx1"/>
                </a:solidFill>
              </a:rPr>
              <a:t>- </a:t>
            </a:r>
            <a:r>
              <a:rPr lang="es-ES" dirty="0" err="1">
                <a:solidFill>
                  <a:schemeClr val="tx1"/>
                </a:solidFill>
              </a:rPr>
              <a:t>Siling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Guo</a:t>
            </a:r>
            <a:r>
              <a:rPr lang="es-ES">
                <a:solidFill>
                  <a:schemeClr val="tx1"/>
                </a:solidFill>
              </a:rPr>
              <a:t> (</a:t>
            </a:r>
            <a:r>
              <a:rPr lang="es-ES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siling.guo@estudiantat.upc.edu</a:t>
            </a:r>
            <a:r>
              <a:rPr lang="es-ES">
                <a:solidFill>
                  <a:schemeClr val="tx1"/>
                </a:solidFill>
              </a:rPr>
              <a:t>), (G05, </a:t>
            </a:r>
            <a:r>
              <a:rPr lang="es-ES" dirty="0" err="1">
                <a:solidFill>
                  <a:schemeClr val="tx1"/>
                </a:solidFill>
              </a:rPr>
              <a:t>silinguo</a:t>
            </a:r>
            <a:r>
              <a:rPr lang="es-ES" dirty="0">
                <a:solidFill>
                  <a:schemeClr val="tx1"/>
                </a:solidFill>
              </a:rPr>
              <a:t>)</a:t>
            </a:r>
          </a:p>
          <a:p>
            <a:r>
              <a:rPr lang="es-ES" dirty="0">
                <a:solidFill>
                  <a:schemeClr val="tx1"/>
                </a:solidFill>
              </a:rPr>
              <a:t>- Melissa Vargas (</a:t>
            </a:r>
            <a:r>
              <a:rPr lang="es-ES" dirty="0">
                <a:solidFill>
                  <a:schemeClr val="tx1"/>
                </a:solidFill>
                <a:hlinkClick r:id="rId6"/>
              </a:rPr>
              <a:t>melissa.Vargas@estudiantat.upc.edu</a:t>
            </a:r>
            <a:r>
              <a:rPr lang="es-ES" dirty="0">
                <a:solidFill>
                  <a:schemeClr val="tx1"/>
                </a:solidFill>
              </a:rPr>
              <a:t>), (G05, </a:t>
            </a:r>
            <a:r>
              <a:rPr lang="es-ES" dirty="0" err="1">
                <a:solidFill>
                  <a:schemeClr val="tx1"/>
                </a:solidFill>
              </a:rPr>
              <a:t>matildasanchez</a:t>
            </a:r>
            <a:r>
              <a:rPr lang="es-ES" dirty="0">
                <a:solidFill>
                  <a:schemeClr val="tx1"/>
                </a:solidFill>
              </a:rPr>
              <a:t>)</a:t>
            </a:r>
          </a:p>
          <a:p>
            <a:r>
              <a:rPr lang="es-ES" dirty="0">
                <a:solidFill>
                  <a:schemeClr val="tx1"/>
                </a:solidFill>
              </a:rPr>
              <a:t>- </a:t>
            </a:r>
            <a:r>
              <a:rPr lang="es-ES" dirty="0" err="1">
                <a:solidFill>
                  <a:schemeClr val="tx1"/>
                </a:solidFill>
              </a:rPr>
              <a:t>Wenjia</a:t>
            </a:r>
            <a:r>
              <a:rPr lang="es-ES" dirty="0">
                <a:solidFill>
                  <a:schemeClr val="tx1"/>
                </a:solidFill>
              </a:rPr>
              <a:t> Ye (</a:t>
            </a:r>
            <a:r>
              <a:rPr lang="es-ES" dirty="0">
                <a:solidFill>
                  <a:schemeClr val="tx1"/>
                </a:solidFill>
                <a:hlinkClick r:id="rId7"/>
              </a:rPr>
              <a:t>wenjia.ye@estudiantat.upc.edu</a:t>
            </a:r>
            <a:r>
              <a:rPr lang="es-ES" dirty="0">
                <a:solidFill>
                  <a:schemeClr val="tx1"/>
                </a:solidFill>
              </a:rPr>
              <a:t>), (G05, wenjiaye03)</a:t>
            </a:r>
          </a:p>
          <a:p>
            <a:pPr marL="342900" indent="-342900">
              <a:buFontTx/>
              <a:buChar char="-"/>
            </a:pPr>
            <a:endParaRPr lang="es-ES" dirty="0">
              <a:solidFill>
                <a:schemeClr val="tx1"/>
              </a:solidFill>
            </a:endParaRPr>
          </a:p>
          <a:p>
            <a:r>
              <a:rPr lang="es-ES" dirty="0">
                <a:solidFill>
                  <a:schemeClr val="tx1"/>
                </a:solidFill>
                <a:highlight>
                  <a:srgbClr val="C0C0C0"/>
                </a:highlight>
                <a:hlinkClick r:id="rId8"/>
              </a:rPr>
              <a:t>Enlace </a:t>
            </a:r>
            <a:r>
              <a:rPr lang="es-ES" dirty="0" err="1">
                <a:solidFill>
                  <a:schemeClr val="tx1"/>
                </a:solidFill>
                <a:highlight>
                  <a:srgbClr val="C0C0C0"/>
                </a:highlight>
                <a:hlinkClick r:id="rId8"/>
              </a:rPr>
              <a:t>Github</a:t>
            </a:r>
            <a:endParaRPr lang="es-ES" dirty="0">
              <a:solidFill>
                <a:schemeClr val="tx1"/>
              </a:solidFill>
              <a:highlight>
                <a:srgbClr val="C0C0C0"/>
              </a:highlight>
            </a:endParaRPr>
          </a:p>
          <a:p>
            <a:endParaRPr lang="es-ES" dirty="0">
              <a:solidFill>
                <a:schemeClr val="tx1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4585" y="3919863"/>
            <a:ext cx="2794142" cy="840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/>
          <p:cNvSpPr txBox="1"/>
          <p:nvPr/>
        </p:nvSpPr>
        <p:spPr>
          <a:xfrm>
            <a:off x="5924585" y="92108"/>
            <a:ext cx="2254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Arial Black" panose="020B0A04020102020204" pitchFamily="34" charset="0"/>
              </a:rPr>
              <a:t>Grado en Estadística</a:t>
            </a:r>
          </a:p>
        </p:txBody>
      </p:sp>
      <p:pic>
        <p:nvPicPr>
          <p:cNvPr id="3" name="Picture 2" descr="Blue text on a white background&#10;&#10;Description automatically generated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9265" y="3988006"/>
            <a:ext cx="2603500" cy="781050"/>
          </a:xfrm>
          <a:prstGeom prst="rect">
            <a:avLst/>
          </a:prstGeom>
        </p:spPr>
      </p:pic>
      <p:sp>
        <p:nvSpPr>
          <p:cNvPr id="7" name="CuadroTexto 5"/>
          <p:cNvSpPr txBox="1"/>
          <p:nvPr/>
        </p:nvSpPr>
        <p:spPr>
          <a:xfrm>
            <a:off x="874163" y="92109"/>
            <a:ext cx="2254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Arial Black" panose="020B0A04020102020204" pitchFamily="34" charset="0"/>
              </a:rPr>
              <a:t>Minería de datos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4"/>
          <p:cNvSpPr txBox="1">
            <a:spLocks noGrp="1"/>
          </p:cNvSpPr>
          <p:nvPr>
            <p:ph type="title"/>
          </p:nvPr>
        </p:nvSpPr>
        <p:spPr>
          <a:xfrm>
            <a:off x="-1003002" y="25989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dirty="0"/>
              <a:t>ENTENDIMIENTO DE NEGOCIO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8510"/>
              </p:ext>
            </p:extLst>
          </p:nvPr>
        </p:nvGraphicFramePr>
        <p:xfrm>
          <a:off x="170035" y="914400"/>
          <a:ext cx="7318978" cy="368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2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6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4796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468C"/>
                          </a:solidFill>
                        </a:defRPr>
                      </a:pPr>
                      <a:r>
                        <a:rPr sz="1200" dirty="0" err="1"/>
                        <a:t>Resumen</a:t>
                      </a:r>
                      <a:r>
                        <a:rPr sz="1200" dirty="0"/>
                        <a:t> del </a:t>
                      </a:r>
                      <a:r>
                        <a:rPr sz="1200" dirty="0" err="1"/>
                        <a:t>problema</a:t>
                      </a:r>
                      <a:endParaRPr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GB" i="1" dirty="0" err="1">
                          <a:solidFill>
                            <a:schemeClr val="tx1"/>
                          </a:solidFill>
                        </a:rPr>
                        <a:t>Clasificar</a:t>
                      </a:r>
                      <a:r>
                        <a:rPr lang="en-GB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i="1" dirty="0" err="1">
                          <a:solidFill>
                            <a:schemeClr val="tx1"/>
                          </a:solidFill>
                        </a:rPr>
                        <a:t>clientes</a:t>
                      </a:r>
                      <a:r>
                        <a:rPr lang="en-GB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i="1" dirty="0" err="1">
                          <a:solidFill>
                            <a:schemeClr val="tx1"/>
                          </a:solidFill>
                        </a:rPr>
                        <a:t>bancarios</a:t>
                      </a:r>
                      <a:r>
                        <a:rPr lang="en-GB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i="1" dirty="0" err="1">
                          <a:solidFill>
                            <a:schemeClr val="tx1"/>
                          </a:solidFill>
                        </a:rPr>
                        <a:t>según</a:t>
                      </a:r>
                      <a:r>
                        <a:rPr lang="en-GB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i="1" dirty="0" err="1">
                          <a:solidFill>
                            <a:schemeClr val="tx1"/>
                          </a:solidFill>
                        </a:rPr>
                        <a:t>riesgo</a:t>
                      </a:r>
                      <a:r>
                        <a:rPr lang="en-GB" i="1" dirty="0">
                          <a:solidFill>
                            <a:schemeClr val="tx1"/>
                          </a:solidFill>
                        </a:rPr>
                        <a:t> de </a:t>
                      </a:r>
                      <a:r>
                        <a:rPr lang="en-GB" i="1" dirty="0" err="1">
                          <a:solidFill>
                            <a:schemeClr val="tx1"/>
                          </a:solidFill>
                        </a:rPr>
                        <a:t>abandono</a:t>
                      </a:r>
                      <a:r>
                        <a:rPr lang="en-GB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GB" i="1" dirty="0" err="1">
                          <a:solidFill>
                            <a:schemeClr val="tx1"/>
                          </a:solidFill>
                        </a:rPr>
                        <a:t>mediante</a:t>
                      </a:r>
                      <a:r>
                        <a:rPr lang="en-GB" i="1" dirty="0">
                          <a:solidFill>
                            <a:schemeClr val="tx1"/>
                          </a:solidFill>
                        </a:rPr>
                        <a:t> variables del </a:t>
                      </a:r>
                      <a:r>
                        <a:rPr lang="en-GB" i="1" dirty="0" err="1">
                          <a:solidFill>
                            <a:schemeClr val="tx1"/>
                          </a:solidFill>
                        </a:rPr>
                        <a:t>usuario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796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468C"/>
                          </a:solidFill>
                        </a:defRPr>
                      </a:pPr>
                      <a:r>
                        <a:rPr dirty="0" err="1"/>
                        <a:t>Contexto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aplicación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GB" dirty="0"/>
                        <a:t>Identidad </a:t>
                      </a:r>
                      <a:r>
                        <a:rPr lang="en-GB" dirty="0" err="1"/>
                        <a:t>Bancaria</a:t>
                      </a:r>
                      <a:r>
                        <a:rPr lang="en-GB" dirty="0"/>
                        <a:t>           </a:t>
                      </a:r>
                      <a:r>
                        <a:rPr lang="en-GB" dirty="0" err="1"/>
                        <a:t>busca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identificar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causas</a:t>
                      </a:r>
                      <a:r>
                        <a:rPr lang="en-GB" dirty="0"/>
                        <a:t> del </a:t>
                      </a:r>
                      <a:r>
                        <a:rPr lang="en-GB" dirty="0" err="1"/>
                        <a:t>abandono</a:t>
                      </a:r>
                      <a:r>
                        <a:rPr lang="en-GB" dirty="0"/>
                        <a:t> de sus </a:t>
                      </a:r>
                      <a:r>
                        <a:rPr lang="en-GB" dirty="0" err="1"/>
                        <a:t>clientes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796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468C"/>
                          </a:solidFill>
                        </a:defRPr>
                      </a:pPr>
                      <a:r>
                        <a:t>Objetivo 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 err="1"/>
                        <a:t>Modelizar</a:t>
                      </a:r>
                      <a:r>
                        <a:rPr dirty="0"/>
                        <a:t> la </a:t>
                      </a:r>
                      <a:r>
                        <a:rPr dirty="0" err="1"/>
                        <a:t>pérdida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clientes</a:t>
                      </a:r>
                      <a:r>
                        <a:rPr dirty="0"/>
                        <a:t> (churn) </a:t>
                      </a:r>
                      <a:r>
                        <a:rPr dirty="0" err="1"/>
                        <a:t>en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función</a:t>
                      </a:r>
                      <a:r>
                        <a:rPr dirty="0"/>
                        <a:t> de variables del </a:t>
                      </a:r>
                      <a:r>
                        <a:rPr dirty="0" err="1"/>
                        <a:t>usuario</a:t>
                      </a:r>
                      <a:r>
                        <a:rPr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776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468C"/>
                          </a:solidFill>
                        </a:defRPr>
                      </a:pPr>
                      <a:r>
                        <a:t>Objetivos secundarios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• </a:t>
                      </a:r>
                      <a:r>
                        <a:rPr dirty="0" err="1"/>
                        <a:t>Analizar</a:t>
                      </a:r>
                      <a:r>
                        <a:rPr dirty="0"/>
                        <a:t> la </a:t>
                      </a:r>
                      <a:r>
                        <a:rPr dirty="0" err="1"/>
                        <a:t>estructura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los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datos</a:t>
                      </a:r>
                      <a:r>
                        <a:rPr dirty="0"/>
                        <a:t>.</a:t>
                      </a:r>
                      <a:br>
                        <a:rPr dirty="0"/>
                      </a:br>
                      <a:r>
                        <a:rPr dirty="0"/>
                        <a:t>• </a:t>
                      </a:r>
                      <a:r>
                        <a:rPr dirty="0" err="1"/>
                        <a:t>Identificar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relaciones</a:t>
                      </a:r>
                      <a:r>
                        <a:rPr dirty="0"/>
                        <a:t> entre variables.</a:t>
                      </a:r>
                      <a:br>
                        <a:rPr dirty="0"/>
                      </a:br>
                      <a:r>
                        <a:rPr dirty="0"/>
                        <a:t>• </a:t>
                      </a:r>
                      <a:r>
                        <a:rPr dirty="0" err="1"/>
                        <a:t>Evaluar</a:t>
                      </a:r>
                      <a:r>
                        <a:rPr dirty="0"/>
                        <a:t> la </a:t>
                      </a:r>
                      <a:r>
                        <a:rPr dirty="0" err="1"/>
                        <a:t>influencia</a:t>
                      </a:r>
                      <a:r>
                        <a:rPr dirty="0"/>
                        <a:t> de las variables </a:t>
                      </a:r>
                      <a:r>
                        <a:rPr dirty="0" err="1"/>
                        <a:t>en</a:t>
                      </a:r>
                      <a:r>
                        <a:rPr dirty="0"/>
                        <a:t> la </a:t>
                      </a:r>
                      <a:r>
                        <a:rPr dirty="0" err="1"/>
                        <a:t>permanencia</a:t>
                      </a:r>
                      <a:r>
                        <a:rPr dirty="0"/>
                        <a:t> del </a:t>
                      </a:r>
                      <a:r>
                        <a:rPr dirty="0" err="1"/>
                        <a:t>cliente</a:t>
                      </a:r>
                      <a:r>
                        <a:rPr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855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468C"/>
                          </a:solidFill>
                        </a:defRPr>
                      </a:pPr>
                      <a:r>
                        <a:t>KPIs de control (modelo)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• Accuracy</a:t>
                      </a:r>
                      <a:br>
                        <a:rPr dirty="0"/>
                      </a:br>
                      <a:r>
                        <a:rPr dirty="0"/>
                        <a:t>• Precision</a:t>
                      </a:r>
                      <a:br>
                        <a:rPr dirty="0"/>
                      </a:br>
                      <a:r>
                        <a:rPr dirty="0"/>
                        <a:t>• </a:t>
                      </a:r>
                      <a:r>
                        <a:rPr lang="ca-ES" dirty="0" err="1"/>
                        <a:t>Recall</a:t>
                      </a:r>
                      <a:r>
                        <a:rPr lang="ca-ES" dirty="0"/>
                        <a:t> / </a:t>
                      </a:r>
                      <a:r>
                        <a:rPr dirty="0"/>
                        <a:t>F1-Score</a:t>
                      </a:r>
                      <a:br>
                        <a:rPr dirty="0"/>
                      </a:br>
                      <a:r>
                        <a:rPr dirty="0"/>
                        <a:t>• AUC-ROC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796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468C"/>
                          </a:solidFill>
                        </a:defRPr>
                      </a:pPr>
                      <a:r>
                        <a:t>KPI de negocio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dirty="0"/>
                        <a:t>Tasa de </a:t>
                      </a:r>
                      <a:r>
                        <a:rPr dirty="0" err="1"/>
                        <a:t>retención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clientes</a:t>
                      </a:r>
                      <a:r>
                        <a:rPr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5" name="Straight Arrow Connector 4"/>
          <p:cNvCxnSpPr/>
          <p:nvPr/>
        </p:nvCxnSpPr>
        <p:spPr>
          <a:xfrm>
            <a:off x="3829524" y="1636004"/>
            <a:ext cx="3022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lack and white logo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013" y="332509"/>
            <a:ext cx="1566241" cy="13009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dirty="0"/>
              <a:t>FRAMEWORK METODOLÓGICO</a:t>
            </a:r>
            <a:endParaRPr dirty="0"/>
          </a:p>
        </p:txBody>
      </p:sp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2165948479"/>
              </p:ext>
            </p:extLst>
          </p:nvPr>
        </p:nvGraphicFramePr>
        <p:xfrm>
          <a:off x="3571539" y="1112201"/>
          <a:ext cx="5013063" cy="36857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CuadroTexto 4"/>
          <p:cNvSpPr txBox="1"/>
          <p:nvPr/>
        </p:nvSpPr>
        <p:spPr>
          <a:xfrm>
            <a:off x="279699" y="1112200"/>
            <a:ext cx="313123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 err="1"/>
              <a:t>Metodología</a:t>
            </a:r>
            <a:r>
              <a:rPr lang="en-GB" sz="1200" dirty="0"/>
              <a:t>: CRISP-DM (Cross Industry Standard Process for Data Mining)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 err="1"/>
              <a:t>Enfoque</a:t>
            </a:r>
            <a:r>
              <a:rPr lang="en-GB" sz="1200" dirty="0"/>
              <a:t>: </a:t>
            </a:r>
            <a:r>
              <a:rPr lang="en-GB" sz="1200" dirty="0" err="1"/>
              <a:t>Trabajo</a:t>
            </a:r>
            <a:r>
              <a:rPr lang="en-GB" sz="1200" dirty="0"/>
              <a:t> </a:t>
            </a:r>
            <a:r>
              <a:rPr lang="en-GB" sz="1200" dirty="0" err="1"/>
              <a:t>colaborativo</a:t>
            </a:r>
            <a:r>
              <a:rPr lang="en-GB" sz="1200" dirty="0"/>
              <a:t> con </a:t>
            </a:r>
            <a:r>
              <a:rPr lang="en-GB" sz="1200" dirty="0" err="1"/>
              <a:t>asignación</a:t>
            </a:r>
            <a:r>
              <a:rPr lang="en-GB" sz="1200" dirty="0"/>
              <a:t> de </a:t>
            </a:r>
            <a:r>
              <a:rPr lang="en-GB" sz="1200" dirty="0" err="1"/>
              <a:t>responsables</a:t>
            </a:r>
            <a:r>
              <a:rPr lang="en-GB" sz="1200" dirty="0"/>
              <a:t> </a:t>
            </a:r>
            <a:r>
              <a:rPr lang="en-GB" sz="1200" dirty="0" err="1"/>
              <a:t>por</a:t>
            </a:r>
            <a:r>
              <a:rPr lang="en-GB" sz="1200" dirty="0"/>
              <a:t> </a:t>
            </a:r>
            <a:r>
              <a:rPr lang="en-GB" sz="1200" dirty="0" err="1"/>
              <a:t>fase</a:t>
            </a:r>
            <a:endParaRPr lang="en-GB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b="1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437" y="2250295"/>
            <a:ext cx="2750004" cy="2663526"/>
          </a:xfrm>
          <a:prstGeom prst="rect">
            <a:avLst/>
          </a:prstGeom>
          <a:ln>
            <a:solidFill>
              <a:schemeClr val="bg2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4"/>
          <p:cNvSpPr txBox="1">
            <a:spLocks noGrp="1"/>
          </p:cNvSpPr>
          <p:nvPr>
            <p:ph type="title"/>
          </p:nvPr>
        </p:nvSpPr>
        <p:spPr>
          <a:xfrm>
            <a:off x="720000" y="18449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dirty="0"/>
              <a:t>Tratamiento de </a:t>
            </a:r>
            <a:r>
              <a:rPr lang="es-ES" dirty="0" err="1"/>
              <a:t>Missing</a:t>
            </a:r>
            <a:endParaRPr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43" y="2251639"/>
            <a:ext cx="4381801" cy="2848282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251639"/>
            <a:ext cx="4626707" cy="2872676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115049" y="709411"/>
            <a:ext cx="1432397" cy="2487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Detección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049" y="1024623"/>
            <a:ext cx="258958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30% </a:t>
            </a:r>
            <a:r>
              <a:rPr lang="en-GB" sz="1200" dirty="0" err="1"/>
              <a:t>en</a:t>
            </a:r>
            <a:r>
              <a:rPr lang="en-GB" sz="1200" dirty="0"/>
              <a:t> </a:t>
            </a:r>
            <a:r>
              <a:rPr lang="en-GB" sz="1200" dirty="0" err="1"/>
              <a:t>todas</a:t>
            </a:r>
            <a:r>
              <a:rPr lang="en-GB" sz="1200" dirty="0"/>
              <a:t> las variables (</a:t>
            </a:r>
            <a:r>
              <a:rPr lang="en-GB" sz="1200" dirty="0" err="1"/>
              <a:t>excepto</a:t>
            </a:r>
            <a:r>
              <a:rPr lang="en-GB" sz="1200" dirty="0"/>
              <a:t> ID)</a:t>
            </a:r>
          </a:p>
          <a:p>
            <a:r>
              <a:rPr lang="en-GB" sz="1200" b="1" dirty="0">
                <a:highlight>
                  <a:srgbClr val="FFFF00"/>
                </a:highlight>
              </a:rPr>
              <a:t>Test MCAR</a:t>
            </a:r>
          </a:p>
          <a:p>
            <a:r>
              <a:rPr lang="en-GB" sz="1200" b="1" dirty="0"/>
              <a:t>p-</a:t>
            </a:r>
            <a:r>
              <a:rPr lang="en-GB" sz="1200" b="1" dirty="0" err="1"/>
              <a:t>valor</a:t>
            </a:r>
            <a:r>
              <a:rPr lang="en-GB" sz="1200" b="1" dirty="0"/>
              <a:t> = 0.39</a:t>
            </a:r>
          </a:p>
          <a:p>
            <a:r>
              <a:rPr lang="en-GB" sz="1200" dirty="0"/>
              <a:t>✓ </a:t>
            </a:r>
            <a:r>
              <a:rPr lang="en-GB" sz="1200" dirty="0" err="1"/>
              <a:t>Aleatoriedad</a:t>
            </a:r>
            <a:r>
              <a:rPr lang="en-GB" sz="1200" dirty="0"/>
              <a:t> </a:t>
            </a:r>
            <a:r>
              <a:rPr lang="en-GB" sz="1200" dirty="0" err="1"/>
              <a:t>confirmada</a:t>
            </a:r>
            <a:endParaRPr lang="en-GB" sz="1200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40937" y="605827"/>
            <a:ext cx="3391877" cy="1269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br>
              <a:rPr lang="en-GB" b="1" i="0" dirty="0">
                <a:solidFill>
                  <a:srgbClr val="030712"/>
                </a:solidFill>
                <a:effectLst/>
                <a:latin typeface="ui-sans-serif"/>
              </a:rPr>
            </a:br>
            <a:r>
              <a:rPr lang="en-GB" sz="1100" b="1" i="0" dirty="0" err="1">
                <a:solidFill>
                  <a:srgbClr val="030712"/>
                </a:solidFill>
                <a:effectLst/>
                <a:latin typeface="ui-sans-serif"/>
              </a:rPr>
              <a:t>Métodos</a:t>
            </a:r>
            <a:r>
              <a:rPr lang="en-GB" sz="1100" b="1" i="0" dirty="0">
                <a:solidFill>
                  <a:srgbClr val="030712"/>
                </a:solidFill>
                <a:effectLst/>
                <a:latin typeface="ui-sans-serif"/>
              </a:rPr>
              <a:t> </a:t>
            </a:r>
            <a:r>
              <a:rPr lang="en-GB" sz="1100" b="1" i="0" dirty="0" err="1">
                <a:solidFill>
                  <a:srgbClr val="030712"/>
                </a:solidFill>
                <a:effectLst/>
                <a:latin typeface="ui-sans-serif"/>
              </a:rPr>
              <a:t>Probados</a:t>
            </a:r>
            <a:r>
              <a:rPr lang="en-GB" sz="1100" b="1" i="0" dirty="0">
                <a:solidFill>
                  <a:srgbClr val="030712"/>
                </a:solidFill>
                <a:effectLst/>
                <a:latin typeface="ui-sans-serif"/>
              </a:rPr>
              <a:t> </a:t>
            </a:r>
            <a:r>
              <a:rPr lang="en-GB" sz="1100" b="1" i="0" dirty="0" err="1">
                <a:solidFill>
                  <a:srgbClr val="030712"/>
                </a:solidFill>
                <a:effectLst/>
                <a:latin typeface="ui-sans-serif"/>
              </a:rPr>
              <a:t>Implementados</a:t>
            </a:r>
            <a:r>
              <a:rPr lang="en-GB" sz="1100" b="1" i="0" dirty="0">
                <a:solidFill>
                  <a:srgbClr val="030712"/>
                </a:solidFill>
                <a:effectLst/>
                <a:latin typeface="ui-sans-serif"/>
              </a:rPr>
              <a:t> </a:t>
            </a:r>
          </a:p>
          <a:p>
            <a:pPr algn="l">
              <a:buNone/>
            </a:pPr>
            <a:r>
              <a:rPr lang="en-GB" sz="1100" b="1" i="0" dirty="0">
                <a:solidFill>
                  <a:srgbClr val="7F1D1D"/>
                </a:solidFill>
                <a:effectLst/>
                <a:latin typeface="ui-sans-serif"/>
              </a:rPr>
              <a:t>- </a:t>
            </a:r>
            <a:r>
              <a:rPr lang="en-GB" sz="1100" b="1" i="0" dirty="0" err="1">
                <a:solidFill>
                  <a:srgbClr val="7F1D1D"/>
                </a:solidFill>
                <a:effectLst/>
                <a:latin typeface="ui-sans-serif"/>
              </a:rPr>
              <a:t>Imputación</a:t>
            </a:r>
            <a:r>
              <a:rPr lang="en-GB" sz="1100" b="1" i="0" dirty="0">
                <a:solidFill>
                  <a:srgbClr val="7F1D1D"/>
                </a:solidFill>
                <a:effectLst/>
                <a:latin typeface="ui-sans-serif"/>
              </a:rPr>
              <a:t> Simple</a:t>
            </a:r>
          </a:p>
          <a:p>
            <a:pPr algn="l">
              <a:buNone/>
            </a:pPr>
            <a:r>
              <a:rPr lang="en-GB" sz="1100" b="0" i="0" dirty="0">
                <a:solidFill>
                  <a:srgbClr val="4B5563"/>
                </a:solidFill>
                <a:effectLst/>
                <a:latin typeface="ui-sans-serif"/>
              </a:rPr>
              <a:t>Media/</a:t>
            </a:r>
            <a:r>
              <a:rPr lang="en-GB" sz="1100" b="0" i="0" dirty="0" err="1">
                <a:solidFill>
                  <a:srgbClr val="4B5563"/>
                </a:solidFill>
                <a:effectLst/>
                <a:latin typeface="ui-sans-serif"/>
              </a:rPr>
              <a:t>mediana</a:t>
            </a:r>
            <a:r>
              <a:rPr lang="en-GB" sz="1100" b="0" i="0" dirty="0">
                <a:solidFill>
                  <a:srgbClr val="4B5563"/>
                </a:solidFill>
                <a:effectLst/>
                <a:latin typeface="ui-sans-serif"/>
              </a:rPr>
              <a:t>/</a:t>
            </a:r>
            <a:r>
              <a:rPr lang="en-GB" sz="1100" b="0" i="0" dirty="0" err="1">
                <a:solidFill>
                  <a:srgbClr val="4B5563"/>
                </a:solidFill>
                <a:effectLst/>
                <a:latin typeface="ui-sans-serif"/>
              </a:rPr>
              <a:t>moda</a:t>
            </a:r>
            <a:endParaRPr lang="en-GB" sz="1100" b="0" i="0" dirty="0">
              <a:solidFill>
                <a:srgbClr val="4B5563"/>
              </a:solidFill>
              <a:effectLst/>
              <a:latin typeface="ui-sans-serif"/>
            </a:endParaRPr>
          </a:p>
          <a:p>
            <a:pPr algn="l">
              <a:buNone/>
            </a:pPr>
            <a:r>
              <a:rPr lang="en-GB" sz="1100" b="0" i="1" dirty="0" err="1">
                <a:solidFill>
                  <a:srgbClr val="B91C1C"/>
                </a:solidFill>
                <a:effectLst/>
                <a:latin typeface="ui-sans-serif"/>
              </a:rPr>
              <a:t>Distorsiona</a:t>
            </a:r>
            <a:r>
              <a:rPr lang="en-GB" sz="1100" b="0" i="1" dirty="0">
                <a:solidFill>
                  <a:srgbClr val="B91C1C"/>
                </a:solidFill>
                <a:effectLst/>
                <a:latin typeface="ui-sans-serif"/>
              </a:rPr>
              <a:t> </a:t>
            </a:r>
            <a:r>
              <a:rPr lang="en-GB" sz="1100" b="0" i="1" dirty="0" err="1">
                <a:solidFill>
                  <a:srgbClr val="B91C1C"/>
                </a:solidFill>
                <a:effectLst/>
                <a:latin typeface="ui-sans-serif"/>
              </a:rPr>
              <a:t>distribuciones</a:t>
            </a:r>
            <a:endParaRPr lang="en-GB" sz="1100" b="0" i="1" dirty="0">
              <a:solidFill>
                <a:srgbClr val="B91C1C"/>
              </a:solidFill>
              <a:effectLst/>
              <a:latin typeface="ui-sans-serif"/>
            </a:endParaRPr>
          </a:p>
          <a:p>
            <a:pPr marL="171450" indent="-171450" algn="l">
              <a:spcBef>
                <a:spcPts val="900"/>
              </a:spcBef>
              <a:buFontTx/>
              <a:buChar char="-"/>
            </a:pPr>
            <a:r>
              <a:rPr lang="en-GB" sz="1100" b="1" i="0" dirty="0">
                <a:solidFill>
                  <a:srgbClr val="713F12"/>
                </a:solidFill>
                <a:effectLst/>
                <a:latin typeface="ui-sans-serif"/>
              </a:rPr>
              <a:t>KNN </a:t>
            </a:r>
            <a:r>
              <a:rPr lang="en-GB" sz="1100" b="1" i="0" dirty="0" err="1">
                <a:solidFill>
                  <a:srgbClr val="713F12"/>
                </a:solidFill>
                <a:effectLst/>
                <a:latin typeface="ui-sans-serif"/>
              </a:rPr>
              <a:t>Multivariante</a:t>
            </a:r>
            <a:endParaRPr lang="en-GB" sz="1100" b="1" dirty="0">
              <a:solidFill>
                <a:srgbClr val="713F12"/>
              </a:solidFill>
              <a:latin typeface="ui-sans-serif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32213" y="1046039"/>
            <a:ext cx="3321538" cy="1331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900"/>
              </a:spcBef>
            </a:pPr>
            <a:r>
              <a:rPr lang="en-GB" sz="1100" dirty="0">
                <a:solidFill>
                  <a:srgbClr val="4B5563"/>
                </a:solidFill>
                <a:latin typeface="ui-sans-serif"/>
              </a:rPr>
              <a:t>Mejor </a:t>
            </a:r>
            <a:r>
              <a:rPr lang="en-GB" sz="1100" dirty="0" err="1">
                <a:solidFill>
                  <a:srgbClr val="4B5563"/>
                </a:solidFill>
                <a:latin typeface="ui-sans-serif"/>
              </a:rPr>
              <a:t>ajuste</a:t>
            </a:r>
            <a:r>
              <a:rPr lang="en-GB" sz="1100" dirty="0">
                <a:solidFill>
                  <a:srgbClr val="4B5563"/>
                </a:solidFill>
                <a:latin typeface="ui-sans-serif"/>
              </a:rPr>
              <a:t>, </a:t>
            </a:r>
            <a:r>
              <a:rPr lang="en-GB" sz="1100" dirty="0" err="1">
                <a:solidFill>
                  <a:srgbClr val="4B5563"/>
                </a:solidFill>
                <a:latin typeface="ui-sans-serif"/>
              </a:rPr>
              <a:t>pero</a:t>
            </a:r>
            <a:r>
              <a:rPr lang="en-GB" sz="1100" dirty="0">
                <a:solidFill>
                  <a:srgbClr val="4B5563"/>
                </a:solidFill>
                <a:latin typeface="ui-sans-serif"/>
              </a:rPr>
              <a:t> </a:t>
            </a:r>
            <a:r>
              <a:rPr lang="en-GB" sz="1100" dirty="0" err="1">
                <a:solidFill>
                  <a:srgbClr val="4B5563"/>
                </a:solidFill>
                <a:latin typeface="ui-sans-serif"/>
              </a:rPr>
              <a:t>mejorable</a:t>
            </a:r>
            <a:endParaRPr lang="en-GB" sz="1100" dirty="0">
              <a:solidFill>
                <a:srgbClr val="4B5563"/>
              </a:solidFill>
              <a:latin typeface="ui-sans-serif"/>
            </a:endParaRPr>
          </a:p>
          <a:p>
            <a:pPr>
              <a:spcBef>
                <a:spcPts val="900"/>
              </a:spcBef>
            </a:pPr>
            <a:r>
              <a:rPr lang="en-GB" sz="1100" b="1" dirty="0">
                <a:solidFill>
                  <a:srgbClr val="14532D"/>
                </a:solidFill>
                <a:highlight>
                  <a:srgbClr val="FFFF00"/>
                </a:highlight>
                <a:latin typeface="ui-sans-serif"/>
              </a:rPr>
              <a:t>- MICE (</a:t>
            </a:r>
            <a:r>
              <a:rPr lang="en-GB" sz="1100" b="1" dirty="0" err="1">
                <a:solidFill>
                  <a:srgbClr val="14532D"/>
                </a:solidFill>
                <a:highlight>
                  <a:srgbClr val="FFFF00"/>
                </a:highlight>
                <a:latin typeface="ui-sans-serif"/>
              </a:rPr>
              <a:t>Multivariante</a:t>
            </a:r>
            <a:r>
              <a:rPr lang="en-GB" sz="1100" b="1" dirty="0">
                <a:solidFill>
                  <a:srgbClr val="14532D"/>
                </a:solidFill>
                <a:highlight>
                  <a:srgbClr val="FFFF00"/>
                </a:highlight>
                <a:latin typeface="ui-sans-serif"/>
              </a:rPr>
              <a:t>)</a:t>
            </a:r>
          </a:p>
          <a:p>
            <a:pPr>
              <a:spcBef>
                <a:spcPts val="900"/>
              </a:spcBef>
            </a:pPr>
            <a:r>
              <a:rPr lang="en-GB" sz="1100" dirty="0" err="1">
                <a:solidFill>
                  <a:srgbClr val="4B5563"/>
                </a:solidFill>
                <a:latin typeface="ui-sans-serif"/>
              </a:rPr>
              <a:t>Ajuste</a:t>
            </a:r>
            <a:r>
              <a:rPr lang="en-GB" sz="1100" dirty="0">
                <a:solidFill>
                  <a:srgbClr val="4B5563"/>
                </a:solidFill>
                <a:latin typeface="ui-sans-serif"/>
              </a:rPr>
              <a:t> perfecto de </a:t>
            </a:r>
            <a:r>
              <a:rPr lang="en-GB" sz="1100" dirty="0" err="1">
                <a:solidFill>
                  <a:srgbClr val="4B5563"/>
                </a:solidFill>
                <a:latin typeface="ui-sans-serif"/>
              </a:rPr>
              <a:t>distribuciones</a:t>
            </a:r>
            <a:endParaRPr lang="en-GB" sz="1100" dirty="0">
              <a:solidFill>
                <a:srgbClr val="4B5563"/>
              </a:solidFill>
              <a:latin typeface="ui-sans-serif"/>
            </a:endParaRPr>
          </a:p>
          <a:p>
            <a:pPr>
              <a:spcBef>
                <a:spcPts val="900"/>
              </a:spcBef>
            </a:pPr>
            <a:r>
              <a:rPr lang="en-GB" sz="1100" b="1" dirty="0">
                <a:solidFill>
                  <a:srgbClr val="166534"/>
                </a:solidFill>
                <a:latin typeface="ui-sans-serif"/>
              </a:rPr>
              <a:t>✓ MÉTODO SELECCIONADO</a:t>
            </a:r>
          </a:p>
          <a:p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110153" y="590805"/>
            <a:ext cx="0" cy="15943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920153" y="661390"/>
            <a:ext cx="0" cy="15943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2367" y="674103"/>
            <a:ext cx="304434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100" i="1" dirty="0"/>
              <a:t>Finalmente, tras aplicar el método </a:t>
            </a:r>
            <a:r>
              <a:rPr lang="es-ES" sz="1100" b="1" i="1" dirty="0"/>
              <a:t>MICE</a:t>
            </a:r>
            <a:r>
              <a:rPr lang="es-ES" sz="1100" i="1" dirty="0"/>
              <a:t> (multivariante), llegamos a unos resultados muy buenos, encontrando un ajuste prácticamente perfecto de las distribuciones. </a:t>
            </a:r>
          </a:p>
          <a:p>
            <a:pPr algn="just"/>
            <a:endParaRPr lang="es-ES" sz="1100" i="1" dirty="0"/>
          </a:p>
          <a:p>
            <a:pPr algn="just"/>
            <a:r>
              <a:rPr lang="es-ES" sz="1100" i="1" dirty="0"/>
              <a:t>Se decidió validar el método y la base de datos imputada por MICE.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4"/>
          <p:cNvSpPr txBox="1">
            <a:spLocks noGrp="1"/>
          </p:cNvSpPr>
          <p:nvPr>
            <p:ph type="title"/>
          </p:nvPr>
        </p:nvSpPr>
        <p:spPr>
          <a:xfrm>
            <a:off x="720000" y="2655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dirty="0"/>
              <a:t>Tratamiento de </a:t>
            </a:r>
            <a:r>
              <a:rPr lang="es-ES" dirty="0" err="1"/>
              <a:t>Outliers</a:t>
            </a:r>
            <a:endParaRPr dirty="0"/>
          </a:p>
        </p:txBody>
      </p:sp>
      <p:sp>
        <p:nvSpPr>
          <p:cNvPr id="3" name="CuadroTexto 2"/>
          <p:cNvSpPr txBox="1"/>
          <p:nvPr/>
        </p:nvSpPr>
        <p:spPr>
          <a:xfrm>
            <a:off x="256412" y="4096818"/>
            <a:ext cx="8306195" cy="93871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tx1"/>
                </a:solidFill>
              </a:rPr>
              <a:t>Se realizó un estudio de </a:t>
            </a:r>
            <a:r>
              <a:rPr lang="es-ES" sz="1100" dirty="0" err="1">
                <a:solidFill>
                  <a:schemeClr val="tx1"/>
                </a:solidFill>
              </a:rPr>
              <a:t>outliers</a:t>
            </a:r>
            <a:r>
              <a:rPr lang="es-ES" sz="1100" dirty="0">
                <a:solidFill>
                  <a:schemeClr val="tx1"/>
                </a:solidFill>
              </a:rPr>
              <a:t> previo y posterior a la imputación, obteniendo los mismos resultados tanto a nivel univariante como multivariante.</a:t>
            </a:r>
          </a:p>
          <a:p>
            <a:endParaRPr lang="es-ES" sz="1100" dirty="0">
              <a:solidFill>
                <a:schemeClr val="tx1"/>
              </a:solidFill>
            </a:endParaRPr>
          </a:p>
          <a:p>
            <a:r>
              <a:rPr lang="es-ES" sz="1100" dirty="0">
                <a:solidFill>
                  <a:schemeClr val="tx1"/>
                </a:solidFill>
              </a:rPr>
              <a:t>Se decidió mantenerlos en la base de datos, ya que suponían una proporción que se puede entender como normal (~4-5%) y no se observaron valores extremos o imposibles.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9923" y="1101572"/>
          <a:ext cx="5398617" cy="1630680"/>
        </p:xfrm>
        <a:graphic>
          <a:graphicData uri="http://schemas.openxmlformats.org/drawingml/2006/table">
            <a:tbl>
              <a:tblPr firstRow="1" bandRow="1">
                <a:tableStyleId>{7FD54D1E-A07F-487E-B709-6B33F1453160}</a:tableStyleId>
              </a:tblPr>
              <a:tblGrid>
                <a:gridCol w="10805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9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93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59">
                <a:tc>
                  <a:txBody>
                    <a:bodyPr/>
                    <a:lstStyle/>
                    <a:p>
                      <a:r>
                        <a:rPr lang="en-US" sz="1100" b="1" dirty="0"/>
                        <a:t>Nivel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Tipo de Variable 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Método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Criterio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r>
                        <a:rPr lang="en-US" sz="1100" dirty="0"/>
                        <a:t>Univariante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 err="1"/>
                        <a:t>Simétricas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IQR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1.5 × IQR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r>
                        <a:rPr lang="en-US" sz="1100" dirty="0"/>
                        <a:t>Univariante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No </a:t>
                      </a:r>
                      <a:r>
                        <a:rPr lang="en-GB" sz="1100" dirty="0" err="1"/>
                        <a:t>simétricas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Hampel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Mediana + MAD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59">
                <a:tc>
                  <a:txBody>
                    <a:bodyPr/>
                    <a:lstStyle/>
                    <a:p>
                      <a:r>
                        <a:rPr lang="en-US" sz="1100" dirty="0"/>
                        <a:t>Univariante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 err="1"/>
                        <a:t>Categóricas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 err="1"/>
                        <a:t>Frecuencias</a:t>
                      </a:r>
                      <a:r>
                        <a:rPr lang="en-GB" sz="1100" dirty="0"/>
                        <a:t> </a:t>
                      </a:r>
                      <a:r>
                        <a:rPr lang="en-GB" sz="1100" dirty="0" err="1"/>
                        <a:t>relativas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&lt; 5% del total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609">
                <a:tc>
                  <a:txBody>
                    <a:bodyPr/>
                    <a:lstStyle/>
                    <a:p>
                      <a:r>
                        <a:rPr lang="en-US" sz="1100" dirty="0"/>
                        <a:t>Multivariante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Númericas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Distancia </a:t>
                      </a:r>
                      <a:r>
                        <a:rPr lang="en-GB" sz="1100" dirty="0" err="1"/>
                        <a:t>Mahalanobis</a:t>
                      </a:r>
                      <a:r>
                        <a:rPr lang="en-GB" sz="1100" dirty="0"/>
                        <a:t> + LOF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Gràficos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338682" y="838225"/>
            <a:ext cx="2355494" cy="2005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Métodos</a:t>
            </a:r>
          </a:p>
        </p:txBody>
      </p:sp>
      <p:pic>
        <p:nvPicPr>
          <p:cNvPr id="8" name="Picture 7" descr="A diagram of a graph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580" y="1101572"/>
            <a:ext cx="2895290" cy="163068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712892"/>
              </p:ext>
            </p:extLst>
          </p:nvPr>
        </p:nvGraphicFramePr>
        <p:xfrm>
          <a:off x="204824" y="2786279"/>
          <a:ext cx="8219176" cy="1220012"/>
        </p:xfrm>
        <a:graphic>
          <a:graphicData uri="http://schemas.openxmlformats.org/drawingml/2006/table">
            <a:tbl>
              <a:tblPr firstRow="1" bandRow="1">
                <a:tableStyleId>{7FD54D1E-A07F-487E-B709-6B33F1453160}</a:tableStyleId>
              </a:tblPr>
              <a:tblGrid>
                <a:gridCol w="2054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4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47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47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5003">
                <a:tc>
                  <a:txBody>
                    <a:bodyPr/>
                    <a:lstStyle/>
                    <a:p>
                      <a:r>
                        <a:rPr lang="en-US" dirty="0"/>
                        <a:t>Variable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Outliers detected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Ubicación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Características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003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Cola Derecha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Valores </a:t>
                      </a:r>
                      <a:r>
                        <a:rPr lang="en-GB" dirty="0" err="1"/>
                        <a:t>extremos</a:t>
                      </a:r>
                      <a:r>
                        <a:rPr lang="en-GB" dirty="0"/>
                        <a:t> altos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003">
                <a:tc>
                  <a:txBody>
                    <a:bodyPr/>
                    <a:lstStyle/>
                    <a:p>
                      <a:r>
                        <a:rPr lang="en-US" dirty="0"/>
                        <a:t>Estimated Salary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Cola Derecha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Salarios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muy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elevados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003">
                <a:tc>
                  <a:txBody>
                    <a:bodyPr/>
                    <a:lstStyle/>
                    <a:p>
                      <a:r>
                        <a:rPr lang="en-US" dirty="0"/>
                        <a:t>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Cola Derecha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Balances </a:t>
                      </a:r>
                      <a:r>
                        <a:rPr lang="en-GB" dirty="0" err="1"/>
                        <a:t>superiores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" name="Graphic 11" descr="Tick with solid 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24912" y="3031540"/>
            <a:ext cx="373532" cy="373532"/>
          </a:xfrm>
          <a:prstGeom prst="rect">
            <a:avLst/>
          </a:prstGeom>
        </p:spPr>
      </p:pic>
      <p:pic>
        <p:nvPicPr>
          <p:cNvPr id="13" name="Graphic 12" descr="Tick with solid 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24912" y="3377413"/>
            <a:ext cx="373532" cy="373532"/>
          </a:xfrm>
          <a:prstGeom prst="rect">
            <a:avLst/>
          </a:prstGeom>
        </p:spPr>
      </p:pic>
      <p:pic>
        <p:nvPicPr>
          <p:cNvPr id="14" name="Graphic 13" descr="Tick with solid 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01112" y="3742158"/>
            <a:ext cx="221132" cy="2817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4"/>
          <p:cNvSpPr txBox="1">
            <a:spLocks noGrp="1"/>
          </p:cNvSpPr>
          <p:nvPr>
            <p:ph type="title"/>
          </p:nvPr>
        </p:nvSpPr>
        <p:spPr>
          <a:xfrm>
            <a:off x="0" y="398517"/>
            <a:ext cx="900491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sz="2400" dirty="0"/>
              <a:t>Ingeniería de variables 1/2: transformación</a:t>
            </a:r>
            <a:endParaRPr sz="24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B77C555-2991-906F-3AAB-CC0936277AAC}"/>
              </a:ext>
            </a:extLst>
          </p:cNvPr>
          <p:cNvCxnSpPr>
            <a:cxnSpLocks/>
          </p:cNvCxnSpPr>
          <p:nvPr/>
        </p:nvCxnSpPr>
        <p:spPr>
          <a:xfrm>
            <a:off x="4502456" y="1083778"/>
            <a:ext cx="0" cy="16573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79B8F9-8F3D-B404-74CE-72EEB3B4A68A}"/>
              </a:ext>
            </a:extLst>
          </p:cNvPr>
          <p:cNvCxnSpPr>
            <a:cxnSpLocks/>
          </p:cNvCxnSpPr>
          <p:nvPr/>
        </p:nvCxnSpPr>
        <p:spPr>
          <a:xfrm flipH="1">
            <a:off x="-69544" y="2720772"/>
            <a:ext cx="4572000" cy="2402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751AC01-62C7-8AB4-F21A-1DB2D2D2E369}"/>
              </a:ext>
            </a:extLst>
          </p:cNvPr>
          <p:cNvCxnSpPr>
            <a:cxnSpLocks/>
          </p:cNvCxnSpPr>
          <p:nvPr/>
        </p:nvCxnSpPr>
        <p:spPr>
          <a:xfrm>
            <a:off x="4502456" y="2735149"/>
            <a:ext cx="4631996" cy="23693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1">
            <a:extLst>
              <a:ext uri="{FF2B5EF4-FFF2-40B4-BE49-F238E27FC236}">
                <a16:creationId xmlns:a16="http://schemas.microsoft.com/office/drawing/2014/main" id="{9792A6BF-D3C9-1DCD-FB9A-10296D882659}"/>
              </a:ext>
            </a:extLst>
          </p:cNvPr>
          <p:cNvSpPr txBox="1"/>
          <p:nvPr/>
        </p:nvSpPr>
        <p:spPr>
          <a:xfrm>
            <a:off x="289112" y="902637"/>
            <a:ext cx="3779968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100" b="1" dirty="0" err="1"/>
              <a:t>ComplaintsCount</a:t>
            </a:r>
            <a:endParaRPr lang="es-ES" sz="1100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ES" altLang="en-ES" sz="1100" dirty="0">
                <a:solidFill>
                  <a:schemeClr val="tx1"/>
                </a:solidFill>
                <a:latin typeface="Arial" panose="020B0604020202020204" pitchFamily="34" charset="0"/>
              </a:rPr>
              <a:t>Se decidió </a:t>
            </a:r>
            <a:r>
              <a:rPr lang="en-ES" altLang="en-ES" sz="1100" b="1" dirty="0">
                <a:solidFill>
                  <a:schemeClr val="tx1"/>
                </a:solidFill>
                <a:latin typeface="Arial" panose="020B0604020202020204" pitchFamily="34" charset="0"/>
              </a:rPr>
              <a:t>dummyficar la variable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ES" altLang="en-ES" sz="1100" dirty="0">
                <a:solidFill>
                  <a:schemeClr val="tx1"/>
                </a:solidFill>
                <a:latin typeface="Arial" panose="020B0604020202020204" pitchFamily="34" charset="0"/>
              </a:rPr>
              <a:t>. La información se simplifica para indicar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ES" altLang="en-ES" sz="1100" b="1" dirty="0">
                <a:solidFill>
                  <a:schemeClr val="tx1"/>
                </a:solidFill>
                <a:latin typeface="Arial" panose="020B0604020202020204" pitchFamily="34" charset="0"/>
              </a:rPr>
              <a:t>si el cliente ha emitido alguna queja o no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ES" altLang="en-ES" sz="1100" dirty="0">
                <a:solidFill>
                  <a:schemeClr val="tx1"/>
                </a:solidFill>
                <a:latin typeface="Arial" panose="020B0604020202020204" pitchFamily="34" charset="0"/>
              </a:rPr>
              <a:t>Variable: Númerica            Factor binario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s-ES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b="1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63D8225-BE49-E574-F7AD-586AF271CAC0}"/>
              </a:ext>
            </a:extLst>
          </p:cNvPr>
          <p:cNvCxnSpPr>
            <a:cxnSpLocks/>
          </p:cNvCxnSpPr>
          <p:nvPr/>
        </p:nvCxnSpPr>
        <p:spPr>
          <a:xfrm>
            <a:off x="1979003" y="1725659"/>
            <a:ext cx="2000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Imagen 5">
            <a:extLst>
              <a:ext uri="{FF2B5EF4-FFF2-40B4-BE49-F238E27FC236}">
                <a16:creationId xmlns:a16="http://schemas.microsoft.com/office/drawing/2014/main" id="{2473D714-7AFD-5B6A-7337-D8E77EDAF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51" y="2130401"/>
            <a:ext cx="1625642" cy="1911754"/>
          </a:xfrm>
          <a:prstGeom prst="rect">
            <a:avLst/>
          </a:prstGeom>
        </p:spPr>
      </p:pic>
      <p:sp>
        <p:nvSpPr>
          <p:cNvPr id="31" name="Flecha: a la derecha 8">
            <a:extLst>
              <a:ext uri="{FF2B5EF4-FFF2-40B4-BE49-F238E27FC236}">
                <a16:creationId xmlns:a16="http://schemas.microsoft.com/office/drawing/2014/main" id="{30F0B31A-26C7-9855-91A6-C2461B77F3AA}"/>
              </a:ext>
            </a:extLst>
          </p:cNvPr>
          <p:cNvSpPr/>
          <p:nvPr/>
        </p:nvSpPr>
        <p:spPr>
          <a:xfrm>
            <a:off x="1856166" y="2882971"/>
            <a:ext cx="445766" cy="2904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2" name="Imagen 7">
            <a:extLst>
              <a:ext uri="{FF2B5EF4-FFF2-40B4-BE49-F238E27FC236}">
                <a16:creationId xmlns:a16="http://schemas.microsoft.com/office/drawing/2014/main" id="{B6086ABC-6B96-0101-76AA-A415BE972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1476" y="2066017"/>
            <a:ext cx="1313795" cy="1711680"/>
          </a:xfrm>
          <a:prstGeom prst="rect">
            <a:avLst/>
          </a:prstGeom>
        </p:spPr>
      </p:pic>
      <p:sp>
        <p:nvSpPr>
          <p:cNvPr id="34" name="CuadroTexto 9">
            <a:extLst>
              <a:ext uri="{FF2B5EF4-FFF2-40B4-BE49-F238E27FC236}">
                <a16:creationId xmlns:a16="http://schemas.microsoft.com/office/drawing/2014/main" id="{20BEEFED-2A6B-33EF-B1CA-CBD837A43B1D}"/>
              </a:ext>
            </a:extLst>
          </p:cNvPr>
          <p:cNvSpPr txBox="1"/>
          <p:nvPr/>
        </p:nvSpPr>
        <p:spPr>
          <a:xfrm>
            <a:off x="4844426" y="1002664"/>
            <a:ext cx="39480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100" b="1" dirty="0" err="1"/>
              <a:t>NumOfProducts</a:t>
            </a:r>
            <a:endParaRPr lang="es-ES" sz="11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100" dirty="0" err="1"/>
              <a:t>Mayoria</a:t>
            </a:r>
            <a:r>
              <a:rPr lang="es-ES" sz="1100" dirty="0"/>
              <a:t> de clientes tienes </a:t>
            </a:r>
            <a:r>
              <a:rPr lang="es-ES" sz="1100" b="1" dirty="0"/>
              <a:t>1 | 2 productos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100" b="1" dirty="0" err="1"/>
              <a:t>Minoria</a:t>
            </a:r>
            <a:r>
              <a:rPr lang="es-ES" sz="1100" b="1" dirty="0"/>
              <a:t>         </a:t>
            </a:r>
            <a:r>
              <a:rPr lang="es-ES" sz="1100" dirty="0"/>
              <a:t>3 o más productos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100" dirty="0"/>
              <a:t>Categorización de la variable (1, 2, +3 productos)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834C496-A928-10D0-48C6-CE8CEF9BC974}"/>
              </a:ext>
            </a:extLst>
          </p:cNvPr>
          <p:cNvCxnSpPr>
            <a:cxnSpLocks/>
          </p:cNvCxnSpPr>
          <p:nvPr/>
        </p:nvCxnSpPr>
        <p:spPr>
          <a:xfrm>
            <a:off x="5789919" y="1483607"/>
            <a:ext cx="2527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Imagen 14">
            <a:extLst>
              <a:ext uri="{FF2B5EF4-FFF2-40B4-BE49-F238E27FC236}">
                <a16:creationId xmlns:a16="http://schemas.microsoft.com/office/drawing/2014/main" id="{B6FD0232-66CA-722F-FE7D-46333FFF57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8143" y="1806569"/>
            <a:ext cx="1490982" cy="1810178"/>
          </a:xfrm>
          <a:prstGeom prst="rect">
            <a:avLst/>
          </a:prstGeom>
        </p:spPr>
      </p:pic>
      <p:sp>
        <p:nvSpPr>
          <p:cNvPr id="38" name="Flecha: a la derecha 15">
            <a:extLst>
              <a:ext uri="{FF2B5EF4-FFF2-40B4-BE49-F238E27FC236}">
                <a16:creationId xmlns:a16="http://schemas.microsoft.com/office/drawing/2014/main" id="{97FDFF4E-DB65-0A9D-AD32-A48F44DCCB2C}"/>
              </a:ext>
            </a:extLst>
          </p:cNvPr>
          <p:cNvSpPr/>
          <p:nvPr/>
        </p:nvSpPr>
        <p:spPr>
          <a:xfrm>
            <a:off x="6584820" y="2631401"/>
            <a:ext cx="400857" cy="2904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9" name="Imagen 12">
            <a:extLst>
              <a:ext uri="{FF2B5EF4-FFF2-40B4-BE49-F238E27FC236}">
                <a16:creationId xmlns:a16="http://schemas.microsoft.com/office/drawing/2014/main" id="{1630429D-38A6-5D5E-B15C-26CDC195A9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1457" y="1764302"/>
            <a:ext cx="2022543" cy="231511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1B73DF3-889B-919D-3428-CF6CB6CA8160}"/>
              </a:ext>
            </a:extLst>
          </p:cNvPr>
          <p:cNvSpPr txBox="1"/>
          <p:nvPr/>
        </p:nvSpPr>
        <p:spPr>
          <a:xfrm>
            <a:off x="1097992" y="4586981"/>
            <a:ext cx="18421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b="1" dirty="0"/>
              <a:t>Balance -&gt; Dummy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33;p34"/>
          <p:cNvSpPr txBox="1">
            <a:spLocks noGrp="1"/>
          </p:cNvSpPr>
          <p:nvPr>
            <p:ph type="title"/>
          </p:nvPr>
        </p:nvSpPr>
        <p:spPr>
          <a:xfrm>
            <a:off x="720725" y="428526"/>
            <a:ext cx="7702550" cy="573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sz="2400" dirty="0"/>
              <a:t>Ingeniería de Variables 2/2: selección</a:t>
            </a:r>
            <a:endParaRPr sz="2400" dirty="0"/>
          </a:p>
        </p:txBody>
      </p:sp>
      <p:sp>
        <p:nvSpPr>
          <p:cNvPr id="3" name="CuadroTexto 2"/>
          <p:cNvSpPr txBox="1"/>
          <p:nvPr/>
        </p:nvSpPr>
        <p:spPr>
          <a:xfrm>
            <a:off x="2117102" y="1253058"/>
            <a:ext cx="77025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1200" dirty="0"/>
          </a:p>
          <a:p>
            <a:endParaRPr lang="es-E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Variables numéricas: Test de mediana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Variables categóricas: Test de Chi-cuadrado</a:t>
            </a:r>
          </a:p>
          <a:p>
            <a:endParaRPr lang="es-ES" sz="1200" dirty="0"/>
          </a:p>
          <a:p>
            <a:r>
              <a:rPr lang="es-ES" sz="1200" dirty="0"/>
              <a:t>Las variables con un p-valor inferior a 0.05 han sido las siguientes:</a:t>
            </a:r>
          </a:p>
          <a:p>
            <a:endParaRPr lang="es-ES" sz="1200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9997" y="2510828"/>
            <a:ext cx="4594061" cy="1418710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408790" y="4046018"/>
            <a:ext cx="8178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600">
                <a:latin typeface="Arial" panose="020B0604020202020204"/>
              </a:defRPr>
            </a:pPr>
            <a:r>
              <a:rPr lang="en-GB" sz="1200" dirty="0"/>
              <a:t>Las variables </a:t>
            </a:r>
            <a:r>
              <a:rPr lang="en-GB" sz="1200" b="1" dirty="0" err="1"/>
              <a:t>EstimatedSalary</a:t>
            </a:r>
            <a:r>
              <a:rPr lang="en-GB" sz="1200" b="1" dirty="0"/>
              <a:t> y </a:t>
            </a:r>
            <a:r>
              <a:rPr lang="en-GB" sz="1200" b="1" dirty="0" err="1"/>
              <a:t>CreditScore</a:t>
            </a:r>
            <a:r>
              <a:rPr lang="en-GB" sz="1200" b="1" dirty="0"/>
              <a:t>         </a:t>
            </a:r>
            <a:r>
              <a:rPr lang="en-GB" sz="1200" dirty="0"/>
              <a:t>p-</a:t>
            </a:r>
            <a:r>
              <a:rPr lang="en-GB" sz="1200" dirty="0" err="1"/>
              <a:t>valores</a:t>
            </a:r>
            <a:r>
              <a:rPr lang="en-GB" sz="1200" dirty="0"/>
              <a:t> </a:t>
            </a:r>
            <a:r>
              <a:rPr lang="en-GB" sz="1200" dirty="0" err="1"/>
              <a:t>cercanos</a:t>
            </a:r>
            <a:r>
              <a:rPr lang="en-GB" sz="1200" dirty="0"/>
              <a:t> a 0.05 antes de la </a:t>
            </a:r>
            <a:r>
              <a:rPr lang="en-GB" sz="1200" dirty="0" err="1"/>
              <a:t>imputación</a:t>
            </a:r>
            <a:r>
              <a:rPr lang="en-GB" sz="1200" dirty="0"/>
              <a:t> de NA.</a:t>
            </a:r>
          </a:p>
          <a:p>
            <a:pPr marL="171450" indent="-171450">
              <a:buFont typeface="Arial" panose="020B0604020202020204" pitchFamily="34" charset="0"/>
              <a:buChar char="•"/>
              <a:defRPr sz="1600">
                <a:latin typeface="Arial" panose="020B0604020202020204"/>
              </a:defRPr>
            </a:pPr>
            <a:r>
              <a:rPr lang="en-GB" sz="1200" dirty="0"/>
              <a:t>Se </a:t>
            </a:r>
            <a:r>
              <a:rPr lang="en-GB" sz="1200" dirty="0" err="1"/>
              <a:t>probará</a:t>
            </a:r>
            <a:r>
              <a:rPr lang="en-GB" sz="1200" dirty="0"/>
              <a:t> </a:t>
            </a:r>
            <a:r>
              <a:rPr lang="en-GB" sz="1200" dirty="0" err="1"/>
              <a:t>el</a:t>
            </a:r>
            <a:r>
              <a:rPr lang="en-GB" sz="1200" dirty="0"/>
              <a:t> </a:t>
            </a:r>
            <a:r>
              <a:rPr lang="en-GB" sz="1200" dirty="0" err="1"/>
              <a:t>modelo</a:t>
            </a:r>
            <a:r>
              <a:rPr lang="en-GB" sz="1200" dirty="0"/>
              <a:t> con y sin </a:t>
            </a:r>
            <a:r>
              <a:rPr lang="en-GB" sz="1200" dirty="0" err="1"/>
              <a:t>estas</a:t>
            </a:r>
            <a:r>
              <a:rPr lang="en-GB" sz="1200" dirty="0"/>
              <a:t> dos variables para </a:t>
            </a:r>
            <a:r>
              <a:rPr lang="en-GB" sz="1200" dirty="0" err="1"/>
              <a:t>verificar</a:t>
            </a:r>
            <a:r>
              <a:rPr lang="en-GB" sz="1200" dirty="0"/>
              <a:t> </a:t>
            </a:r>
            <a:r>
              <a:rPr lang="en-GB" sz="1200" b="1" dirty="0" err="1"/>
              <a:t>diferencias</a:t>
            </a:r>
            <a:r>
              <a:rPr lang="en-GB" sz="1200" b="1" dirty="0"/>
              <a:t> </a:t>
            </a:r>
            <a:r>
              <a:rPr lang="en-GB" sz="1200" b="1" dirty="0" err="1"/>
              <a:t>en</a:t>
            </a:r>
            <a:r>
              <a:rPr lang="en-GB" sz="1200" b="1" dirty="0"/>
              <a:t> </a:t>
            </a:r>
            <a:r>
              <a:rPr lang="en-GB" sz="1200" b="1" dirty="0" err="1"/>
              <a:t>los</a:t>
            </a:r>
            <a:r>
              <a:rPr lang="en-GB" sz="1200" b="1" dirty="0"/>
              <a:t> </a:t>
            </a:r>
            <a:r>
              <a:rPr lang="en-GB" sz="1200" b="1" dirty="0" err="1"/>
              <a:t>resultados</a:t>
            </a:r>
            <a:r>
              <a:rPr lang="en-GB" sz="1200" b="1" dirty="0"/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7297" y="964666"/>
            <a:ext cx="7025864" cy="4334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Sobre la base de datos imputada y transformada se realizaron </a:t>
            </a:r>
            <a:r>
              <a:rPr lang="es-ES" sz="1100" dirty="0" err="1"/>
              <a:t>tests</a:t>
            </a:r>
            <a:r>
              <a:rPr lang="es-ES" sz="1100" dirty="0"/>
              <a:t> de significancia para determinar qué variables son importantes para describir el comportamiento de la variable </a:t>
            </a:r>
            <a:r>
              <a:rPr lang="es-ES" sz="1100" dirty="0" err="1"/>
              <a:t>Exited</a:t>
            </a:r>
            <a:endParaRPr lang="en-US" sz="1100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3876085" y="4046018"/>
            <a:ext cx="2103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4"/>
          <p:cNvSpPr txBox="1">
            <a:spLocks noGrp="1"/>
          </p:cNvSpPr>
          <p:nvPr>
            <p:ph type="title"/>
          </p:nvPr>
        </p:nvSpPr>
        <p:spPr>
          <a:xfrm>
            <a:off x="673945" y="28549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dirty="0"/>
              <a:t>PREPARACIÓN PARA EL MODELADO</a:t>
            </a:r>
            <a:endParaRPr dirty="0"/>
          </a:p>
        </p:txBody>
      </p:sp>
      <p:pic>
        <p:nvPicPr>
          <p:cNvPr id="1026" name="Picture 2" descr="Handling Imbalanced Dataset In Machine Learning. | by Shivam Chhetry |  Medi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448" y="1073150"/>
            <a:ext cx="2318042" cy="115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59833" y="748484"/>
            <a:ext cx="20649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Dataset desbalanceado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2078" y="2242522"/>
            <a:ext cx="14605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Clase negativa 80%</a:t>
            </a:r>
            <a:br>
              <a:rPr lang="en-US" sz="1100" dirty="0"/>
            </a:br>
            <a:r>
              <a:rPr lang="en-US" sz="1100" dirty="0"/>
              <a:t>Modelo sesgado</a:t>
            </a:r>
          </a:p>
        </p:txBody>
      </p:sp>
      <p:pic>
        <p:nvPicPr>
          <p:cNvPr id="1028" name="Picture 4" descr="71 mil resultados de imágenes, fotos de stock e ilustraciones libres de  regalías para Red x symbol | Shutterstoc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485" y="2301581"/>
            <a:ext cx="458759" cy="421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2908300" y="1651000"/>
            <a:ext cx="8442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752551" y="765373"/>
            <a:ext cx="19255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Técnicas de balanceo</a:t>
            </a:r>
          </a:p>
        </p:txBody>
      </p:sp>
      <p:pic>
        <p:nvPicPr>
          <p:cNvPr id="1030" name="Picture 6" descr="Imbalanced Vs Balanced Dataset ..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710" y="855762"/>
            <a:ext cx="2318042" cy="1590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6706863" y="740645"/>
            <a:ext cx="17171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Datos balanceados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6802" y="2455328"/>
            <a:ext cx="13131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Mejor rendimiento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5630353" y="1651000"/>
            <a:ext cx="780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34" name="Picture 10" descr="30.600+ Tick Verde Fotografías de stock ...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364" y="2348495"/>
            <a:ext cx="475275" cy="47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ounded Rectangle 11"/>
          <p:cNvSpPr/>
          <p:nvPr/>
        </p:nvSpPr>
        <p:spPr>
          <a:xfrm>
            <a:off x="3860728" y="1084156"/>
            <a:ext cx="1542921" cy="2948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O</a:t>
            </a:r>
            <a:r>
              <a:rPr lang="en-US" dirty="0">
                <a:solidFill>
                  <a:schemeClr val="tx1"/>
                </a:solidFill>
              </a:rPr>
              <a:t>versampling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50487" y="1456037"/>
            <a:ext cx="1542921" cy="2948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</a:rPr>
              <a:t>Undersampling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850486" y="1839743"/>
            <a:ext cx="1542921" cy="2444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ROSE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30425" y="2439538"/>
            <a:ext cx="25202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Todas las técnicas mejoran resultado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403" y="3028784"/>
            <a:ext cx="8609085" cy="2052892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60726" y="2163638"/>
            <a:ext cx="1542921" cy="2444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SMOTE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00" y="508144"/>
            <a:ext cx="7704000" cy="572700"/>
          </a:xfrm>
        </p:spPr>
        <p:txBody>
          <a:bodyPr/>
          <a:lstStyle/>
          <a:p>
            <a:r>
              <a:rPr lang="es-ES" noProof="0" dirty="0"/>
              <a:t>Árbol de </a:t>
            </a:r>
            <a:r>
              <a:rPr lang="es-ES" noProof="0" dirty="0" err="1"/>
              <a:t>desición</a:t>
            </a:r>
            <a:endParaRPr lang="es-ES" noProof="0" dirty="0"/>
          </a:p>
        </p:txBody>
      </p:sp>
      <p:graphicFrame>
        <p:nvGraphicFramePr>
          <p:cNvPr id="5" name="Tabla 4"/>
          <p:cNvGraphicFramePr>
            <a:graphicFrameLocks noGrp="1"/>
          </p:cNvGraphicFramePr>
          <p:nvPr/>
        </p:nvGraphicFramePr>
        <p:xfrm>
          <a:off x="369480" y="1499123"/>
          <a:ext cx="4427034" cy="27584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213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3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904">
                <a:tc>
                  <a:txBody>
                    <a:bodyPr/>
                    <a:lstStyle/>
                    <a:p>
                      <a:r>
                        <a:rPr lang="ca-ES" sz="1100" dirty="0"/>
                        <a:t>Característica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Valor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 err="1"/>
                        <a:t>Balanceo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Sí (ROSE: 43-57)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/>
                        <a:t>Umbral de </a:t>
                      </a:r>
                      <a:r>
                        <a:rPr lang="ca-ES" sz="1100" dirty="0" err="1"/>
                        <a:t>discriminación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 err="1"/>
                        <a:t>Escalado</a:t>
                      </a:r>
                      <a:r>
                        <a:rPr lang="ca-ES" sz="1100" dirty="0"/>
                        <a:t> de </a:t>
                      </a:r>
                      <a:r>
                        <a:rPr lang="ca-ES" sz="1100" dirty="0" err="1"/>
                        <a:t>numéricas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Sí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/>
                        <a:t>Cross </a:t>
                      </a:r>
                      <a:r>
                        <a:rPr lang="ca-ES" sz="1100" dirty="0" err="1"/>
                        <a:t>Validation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Sí (10 </a:t>
                      </a:r>
                      <a:r>
                        <a:rPr lang="ca-ES" sz="1100" dirty="0" err="1"/>
                        <a:t>folds</a:t>
                      </a:r>
                      <a:r>
                        <a:rPr lang="ca-ES" sz="11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 err="1"/>
                        <a:t>Criterio</a:t>
                      </a:r>
                      <a:r>
                        <a:rPr lang="ca-ES" sz="1100" dirty="0"/>
                        <a:t> para dividir </a:t>
                      </a:r>
                      <a:r>
                        <a:rPr lang="ca-ES" sz="1100" dirty="0" err="1"/>
                        <a:t>nodos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 err="1"/>
                        <a:t>Índice</a:t>
                      </a:r>
                      <a:r>
                        <a:rPr lang="ca-ES" sz="1100" dirty="0"/>
                        <a:t> de </a:t>
                      </a:r>
                      <a:r>
                        <a:rPr lang="ca-ES" sz="1100" dirty="0" err="1"/>
                        <a:t>Gini</a:t>
                      </a:r>
                      <a:endParaRPr lang="ca-E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36">
                <a:tc>
                  <a:txBody>
                    <a:bodyPr/>
                    <a:lstStyle/>
                    <a:p>
                      <a:r>
                        <a:rPr lang="ca-ES" sz="1100" dirty="0" err="1"/>
                        <a:t>Parámetro</a:t>
                      </a:r>
                      <a:r>
                        <a:rPr lang="ca-ES" sz="1100" dirty="0"/>
                        <a:t> de </a:t>
                      </a:r>
                      <a:r>
                        <a:rPr lang="ca-ES" sz="1100" dirty="0" err="1"/>
                        <a:t>complejidad</a:t>
                      </a:r>
                      <a:r>
                        <a:rPr lang="ca-ES" sz="1100" dirty="0"/>
                        <a:t> </a:t>
                      </a:r>
                      <a:r>
                        <a:rPr lang="ca-ES" sz="1100" dirty="0" err="1"/>
                        <a:t>Cp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 err="1"/>
                        <a:t>Optimizado</a:t>
                      </a:r>
                      <a:r>
                        <a:rPr lang="ca-ES" sz="1100" dirty="0"/>
                        <a:t> </a:t>
                      </a:r>
                      <a:r>
                        <a:rPr lang="ca-ES" sz="1100" dirty="0" err="1"/>
                        <a:t>vía</a:t>
                      </a:r>
                      <a:r>
                        <a:rPr lang="ca-ES" sz="1100" dirty="0"/>
                        <a:t> CV=&gt; </a:t>
                      </a:r>
                      <a:r>
                        <a:rPr lang="es-ES" sz="1100" dirty="0"/>
                        <a:t>0.004039924</a:t>
                      </a:r>
                      <a:endParaRPr lang="ca-E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/>
                        <a:t>Número total de </a:t>
                      </a:r>
                      <a:r>
                        <a:rPr lang="ca-ES" sz="1100" dirty="0" err="1"/>
                        <a:t>nodos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/>
                        <a:t>Número de </a:t>
                      </a:r>
                      <a:r>
                        <a:rPr lang="ca-ES" sz="1100" dirty="0" err="1"/>
                        <a:t>hojas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2904">
                <a:tc>
                  <a:txBody>
                    <a:bodyPr/>
                    <a:lstStyle/>
                    <a:p>
                      <a:r>
                        <a:rPr lang="ca-ES" sz="1100" dirty="0" err="1"/>
                        <a:t>Tamáño</a:t>
                      </a:r>
                      <a:r>
                        <a:rPr lang="ca-ES" sz="1100" dirty="0"/>
                        <a:t> </a:t>
                      </a:r>
                      <a:r>
                        <a:rPr lang="ca-ES" sz="1100" dirty="0" err="1"/>
                        <a:t>mínimo</a:t>
                      </a:r>
                      <a:r>
                        <a:rPr lang="ca-ES" sz="1100" dirty="0"/>
                        <a:t> de </a:t>
                      </a:r>
                      <a:r>
                        <a:rPr lang="ca-ES" sz="1100" dirty="0" err="1"/>
                        <a:t>hoja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AutoShape 2"/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ca-ES"/>
          </a:p>
        </p:txBody>
      </p:sp>
      <p:graphicFrame>
        <p:nvGraphicFramePr>
          <p:cNvPr id="7" name="Tabla 6"/>
          <p:cNvGraphicFramePr>
            <a:graphicFrameLocks noGrp="1"/>
          </p:cNvGraphicFramePr>
          <p:nvPr/>
        </p:nvGraphicFramePr>
        <p:xfrm>
          <a:off x="5221678" y="1499119"/>
          <a:ext cx="3552842" cy="275844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76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6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3545">
                <a:tc>
                  <a:txBody>
                    <a:bodyPr/>
                    <a:lstStyle/>
                    <a:p>
                      <a:r>
                        <a:rPr lang="ca-ES" sz="1100" dirty="0"/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Valor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r>
                        <a:rPr lang="ca-ES" sz="1100" dirty="0"/>
                        <a:t>F1 </a:t>
                      </a:r>
                      <a:r>
                        <a:rPr lang="ca-ES" sz="1100" dirty="0" err="1"/>
                        <a:t>train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0.4870878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r>
                        <a:rPr lang="ca-ES" sz="1100" dirty="0"/>
                        <a:t>F1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0.4990826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r>
                        <a:rPr lang="ca-ES" sz="1100" dirty="0" err="1"/>
                        <a:t>Recall</a:t>
                      </a:r>
                      <a:r>
                        <a:rPr lang="ca-ES" sz="1100" dirty="0"/>
                        <a:t> </a:t>
                      </a:r>
                      <a:r>
                        <a:rPr lang="ca-ES" sz="1100" dirty="0" err="1"/>
                        <a:t>train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0.607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r>
                        <a:rPr lang="ca-ES" sz="1100" dirty="0" err="1"/>
                        <a:t>Recall</a:t>
                      </a:r>
                      <a:r>
                        <a:rPr lang="ca-ES" sz="1100" dirty="0"/>
                        <a:t>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0.61678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r>
                        <a:rPr lang="ca-ES" sz="1100" dirty="0" err="1"/>
                        <a:t>Sprecificity_train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0.769982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084">
                <a:tc>
                  <a:txBody>
                    <a:bodyPr/>
                    <a:lstStyle/>
                    <a:p>
                      <a:r>
                        <a:rPr lang="ca-ES" sz="1100" dirty="0" err="1"/>
                        <a:t>Specificity</a:t>
                      </a:r>
                      <a:r>
                        <a:rPr lang="ca-ES" sz="1100" dirty="0"/>
                        <a:t>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0.7727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r>
                        <a:rPr lang="ca-ES" sz="1100" dirty="0" err="1"/>
                        <a:t>Accuracy</a:t>
                      </a:r>
                      <a:r>
                        <a:rPr lang="ca-ES" sz="1100" dirty="0"/>
                        <a:t> </a:t>
                      </a:r>
                      <a:r>
                        <a:rPr lang="ca-ES" sz="1100" dirty="0" err="1"/>
                        <a:t>train</a:t>
                      </a:r>
                      <a:endParaRPr lang="ca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0.7365306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545">
                <a:tc>
                  <a:txBody>
                    <a:bodyPr/>
                    <a:lstStyle/>
                    <a:p>
                      <a:r>
                        <a:rPr lang="ca-ES" sz="1100" dirty="0" err="1"/>
                        <a:t>Accuracy</a:t>
                      </a:r>
                      <a:r>
                        <a:rPr lang="ca-ES" sz="1100" dirty="0"/>
                        <a:t>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a-ES" sz="1100" dirty="0"/>
                        <a:t>0.74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0588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Tabla&#10;&#10;El contenido generado por IA puede ser incorrecto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61" y="1673485"/>
            <a:ext cx="2683327" cy="27321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9C6DA5-3145-B0ED-C9C6-3EEBA06235C6}"/>
              </a:ext>
            </a:extLst>
          </p:cNvPr>
          <p:cNvSpPr txBox="1"/>
          <p:nvPr/>
        </p:nvSpPr>
        <p:spPr>
          <a:xfrm>
            <a:off x="746161" y="798852"/>
            <a:ext cx="291846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S" b="1" dirty="0"/>
              <a:t>Las variables más importantes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 err="1"/>
              <a:t>demográficas</a:t>
            </a:r>
            <a:r>
              <a:rPr lang="en-GB" sz="1200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 err="1"/>
              <a:t>relación</a:t>
            </a:r>
            <a:r>
              <a:rPr lang="en-GB" sz="1200" dirty="0"/>
              <a:t> con </a:t>
            </a:r>
            <a:r>
              <a:rPr lang="en-GB" sz="1200" dirty="0" err="1"/>
              <a:t>el</a:t>
            </a:r>
            <a:r>
              <a:rPr lang="en-GB" sz="1200" dirty="0"/>
              <a:t> banco</a:t>
            </a:r>
            <a:endParaRPr lang="en-ES" sz="1200" dirty="0"/>
          </a:p>
        </p:txBody>
      </p:sp>
      <p:pic>
        <p:nvPicPr>
          <p:cNvPr id="5" name="Picture 4" descr="A graph with red dots and blue lines&#10;&#10;AI-generated content may be incorrect.">
            <a:extLst>
              <a:ext uri="{FF2B5EF4-FFF2-40B4-BE49-F238E27FC236}">
                <a16:creationId xmlns:a16="http://schemas.microsoft.com/office/drawing/2014/main" id="{DC1FC1D7-9B3C-12AD-0C86-48078DF9D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70" y="1216660"/>
            <a:ext cx="4691896" cy="3188948"/>
          </a:xfrm>
          <a:prstGeom prst="rect">
            <a:avLst/>
          </a:prstGeom>
        </p:spPr>
      </p:pic>
      <p:pic>
        <p:nvPicPr>
          <p:cNvPr id="7" name="Picture 6" descr="A diagram of a family tree&#10;&#10;AI-generated content may be incorrect.">
            <a:extLst>
              <a:ext uri="{FF2B5EF4-FFF2-40B4-BE49-F238E27FC236}">
                <a16:creationId xmlns:a16="http://schemas.microsoft.com/office/drawing/2014/main" id="{A3E3CB3F-4865-6CA8-52D6-66CA6A623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263" y="363493"/>
            <a:ext cx="8023474" cy="45591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Random</a:t>
            </a:r>
            <a:r>
              <a:rPr lang="es-ES" dirty="0"/>
              <a:t> Forest</a:t>
            </a:r>
            <a:br>
              <a:rPr lang="es-ES" dirty="0"/>
            </a:br>
            <a:br>
              <a:rPr lang="es-ES" dirty="0"/>
            </a:br>
            <a:endParaRPr lang="es-ES" dirty="0"/>
          </a:p>
        </p:txBody>
      </p:sp>
      <p:sp>
        <p:nvSpPr>
          <p:cNvPr id="5" name="CuadroTexto 4"/>
          <p:cNvSpPr txBox="1"/>
          <p:nvPr/>
        </p:nvSpPr>
        <p:spPr>
          <a:xfrm>
            <a:off x="1258229" y="1154252"/>
            <a:ext cx="662754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3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/>
              <a:t>Data completo.                 Métricas no destacables.</a:t>
            </a:r>
          </a:p>
          <a:p>
            <a:pPr marL="285750" lvl="3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n-US" altLang="zh-CN" dirty="0" err="1">
                <a:sym typeface="+mn-ea"/>
              </a:rPr>
              <a:t>Reducción</a:t>
            </a:r>
            <a:r>
              <a:rPr lang="en-US" altLang="zh-CN" dirty="0">
                <a:sym typeface="+mn-ea"/>
              </a:rPr>
              <a:t> 1: </a:t>
            </a:r>
            <a:r>
              <a:rPr lang="en-US" altLang="zh-CN" dirty="0" err="1">
                <a:sym typeface="+mn-ea"/>
              </a:rPr>
              <a:t>varImp</a:t>
            </a:r>
            <a:r>
              <a:rPr lang="en-US" altLang="zh-CN" dirty="0">
                <a:sym typeface="+mn-ea"/>
              </a:rPr>
              <a:t> + variables </a:t>
            </a:r>
            <a:r>
              <a:rPr lang="en-US" altLang="zh-CN" dirty="0" err="1">
                <a:sym typeface="+mn-ea"/>
              </a:rPr>
              <a:t>significativas</a:t>
            </a:r>
            <a:r>
              <a:rPr lang="en-US" altLang="zh-CN" dirty="0">
                <a:sym typeface="+mn-ea"/>
              </a:rPr>
              <a:t> (</a:t>
            </a:r>
            <a:r>
              <a:rPr lang="en-US" altLang="zh-CN" dirty="0" err="1">
                <a:sym typeface="+mn-ea"/>
              </a:rPr>
              <a:t>estadisticamente</a:t>
            </a:r>
            <a:r>
              <a:rPr lang="en-US" altLang="zh-CN" dirty="0">
                <a:sym typeface="+mn-ea"/>
              </a:rPr>
              <a:t>).            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 err="1"/>
              <a:t>Reduccción</a:t>
            </a:r>
            <a:r>
              <a:rPr lang="es-ES" dirty="0"/>
              <a:t> 2: </a:t>
            </a:r>
            <a:r>
              <a:rPr lang="es-ES" dirty="0" err="1"/>
              <a:t>Dataset</a:t>
            </a:r>
            <a:r>
              <a:rPr lang="es-ES" dirty="0"/>
              <a:t> reducido.</a:t>
            </a:r>
          </a:p>
          <a:p>
            <a:pPr marL="285750" lvl="3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/>
              <a:t>FAMD                   Mucho </a:t>
            </a:r>
            <a:r>
              <a:rPr lang="es-ES" dirty="0" err="1"/>
              <a:t>Overfitting</a:t>
            </a:r>
            <a:r>
              <a:rPr lang="es-ES" dirty="0"/>
              <a:t>.</a:t>
            </a:r>
          </a:p>
          <a:p>
            <a:pPr marL="285750" lvl="3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/>
              <a:t>Balanceo de datos                    Peores que sin </a:t>
            </a:r>
            <a:r>
              <a:rPr lang="es-ES" dirty="0" err="1"/>
              <a:t>balancear+overfitting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sz="1600" b="1" dirty="0" err="1"/>
              <a:t>Caracteristicas</a:t>
            </a:r>
            <a:r>
              <a:rPr lang="es-ES" sz="1600" b="1" dirty="0"/>
              <a:t> del mejor: </a:t>
            </a:r>
          </a:p>
          <a:p>
            <a:endParaRPr lang="es-ES" b="1" dirty="0"/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No hay </a:t>
            </a:r>
            <a:r>
              <a:rPr lang="es-ES" dirty="0" err="1"/>
              <a:t>overfitting</a:t>
            </a:r>
            <a:r>
              <a:rPr lang="es-ES" dirty="0"/>
              <a:t> y es estable.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 err="1"/>
              <a:t>Tuning</a:t>
            </a:r>
            <a:r>
              <a:rPr lang="es-ES" dirty="0"/>
              <a:t> de </a:t>
            </a:r>
            <a:r>
              <a:rPr lang="es-ES" dirty="0" err="1"/>
              <a:t>hiperparémetros</a:t>
            </a:r>
            <a:r>
              <a:rPr lang="es-ES" dirty="0"/>
              <a:t>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 err="1"/>
              <a:t>Hiperparémetros</a:t>
            </a:r>
            <a:r>
              <a:rPr lang="es-ES" dirty="0"/>
              <a:t>: </a:t>
            </a:r>
            <a:r>
              <a:rPr lang="es-ES" dirty="0" err="1"/>
              <a:t>maxnode</a:t>
            </a:r>
            <a:r>
              <a:rPr lang="es-ES" dirty="0"/>
              <a:t>=45 ; nodesize:20 ; </a:t>
            </a:r>
            <a:r>
              <a:rPr lang="es-ES" dirty="0" err="1"/>
              <a:t>mtry</a:t>
            </a:r>
            <a:r>
              <a:rPr lang="es-ES" dirty="0"/>
              <a:t>=5.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n-US" dirty="0"/>
              <a:t>Number of trees: 500 </a:t>
            </a:r>
            <a:r>
              <a:rPr lang="en-US" dirty="0" err="1"/>
              <a:t>i</a:t>
            </a:r>
            <a:r>
              <a:rPr lang="en-US" dirty="0"/>
              <a:t> No. of variables tried at each split: 5.</a:t>
            </a:r>
            <a:endParaRPr lang="es-ES" dirty="0"/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Métricas obtenidas con p=0,06.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ES" dirty="0"/>
          </a:p>
        </p:txBody>
      </p:sp>
      <p:sp>
        <p:nvSpPr>
          <p:cNvPr id="6" name="Flecha: a la derecha 5"/>
          <p:cNvSpPr/>
          <p:nvPr/>
        </p:nvSpPr>
        <p:spPr>
          <a:xfrm>
            <a:off x="2248598" y="1884244"/>
            <a:ext cx="735981" cy="1788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7" name="Flecha: a la derecha 6"/>
          <p:cNvSpPr/>
          <p:nvPr/>
        </p:nvSpPr>
        <p:spPr>
          <a:xfrm>
            <a:off x="2869580" y="1258739"/>
            <a:ext cx="735981" cy="1788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Flecha: a la derecha 8"/>
          <p:cNvSpPr/>
          <p:nvPr/>
        </p:nvSpPr>
        <p:spPr>
          <a:xfrm>
            <a:off x="3237570" y="2089745"/>
            <a:ext cx="735981" cy="1640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/>
          <p:cNvSpPr txBox="1"/>
          <p:nvPr/>
        </p:nvSpPr>
        <p:spPr>
          <a:xfrm>
            <a:off x="948064" y="4147552"/>
            <a:ext cx="7566307" cy="7386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atinLnBrk="1"/>
            <a:r>
              <a:rPr lang="en-US" dirty="0"/>
              <a:t> Dataset  </a:t>
            </a:r>
            <a:r>
              <a:rPr lang="en-US" dirty="0" err="1"/>
              <a:t>Error_rate</a:t>
            </a:r>
            <a:r>
              <a:rPr lang="en-US" dirty="0"/>
              <a:t>   Accuracy    Precision   </a:t>
            </a:r>
            <a:r>
              <a:rPr lang="en-US" dirty="0" err="1"/>
              <a:t>Recall_Sensitivity</a:t>
            </a:r>
            <a:r>
              <a:rPr lang="en-US" dirty="0"/>
              <a:t>  Specificity  F1_Score</a:t>
            </a:r>
          </a:p>
          <a:p>
            <a:pPr latinLnBrk="1"/>
            <a:r>
              <a:rPr lang="en-US" dirty="0"/>
              <a:t>1  Train2  0.2071429  0.7928571  0.500000          0.5783251      0.8489060 0.5363180</a:t>
            </a:r>
          </a:p>
          <a:p>
            <a:pPr latinLnBrk="1"/>
            <a:r>
              <a:rPr lang="en-US" dirty="0"/>
              <a:t>2   Test2  0.2200000  0.7800000  0.473161          0.5471264      0.8408408 0.5074627</a:t>
            </a:r>
          </a:p>
        </p:txBody>
      </p:sp>
    </p:spTree>
    <p:extLst>
      <p:ext uri="{BB962C8B-B14F-4D97-AF65-F5344CB8AC3E}">
        <p14:creationId xmlns:p14="http://schemas.microsoft.com/office/powerpoint/2010/main" val="1474104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XGBoost</a:t>
            </a:r>
            <a:endParaRPr lang="es-ES" dirty="0"/>
          </a:p>
        </p:txBody>
      </p:sp>
      <p:sp>
        <p:nvSpPr>
          <p:cNvPr id="6" name="CuadroTexto 5"/>
          <p:cNvSpPr txBox="1"/>
          <p:nvPr/>
        </p:nvSpPr>
        <p:spPr>
          <a:xfrm>
            <a:off x="1258229" y="1154252"/>
            <a:ext cx="662754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3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/>
              <a:t>Data completo.               </a:t>
            </a:r>
          </a:p>
          <a:p>
            <a:pPr marL="285750" lvl="3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n-US" altLang="zh-CN" dirty="0" err="1">
                <a:sym typeface="+mn-ea"/>
              </a:rPr>
              <a:t>Reducción</a:t>
            </a:r>
            <a:r>
              <a:rPr lang="en-US" altLang="zh-CN" dirty="0">
                <a:sym typeface="+mn-ea"/>
              </a:rPr>
              <a:t> 1: </a:t>
            </a:r>
            <a:r>
              <a:rPr lang="en-US" altLang="zh-CN" dirty="0" err="1">
                <a:sym typeface="+mn-ea"/>
              </a:rPr>
              <a:t>varImp</a:t>
            </a:r>
            <a:r>
              <a:rPr lang="en-US" altLang="zh-CN" dirty="0">
                <a:sym typeface="+mn-ea"/>
              </a:rPr>
              <a:t> + variables </a:t>
            </a:r>
            <a:r>
              <a:rPr lang="en-US" altLang="zh-CN" dirty="0" err="1">
                <a:sym typeface="+mn-ea"/>
              </a:rPr>
              <a:t>significativas</a:t>
            </a:r>
            <a:r>
              <a:rPr lang="en-US" altLang="zh-CN" dirty="0">
                <a:sym typeface="+mn-ea"/>
              </a:rPr>
              <a:t> (</a:t>
            </a:r>
            <a:r>
              <a:rPr lang="en-US" altLang="zh-CN" dirty="0" err="1">
                <a:sym typeface="+mn-ea"/>
              </a:rPr>
              <a:t>estadisticamente</a:t>
            </a:r>
            <a:r>
              <a:rPr lang="en-US" altLang="zh-CN" dirty="0">
                <a:sym typeface="+mn-ea"/>
              </a:rPr>
              <a:t>).            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 err="1"/>
              <a:t>Reduccción</a:t>
            </a:r>
            <a:r>
              <a:rPr lang="es-ES" dirty="0"/>
              <a:t> 2: </a:t>
            </a:r>
            <a:r>
              <a:rPr lang="es-ES" dirty="0" err="1"/>
              <a:t>Dataset</a:t>
            </a:r>
            <a:r>
              <a:rPr lang="es-ES" dirty="0"/>
              <a:t> reducido.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Variable </a:t>
            </a:r>
            <a:r>
              <a:rPr lang="es-ES" dirty="0" err="1"/>
              <a:t>HasBalace</a:t>
            </a:r>
            <a:endParaRPr lang="es-ES" dirty="0"/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 err="1"/>
              <a:t>ClassWeights</a:t>
            </a:r>
            <a:endParaRPr lang="es-ES" dirty="0"/>
          </a:p>
          <a:p>
            <a:endParaRPr lang="es-ES" dirty="0"/>
          </a:p>
          <a:p>
            <a:r>
              <a:rPr lang="es-ES" sz="1600" b="1" dirty="0" err="1"/>
              <a:t>Caracteristicas</a:t>
            </a:r>
            <a:r>
              <a:rPr lang="es-ES" sz="1600" b="1" dirty="0"/>
              <a:t> del mejor: </a:t>
            </a:r>
          </a:p>
          <a:p>
            <a:endParaRPr lang="es-ES" b="1" dirty="0"/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No hay </a:t>
            </a:r>
            <a:r>
              <a:rPr lang="es-ES" dirty="0" err="1"/>
              <a:t>overfitting</a:t>
            </a:r>
            <a:r>
              <a:rPr lang="es-ES" dirty="0"/>
              <a:t> y es estable.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 err="1"/>
              <a:t>Tuning</a:t>
            </a:r>
            <a:r>
              <a:rPr lang="es-ES" dirty="0"/>
              <a:t> de </a:t>
            </a:r>
            <a:r>
              <a:rPr lang="es-ES" dirty="0" err="1"/>
              <a:t>hiperparémetros</a:t>
            </a:r>
            <a:r>
              <a:rPr lang="es-ES" dirty="0"/>
              <a:t>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 err="1"/>
              <a:t>Hiperparémetros</a:t>
            </a:r>
            <a:r>
              <a:rPr lang="es-ES" dirty="0"/>
              <a:t>: </a:t>
            </a:r>
            <a:r>
              <a:rPr lang="es-ES" dirty="0" err="1"/>
              <a:t>maxnode</a:t>
            </a:r>
            <a:r>
              <a:rPr lang="es-ES" dirty="0"/>
              <a:t>=45 ; nodesize:20 ; </a:t>
            </a:r>
            <a:r>
              <a:rPr lang="es-ES" dirty="0" err="1"/>
              <a:t>mtry</a:t>
            </a:r>
            <a:r>
              <a:rPr lang="es-ES" dirty="0"/>
              <a:t>=5.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n-US" dirty="0"/>
              <a:t>Number of trees: 500 </a:t>
            </a:r>
            <a:r>
              <a:rPr lang="en-US" dirty="0" err="1"/>
              <a:t>i</a:t>
            </a:r>
            <a:r>
              <a:rPr lang="en-US" dirty="0"/>
              <a:t> No. of variables tried at each split: 5.</a:t>
            </a:r>
            <a:endParaRPr lang="es-ES" dirty="0"/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Métricas obtenidas con p=0,06.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24408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GLM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857693" y="1112200"/>
            <a:ext cx="789644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Se ha probado 4 enlaces: </a:t>
            </a:r>
            <a:r>
              <a:rPr lang="es-ES" dirty="0" err="1"/>
              <a:t>logit</a:t>
            </a:r>
            <a:r>
              <a:rPr lang="es-ES" dirty="0"/>
              <a:t>, </a:t>
            </a:r>
            <a:r>
              <a:rPr lang="es-ES" dirty="0" err="1"/>
              <a:t>probit</a:t>
            </a:r>
            <a:r>
              <a:rPr lang="es-ES" dirty="0"/>
              <a:t>, </a:t>
            </a:r>
            <a:r>
              <a:rPr lang="es-ES" dirty="0" err="1"/>
              <a:t>cloglog</a:t>
            </a:r>
            <a:r>
              <a:rPr lang="es-ES" dirty="0"/>
              <a:t> y </a:t>
            </a:r>
            <a:r>
              <a:rPr lang="es-ES" dirty="0" err="1"/>
              <a:t>cauchy</a:t>
            </a:r>
            <a:r>
              <a:rPr lang="es-ES" dirty="0"/>
              <a:t>.              No </a:t>
            </a:r>
            <a:r>
              <a:rPr lang="es-ES" dirty="0" err="1"/>
              <a:t>much</a:t>
            </a:r>
            <a:r>
              <a:rPr lang="es-ES" dirty="0"/>
              <a:t> </a:t>
            </a:r>
            <a:r>
              <a:rPr lang="es-ES" dirty="0" err="1"/>
              <a:t>difference</a:t>
            </a:r>
            <a:endParaRPr lang="es-ES" dirty="0"/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Se decidió quedarse con el </a:t>
            </a:r>
            <a:r>
              <a:rPr lang="es-ES" b="1" dirty="0" err="1"/>
              <a:t>probit</a:t>
            </a:r>
            <a:r>
              <a:rPr lang="es-ES" b="1" dirty="0"/>
              <a:t>.              Ligero aumento en </a:t>
            </a:r>
            <a:r>
              <a:rPr lang="es-ES" b="1" dirty="0" err="1"/>
              <a:t>recall</a:t>
            </a:r>
            <a:r>
              <a:rPr lang="es-ES" b="1" dirty="0"/>
              <a:t>.</a:t>
            </a:r>
          </a:p>
          <a:p>
            <a:pPr marL="285750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/>
              <a:t>Data </a:t>
            </a:r>
            <a:r>
              <a:rPr lang="es-ES" dirty="0" err="1"/>
              <a:t>reducido_plus</a:t>
            </a:r>
            <a:r>
              <a:rPr lang="es-ES" dirty="0"/>
              <a:t>               Peor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Data reducido                 Mejores resultados.</a:t>
            </a:r>
          </a:p>
          <a:p>
            <a:pPr marL="285750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/>
              <a:t>Balance               F1 MUUUUUY bajo</a:t>
            </a:r>
          </a:p>
          <a:p>
            <a:pPr marL="285750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 err="1"/>
              <a:t>Scale</a:t>
            </a:r>
            <a:r>
              <a:rPr lang="es-ES" dirty="0"/>
              <a:t>, </a:t>
            </a:r>
            <a:r>
              <a:rPr lang="es-ES" dirty="0" err="1"/>
              <a:t>Dummys</a:t>
            </a:r>
            <a:r>
              <a:rPr lang="es-ES" dirty="0"/>
              <a:t> de las variables categóricas.               No afecta en las métricas.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endParaRPr lang="es-ES" dirty="0"/>
          </a:p>
          <a:p>
            <a:pPr>
              <a:buClr>
                <a:srgbClr val="00B050"/>
              </a:buClr>
              <a:buSzPct val="150000"/>
            </a:pPr>
            <a:r>
              <a:rPr lang="es-ES" dirty="0"/>
              <a:t>Características: </a:t>
            </a:r>
          </a:p>
          <a:p>
            <a:pPr>
              <a:buClr>
                <a:srgbClr val="00B050"/>
              </a:buClr>
              <a:buSzPct val="150000"/>
            </a:pPr>
            <a:endParaRPr lang="es-ES" dirty="0"/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El punto de corte óptimo es: p=0.2071429.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Métricas obtenidas: 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1040573" y="3661968"/>
            <a:ext cx="7234747" cy="7386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atinLnBrk="1"/>
            <a:r>
              <a:rPr lang="en-US" dirty="0"/>
              <a:t>   Dataset </a:t>
            </a:r>
            <a:r>
              <a:rPr lang="en-US" dirty="0" err="1"/>
              <a:t>Error_rate</a:t>
            </a:r>
            <a:r>
              <a:rPr lang="en-US" dirty="0"/>
              <a:t>  Accuracy    Precision   </a:t>
            </a:r>
            <a:r>
              <a:rPr lang="en-US" dirty="0" err="1"/>
              <a:t>Recall_Sensitivity</a:t>
            </a:r>
            <a:r>
              <a:rPr lang="en-US" dirty="0"/>
              <a:t>  Specificity   F1_Score</a:t>
            </a:r>
          </a:p>
          <a:p>
            <a:pPr latinLnBrk="1"/>
            <a:r>
              <a:rPr lang="en-US" dirty="0"/>
              <a:t>1  Train2  0.3273469  0.6726531 0.3516373       0.6876847       0.6687259   0.4653333</a:t>
            </a:r>
          </a:p>
          <a:p>
            <a:pPr latinLnBrk="1"/>
            <a:r>
              <a:rPr lang="en-US" dirty="0"/>
              <a:t>2   Test2  0.3261905  0.6738095 0.3549884       0.7034483       0.6660661   0.4718581</a:t>
            </a:r>
          </a:p>
        </p:txBody>
      </p:sp>
      <p:sp>
        <p:nvSpPr>
          <p:cNvPr id="5" name="Flecha: a la derecha 6"/>
          <p:cNvSpPr/>
          <p:nvPr/>
        </p:nvSpPr>
        <p:spPr>
          <a:xfrm>
            <a:off x="5708030" y="1181100"/>
            <a:ext cx="511795" cy="207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Flecha: a la derecha 6"/>
          <p:cNvSpPr/>
          <p:nvPr/>
        </p:nvSpPr>
        <p:spPr>
          <a:xfrm>
            <a:off x="2517155" y="1813113"/>
            <a:ext cx="511795" cy="207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Flecha: a la derecha 6"/>
          <p:cNvSpPr/>
          <p:nvPr/>
        </p:nvSpPr>
        <p:spPr>
          <a:xfrm>
            <a:off x="4060205" y="1388128"/>
            <a:ext cx="511795" cy="207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Flecha: a la derecha 6"/>
          <p:cNvSpPr/>
          <p:nvPr/>
        </p:nvSpPr>
        <p:spPr>
          <a:xfrm>
            <a:off x="2005360" y="2032764"/>
            <a:ext cx="511795" cy="207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Flecha: a la derecha 6"/>
          <p:cNvSpPr/>
          <p:nvPr/>
        </p:nvSpPr>
        <p:spPr>
          <a:xfrm>
            <a:off x="4902244" y="2239792"/>
            <a:ext cx="511795" cy="207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Flecha: a la derecha 9"/>
          <p:cNvSpPr/>
          <p:nvPr/>
        </p:nvSpPr>
        <p:spPr>
          <a:xfrm>
            <a:off x="2910745" y="1606085"/>
            <a:ext cx="511795" cy="207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9209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tge 3">
            <a:extLst>
              <a:ext uri="{FF2B5EF4-FFF2-40B4-BE49-F238E27FC236}">
                <a16:creationId xmlns:a16="http://schemas.microsoft.com/office/drawing/2014/main" id="{FD18AD5A-A558-46E8-B520-4851F6DA7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245" y="2331145"/>
            <a:ext cx="3942525" cy="1853949"/>
          </a:xfrm>
          <a:prstGeom prst="rect">
            <a:avLst/>
          </a:prstGeom>
        </p:spPr>
      </p:pic>
      <p:sp>
        <p:nvSpPr>
          <p:cNvPr id="5" name="CuadroTexto 1">
            <a:extLst>
              <a:ext uri="{FF2B5EF4-FFF2-40B4-BE49-F238E27FC236}">
                <a16:creationId xmlns:a16="http://schemas.microsoft.com/office/drawing/2014/main" id="{0E5ACF7D-A8A8-4ECF-A0B3-997DFB48CE1F}"/>
              </a:ext>
            </a:extLst>
          </p:cNvPr>
          <p:cNvSpPr txBox="1"/>
          <p:nvPr/>
        </p:nvSpPr>
        <p:spPr>
          <a:xfrm>
            <a:off x="6487122" y="816165"/>
            <a:ext cx="1404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b="1" dirty="0"/>
              <a:t>GLM </a:t>
            </a:r>
            <a:r>
              <a:rPr lang="es-ES" b="1" dirty="0" err="1"/>
              <a:t>Boostrap</a:t>
            </a:r>
            <a:endParaRPr lang="es-ES" b="1" dirty="0"/>
          </a:p>
        </p:txBody>
      </p:sp>
      <p:sp>
        <p:nvSpPr>
          <p:cNvPr id="6" name="CuadroTexto 1">
            <a:extLst>
              <a:ext uri="{FF2B5EF4-FFF2-40B4-BE49-F238E27FC236}">
                <a16:creationId xmlns:a16="http://schemas.microsoft.com/office/drawing/2014/main" id="{0F507262-0434-4F81-B071-7689150C6818}"/>
              </a:ext>
            </a:extLst>
          </p:cNvPr>
          <p:cNvSpPr txBox="1"/>
          <p:nvPr/>
        </p:nvSpPr>
        <p:spPr>
          <a:xfrm>
            <a:off x="230777" y="816166"/>
            <a:ext cx="47374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GLM </a:t>
            </a:r>
            <a:r>
              <a:rPr lang="es-ES" b="1" dirty="0" err="1"/>
              <a:t>feat</a:t>
            </a:r>
            <a:r>
              <a:rPr lang="es-ES" b="1" dirty="0"/>
              <a:t>. </a:t>
            </a:r>
            <a:r>
              <a:rPr lang="es-ES" b="1" dirty="0" err="1"/>
              <a:t>Engineering</a:t>
            </a:r>
            <a:r>
              <a:rPr lang="es-ES" b="1" dirty="0"/>
              <a:t>: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63F184-9316-D009-6877-F53CDBF24F55}"/>
              </a:ext>
            </a:extLst>
          </p:cNvPr>
          <p:cNvCxnSpPr>
            <a:cxnSpLocks/>
          </p:cNvCxnSpPr>
          <p:nvPr/>
        </p:nvCxnSpPr>
        <p:spPr>
          <a:xfrm>
            <a:off x="4968240" y="365760"/>
            <a:ext cx="0" cy="4777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2617394-827B-86A0-0A29-8DC6DD1BDA78}"/>
              </a:ext>
            </a:extLst>
          </p:cNvPr>
          <p:cNvSpPr/>
          <p:nvPr/>
        </p:nvSpPr>
        <p:spPr>
          <a:xfrm>
            <a:off x="230777" y="1300824"/>
            <a:ext cx="4511018" cy="853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Exited</a:t>
            </a:r>
            <a:r>
              <a:rPr lang="es-ES" dirty="0"/>
              <a:t> ~ </a:t>
            </a:r>
            <a:r>
              <a:rPr lang="es-ES" dirty="0" err="1"/>
              <a:t>Gender</a:t>
            </a:r>
            <a:r>
              <a:rPr lang="es-ES" dirty="0"/>
              <a:t> + Age</a:t>
            </a:r>
            <a:r>
              <a:rPr lang="es-ES" baseline="30000" dirty="0"/>
              <a:t>2</a:t>
            </a:r>
            <a:r>
              <a:rPr lang="es-ES" dirty="0"/>
              <a:t> + Balance + </a:t>
            </a:r>
            <a:r>
              <a:rPr lang="es-ES" dirty="0" err="1"/>
              <a:t>NumOfProd</a:t>
            </a:r>
            <a:r>
              <a:rPr lang="es-ES" dirty="0"/>
              <a:t> + </a:t>
            </a:r>
            <a:r>
              <a:rPr lang="es-ES" dirty="0" err="1"/>
              <a:t>Geography</a:t>
            </a:r>
            <a:r>
              <a:rPr lang="es-ES" dirty="0"/>
              <a:t> + </a:t>
            </a:r>
            <a:r>
              <a:rPr lang="es-ES" dirty="0" err="1"/>
              <a:t>Geography:Gender</a:t>
            </a:r>
            <a:endParaRPr lang="es-ES" dirty="0"/>
          </a:p>
          <a:p>
            <a:pPr algn="ctr"/>
            <a:endParaRPr lang="en-E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SVM</a:t>
            </a:r>
          </a:p>
        </p:txBody>
      </p:sp>
      <p:sp>
        <p:nvSpPr>
          <p:cNvPr id="3" name="CuadroTexto 3"/>
          <p:cNvSpPr txBox="1"/>
          <p:nvPr/>
        </p:nvSpPr>
        <p:spPr>
          <a:xfrm>
            <a:off x="1214863" y="1112200"/>
            <a:ext cx="734399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FF0000"/>
              </a:buClr>
              <a:buSzPct val="150000"/>
              <a:buFont typeface="Arial" panose="020B0604020202020204" pitchFamily="34" charset="0"/>
              <a:buChar char="×"/>
            </a:pPr>
            <a:r>
              <a:rPr lang="es-ES" dirty="0"/>
              <a:t>Data </a:t>
            </a:r>
            <a:r>
              <a:rPr lang="es-ES" dirty="0" err="1"/>
              <a:t>reducido_plus</a:t>
            </a:r>
            <a:r>
              <a:rPr lang="es-ES" dirty="0"/>
              <a:t> i </a:t>
            </a:r>
            <a:r>
              <a:rPr lang="es-ES" dirty="0" err="1"/>
              <a:t>data_rf</a:t>
            </a:r>
            <a:r>
              <a:rPr lang="es-ES" dirty="0"/>
              <a:t>.               </a:t>
            </a:r>
            <a:r>
              <a:rPr lang="es-ES" dirty="0" err="1"/>
              <a:t>Overffit</a:t>
            </a:r>
            <a:endParaRPr lang="es-ES" dirty="0"/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Data reducido                 Mejores resultados.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 err="1"/>
              <a:t>Class_weigths</a:t>
            </a:r>
            <a:r>
              <a:rPr lang="es-ES" dirty="0"/>
              <a:t>               1:3      </a:t>
            </a:r>
          </a:p>
          <a:p>
            <a:pPr>
              <a:buClr>
                <a:srgbClr val="00B050"/>
              </a:buClr>
              <a:buSzPct val="150000"/>
            </a:pPr>
            <a:endParaRPr lang="es-ES" dirty="0"/>
          </a:p>
          <a:p>
            <a:pPr>
              <a:buClr>
                <a:srgbClr val="00B050"/>
              </a:buClr>
              <a:buSzPct val="150000"/>
            </a:pPr>
            <a:r>
              <a:rPr lang="es-ES" dirty="0"/>
              <a:t>Características: </a:t>
            </a:r>
          </a:p>
          <a:p>
            <a:pPr>
              <a:buClr>
                <a:srgbClr val="00B050"/>
              </a:buClr>
              <a:buSzPct val="150000"/>
            </a:pPr>
            <a:endParaRPr lang="es-ES" dirty="0"/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 err="1"/>
              <a:t>Scale</a:t>
            </a:r>
            <a:r>
              <a:rPr lang="es-ES" dirty="0"/>
              <a:t>, </a:t>
            </a:r>
            <a:r>
              <a:rPr lang="es-ES" dirty="0" err="1"/>
              <a:t>Dummys</a:t>
            </a:r>
            <a:r>
              <a:rPr lang="es-ES" dirty="0"/>
              <a:t> de las variables categóricas.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n-US" dirty="0" err="1">
                <a:latin typeface="+mn-lt"/>
              </a:rPr>
              <a:t>Hiperparámetro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tunig</a:t>
            </a:r>
            <a:r>
              <a:rPr lang="en-US" dirty="0">
                <a:latin typeface="+mn-lt"/>
              </a:rPr>
              <a:t>: Best gamma 0.02 </a:t>
            </a:r>
            <a:r>
              <a:rPr lang="en-US" dirty="0" err="1">
                <a:latin typeface="+mn-lt"/>
              </a:rPr>
              <a:t>i</a:t>
            </a:r>
            <a:r>
              <a:rPr lang="en-US" dirty="0">
                <a:latin typeface="+mn-lt"/>
              </a:rPr>
              <a:t> Cost=10.</a:t>
            </a:r>
            <a:endParaRPr lang="es-ES" dirty="0">
              <a:latin typeface="+mn-lt"/>
            </a:endParaRP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El punto de corte óptimo es p=0.2071429.</a:t>
            </a:r>
          </a:p>
          <a:p>
            <a:pPr marL="285750" indent="-285750">
              <a:buClr>
                <a:srgbClr val="00B050"/>
              </a:buClr>
              <a:buSzPct val="150000"/>
              <a:buFont typeface="Wingdings" panose="05000000000000000000" pitchFamily="2" charset="2"/>
              <a:buChar char="ü"/>
            </a:pPr>
            <a:r>
              <a:rPr lang="es-ES" dirty="0"/>
              <a:t>Métricas obtenidas:</a:t>
            </a:r>
            <a:endParaRPr lang="en-US" dirty="0"/>
          </a:p>
        </p:txBody>
      </p:sp>
      <p:sp>
        <p:nvSpPr>
          <p:cNvPr id="5" name="Flecha: a la derecha 6"/>
          <p:cNvSpPr/>
          <p:nvPr/>
        </p:nvSpPr>
        <p:spPr>
          <a:xfrm>
            <a:off x="2874082" y="1403027"/>
            <a:ext cx="445725" cy="1962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Flecha: a la derecha 6"/>
          <p:cNvSpPr/>
          <p:nvPr/>
        </p:nvSpPr>
        <p:spPr>
          <a:xfrm>
            <a:off x="2874083" y="1599293"/>
            <a:ext cx="445725" cy="1962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10"/>
          <p:cNvSpPr txBox="1"/>
          <p:nvPr/>
        </p:nvSpPr>
        <p:spPr>
          <a:xfrm>
            <a:off x="992551" y="3476730"/>
            <a:ext cx="7566307" cy="7386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atinLnBrk="1"/>
            <a:r>
              <a:rPr lang="en-US" dirty="0"/>
              <a:t>  Dataset </a:t>
            </a:r>
            <a:r>
              <a:rPr lang="en-US" dirty="0" err="1"/>
              <a:t>Error_rate</a:t>
            </a:r>
            <a:r>
              <a:rPr lang="en-US" dirty="0"/>
              <a:t>  Accuracy Precision </a:t>
            </a:r>
            <a:r>
              <a:rPr lang="en-US" dirty="0" err="1"/>
              <a:t>Recall_Sensitivity</a:t>
            </a:r>
            <a:r>
              <a:rPr lang="en-US" dirty="0"/>
              <a:t> Specificity  F1_Score</a:t>
            </a:r>
          </a:p>
          <a:p>
            <a:pPr latinLnBrk="1"/>
            <a:r>
              <a:rPr lang="en-US" dirty="0"/>
              <a:t>1  Train2  0.2793878 0.7206122 0.3940120          0.6482759   0.7395109 0.4901304</a:t>
            </a:r>
          </a:p>
          <a:p>
            <a:pPr latinLnBrk="1"/>
            <a:r>
              <a:rPr lang="en-US" dirty="0"/>
              <a:t>2   Test2  0.2900000 0.7100000 0.3788301          0.6252874   0.7321321 0.4718127</a:t>
            </a:r>
          </a:p>
        </p:txBody>
      </p:sp>
      <p:sp>
        <p:nvSpPr>
          <p:cNvPr id="7" name="Flecha: a la derecha 6"/>
          <p:cNvSpPr/>
          <p:nvPr/>
        </p:nvSpPr>
        <p:spPr>
          <a:xfrm>
            <a:off x="3984049" y="1160134"/>
            <a:ext cx="511795" cy="1962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22791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Asignaciones del AR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629675" y="1456445"/>
            <a:ext cx="7704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Se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intentó</a:t>
            </a: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forzar</a:t>
            </a: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las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reglas</a:t>
            </a: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para Exited=1 con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confianza</a:t>
            </a:r>
            <a:r>
              <a:rPr lang="en-U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minima de 0.5</a:t>
            </a:r>
          </a:p>
          <a:p>
            <a:pPr algn="l" latinLnBrk="1">
              <a:buNone/>
            </a:pPr>
            <a:r>
              <a:rPr lang="en-US" dirty="0">
                <a:latin typeface="Lucida Console" panose="020B0609040504020204" pitchFamily="49" charset="0"/>
              </a:rPr>
              <a:t>Los </a:t>
            </a:r>
            <a:r>
              <a:rPr lang="en-US" dirty="0" err="1">
                <a:latin typeface="Lucida Console" panose="020B0609040504020204" pitchFamily="49" charset="0"/>
              </a:rPr>
              <a:t>resultados</a:t>
            </a:r>
            <a:r>
              <a:rPr lang="en-US" dirty="0">
                <a:latin typeface="Lucida Console" panose="020B0609040504020204" pitchFamily="49" charset="0"/>
              </a:rPr>
              <a:t> no </a:t>
            </a:r>
            <a:r>
              <a:rPr lang="en-US" dirty="0" err="1">
                <a:latin typeface="Lucida Console" panose="020B0609040504020204" pitchFamily="49" charset="0"/>
              </a:rPr>
              <a:t>mejoraban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 err="1">
                <a:latin typeface="Lucida Console" panose="020B0609040504020204" pitchFamily="49" charset="0"/>
              </a:rPr>
              <a:t>el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 err="1">
                <a:latin typeface="Lucida Console" panose="020B0609040504020204" pitchFamily="49" charset="0"/>
              </a:rPr>
              <a:t>modelo</a:t>
            </a:r>
            <a:r>
              <a:rPr lang="en-US" dirty="0">
                <a:latin typeface="Lucida Console" panose="020B0609040504020204" pitchFamily="49" charset="0"/>
              </a:rPr>
              <a:t> sin </a:t>
            </a:r>
            <a:r>
              <a:rPr lang="en-US" dirty="0" err="1">
                <a:latin typeface="Lucida Console" panose="020B0609040504020204" pitchFamily="49" charset="0"/>
              </a:rPr>
              <a:t>forzar</a:t>
            </a:r>
            <a:endParaRPr lang="en-US" dirty="0">
              <a:latin typeface="Lucida Console" panose="020B0609040504020204" pitchFamily="49" charset="0"/>
            </a:endParaRPr>
          </a:p>
          <a:p>
            <a:pPr algn="l" latinLnBrk="1">
              <a:buNone/>
            </a:pPr>
            <a:endParaRPr lang="en-US" dirty="0">
              <a:latin typeface="Lucida Console" panose="020B0609040504020204" pitchFamily="49" charset="0"/>
            </a:endParaRPr>
          </a:p>
          <a:p>
            <a:pPr latinLnBrk="1"/>
            <a:r>
              <a:rPr lang="en-US" dirty="0">
                <a:latin typeface="Lucida Console" panose="020B0609040504020204" pitchFamily="49" charset="0"/>
              </a:rPr>
              <a:t>Se </a:t>
            </a:r>
            <a:r>
              <a:rPr lang="en-US" dirty="0" err="1">
                <a:latin typeface="Lucida Console" panose="020B0609040504020204" pitchFamily="49" charset="0"/>
              </a:rPr>
              <a:t>intentó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 err="1">
                <a:latin typeface="Lucida Console" panose="020B0609040504020204" pitchFamily="49" charset="0"/>
              </a:rPr>
              <a:t>forzar</a:t>
            </a:r>
            <a:r>
              <a:rPr lang="en-US" dirty="0">
                <a:latin typeface="Lucida Console" panose="020B0609040504020204" pitchFamily="49" charset="0"/>
              </a:rPr>
              <a:t> las </a:t>
            </a:r>
            <a:r>
              <a:rPr lang="en-US" dirty="0" err="1">
                <a:latin typeface="Lucida Console" panose="020B0609040504020204" pitchFamily="49" charset="0"/>
              </a:rPr>
              <a:t>reglas</a:t>
            </a:r>
            <a:r>
              <a:rPr lang="en-US" dirty="0">
                <a:latin typeface="Lucida Console" panose="020B0609040504020204" pitchFamily="49" charset="0"/>
              </a:rPr>
              <a:t> para Exited=0 con </a:t>
            </a:r>
            <a:r>
              <a:rPr lang="en-US" dirty="0" err="1">
                <a:latin typeface="Lucida Console" panose="020B0609040504020204" pitchFamily="49" charset="0"/>
              </a:rPr>
              <a:t>confianza</a:t>
            </a:r>
            <a:r>
              <a:rPr lang="en-US" dirty="0">
                <a:latin typeface="Lucida Console" panose="020B0609040504020204" pitchFamily="49" charset="0"/>
              </a:rPr>
              <a:t> de 1</a:t>
            </a:r>
          </a:p>
          <a:p>
            <a:pPr latinLnBrk="1"/>
            <a:r>
              <a:rPr lang="en-US" dirty="0">
                <a:latin typeface="Lucida Console" panose="020B0609040504020204" pitchFamily="49" charset="0"/>
              </a:rPr>
              <a:t>Los </a:t>
            </a:r>
            <a:r>
              <a:rPr lang="en-US" dirty="0" err="1">
                <a:latin typeface="Lucida Console" panose="020B0609040504020204" pitchFamily="49" charset="0"/>
              </a:rPr>
              <a:t>resultados</a:t>
            </a:r>
            <a:r>
              <a:rPr lang="en-US" dirty="0">
                <a:latin typeface="Lucida Console" panose="020B0609040504020204" pitchFamily="49" charset="0"/>
              </a:rPr>
              <a:t> no </a:t>
            </a:r>
            <a:r>
              <a:rPr lang="en-US" dirty="0" err="1">
                <a:latin typeface="Lucida Console" panose="020B0609040504020204" pitchFamily="49" charset="0"/>
              </a:rPr>
              <a:t>mejoraban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 err="1">
                <a:latin typeface="Lucida Console" panose="020B0609040504020204" pitchFamily="49" charset="0"/>
              </a:rPr>
              <a:t>el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 err="1">
                <a:latin typeface="Lucida Console" panose="020B0609040504020204" pitchFamily="49" charset="0"/>
              </a:rPr>
              <a:t>modelo</a:t>
            </a:r>
            <a:r>
              <a:rPr lang="en-US" dirty="0">
                <a:latin typeface="Lucida Console" panose="020B0609040504020204" pitchFamily="49" charset="0"/>
              </a:rPr>
              <a:t> sin </a:t>
            </a:r>
            <a:r>
              <a:rPr lang="en-US" dirty="0" err="1">
                <a:latin typeface="Lucida Console" panose="020B0609040504020204" pitchFamily="49" charset="0"/>
              </a:rPr>
              <a:t>forzar</a:t>
            </a:r>
            <a:endParaRPr lang="en-US" dirty="0">
              <a:latin typeface="Lucida Console" panose="020B0609040504020204" pitchFamily="49" charset="0"/>
            </a:endParaRPr>
          </a:p>
          <a:p>
            <a:pPr algn="l" latinLnBrk="1">
              <a:buNone/>
            </a:pPr>
            <a:endParaRPr lang="en-US" dirty="0">
              <a:latin typeface="Lucida Console" panose="020B0609040504020204" pitchFamily="49" charset="0"/>
            </a:endParaRPr>
          </a:p>
          <a:p>
            <a:pPr latinLnBrk="1"/>
            <a:r>
              <a:rPr lang="es-E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Se intentó forzar las reglas para ambos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Exited</a:t>
            </a:r>
            <a:r>
              <a:rPr lang="es-ES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a la vez</a:t>
            </a:r>
          </a:p>
          <a:p>
            <a:pPr latinLnBrk="1"/>
            <a:r>
              <a:rPr lang="es-ES" dirty="0">
                <a:latin typeface="Lucida Console" panose="020B0609040504020204" pitchFamily="49" charset="0"/>
              </a:rPr>
              <a:t>Los resultados no mejoraban el modelo sin forzar</a:t>
            </a:r>
            <a:endParaRPr lang="es-ES" dirty="0"/>
          </a:p>
          <a:p>
            <a:pPr algn="l" latinLnBrk="1">
              <a:buNone/>
            </a:pPr>
            <a:endParaRPr lang="en-US" b="0" i="0" dirty="0"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7512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Mejores modelos y métodos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1006548" y="1412749"/>
            <a:ext cx="787518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Tabla comparativa</a:t>
            </a:r>
          </a:p>
          <a:p>
            <a:r>
              <a:rPr lang="es-ES" dirty="0"/>
              <a:t>(</a:t>
            </a:r>
            <a:r>
              <a:rPr lang="es-ES" dirty="0" err="1"/>
              <a:t>Diria</a:t>
            </a:r>
            <a:r>
              <a:rPr lang="es-ES" dirty="0"/>
              <a:t>)</a:t>
            </a:r>
            <a:r>
              <a:rPr lang="es-ES" dirty="0" err="1"/>
              <a:t>Preferibelmente</a:t>
            </a:r>
            <a:r>
              <a:rPr lang="es-ES" dirty="0"/>
              <a:t> el </a:t>
            </a:r>
            <a:r>
              <a:rPr lang="es-ES" dirty="0" err="1"/>
              <a:t>XGBoost</a:t>
            </a:r>
            <a:r>
              <a:rPr lang="es-ES" dirty="0"/>
              <a:t>, buenos (mejores) resultados ( mayor </a:t>
            </a:r>
            <a:r>
              <a:rPr lang="es-ES" dirty="0" err="1"/>
              <a:t>recal?l</a:t>
            </a:r>
            <a:r>
              <a:rPr lang="es-ES" dirty="0"/>
              <a:t>) , </a:t>
            </a:r>
            <a:r>
              <a:rPr lang="es-ES" b="1" dirty="0"/>
              <a:t>computacionalmente menos costoso.</a:t>
            </a:r>
          </a:p>
          <a:p>
            <a:r>
              <a:rPr lang="es-ES" b="1" dirty="0"/>
              <a:t> f1 similar, mirar </a:t>
            </a:r>
            <a:r>
              <a:rPr lang="es-ES" b="1" dirty="0" err="1"/>
              <a:t>besst</a:t>
            </a:r>
            <a:r>
              <a:rPr lang="es-ES" b="1" dirty="0"/>
              <a:t> </a:t>
            </a:r>
            <a:r>
              <a:rPr lang="es-ES" b="1" dirty="0" err="1"/>
              <a:t>recall</a:t>
            </a:r>
            <a:r>
              <a:rPr lang="es-ES" b="1" dirty="0"/>
              <a:t> i mas estable</a:t>
            </a:r>
          </a:p>
        </p:txBody>
      </p:sp>
    </p:spTree>
    <p:extLst>
      <p:ext uri="{BB962C8B-B14F-4D97-AF65-F5344CB8AC3E}">
        <p14:creationId xmlns:p14="http://schemas.microsoft.com/office/powerpoint/2010/main" val="1319515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050E9-5105-6D2F-6947-50C6CF01F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4E8F24-AF72-DFA5-9CAE-072E2FD20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Concluciones</a:t>
            </a:r>
          </a:p>
        </p:txBody>
      </p:sp>
    </p:spTree>
    <p:extLst>
      <p:ext uri="{BB962C8B-B14F-4D97-AF65-F5344CB8AC3E}">
        <p14:creationId xmlns:p14="http://schemas.microsoft.com/office/powerpoint/2010/main" val="3373186615"/>
      </p:ext>
    </p:extLst>
  </p:cSld>
  <p:clrMapOvr>
    <a:masterClrMapping/>
  </p:clrMapOvr>
</p:sld>
</file>

<file path=ppt/theme/theme1.xml><?xml version="1.0" encoding="utf-8"?>
<a:theme xmlns:a="http://schemas.openxmlformats.org/drawingml/2006/main" name="Cycle Diagrams Theme for a Business Plan by Slidesgo">
  <a:themeElements>
    <a:clrScheme name="Simple Light">
      <a:dk1>
        <a:srgbClr val="1B1B1B"/>
      </a:dk1>
      <a:lt1>
        <a:srgbClr val="FAFAFA"/>
      </a:lt1>
      <a:dk2>
        <a:srgbClr val="374768"/>
      </a:dk2>
      <a:lt2>
        <a:srgbClr val="43567F"/>
      </a:lt2>
      <a:accent1>
        <a:srgbClr val="9BACCA"/>
      </a:accent1>
      <a:accent2>
        <a:srgbClr val="C2CDE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B1B1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141</TotalTime>
  <Words>1495</Words>
  <Application>Microsoft Office PowerPoint</Application>
  <PresentationFormat>全屏显示(16:9)</PresentationFormat>
  <Paragraphs>286</Paragraphs>
  <Slides>18</Slides>
  <Notes>8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19" baseType="lpstr">
      <vt:lpstr>Cycle Diagrams Theme for a Business Plan by Slidesgo</vt:lpstr>
      <vt:lpstr>Modelo de clasificación  GRUPO 5</vt:lpstr>
      <vt:lpstr>ENTENDIMIENTO DE NEGOCIO</vt:lpstr>
      <vt:lpstr>FRAMEWORK METODOLÓGICO</vt:lpstr>
      <vt:lpstr>Tratamiento de Missing</vt:lpstr>
      <vt:lpstr>Tratamiento de Outliers</vt:lpstr>
      <vt:lpstr>Ingeniería de variables 1/2: transformación</vt:lpstr>
      <vt:lpstr>Ingeniería de Variables 2/2: selección</vt:lpstr>
      <vt:lpstr>PREPARACIÓN PARA EL MODELADO</vt:lpstr>
      <vt:lpstr>Árbol de desición</vt:lpstr>
      <vt:lpstr>PowerPoint 演示文稿</vt:lpstr>
      <vt:lpstr>Random Forest  </vt:lpstr>
      <vt:lpstr>XGBoost</vt:lpstr>
      <vt:lpstr>GLM</vt:lpstr>
      <vt:lpstr>PowerPoint 演示文稿</vt:lpstr>
      <vt:lpstr>SVM</vt:lpstr>
      <vt:lpstr>Asignaciones del AR</vt:lpstr>
      <vt:lpstr>Mejores modelos y métodos</vt:lpstr>
      <vt:lpstr>Concluciones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clasificación  GRUPO 5</dc:title>
  <dc:creator>Mario Aragón Valderrama</dc:creator>
  <cp:lastModifiedBy>LAURA BELMONTE VELASCO</cp:lastModifiedBy>
  <cp:revision>52</cp:revision>
  <dcterms:created xsi:type="dcterms:W3CDTF">2025-12-15T06:46:40Z</dcterms:created>
  <dcterms:modified xsi:type="dcterms:W3CDTF">2025-12-17T18:21:45Z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060FF5A1F8DE40999C85C594E7927946_12</vt:lpwstr>
  </property>
  <property fmtid="{D5CDD505-2E9C-101B-9397-08002B2CF9AE}" pid="3" name="KSOProductBuildVer">
    <vt:lpwstr>2052-12.1.0.24034</vt:lpwstr>
  </property>
</Properties>
</file>