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1"/>
  </p:notesMasterIdLst>
  <p:sldIdLst>
    <p:sldId id="285" r:id="rId2"/>
    <p:sldId id="293" r:id="rId3"/>
    <p:sldId id="299" r:id="rId4"/>
    <p:sldId id="301" r:id="rId5"/>
    <p:sldId id="296" r:id="rId6"/>
    <p:sldId id="302" r:id="rId7"/>
    <p:sldId id="303" r:id="rId8"/>
    <p:sldId id="304" r:id="rId9"/>
    <p:sldId id="305" r:id="rId10"/>
  </p:sldIdLst>
  <p:sldSz cx="9144000" cy="5143500" type="screen16x9"/>
  <p:notesSz cx="6858000" cy="9144000"/>
  <p:embeddedFontLst>
    <p:embeddedFont>
      <p:font typeface="Arial Black" panose="020B0A04020102020204" pitchFamily="34" charset="0"/>
      <p:bold r:id="rId12"/>
    </p:embeddedFont>
    <p:embeddedFont>
      <p:font typeface="Didact Gothic" panose="00000500000000000000" pitchFamily="2" charset="0"/>
      <p:regular r:id="rId13"/>
    </p:embeddedFont>
    <p:embeddedFont>
      <p:font typeface="Libre Franklin" pitchFamily="2" charset="0"/>
      <p:regular r:id="rId14"/>
      <p:bold r:id="rId15"/>
      <p:italic r:id="rId16"/>
      <p:boldItalic r:id="rId17"/>
    </p:embeddedFont>
    <p:embeddedFont>
      <p:font typeface="Lucida Console" panose="020B0609040504020204" pitchFamily="49" charset="0"/>
      <p:regular r:id="rId18"/>
    </p:embeddedFont>
    <p:embeddedFont>
      <p:font typeface="Poppins" panose="00000500000000000000" pitchFamily="2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io Aragón Valderrama" initials="MA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FD54D1E-A07F-487E-B709-6B33F145316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Style>
        <a:tcBdr/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Style>
        <a:tcBdr/>
      </a:tcStyle>
    </a:firstRow>
    <a:neCell>
      <a:tcStyle>
        <a:tcBdr/>
      </a:tcStyle>
    </a:neCell>
    <a:nwCell>
      <a:tcStyle>
        <a:tcBdr/>
      </a:tcStyle>
    </a:nwCell>
  </a:tblStyle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497" autoAdjust="0"/>
    <p:restoredTop sz="94668"/>
  </p:normalViewPr>
  <p:slideViewPr>
    <p:cSldViewPr snapToGrid="0">
      <p:cViewPr varScale="1">
        <p:scale>
          <a:sx n="89" d="100"/>
          <a:sy n="89" d="100"/>
        </p:scale>
        <p:origin x="75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10.fntdata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openxmlformats.org/officeDocument/2006/relationships/commentAuthors" Target="commentAuthors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font" Target="fonts/font11.fntdata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o Aragón Valderrama" userId="ab42593c9091a3c7" providerId="LiveId" clId="{A94EC9C8-FC2E-45B4-829C-AEB6B286F687}"/>
    <pc:docChg chg="modSld">
      <pc:chgData name="Mario Aragón Valderrama" userId="ab42593c9091a3c7" providerId="LiveId" clId="{A94EC9C8-FC2E-45B4-829C-AEB6B286F687}" dt="2025-12-17T10:37:10.383" v="227" actId="20577"/>
      <pc:docMkLst>
        <pc:docMk/>
      </pc:docMkLst>
      <pc:sldChg chg="modSp mod">
        <pc:chgData name="Mario Aragón Valderrama" userId="ab42593c9091a3c7" providerId="LiveId" clId="{A94EC9C8-FC2E-45B4-829C-AEB6B286F687}" dt="2025-12-17T10:37:10.383" v="227" actId="20577"/>
        <pc:sldMkLst>
          <pc:docMk/>
          <pc:sldMk cId="193844949" sldId="304"/>
        </pc:sldMkLst>
        <pc:spChg chg="mod">
          <ac:chgData name="Mario Aragón Valderrama" userId="ab42593c9091a3c7" providerId="LiveId" clId="{A94EC9C8-FC2E-45B4-829C-AEB6B286F687}" dt="2025-12-17T10:37:10.383" v="227" actId="20577"/>
          <ac:spMkLst>
            <pc:docMk/>
            <pc:sldMk cId="193844949" sldId="304"/>
            <ac:spMk id="4" creationId="{35AAD5D2-DF63-EE2F-79C1-F0CAB2917DB1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355125" y="814525"/>
            <a:ext cx="6350100" cy="260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4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355125" y="3745850"/>
            <a:ext cx="45288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12" name="Google Shape;12;p2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35" name="Google Shape;35;p6"/>
          <p:cNvGrpSpPr/>
          <p:nvPr/>
        </p:nvGrpSpPr>
        <p:grpSpPr>
          <a:xfrm>
            <a:off x="0" y="0"/>
            <a:ext cx="9144000" cy="312600"/>
            <a:chOff x="0" y="0"/>
            <a:chExt cx="9144000" cy="312600"/>
          </a:xfrm>
        </p:grpSpPr>
        <p:sp>
          <p:nvSpPr>
            <p:cNvPr id="36" name="Google Shape;36;p6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37" name="Google Shape;37;p6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811975" y="2001200"/>
            <a:ext cx="4294800" cy="229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title"/>
          </p:nvPr>
        </p:nvSpPr>
        <p:spPr>
          <a:xfrm>
            <a:off x="811975" y="1017225"/>
            <a:ext cx="42948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7"/>
          <p:cNvSpPr>
            <a:spLocks noGrp="1"/>
          </p:cNvSpPr>
          <p:nvPr>
            <p:ph type="pic" idx="2"/>
          </p:nvPr>
        </p:nvSpPr>
        <p:spPr>
          <a:xfrm>
            <a:off x="5643775" y="539500"/>
            <a:ext cx="2787000" cy="40644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42" name="Google Shape;42;p7"/>
          <p:cNvGrpSpPr/>
          <p:nvPr/>
        </p:nvGrpSpPr>
        <p:grpSpPr>
          <a:xfrm>
            <a:off x="0" y="0"/>
            <a:ext cx="9144000" cy="312600"/>
            <a:chOff x="0" y="0"/>
            <a:chExt cx="9144000" cy="312600"/>
          </a:xfrm>
        </p:grpSpPr>
        <p:sp>
          <p:nvSpPr>
            <p:cNvPr id="43" name="Google Shape;43;p7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4" name="Google Shape;44;p7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47" name="Google Shape;47;p8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48" name="Google Shape;48;p8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9" name="Google Shape;49;p8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grpSp>
        <p:nvGrpSpPr>
          <p:cNvPr id="53" name="Google Shape;53;p9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54" name="Google Shape;54;p9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55" name="Google Shape;55;p9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303775"/>
            <a:ext cx="6576000" cy="1654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61" name="Google Shape;61;p11"/>
          <p:cNvSpPr txBox="1">
            <a:spLocks noGrp="1"/>
          </p:cNvSpPr>
          <p:nvPr>
            <p:ph type="subTitle" idx="1"/>
          </p:nvPr>
        </p:nvSpPr>
        <p:spPr>
          <a:xfrm>
            <a:off x="1284000" y="3259075"/>
            <a:ext cx="6576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62" name="Google Shape;62;p11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63" name="Google Shape;63;p11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64" name="Google Shape;64;p11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Google Shape;95;p16"/>
          <p:cNvGrpSpPr/>
          <p:nvPr/>
        </p:nvGrpSpPr>
        <p:grpSpPr>
          <a:xfrm rot="10800000">
            <a:off x="0" y="4830900"/>
            <a:ext cx="9144000" cy="312600"/>
            <a:chOff x="0" y="0"/>
            <a:chExt cx="9144000" cy="312600"/>
          </a:xfrm>
        </p:grpSpPr>
        <p:sp>
          <p:nvSpPr>
            <p:cNvPr id="96" name="Google Shape;96;p16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97" name="Google Shape;97;p16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wen2111/Mineria.git" TargetMode="External"/><Relationship Id="rId3" Type="http://schemas.openxmlformats.org/officeDocument/2006/relationships/hyperlink" Target="mailto:maragonvalderrama@gmail.com" TargetMode="External"/><Relationship Id="rId7" Type="http://schemas.openxmlformats.org/officeDocument/2006/relationships/hyperlink" Target="mailto:wenjia.ye@estudiantat.upc.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mailto:melissa.Vargas@estudiantat.upc.edu" TargetMode="External"/><Relationship Id="rId5" Type="http://schemas.openxmlformats.org/officeDocument/2006/relationships/hyperlink" Target="mailto:siling.guo@estudiantat.ub.edu" TargetMode="External"/><Relationship Id="rId10" Type="http://schemas.openxmlformats.org/officeDocument/2006/relationships/image" Target="../media/image2.png"/><Relationship Id="rId4" Type="http://schemas.openxmlformats.org/officeDocument/2006/relationships/hyperlink" Target="mailto:laura.Belmonte@estudiantat.upc.edu" TargetMode="External"/><Relationship Id="rId9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>
            <a:spLocks noGrp="1"/>
          </p:cNvSpPr>
          <p:nvPr>
            <p:ph type="ctrTitle"/>
          </p:nvPr>
        </p:nvSpPr>
        <p:spPr>
          <a:xfrm>
            <a:off x="817580" y="-573274"/>
            <a:ext cx="8509299" cy="260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s-ES" sz="4800" dirty="0"/>
              <a:t>Modelo de clasificación  GRUPO 5</a:t>
            </a:r>
            <a:endParaRPr sz="4800" b="0" dirty="0"/>
          </a:p>
        </p:txBody>
      </p:sp>
      <p:sp>
        <p:nvSpPr>
          <p:cNvPr id="4" name="Subtítulo 2"/>
          <p:cNvSpPr txBox="1"/>
          <p:nvPr/>
        </p:nvSpPr>
        <p:spPr>
          <a:xfrm>
            <a:off x="817580" y="2034626"/>
            <a:ext cx="8116888" cy="339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None/>
              <a:defRPr sz="16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9pPr>
          </a:lstStyle>
          <a:p>
            <a:r>
              <a:rPr lang="es-ES" dirty="0">
                <a:solidFill>
                  <a:schemeClr val="tx1"/>
                </a:solidFill>
              </a:rPr>
              <a:t>- Mario Aragón (</a:t>
            </a:r>
            <a:r>
              <a:rPr lang="es-ES" dirty="0">
                <a:solidFill>
                  <a:schemeClr val="tx1"/>
                </a:solidFill>
                <a:hlinkClick r:id="rId3"/>
              </a:rPr>
              <a:t>maragonvalderrama@gmail.com</a:t>
            </a:r>
            <a:r>
              <a:rPr lang="es-ES" dirty="0">
                <a:solidFill>
                  <a:schemeClr val="tx1"/>
                </a:solidFill>
              </a:rPr>
              <a:t>), (G05 </a:t>
            </a:r>
            <a:r>
              <a:rPr lang="es-ES" dirty="0" err="1">
                <a:solidFill>
                  <a:schemeClr val="tx1"/>
                </a:solidFill>
              </a:rPr>
              <a:t>mariovalde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Laura Belmonte (</a:t>
            </a:r>
            <a:r>
              <a:rPr lang="es-ES" dirty="0">
                <a:solidFill>
                  <a:schemeClr val="tx1"/>
                </a:solidFill>
                <a:hlinkClick r:id="rId4"/>
              </a:rPr>
              <a:t>laura.Belmonte@estudiantat.upc.edu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laurabelvel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</a:t>
            </a:r>
            <a:r>
              <a:rPr lang="es-ES" dirty="0" err="1">
                <a:solidFill>
                  <a:schemeClr val="tx1"/>
                </a:solidFill>
              </a:rPr>
              <a:t>Siling</a:t>
            </a:r>
            <a:r>
              <a:rPr lang="es-ES" dirty="0">
                <a:solidFill>
                  <a:schemeClr val="tx1"/>
                </a:solidFill>
              </a:rPr>
              <a:t> </a:t>
            </a:r>
            <a:r>
              <a:rPr lang="es-ES" dirty="0" err="1">
                <a:solidFill>
                  <a:schemeClr val="tx1"/>
                </a:solidFill>
              </a:rPr>
              <a:t>Guo</a:t>
            </a:r>
            <a:r>
              <a:rPr lang="es-ES" dirty="0">
                <a:solidFill>
                  <a:schemeClr val="tx1"/>
                </a:solidFill>
              </a:rPr>
              <a:t> (</a:t>
            </a:r>
            <a:r>
              <a:rPr lang="es-ES" dirty="0">
                <a:solidFill>
                  <a:schemeClr val="tx1"/>
                </a:solidFill>
                <a:hlinkClick r:id="rId5"/>
              </a:rPr>
              <a:t>siling.guo@estudiantat.ub.edu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silinguo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Melissa Vargas (</a:t>
            </a:r>
            <a:r>
              <a:rPr lang="es-ES" dirty="0">
                <a:solidFill>
                  <a:schemeClr val="tx1"/>
                </a:solidFill>
                <a:hlinkClick r:id="rId6"/>
              </a:rPr>
              <a:t>melissa.Vargas@estudiantat.upc.edu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matildasanchez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</a:t>
            </a:r>
            <a:r>
              <a:rPr lang="es-ES" dirty="0" err="1">
                <a:solidFill>
                  <a:schemeClr val="tx1"/>
                </a:solidFill>
              </a:rPr>
              <a:t>Wenjia</a:t>
            </a:r>
            <a:r>
              <a:rPr lang="es-ES" dirty="0">
                <a:solidFill>
                  <a:schemeClr val="tx1"/>
                </a:solidFill>
              </a:rPr>
              <a:t> Ye (</a:t>
            </a:r>
            <a:r>
              <a:rPr lang="es-ES" dirty="0">
                <a:solidFill>
                  <a:schemeClr val="tx1"/>
                </a:solidFill>
                <a:hlinkClick r:id="rId7"/>
              </a:rPr>
              <a:t>wenjia.ye@estudiantat.upc.edu</a:t>
            </a:r>
            <a:r>
              <a:rPr lang="es-ES" dirty="0">
                <a:solidFill>
                  <a:schemeClr val="tx1"/>
                </a:solidFill>
              </a:rPr>
              <a:t>), (G05, wenjiaye03)</a:t>
            </a:r>
          </a:p>
          <a:p>
            <a:pPr marL="342900" indent="-342900">
              <a:buFontTx/>
              <a:buChar char="-"/>
            </a:pPr>
            <a:endParaRPr lang="es-ES" dirty="0">
              <a:solidFill>
                <a:schemeClr val="tx1"/>
              </a:solidFill>
            </a:endParaRPr>
          </a:p>
          <a:p>
            <a:r>
              <a:rPr lang="es-ES" dirty="0">
                <a:solidFill>
                  <a:schemeClr val="tx1"/>
                </a:solidFill>
                <a:highlight>
                  <a:srgbClr val="C0C0C0"/>
                </a:highlight>
                <a:hlinkClick r:id="rId8"/>
              </a:rPr>
              <a:t>Enlace </a:t>
            </a:r>
            <a:r>
              <a:rPr lang="es-ES" dirty="0" err="1">
                <a:solidFill>
                  <a:schemeClr val="tx1"/>
                </a:solidFill>
                <a:highlight>
                  <a:srgbClr val="C0C0C0"/>
                </a:highlight>
                <a:hlinkClick r:id="rId8"/>
              </a:rPr>
              <a:t>Github</a:t>
            </a:r>
            <a:endParaRPr lang="es-ES" dirty="0">
              <a:solidFill>
                <a:schemeClr val="tx1"/>
              </a:solidFill>
              <a:highlight>
                <a:srgbClr val="C0C0C0"/>
              </a:highlight>
            </a:endParaRPr>
          </a:p>
          <a:p>
            <a:endParaRPr lang="es-ES" dirty="0">
              <a:solidFill>
                <a:schemeClr val="tx1"/>
              </a:solidFill>
            </a:endParaRP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4585" y="3919863"/>
            <a:ext cx="2794142" cy="840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/>
          <p:cNvSpPr txBox="1"/>
          <p:nvPr/>
        </p:nvSpPr>
        <p:spPr>
          <a:xfrm>
            <a:off x="5924585" y="92108"/>
            <a:ext cx="2254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Arial Black" panose="020B0A04020102020204" pitchFamily="34" charset="0"/>
              </a:rPr>
              <a:t>Grado en Estadística</a:t>
            </a:r>
          </a:p>
        </p:txBody>
      </p:sp>
      <p:pic>
        <p:nvPicPr>
          <p:cNvPr id="3" name="Picture 2" descr="Blue text on a white background&#10;&#10;Description automatically generated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89265" y="3988006"/>
            <a:ext cx="2603500" cy="781050"/>
          </a:xfrm>
          <a:prstGeom prst="rect">
            <a:avLst/>
          </a:prstGeom>
        </p:spPr>
      </p:pic>
      <p:sp>
        <p:nvSpPr>
          <p:cNvPr id="7" name="CuadroTexto 5"/>
          <p:cNvSpPr txBox="1"/>
          <p:nvPr/>
        </p:nvSpPr>
        <p:spPr>
          <a:xfrm>
            <a:off x="874163" y="92109"/>
            <a:ext cx="2254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Arial Black" panose="020B0A04020102020204" pitchFamily="34" charset="0"/>
              </a:rPr>
              <a:t>Minería de datos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00" y="508144"/>
            <a:ext cx="7704000" cy="572700"/>
          </a:xfrm>
        </p:spPr>
        <p:txBody>
          <a:bodyPr/>
          <a:lstStyle/>
          <a:p>
            <a:r>
              <a:rPr lang="es-ES" noProof="0" dirty="0"/>
              <a:t>Árbol de </a:t>
            </a:r>
            <a:r>
              <a:rPr lang="es-ES" noProof="0" dirty="0" err="1"/>
              <a:t>desición</a:t>
            </a:r>
            <a:endParaRPr lang="es-ES" noProof="0" dirty="0"/>
          </a:p>
        </p:txBody>
      </p:sp>
      <p:graphicFrame>
        <p:nvGraphicFramePr>
          <p:cNvPr id="5" name="Tab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6029438"/>
              </p:ext>
            </p:extLst>
          </p:nvPr>
        </p:nvGraphicFramePr>
        <p:xfrm>
          <a:off x="369480" y="1499123"/>
          <a:ext cx="4427034" cy="275844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213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3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Característica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Valor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Balanceo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 (ROSE: 43-57)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Umbral de </a:t>
                      </a:r>
                      <a:r>
                        <a:rPr lang="ca-ES" sz="1100" dirty="0" err="1"/>
                        <a:t>discriminación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Escalado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numéricas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Cross </a:t>
                      </a:r>
                      <a:r>
                        <a:rPr lang="ca-ES" sz="1100" dirty="0" err="1"/>
                        <a:t>Validation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 (10 </a:t>
                      </a:r>
                      <a:r>
                        <a:rPr lang="ca-ES" sz="1100" dirty="0" err="1"/>
                        <a:t>folds</a:t>
                      </a:r>
                      <a:r>
                        <a:rPr lang="ca-ES" sz="11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Criterio</a:t>
                      </a:r>
                      <a:r>
                        <a:rPr lang="ca-ES" sz="1100" dirty="0"/>
                        <a:t> para dividir </a:t>
                      </a:r>
                      <a:r>
                        <a:rPr lang="ca-ES" sz="1100" dirty="0" err="1"/>
                        <a:t>nodos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 err="1"/>
                        <a:t>Índice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Gini</a:t>
                      </a:r>
                      <a:endParaRPr lang="ca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1936">
                <a:tc>
                  <a:txBody>
                    <a:bodyPr/>
                    <a:lstStyle/>
                    <a:p>
                      <a:r>
                        <a:rPr lang="ca-ES" sz="1100" dirty="0" err="1"/>
                        <a:t>Parámetro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complejidad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Cp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 err="1"/>
                        <a:t>Optimizado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vía</a:t>
                      </a:r>
                      <a:r>
                        <a:rPr lang="ca-ES" sz="1100" dirty="0"/>
                        <a:t> CV=&gt; </a:t>
                      </a:r>
                      <a:r>
                        <a:rPr lang="es-ES" sz="1100" dirty="0"/>
                        <a:t>0.004039924</a:t>
                      </a:r>
                      <a:endParaRPr lang="ca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Número total de </a:t>
                      </a:r>
                      <a:r>
                        <a:rPr lang="ca-ES" sz="1100" dirty="0" err="1"/>
                        <a:t>nodos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Número de </a:t>
                      </a:r>
                      <a:r>
                        <a:rPr lang="ca-ES" sz="1100" dirty="0" err="1"/>
                        <a:t>hojas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Tamáño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mínimo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hoja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" name="AutoShape 2"/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ca-ES"/>
          </a:p>
        </p:txBody>
      </p:sp>
      <p:graphicFrame>
        <p:nvGraphicFramePr>
          <p:cNvPr id="7" name="Tabla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3039329"/>
              </p:ext>
            </p:extLst>
          </p:nvPr>
        </p:nvGraphicFramePr>
        <p:xfrm>
          <a:off x="5221678" y="1499119"/>
          <a:ext cx="3552842" cy="2758444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7764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76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KPI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Valor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F1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0.4870878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F1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0.4990826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Recall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0.607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Recall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0.61678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Sprecificity_train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0.769982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0084">
                <a:tc>
                  <a:txBody>
                    <a:bodyPr/>
                    <a:lstStyle/>
                    <a:p>
                      <a:r>
                        <a:rPr lang="ca-ES" sz="1100" dirty="0" err="1"/>
                        <a:t>Specificity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0.7727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Accuracy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0.7365306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Accuracy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 descr="Tabla&#10;&#10;El contenido generado por IA puede ser incorrecto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161" y="1673485"/>
            <a:ext cx="2683327" cy="273212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B9C6DA5-3145-B0ED-C9C6-3EEBA06235C6}"/>
              </a:ext>
            </a:extLst>
          </p:cNvPr>
          <p:cNvSpPr txBox="1"/>
          <p:nvPr/>
        </p:nvSpPr>
        <p:spPr>
          <a:xfrm>
            <a:off x="746161" y="798852"/>
            <a:ext cx="2918460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b="1" dirty="0"/>
              <a:t>Las variables más importantes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demográficas</a:t>
            </a:r>
            <a:r>
              <a:rPr lang="en-GB" sz="1200" dirty="0"/>
              <a:t>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relación</a:t>
            </a:r>
            <a:r>
              <a:rPr lang="en-GB" sz="1200" dirty="0"/>
              <a:t> con </a:t>
            </a:r>
            <a:r>
              <a:rPr lang="en-GB" sz="1200" dirty="0" err="1"/>
              <a:t>el</a:t>
            </a:r>
            <a:r>
              <a:rPr lang="en-GB" sz="1200" dirty="0"/>
              <a:t> banco</a:t>
            </a:r>
            <a:endParaRPr lang="en-ES" sz="1200" dirty="0"/>
          </a:p>
        </p:txBody>
      </p:sp>
      <p:pic>
        <p:nvPicPr>
          <p:cNvPr id="5" name="Picture 4" descr="A graph with red dots and blue lines&#10;&#10;AI-generated content may be incorrect.">
            <a:extLst>
              <a:ext uri="{FF2B5EF4-FFF2-40B4-BE49-F238E27FC236}">
                <a16:creationId xmlns:a16="http://schemas.microsoft.com/office/drawing/2014/main" id="{DC1FC1D7-9B3C-12AD-0C86-48078DF9D2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1770" y="1216660"/>
            <a:ext cx="4691896" cy="3188948"/>
          </a:xfrm>
          <a:prstGeom prst="rect">
            <a:avLst/>
          </a:prstGeom>
        </p:spPr>
      </p:pic>
      <p:pic>
        <p:nvPicPr>
          <p:cNvPr id="7" name="Picture 6" descr="A diagram of a family tree&#10;&#10;AI-generated content may be incorrect.">
            <a:extLst>
              <a:ext uri="{FF2B5EF4-FFF2-40B4-BE49-F238E27FC236}">
                <a16:creationId xmlns:a16="http://schemas.microsoft.com/office/drawing/2014/main" id="{A3E3CB3F-4865-6CA8-52D6-66CA6A623D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263" y="363493"/>
            <a:ext cx="8023474" cy="455918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7F3FB6-0B3A-0034-1847-7992A2337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2F289C-7F3A-0FA1-5ADE-478623348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Random</a:t>
            </a:r>
            <a:r>
              <a:rPr lang="es-ES" dirty="0"/>
              <a:t> Forest</a:t>
            </a:r>
            <a:br>
              <a:rPr lang="es-ES" dirty="0"/>
            </a:br>
            <a:br>
              <a:rPr lang="es-ES" dirty="0"/>
            </a:br>
            <a:endParaRPr lang="es-ES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CA24C387-6A16-E8AF-E5B9-811810BD2EF2}"/>
              </a:ext>
            </a:extLst>
          </p:cNvPr>
          <p:cNvSpPr txBox="1"/>
          <p:nvPr/>
        </p:nvSpPr>
        <p:spPr>
          <a:xfrm>
            <a:off x="1258229" y="1154252"/>
            <a:ext cx="6627541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completo.                 Métricas no destacables.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n-US" altLang="zh-CN" dirty="0" err="1">
                <a:sym typeface="+mn-ea"/>
              </a:rPr>
              <a:t>Reducción</a:t>
            </a:r>
            <a:r>
              <a:rPr lang="en-US" altLang="zh-CN" dirty="0">
                <a:sym typeface="+mn-ea"/>
              </a:rPr>
              <a:t> 1: </a:t>
            </a:r>
            <a:r>
              <a:rPr lang="en-US" altLang="zh-CN" dirty="0" err="1">
                <a:sym typeface="+mn-ea"/>
              </a:rPr>
              <a:t>varImp</a:t>
            </a:r>
            <a:r>
              <a:rPr lang="en-US" altLang="zh-CN" dirty="0">
                <a:sym typeface="+mn-ea"/>
              </a:rPr>
              <a:t> + variables </a:t>
            </a:r>
            <a:r>
              <a:rPr lang="en-US" altLang="zh-CN" dirty="0" err="1">
                <a:sym typeface="+mn-ea"/>
              </a:rPr>
              <a:t>significativas</a:t>
            </a:r>
            <a:r>
              <a:rPr lang="en-US" altLang="zh-CN" dirty="0">
                <a:sym typeface="+mn-ea"/>
              </a:rPr>
              <a:t> (</a:t>
            </a:r>
            <a:r>
              <a:rPr lang="en-US" altLang="zh-CN" dirty="0" err="1">
                <a:sym typeface="+mn-ea"/>
              </a:rPr>
              <a:t>estadisticamente</a:t>
            </a:r>
            <a:r>
              <a:rPr lang="en-US" altLang="zh-CN" dirty="0">
                <a:sym typeface="+mn-ea"/>
              </a:rPr>
              <a:t>).            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Reduccción</a:t>
            </a:r>
            <a:r>
              <a:rPr lang="es-ES" dirty="0"/>
              <a:t> 2: </a:t>
            </a:r>
            <a:r>
              <a:rPr lang="es-ES" dirty="0" err="1"/>
              <a:t>Dataset</a:t>
            </a:r>
            <a:r>
              <a:rPr lang="es-ES" dirty="0"/>
              <a:t> reducido.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FAMD                   Mucho </a:t>
            </a:r>
            <a:r>
              <a:rPr lang="es-ES" dirty="0" err="1"/>
              <a:t>Overfitting</a:t>
            </a:r>
            <a:r>
              <a:rPr lang="es-ES" dirty="0"/>
              <a:t>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Balanceo de datos                    Peores que sin </a:t>
            </a:r>
            <a:r>
              <a:rPr lang="es-ES" dirty="0" err="1"/>
              <a:t>balancear+overfitting</a:t>
            </a:r>
            <a:r>
              <a:rPr lang="es-ES" dirty="0"/>
              <a:t>.</a:t>
            </a:r>
          </a:p>
          <a:p>
            <a:endParaRPr lang="es-ES" dirty="0"/>
          </a:p>
          <a:p>
            <a:r>
              <a:rPr lang="es-ES" sz="1600" b="1" dirty="0" err="1"/>
              <a:t>Caracteristicas</a:t>
            </a:r>
            <a:r>
              <a:rPr lang="es-ES" sz="1600" b="1" dirty="0"/>
              <a:t> del mejor: </a:t>
            </a:r>
          </a:p>
          <a:p>
            <a:endParaRPr lang="es-ES" b="1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No hay </a:t>
            </a:r>
            <a:r>
              <a:rPr lang="es-ES" dirty="0" err="1"/>
              <a:t>overfitting</a:t>
            </a:r>
            <a:r>
              <a:rPr lang="es-ES" dirty="0"/>
              <a:t> y es estable.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Tuning</a:t>
            </a:r>
            <a:r>
              <a:rPr lang="es-ES" dirty="0"/>
              <a:t> de </a:t>
            </a:r>
            <a:r>
              <a:rPr lang="es-ES" dirty="0" err="1"/>
              <a:t>hiperparémetros</a:t>
            </a:r>
            <a:r>
              <a:rPr lang="es-ES" dirty="0"/>
              <a:t>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Hiperparémetros</a:t>
            </a:r>
            <a:r>
              <a:rPr lang="es-ES" dirty="0"/>
              <a:t>: </a:t>
            </a:r>
            <a:r>
              <a:rPr lang="es-ES" dirty="0" err="1"/>
              <a:t>maxnode</a:t>
            </a:r>
            <a:r>
              <a:rPr lang="es-ES" dirty="0"/>
              <a:t>=45 ; nodesize:20 ; </a:t>
            </a:r>
            <a:r>
              <a:rPr lang="es-ES" dirty="0" err="1"/>
              <a:t>mtry</a:t>
            </a:r>
            <a:r>
              <a:rPr lang="es-ES" dirty="0"/>
              <a:t>=5.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/>
              <a:t>Number of trees: 500 </a:t>
            </a:r>
            <a:r>
              <a:rPr lang="en-US" dirty="0" err="1"/>
              <a:t>i</a:t>
            </a:r>
            <a:r>
              <a:rPr lang="en-US" dirty="0"/>
              <a:t> No. of variables tried at each split: 5.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 con p=0,06.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s-ES" dirty="0"/>
          </a:p>
        </p:txBody>
      </p:sp>
      <p:sp>
        <p:nvSpPr>
          <p:cNvPr id="6" name="Flecha: a la derecha 5">
            <a:extLst>
              <a:ext uri="{FF2B5EF4-FFF2-40B4-BE49-F238E27FC236}">
                <a16:creationId xmlns:a16="http://schemas.microsoft.com/office/drawing/2014/main" id="{960D4467-E153-86D2-A2DC-D941EB45263E}"/>
              </a:ext>
            </a:extLst>
          </p:cNvPr>
          <p:cNvSpPr/>
          <p:nvPr/>
        </p:nvSpPr>
        <p:spPr>
          <a:xfrm>
            <a:off x="2248598" y="1884244"/>
            <a:ext cx="735981" cy="1788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1800"/>
          </a:p>
        </p:txBody>
      </p:sp>
      <p:sp>
        <p:nvSpPr>
          <p:cNvPr id="7" name="Flecha: a la derecha 6">
            <a:extLst>
              <a:ext uri="{FF2B5EF4-FFF2-40B4-BE49-F238E27FC236}">
                <a16:creationId xmlns:a16="http://schemas.microsoft.com/office/drawing/2014/main" id="{82BA70BD-DC96-5102-F3C5-E7313A0F35AD}"/>
              </a:ext>
            </a:extLst>
          </p:cNvPr>
          <p:cNvSpPr/>
          <p:nvPr/>
        </p:nvSpPr>
        <p:spPr>
          <a:xfrm>
            <a:off x="2869580" y="1258739"/>
            <a:ext cx="735981" cy="1788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Flecha: a la derecha 8">
            <a:extLst>
              <a:ext uri="{FF2B5EF4-FFF2-40B4-BE49-F238E27FC236}">
                <a16:creationId xmlns:a16="http://schemas.microsoft.com/office/drawing/2014/main" id="{6A0B7F8B-B8DC-ECFC-2CD9-483238071DB4}"/>
              </a:ext>
            </a:extLst>
          </p:cNvPr>
          <p:cNvSpPr/>
          <p:nvPr/>
        </p:nvSpPr>
        <p:spPr>
          <a:xfrm>
            <a:off x="3237570" y="2089745"/>
            <a:ext cx="735981" cy="16401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53BD1220-CE1A-331A-047F-390BDD4C319A}"/>
              </a:ext>
            </a:extLst>
          </p:cNvPr>
          <p:cNvSpPr txBox="1"/>
          <p:nvPr/>
        </p:nvSpPr>
        <p:spPr>
          <a:xfrm>
            <a:off x="948064" y="4147552"/>
            <a:ext cx="756630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Dataset  </a:t>
            </a:r>
            <a:r>
              <a:rPr lang="en-US" dirty="0" err="1"/>
              <a:t>Error_rate</a:t>
            </a:r>
            <a:r>
              <a:rPr lang="en-US" dirty="0"/>
              <a:t>   Accuracy    Precision   </a:t>
            </a:r>
            <a:r>
              <a:rPr lang="en-US" dirty="0" err="1"/>
              <a:t>Recall_Sensitivity</a:t>
            </a:r>
            <a:r>
              <a:rPr lang="en-US" dirty="0"/>
              <a:t>  Specificity  F1_Score</a:t>
            </a:r>
          </a:p>
          <a:p>
            <a:pPr latinLnBrk="1"/>
            <a:r>
              <a:rPr lang="en-US" dirty="0"/>
              <a:t>1  Train2  0.2071429  0.7928571  0.500000          0.5783251      0.8489060 0.5363180</a:t>
            </a:r>
          </a:p>
          <a:p>
            <a:pPr latinLnBrk="1"/>
            <a:r>
              <a:rPr lang="en-US" dirty="0"/>
              <a:t>2   Test2  0.2200000  0.7800000  0.473161          0.5471264      0.8408408 0.5074627</a:t>
            </a:r>
          </a:p>
        </p:txBody>
      </p:sp>
    </p:spTree>
    <p:extLst>
      <p:ext uri="{BB962C8B-B14F-4D97-AF65-F5344CB8AC3E}">
        <p14:creationId xmlns:p14="http://schemas.microsoft.com/office/powerpoint/2010/main" val="20449265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XGBoost</a:t>
            </a:r>
            <a:endParaRPr lang="es-ES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F872B8B-55D2-42B7-CD9B-7BCC543EDA08}"/>
              </a:ext>
            </a:extLst>
          </p:cNvPr>
          <p:cNvSpPr txBox="1"/>
          <p:nvPr/>
        </p:nvSpPr>
        <p:spPr>
          <a:xfrm>
            <a:off x="1258229" y="1154252"/>
            <a:ext cx="6627541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completo.               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n-US" altLang="zh-CN" dirty="0" err="1">
                <a:sym typeface="+mn-ea"/>
              </a:rPr>
              <a:t>Reducción</a:t>
            </a:r>
            <a:r>
              <a:rPr lang="en-US" altLang="zh-CN" dirty="0">
                <a:sym typeface="+mn-ea"/>
              </a:rPr>
              <a:t> 1: </a:t>
            </a:r>
            <a:r>
              <a:rPr lang="en-US" altLang="zh-CN" dirty="0" err="1">
                <a:sym typeface="+mn-ea"/>
              </a:rPr>
              <a:t>varImp</a:t>
            </a:r>
            <a:r>
              <a:rPr lang="en-US" altLang="zh-CN" dirty="0">
                <a:sym typeface="+mn-ea"/>
              </a:rPr>
              <a:t> + variables </a:t>
            </a:r>
            <a:r>
              <a:rPr lang="en-US" altLang="zh-CN" dirty="0" err="1">
                <a:sym typeface="+mn-ea"/>
              </a:rPr>
              <a:t>significativas</a:t>
            </a:r>
            <a:r>
              <a:rPr lang="en-US" altLang="zh-CN" dirty="0">
                <a:sym typeface="+mn-ea"/>
              </a:rPr>
              <a:t> (</a:t>
            </a:r>
            <a:r>
              <a:rPr lang="en-US" altLang="zh-CN" dirty="0" err="1">
                <a:sym typeface="+mn-ea"/>
              </a:rPr>
              <a:t>estadisticamente</a:t>
            </a:r>
            <a:r>
              <a:rPr lang="en-US" altLang="zh-CN" dirty="0">
                <a:sym typeface="+mn-ea"/>
              </a:rPr>
              <a:t>).            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Reduccción</a:t>
            </a:r>
            <a:r>
              <a:rPr lang="es-ES" dirty="0"/>
              <a:t> 2: </a:t>
            </a:r>
            <a:r>
              <a:rPr lang="es-ES" dirty="0" err="1"/>
              <a:t>Dataset</a:t>
            </a:r>
            <a:r>
              <a:rPr lang="es-ES" dirty="0"/>
              <a:t> reducido.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Variable </a:t>
            </a:r>
            <a:r>
              <a:rPr lang="es-ES" dirty="0" err="1"/>
              <a:t>HasBalace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ClassWeights</a:t>
            </a:r>
            <a:endParaRPr lang="es-ES" dirty="0"/>
          </a:p>
          <a:p>
            <a:endParaRPr lang="es-ES" dirty="0"/>
          </a:p>
          <a:p>
            <a:r>
              <a:rPr lang="es-ES" sz="1600" b="1" dirty="0" err="1"/>
              <a:t>Caracteristicas</a:t>
            </a:r>
            <a:r>
              <a:rPr lang="es-ES" sz="1600" b="1" dirty="0"/>
              <a:t> del mejor: </a:t>
            </a:r>
          </a:p>
          <a:p>
            <a:endParaRPr lang="es-ES" b="1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No hay </a:t>
            </a:r>
            <a:r>
              <a:rPr lang="es-ES" dirty="0" err="1"/>
              <a:t>overfitting</a:t>
            </a:r>
            <a:r>
              <a:rPr lang="es-ES" dirty="0"/>
              <a:t> y es estable.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Tuning</a:t>
            </a:r>
            <a:r>
              <a:rPr lang="es-ES" dirty="0"/>
              <a:t> de </a:t>
            </a:r>
            <a:r>
              <a:rPr lang="es-ES" dirty="0" err="1"/>
              <a:t>hiperparémetros</a:t>
            </a:r>
            <a:r>
              <a:rPr lang="es-ES" dirty="0"/>
              <a:t>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Hiperparémetros</a:t>
            </a:r>
            <a:r>
              <a:rPr lang="es-ES" dirty="0"/>
              <a:t>: </a:t>
            </a:r>
            <a:r>
              <a:rPr lang="es-ES" dirty="0" err="1"/>
              <a:t>maxnode</a:t>
            </a:r>
            <a:r>
              <a:rPr lang="es-ES" dirty="0"/>
              <a:t>=45 ; nodesize:20 ; </a:t>
            </a:r>
            <a:r>
              <a:rPr lang="es-ES" dirty="0" err="1"/>
              <a:t>mtry</a:t>
            </a:r>
            <a:r>
              <a:rPr lang="es-ES" dirty="0"/>
              <a:t>=5.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/>
              <a:t>Number of trees: 500 </a:t>
            </a:r>
            <a:r>
              <a:rPr lang="en-US" dirty="0" err="1"/>
              <a:t>i</a:t>
            </a:r>
            <a:r>
              <a:rPr lang="en-US" dirty="0"/>
              <a:t> No. of variables tried at each split: 5.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 con p=0,06.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s-E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3930F5-ACC3-7379-7FD6-8B2C2ABF6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GLM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A19C81F1-A15F-835A-5E3B-0AFBC06BA8D2}"/>
              </a:ext>
            </a:extLst>
          </p:cNvPr>
          <p:cNvSpPr txBox="1"/>
          <p:nvPr/>
        </p:nvSpPr>
        <p:spPr>
          <a:xfrm>
            <a:off x="857693" y="1112200"/>
            <a:ext cx="7896445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Se ha probado 4 enlaces: </a:t>
            </a:r>
            <a:r>
              <a:rPr lang="es-ES" dirty="0" err="1"/>
              <a:t>logit</a:t>
            </a:r>
            <a:r>
              <a:rPr lang="es-ES" dirty="0"/>
              <a:t>, </a:t>
            </a:r>
            <a:r>
              <a:rPr lang="es-ES" dirty="0" err="1"/>
              <a:t>probit</a:t>
            </a:r>
            <a:r>
              <a:rPr lang="es-ES" dirty="0"/>
              <a:t>, </a:t>
            </a:r>
            <a:r>
              <a:rPr lang="es-ES" dirty="0" err="1"/>
              <a:t>cloglog</a:t>
            </a:r>
            <a:r>
              <a:rPr lang="es-ES" dirty="0"/>
              <a:t> y </a:t>
            </a:r>
            <a:r>
              <a:rPr lang="es-ES" dirty="0" err="1"/>
              <a:t>cauchy</a:t>
            </a:r>
            <a:r>
              <a:rPr lang="es-ES" dirty="0"/>
              <a:t>.              No </a:t>
            </a:r>
            <a:r>
              <a:rPr lang="es-ES" dirty="0" err="1"/>
              <a:t>much</a:t>
            </a:r>
            <a:r>
              <a:rPr lang="es-ES" dirty="0"/>
              <a:t> </a:t>
            </a:r>
            <a:r>
              <a:rPr lang="es-ES" dirty="0" err="1"/>
              <a:t>difference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Se decidió quedarse con el </a:t>
            </a:r>
            <a:r>
              <a:rPr lang="es-ES" b="1" dirty="0" err="1"/>
              <a:t>probit</a:t>
            </a:r>
            <a:r>
              <a:rPr lang="es-ES" b="1" dirty="0"/>
              <a:t>.              Ligero aumento en </a:t>
            </a:r>
            <a:r>
              <a:rPr lang="es-ES" b="1" dirty="0" err="1"/>
              <a:t>recall</a:t>
            </a:r>
            <a:r>
              <a:rPr lang="es-ES" b="1" dirty="0"/>
              <a:t>.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</a:t>
            </a:r>
            <a:r>
              <a:rPr lang="es-ES" dirty="0" err="1"/>
              <a:t>reducido_plus</a:t>
            </a:r>
            <a:r>
              <a:rPr lang="es-ES" dirty="0"/>
              <a:t>               Peor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Data reducido                 Mejores resultados.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Balance               F1 MUUUUUY bajo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 err="1"/>
              <a:t>Scale</a:t>
            </a:r>
            <a:r>
              <a:rPr lang="es-ES" dirty="0"/>
              <a:t>, </a:t>
            </a:r>
            <a:r>
              <a:rPr lang="es-ES" dirty="0" err="1"/>
              <a:t>Dummys</a:t>
            </a:r>
            <a:r>
              <a:rPr lang="es-ES" dirty="0"/>
              <a:t> de las variables categóricas.               No afecta en las métricas.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endParaRPr lang="es-ES" dirty="0"/>
          </a:p>
          <a:p>
            <a:pPr>
              <a:buClr>
                <a:srgbClr val="00B050"/>
              </a:buClr>
              <a:buSzPct val="150000"/>
            </a:pPr>
            <a:r>
              <a:rPr lang="es-ES" dirty="0"/>
              <a:t>Características: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El punto de corte óptimo es: p=0.2071429.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obtenidas: </a:t>
            </a:r>
            <a:endParaRPr lang="en-US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E1F418CC-45B9-57D6-1A31-8F0E6480A384}"/>
              </a:ext>
            </a:extLst>
          </p:cNvPr>
          <p:cNvSpPr txBox="1"/>
          <p:nvPr/>
        </p:nvSpPr>
        <p:spPr>
          <a:xfrm>
            <a:off x="1040573" y="3661968"/>
            <a:ext cx="723474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  Dataset </a:t>
            </a:r>
            <a:r>
              <a:rPr lang="en-US" dirty="0" err="1"/>
              <a:t>Error_rate</a:t>
            </a:r>
            <a:r>
              <a:rPr lang="en-US" dirty="0"/>
              <a:t>  Accuracy    Precision   </a:t>
            </a:r>
            <a:r>
              <a:rPr lang="en-US" dirty="0" err="1"/>
              <a:t>Recall_Sensitivity</a:t>
            </a:r>
            <a:r>
              <a:rPr lang="en-US" dirty="0"/>
              <a:t>  Specificity   F1_Score</a:t>
            </a:r>
          </a:p>
          <a:p>
            <a:pPr latinLnBrk="1"/>
            <a:r>
              <a:rPr lang="en-US" dirty="0"/>
              <a:t>1  Train2  0.3273469  0.6726531 0.3516373       0.6876847       0.6687259   0.4653333</a:t>
            </a:r>
          </a:p>
          <a:p>
            <a:pPr latinLnBrk="1"/>
            <a:r>
              <a:rPr lang="en-US" dirty="0"/>
              <a:t>2   Test2  0.3261905  0.6738095 0.3549884       0.7034483       0.6660661   0.4718581</a:t>
            </a:r>
          </a:p>
        </p:txBody>
      </p:sp>
      <p:sp>
        <p:nvSpPr>
          <p:cNvPr id="5" name="Flecha: a la derecha 6">
            <a:extLst>
              <a:ext uri="{FF2B5EF4-FFF2-40B4-BE49-F238E27FC236}">
                <a16:creationId xmlns:a16="http://schemas.microsoft.com/office/drawing/2014/main" id="{204E4731-EE50-1A0F-78FA-AB260AF750BB}"/>
              </a:ext>
            </a:extLst>
          </p:cNvPr>
          <p:cNvSpPr/>
          <p:nvPr/>
        </p:nvSpPr>
        <p:spPr>
          <a:xfrm>
            <a:off x="5708030" y="1181100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Flecha: a la derecha 6">
            <a:extLst>
              <a:ext uri="{FF2B5EF4-FFF2-40B4-BE49-F238E27FC236}">
                <a16:creationId xmlns:a16="http://schemas.microsoft.com/office/drawing/2014/main" id="{6B6A870F-515E-0390-802A-DF886CC83BE7}"/>
              </a:ext>
            </a:extLst>
          </p:cNvPr>
          <p:cNvSpPr/>
          <p:nvPr/>
        </p:nvSpPr>
        <p:spPr>
          <a:xfrm>
            <a:off x="2517155" y="1813113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Flecha: a la derecha 6">
            <a:extLst>
              <a:ext uri="{FF2B5EF4-FFF2-40B4-BE49-F238E27FC236}">
                <a16:creationId xmlns:a16="http://schemas.microsoft.com/office/drawing/2014/main" id="{7CE7682A-2D1D-1842-85BD-4E3D66105BBF}"/>
              </a:ext>
            </a:extLst>
          </p:cNvPr>
          <p:cNvSpPr/>
          <p:nvPr/>
        </p:nvSpPr>
        <p:spPr>
          <a:xfrm>
            <a:off x="4060205" y="1388128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Flecha: a la derecha 6">
            <a:extLst>
              <a:ext uri="{FF2B5EF4-FFF2-40B4-BE49-F238E27FC236}">
                <a16:creationId xmlns:a16="http://schemas.microsoft.com/office/drawing/2014/main" id="{C1AEEB45-25E2-1430-61A9-4142E17901FF}"/>
              </a:ext>
            </a:extLst>
          </p:cNvPr>
          <p:cNvSpPr/>
          <p:nvPr/>
        </p:nvSpPr>
        <p:spPr>
          <a:xfrm>
            <a:off x="2005360" y="2032764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Flecha: a la derecha 6">
            <a:extLst>
              <a:ext uri="{FF2B5EF4-FFF2-40B4-BE49-F238E27FC236}">
                <a16:creationId xmlns:a16="http://schemas.microsoft.com/office/drawing/2014/main" id="{9AA757AE-5FCC-903E-E3FA-E4854B27FAC4}"/>
              </a:ext>
            </a:extLst>
          </p:cNvPr>
          <p:cNvSpPr/>
          <p:nvPr/>
        </p:nvSpPr>
        <p:spPr>
          <a:xfrm>
            <a:off x="4902244" y="2239792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Flecha: a la derecha 9">
            <a:extLst>
              <a:ext uri="{FF2B5EF4-FFF2-40B4-BE49-F238E27FC236}">
                <a16:creationId xmlns:a16="http://schemas.microsoft.com/office/drawing/2014/main" id="{48A9109A-0AA2-C610-2B4B-661AAC7895C3}"/>
              </a:ext>
            </a:extLst>
          </p:cNvPr>
          <p:cNvSpPr/>
          <p:nvPr/>
        </p:nvSpPr>
        <p:spPr>
          <a:xfrm>
            <a:off x="2910745" y="1606085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223117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1EE568-4D8F-5F01-17E9-DB65C7EEDA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1419854-91CD-FA80-DEB4-670E153CE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SVM</a:t>
            </a:r>
          </a:p>
        </p:txBody>
      </p:sp>
      <p:sp>
        <p:nvSpPr>
          <p:cNvPr id="3" name="CuadroTexto 3">
            <a:extLst>
              <a:ext uri="{FF2B5EF4-FFF2-40B4-BE49-F238E27FC236}">
                <a16:creationId xmlns:a16="http://schemas.microsoft.com/office/drawing/2014/main" id="{0A72E87C-E95F-280D-799C-C7E838830171}"/>
              </a:ext>
            </a:extLst>
          </p:cNvPr>
          <p:cNvSpPr txBox="1"/>
          <p:nvPr/>
        </p:nvSpPr>
        <p:spPr>
          <a:xfrm>
            <a:off x="1214863" y="1112200"/>
            <a:ext cx="7343995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</a:t>
            </a:r>
            <a:r>
              <a:rPr lang="es-ES" dirty="0" err="1"/>
              <a:t>reducido_plus</a:t>
            </a:r>
            <a:r>
              <a:rPr lang="es-ES" dirty="0"/>
              <a:t> i </a:t>
            </a:r>
            <a:r>
              <a:rPr lang="es-ES" dirty="0" err="1"/>
              <a:t>data_rf</a:t>
            </a:r>
            <a:r>
              <a:rPr lang="es-ES" dirty="0"/>
              <a:t>.               </a:t>
            </a:r>
            <a:r>
              <a:rPr lang="es-ES" dirty="0" err="1"/>
              <a:t>Overffit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Data reducido                 Mejores resultados.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Class_weigths</a:t>
            </a:r>
            <a:r>
              <a:rPr lang="es-ES" dirty="0"/>
              <a:t>               1:3     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>
              <a:buClr>
                <a:srgbClr val="00B050"/>
              </a:buClr>
              <a:buSzPct val="150000"/>
            </a:pPr>
            <a:r>
              <a:rPr lang="es-ES" dirty="0"/>
              <a:t>Características: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Scale</a:t>
            </a:r>
            <a:r>
              <a:rPr lang="es-ES" dirty="0"/>
              <a:t>, </a:t>
            </a:r>
            <a:r>
              <a:rPr lang="es-ES" dirty="0" err="1"/>
              <a:t>Dummys</a:t>
            </a:r>
            <a:r>
              <a:rPr lang="es-ES" dirty="0"/>
              <a:t> de las variables categóricas.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 err="1">
                <a:latin typeface="+mn-lt"/>
              </a:rPr>
              <a:t>Hiperparámetro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tunig</a:t>
            </a:r>
            <a:r>
              <a:rPr lang="en-US" dirty="0">
                <a:latin typeface="+mn-lt"/>
              </a:rPr>
              <a:t>: Best gamma 0.02 </a:t>
            </a:r>
            <a:r>
              <a:rPr lang="en-US" dirty="0" err="1">
                <a:latin typeface="+mn-lt"/>
              </a:rPr>
              <a:t>i</a:t>
            </a:r>
            <a:r>
              <a:rPr lang="en-US" dirty="0">
                <a:latin typeface="+mn-lt"/>
              </a:rPr>
              <a:t> Cost=10.</a:t>
            </a:r>
            <a:endParaRPr lang="es-ES" dirty="0">
              <a:latin typeface="+mn-lt"/>
            </a:endParaRP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El punto de corte óptimo es p=0.2071429.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obtenidas:</a:t>
            </a:r>
            <a:endParaRPr lang="en-US" dirty="0"/>
          </a:p>
        </p:txBody>
      </p:sp>
      <p:sp>
        <p:nvSpPr>
          <p:cNvPr id="5" name="Flecha: a la derecha 6">
            <a:extLst>
              <a:ext uri="{FF2B5EF4-FFF2-40B4-BE49-F238E27FC236}">
                <a16:creationId xmlns:a16="http://schemas.microsoft.com/office/drawing/2014/main" id="{483E60BC-F27B-9604-330D-EFD1AD852F19}"/>
              </a:ext>
            </a:extLst>
          </p:cNvPr>
          <p:cNvSpPr/>
          <p:nvPr/>
        </p:nvSpPr>
        <p:spPr>
          <a:xfrm>
            <a:off x="2874082" y="1403027"/>
            <a:ext cx="44572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6" name="Flecha: a la derecha 6">
            <a:extLst>
              <a:ext uri="{FF2B5EF4-FFF2-40B4-BE49-F238E27FC236}">
                <a16:creationId xmlns:a16="http://schemas.microsoft.com/office/drawing/2014/main" id="{968B50FB-7201-DE78-F12C-CFAC35129BF2}"/>
              </a:ext>
            </a:extLst>
          </p:cNvPr>
          <p:cNvSpPr/>
          <p:nvPr/>
        </p:nvSpPr>
        <p:spPr>
          <a:xfrm>
            <a:off x="2874083" y="1599293"/>
            <a:ext cx="44572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CuadroTexto 10">
            <a:extLst>
              <a:ext uri="{FF2B5EF4-FFF2-40B4-BE49-F238E27FC236}">
                <a16:creationId xmlns:a16="http://schemas.microsoft.com/office/drawing/2014/main" id="{099739FD-993F-909D-805D-35A4AF98297B}"/>
              </a:ext>
            </a:extLst>
          </p:cNvPr>
          <p:cNvSpPr txBox="1"/>
          <p:nvPr/>
        </p:nvSpPr>
        <p:spPr>
          <a:xfrm>
            <a:off x="992551" y="3476730"/>
            <a:ext cx="756630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 Dataset </a:t>
            </a:r>
            <a:r>
              <a:rPr lang="en-US" dirty="0" err="1"/>
              <a:t>Error_rate</a:t>
            </a:r>
            <a:r>
              <a:rPr lang="en-US" dirty="0"/>
              <a:t>  Accuracy Precision </a:t>
            </a:r>
            <a:r>
              <a:rPr lang="en-US" dirty="0" err="1"/>
              <a:t>Recall_Sensitivity</a:t>
            </a:r>
            <a:r>
              <a:rPr lang="en-US" dirty="0"/>
              <a:t> Specificity  F1_Score</a:t>
            </a:r>
          </a:p>
          <a:p>
            <a:pPr latinLnBrk="1"/>
            <a:r>
              <a:rPr lang="en-US" dirty="0"/>
              <a:t>1  Train2  0.2793878 0.7206122 0.3940120          0.6482759   0.7395109 0.4901304</a:t>
            </a:r>
          </a:p>
          <a:p>
            <a:pPr latinLnBrk="1"/>
            <a:r>
              <a:rPr lang="en-US" dirty="0"/>
              <a:t>2   Test2  0.2900000 0.7100000 0.3788301          0.6252874   0.7321321 0.4718127</a:t>
            </a:r>
          </a:p>
        </p:txBody>
      </p:sp>
      <p:sp>
        <p:nvSpPr>
          <p:cNvPr id="7" name="Flecha: a la derecha 6">
            <a:extLst>
              <a:ext uri="{FF2B5EF4-FFF2-40B4-BE49-F238E27FC236}">
                <a16:creationId xmlns:a16="http://schemas.microsoft.com/office/drawing/2014/main" id="{89E59608-3FB8-D724-9251-1E4B2D836C96}"/>
              </a:ext>
            </a:extLst>
          </p:cNvPr>
          <p:cNvSpPr/>
          <p:nvPr/>
        </p:nvSpPr>
        <p:spPr>
          <a:xfrm>
            <a:off x="3984049" y="1160134"/>
            <a:ext cx="51179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9701866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2F75E8-11BA-7674-DE3A-BF9C2C98E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E313715-5039-9E86-CD00-62B5394BE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Asignaciones del AR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35AAD5D2-DF63-EE2F-79C1-F0CAB2917DB1}"/>
              </a:ext>
            </a:extLst>
          </p:cNvPr>
          <p:cNvSpPr txBox="1"/>
          <p:nvPr/>
        </p:nvSpPr>
        <p:spPr>
          <a:xfrm>
            <a:off x="629675" y="1456445"/>
            <a:ext cx="7704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buNone/>
            </a:pPr>
            <a:r>
              <a:rPr lang="en-US" b="0" i="0" dirty="0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Se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intentó</a:t>
            </a:r>
            <a:r>
              <a:rPr lang="en-US" b="0" i="0" dirty="0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forzar</a:t>
            </a:r>
            <a:r>
              <a:rPr lang="en-US" b="0" i="0" dirty="0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 las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reglas</a:t>
            </a:r>
            <a:r>
              <a:rPr lang="en-US" b="0" i="0" dirty="0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 para Exited=1 con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confianza</a:t>
            </a:r>
            <a:r>
              <a:rPr lang="en-US" b="0" i="0" dirty="0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 minima de 0.5</a:t>
            </a:r>
          </a:p>
          <a:p>
            <a:pPr algn="l" latinLnBrk="1">
              <a:buNone/>
            </a:pPr>
            <a:r>
              <a:rPr lang="en-US" dirty="0">
                <a:latin typeface="Lucida Console" panose="020B0609040504020204" pitchFamily="49" charset="0"/>
              </a:rPr>
              <a:t>Los </a:t>
            </a:r>
            <a:r>
              <a:rPr lang="en-US" dirty="0" err="1">
                <a:latin typeface="Lucida Console" panose="020B0609040504020204" pitchFamily="49" charset="0"/>
              </a:rPr>
              <a:t>resultados</a:t>
            </a:r>
            <a:r>
              <a:rPr lang="en-US" dirty="0">
                <a:latin typeface="Lucida Console" panose="020B0609040504020204" pitchFamily="49" charset="0"/>
              </a:rPr>
              <a:t> no </a:t>
            </a:r>
            <a:r>
              <a:rPr lang="en-US" dirty="0" err="1">
                <a:latin typeface="Lucida Console" panose="020B0609040504020204" pitchFamily="49" charset="0"/>
              </a:rPr>
              <a:t>mejoraban</a:t>
            </a:r>
            <a:r>
              <a:rPr lang="en-US" dirty="0">
                <a:latin typeface="Lucida Console" panose="020B0609040504020204" pitchFamily="49" charset="0"/>
              </a:rPr>
              <a:t> </a:t>
            </a:r>
            <a:r>
              <a:rPr lang="en-US" dirty="0" err="1">
                <a:latin typeface="Lucida Console" panose="020B0609040504020204" pitchFamily="49" charset="0"/>
              </a:rPr>
              <a:t>el</a:t>
            </a:r>
            <a:r>
              <a:rPr lang="en-US" dirty="0">
                <a:latin typeface="Lucida Console" panose="020B0609040504020204" pitchFamily="49" charset="0"/>
              </a:rPr>
              <a:t> </a:t>
            </a:r>
            <a:r>
              <a:rPr lang="en-US" dirty="0" err="1">
                <a:latin typeface="Lucida Console" panose="020B0609040504020204" pitchFamily="49" charset="0"/>
              </a:rPr>
              <a:t>modelo</a:t>
            </a:r>
            <a:r>
              <a:rPr lang="en-US" dirty="0">
                <a:latin typeface="Lucida Console" panose="020B0609040504020204" pitchFamily="49" charset="0"/>
              </a:rPr>
              <a:t> sin </a:t>
            </a:r>
            <a:r>
              <a:rPr lang="en-US" dirty="0" err="1">
                <a:latin typeface="Lucida Console" panose="020B0609040504020204" pitchFamily="49" charset="0"/>
              </a:rPr>
              <a:t>forzar</a:t>
            </a:r>
            <a:endParaRPr lang="en-US" dirty="0">
              <a:latin typeface="Lucida Console" panose="020B0609040504020204" pitchFamily="49" charset="0"/>
            </a:endParaRPr>
          </a:p>
          <a:p>
            <a:pPr algn="l" latinLnBrk="1">
              <a:buNone/>
            </a:pPr>
            <a:endParaRPr lang="en-US" dirty="0">
              <a:latin typeface="Lucida Console" panose="020B0609040504020204" pitchFamily="49" charset="0"/>
            </a:endParaRPr>
          </a:p>
          <a:p>
            <a:pPr latinLnBrk="1"/>
            <a:r>
              <a:rPr lang="en-US" dirty="0">
                <a:latin typeface="Lucida Console" panose="020B0609040504020204" pitchFamily="49" charset="0"/>
              </a:rPr>
              <a:t>Se </a:t>
            </a:r>
            <a:r>
              <a:rPr lang="en-US" dirty="0" err="1">
                <a:latin typeface="Lucida Console" panose="020B0609040504020204" pitchFamily="49" charset="0"/>
              </a:rPr>
              <a:t>intentó</a:t>
            </a:r>
            <a:r>
              <a:rPr lang="en-US" dirty="0">
                <a:latin typeface="Lucida Console" panose="020B0609040504020204" pitchFamily="49" charset="0"/>
              </a:rPr>
              <a:t> </a:t>
            </a:r>
            <a:r>
              <a:rPr lang="en-US" dirty="0" err="1">
                <a:latin typeface="Lucida Console" panose="020B0609040504020204" pitchFamily="49" charset="0"/>
              </a:rPr>
              <a:t>forzar</a:t>
            </a:r>
            <a:r>
              <a:rPr lang="en-US" dirty="0">
                <a:latin typeface="Lucida Console" panose="020B0609040504020204" pitchFamily="49" charset="0"/>
              </a:rPr>
              <a:t> las </a:t>
            </a:r>
            <a:r>
              <a:rPr lang="en-US" dirty="0" err="1">
                <a:latin typeface="Lucida Console" panose="020B0609040504020204" pitchFamily="49" charset="0"/>
              </a:rPr>
              <a:t>reglas</a:t>
            </a:r>
            <a:r>
              <a:rPr lang="en-US" dirty="0">
                <a:latin typeface="Lucida Console" panose="020B0609040504020204" pitchFamily="49" charset="0"/>
              </a:rPr>
              <a:t> para Exited=0 con </a:t>
            </a:r>
            <a:r>
              <a:rPr lang="en-US" dirty="0" err="1">
                <a:latin typeface="Lucida Console" panose="020B0609040504020204" pitchFamily="49" charset="0"/>
              </a:rPr>
              <a:t>confianza</a:t>
            </a:r>
            <a:r>
              <a:rPr lang="en-US" dirty="0">
                <a:latin typeface="Lucida Console" panose="020B0609040504020204" pitchFamily="49" charset="0"/>
              </a:rPr>
              <a:t> de 1</a:t>
            </a:r>
          </a:p>
          <a:p>
            <a:pPr latinLnBrk="1"/>
            <a:r>
              <a:rPr lang="en-US" dirty="0">
                <a:latin typeface="Lucida Console" panose="020B0609040504020204" pitchFamily="49" charset="0"/>
              </a:rPr>
              <a:t>Los </a:t>
            </a:r>
            <a:r>
              <a:rPr lang="en-US" dirty="0" err="1">
                <a:latin typeface="Lucida Console" panose="020B0609040504020204" pitchFamily="49" charset="0"/>
              </a:rPr>
              <a:t>resultados</a:t>
            </a:r>
            <a:r>
              <a:rPr lang="en-US" dirty="0">
                <a:latin typeface="Lucida Console" panose="020B0609040504020204" pitchFamily="49" charset="0"/>
              </a:rPr>
              <a:t> no </a:t>
            </a:r>
            <a:r>
              <a:rPr lang="en-US" dirty="0" err="1">
                <a:latin typeface="Lucida Console" panose="020B0609040504020204" pitchFamily="49" charset="0"/>
              </a:rPr>
              <a:t>mejoraban</a:t>
            </a:r>
            <a:r>
              <a:rPr lang="en-US" dirty="0">
                <a:latin typeface="Lucida Console" panose="020B0609040504020204" pitchFamily="49" charset="0"/>
              </a:rPr>
              <a:t> </a:t>
            </a:r>
            <a:r>
              <a:rPr lang="en-US" dirty="0" err="1">
                <a:latin typeface="Lucida Console" panose="020B0609040504020204" pitchFamily="49" charset="0"/>
              </a:rPr>
              <a:t>el</a:t>
            </a:r>
            <a:r>
              <a:rPr lang="en-US" dirty="0">
                <a:latin typeface="Lucida Console" panose="020B0609040504020204" pitchFamily="49" charset="0"/>
              </a:rPr>
              <a:t> </a:t>
            </a:r>
            <a:r>
              <a:rPr lang="en-US" dirty="0" err="1">
                <a:latin typeface="Lucida Console" panose="020B0609040504020204" pitchFamily="49" charset="0"/>
              </a:rPr>
              <a:t>modelo</a:t>
            </a:r>
            <a:r>
              <a:rPr lang="en-US" dirty="0">
                <a:latin typeface="Lucida Console" panose="020B0609040504020204" pitchFamily="49" charset="0"/>
              </a:rPr>
              <a:t> sin </a:t>
            </a:r>
            <a:r>
              <a:rPr lang="en-US" dirty="0" err="1">
                <a:latin typeface="Lucida Console" panose="020B0609040504020204" pitchFamily="49" charset="0"/>
              </a:rPr>
              <a:t>forzar</a:t>
            </a:r>
            <a:endParaRPr lang="en-US" dirty="0">
              <a:latin typeface="Lucida Console" panose="020B0609040504020204" pitchFamily="49" charset="0"/>
            </a:endParaRPr>
          </a:p>
          <a:p>
            <a:pPr algn="l" latinLnBrk="1">
              <a:buNone/>
            </a:pPr>
            <a:endParaRPr lang="en-US" dirty="0">
              <a:latin typeface="Lucida Console" panose="020B0609040504020204" pitchFamily="49" charset="0"/>
            </a:endParaRPr>
          </a:p>
          <a:p>
            <a:pPr latinLnBrk="1"/>
            <a:r>
              <a:rPr lang="es-ES" b="0" i="0" dirty="0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Se intentó forzar las reglas para ambos </a:t>
            </a:r>
            <a:r>
              <a:rPr lang="es-ES" b="0" i="0" dirty="0" err="1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Exited</a:t>
            </a:r>
            <a:r>
              <a:rPr lang="es-ES" b="0" i="0" dirty="0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 a la vez</a:t>
            </a:r>
          </a:p>
          <a:p>
            <a:pPr latinLnBrk="1"/>
            <a:r>
              <a:rPr lang="es-ES" dirty="0">
                <a:latin typeface="Lucida Console" panose="020B0609040504020204" pitchFamily="49" charset="0"/>
              </a:rPr>
              <a:t>Los resultados no mejoraban el modelo sin forzar</a:t>
            </a:r>
            <a:endParaRPr lang="es-ES" dirty="0"/>
          </a:p>
          <a:p>
            <a:pPr algn="l" latinLnBrk="1">
              <a:buNone/>
            </a:pPr>
            <a:endParaRPr lang="en-US" b="0" i="0" dirty="0">
              <a:solidFill>
                <a:srgbClr val="000000"/>
              </a:solidFill>
              <a:effectLst/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8449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9CF6E-112B-D9C4-F76D-9DBE2EFB2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B861A1F-D8C8-E3EE-FB99-A420783A8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Mejores modelos i métodos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CFC550B3-19E2-B999-88E4-FAA56B2062BA}"/>
              </a:ext>
            </a:extLst>
          </p:cNvPr>
          <p:cNvSpPr txBox="1"/>
          <p:nvPr/>
        </p:nvSpPr>
        <p:spPr>
          <a:xfrm>
            <a:off x="1006548" y="1412749"/>
            <a:ext cx="787518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Tabla comparativa</a:t>
            </a:r>
          </a:p>
          <a:p>
            <a:r>
              <a:rPr lang="es-ES" dirty="0"/>
              <a:t>(</a:t>
            </a:r>
            <a:r>
              <a:rPr lang="es-ES" dirty="0" err="1"/>
              <a:t>Diria</a:t>
            </a:r>
            <a:r>
              <a:rPr lang="es-ES" dirty="0"/>
              <a:t>)</a:t>
            </a:r>
            <a:r>
              <a:rPr lang="es-ES" dirty="0" err="1"/>
              <a:t>Preferibelmente</a:t>
            </a:r>
            <a:r>
              <a:rPr lang="es-ES" dirty="0"/>
              <a:t> el </a:t>
            </a:r>
            <a:r>
              <a:rPr lang="es-ES" dirty="0" err="1"/>
              <a:t>XGBoost</a:t>
            </a:r>
            <a:r>
              <a:rPr lang="es-ES" dirty="0"/>
              <a:t>, buenos (mejores) resultados ( mayor </a:t>
            </a:r>
            <a:r>
              <a:rPr lang="es-ES" dirty="0" err="1"/>
              <a:t>recal?l</a:t>
            </a:r>
            <a:r>
              <a:rPr lang="es-ES" dirty="0"/>
              <a:t>) , </a:t>
            </a:r>
            <a:r>
              <a:rPr lang="es-ES" b="1" dirty="0"/>
              <a:t>computacionalmente menos costoso.</a:t>
            </a:r>
          </a:p>
          <a:p>
            <a:r>
              <a:rPr lang="es-ES" b="1" dirty="0"/>
              <a:t> f1 similar, mirar </a:t>
            </a:r>
            <a:r>
              <a:rPr lang="es-ES" b="1" dirty="0" err="1"/>
              <a:t>besst</a:t>
            </a:r>
            <a:r>
              <a:rPr lang="es-ES" b="1" dirty="0"/>
              <a:t> </a:t>
            </a:r>
            <a:r>
              <a:rPr lang="es-ES" b="1" dirty="0" err="1"/>
              <a:t>recall</a:t>
            </a:r>
            <a:r>
              <a:rPr lang="es-ES" b="1" dirty="0"/>
              <a:t> i mas estable</a:t>
            </a:r>
          </a:p>
        </p:txBody>
      </p:sp>
    </p:spTree>
    <p:extLst>
      <p:ext uri="{BB962C8B-B14F-4D97-AF65-F5344CB8AC3E}">
        <p14:creationId xmlns:p14="http://schemas.microsoft.com/office/powerpoint/2010/main" val="1303636660"/>
      </p:ext>
    </p:extLst>
  </p:cSld>
  <p:clrMapOvr>
    <a:masterClrMapping/>
  </p:clrMapOvr>
</p:sld>
</file>

<file path=ppt/theme/theme1.xml><?xml version="1.0" encoding="utf-8"?>
<a:theme xmlns:a="http://schemas.openxmlformats.org/drawingml/2006/main" name="Cycle Diagrams Theme for a Business Plan by Slidesgo">
  <a:themeElements>
    <a:clrScheme name="Simple Light">
      <a:dk1>
        <a:srgbClr val="1B1B1B"/>
      </a:dk1>
      <a:lt1>
        <a:srgbClr val="FAFAFA"/>
      </a:lt1>
      <a:dk2>
        <a:srgbClr val="374768"/>
      </a:dk2>
      <a:lt2>
        <a:srgbClr val="43567F"/>
      </a:lt2>
      <a:accent1>
        <a:srgbClr val="9BACCA"/>
      </a:accent1>
      <a:accent2>
        <a:srgbClr val="C2CDE5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B1B1B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313</TotalTime>
  <Words>688</Words>
  <Application>Microsoft Office PowerPoint</Application>
  <PresentationFormat>Presentación en pantalla (16:9)</PresentationFormat>
  <Paragraphs>125</Paragraphs>
  <Slides>9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7" baseType="lpstr">
      <vt:lpstr>Didact Gothic</vt:lpstr>
      <vt:lpstr>Arial Black</vt:lpstr>
      <vt:lpstr>Libre Franklin</vt:lpstr>
      <vt:lpstr>Arial</vt:lpstr>
      <vt:lpstr>Poppins</vt:lpstr>
      <vt:lpstr>Lucida Console</vt:lpstr>
      <vt:lpstr>Wingdings</vt:lpstr>
      <vt:lpstr>Cycle Diagrams Theme for a Business Plan by Slidesgo</vt:lpstr>
      <vt:lpstr>Modelo de clasificación  GRUPO 5</vt:lpstr>
      <vt:lpstr>Árbol de desición</vt:lpstr>
      <vt:lpstr>Presentación de PowerPoint</vt:lpstr>
      <vt:lpstr>Random Forest  </vt:lpstr>
      <vt:lpstr>XGBoost</vt:lpstr>
      <vt:lpstr>GLM</vt:lpstr>
      <vt:lpstr>SVM</vt:lpstr>
      <vt:lpstr>Asignaciones del AR</vt:lpstr>
      <vt:lpstr>Mejores modelos i métodos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Modelo de clasificación  GRUPO 5</dc:title>
  <dc:creator>Mario Aragón Valderrama</dc:creator>
  <cp:lastModifiedBy>Mario Aragón Valderrama</cp:lastModifiedBy>
  <cp:revision>27</cp:revision>
  <dcterms:created xsi:type="dcterms:W3CDTF">2025-12-15T06:46:40Z</dcterms:created>
  <dcterms:modified xsi:type="dcterms:W3CDTF">2025-12-17T10:37:19Z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060FF5A1F8DE40999C85C594E7927946_12</vt:lpwstr>
  </property>
  <property fmtid="{D5CDD505-2E9C-101B-9397-08002B2CF9AE}" pid="3" name="KSOProductBuildVer">
    <vt:lpwstr>2052-12.1.0.24034</vt:lpwstr>
  </property>
</Properties>
</file>