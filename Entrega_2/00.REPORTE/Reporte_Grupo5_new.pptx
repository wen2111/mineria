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85" r:id="rId3"/>
    <p:sldId id="293" r:id="rId5"/>
    <p:sldId id="299" r:id="rId6"/>
    <p:sldId id="301" r:id="rId7"/>
    <p:sldId id="296" r:id="rId8"/>
    <p:sldId id="302" r:id="rId9"/>
    <p:sldId id="303" r:id="rId10"/>
    <p:sldId id="304" r:id="rId11"/>
    <p:sldId id="305" r:id="rId12"/>
  </p:sldIdLst>
  <p:sldSz cx="9144000" cy="5143500" type="screen16x9"/>
  <p:notesSz cx="6858000" cy="9144000"/>
  <p:embeddedFontLst>
    <p:embeddedFont>
      <p:font typeface="Poppins" panose="00000500000000000000"/>
      <p:regular r:id="rId17"/>
    </p:embeddedFont>
    <p:embeddedFont>
      <p:font typeface="Didact Gothic" panose="00000500000000000000"/>
      <p:regular r:id="rId18"/>
    </p:embeddedFont>
    <p:embeddedFont>
      <p:font typeface="Arial Black" panose="020B0A04020102020204" pitchFamily="34" charset="0"/>
      <p:bold r:id="rId19"/>
    </p:embeddedFont>
    <p:embeddedFont>
      <p:font typeface="Lucida Console" panose="020B0609040504020204" pitchFamily="49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font" Target="fonts/font4.fntdata"/><Relationship Id="rId2" Type="http://schemas.openxmlformats.org/officeDocument/2006/relationships/theme" Target="theme/theme1.xml"/><Relationship Id="rId19" Type="http://schemas.openxmlformats.org/officeDocument/2006/relationships/font" Target="fonts/font3.fntdata"/><Relationship Id="rId18" Type="http://schemas.openxmlformats.org/officeDocument/2006/relationships/font" Target="fonts/font2.fntdata"/><Relationship Id="rId17" Type="http://schemas.openxmlformats.org/officeDocument/2006/relationships/font" Target="fonts/font1.fntdata"/><Relationship Id="rId16" Type="http://schemas.openxmlformats.org/officeDocument/2006/relationships/commentAuthors" Target="commentAuthors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.png"/><Relationship Id="rId7" Type="http://schemas.openxmlformats.org/officeDocument/2006/relationships/image" Target="../media/image1.png"/><Relationship Id="rId6" Type="http://schemas.openxmlformats.org/officeDocument/2006/relationships/hyperlink" Target="https://github.com/wen2111/Mineria.git" TargetMode="External"/><Relationship Id="rId5" Type="http://schemas.openxmlformats.org/officeDocument/2006/relationships/hyperlink" Target="mailto:wenjia.ye@estudiantat.upc.edu" TargetMode="External"/><Relationship Id="rId4" Type="http://schemas.openxmlformats.org/officeDocument/2006/relationships/hyperlink" Target="mailto:melissa.Vargas@estudiantat.upc.edu" TargetMode="External"/><Relationship Id="rId3" Type="http://schemas.openxmlformats.org/officeDocument/2006/relationships/hyperlink" Target="mailto:siling.guo@estudiantat.ub.edu" TargetMode="External"/><Relationship Id="rId2" Type="http://schemas.openxmlformats.org/officeDocument/2006/relationships/hyperlink" Target="mailto:laura.Belmonte@estudiantat.upc.edu" TargetMode="External"/><Relationship Id="rId10" Type="http://schemas.openxmlformats.org/officeDocument/2006/relationships/notesSlide" Target="../notesSlides/notesSlide1.xml"/><Relationship Id="rId1" Type="http://schemas.openxmlformats.org/officeDocument/2006/relationships/hyperlink" Target="mailto:maragonvalderrama@gmail.co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1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2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3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3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  <a:endParaRPr lang="es-ES" dirty="0">
              <a:solidFill>
                <a:schemeClr val="tx1"/>
              </a:solidFill>
            </a:endParaRP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6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6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  <a:endParaRPr lang="es-ES" dirty="0">
              <a:latin typeface="Arial Black" panose="020B0A04020102020204" pitchFamily="34" charset="0"/>
            </a:endParaRP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  <a:endParaRPr lang="es-ES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/>
                <a:gridCol w="2213517"/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  <a:endParaRPr lang="ca-ES" sz="1100" dirty="0"/>
                    </a:p>
                  </a:txBody>
                  <a:tcPr/>
                </a:tc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  <a:endParaRPr lang="ca-ES" sz="1100" dirty="0"/>
                    </a:p>
                  </a:txBody>
                  <a:tcPr/>
                </a:tc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  <a:endParaRPr lang="ca-ES" sz="1100" dirty="0"/>
                    </a:p>
                  </a:txBody>
                  <a:tcPr/>
                </a:tc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  <a:endParaRPr lang="ca-ES" sz="1100" dirty="0"/>
                    </a:p>
                  </a:txBody>
                  <a:tcPr/>
                </a:tc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  <a:endParaRPr lang="ca-ES" sz="1100" dirty="0"/>
                    </a:p>
                  </a:txBody>
                  <a:tcPr/>
                </a:tc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  <a:endParaRPr lang="ca-ES" sz="1100" dirty="0"/>
                    </a:p>
                  </a:txBody>
                  <a:tcPr/>
                </a:tc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  <a:endParaRPr lang="ca-ES" sz="1100" dirty="0"/>
                    </a:p>
                  </a:txBody>
                  <a:tcPr/>
                </a:tc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  <a:endParaRPr lang="ca-ES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/>
                <a:gridCol w="1776421"/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  <a:endParaRPr lang="ca-ES" sz="1100" dirty="0"/>
                    </a:p>
                  </a:txBody>
                  <a:tcPr/>
                </a:tc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  <a:endParaRPr lang="ca-ES" sz="1100" dirty="0"/>
                    </a:p>
                  </a:txBody>
                  <a:tcPr/>
                </a:tc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  <a:endParaRPr lang="ca-ES" sz="1100" dirty="0"/>
                    </a:p>
                  </a:txBody>
                  <a:tcPr/>
                </a:tc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  <a:endParaRPr lang="ca-ES" sz="1100" dirty="0"/>
                    </a:p>
                  </a:txBody>
                  <a:tcPr/>
                </a:tc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  <a:endParaRPr lang="ca-ES" sz="1100" dirty="0"/>
                    </a:p>
                  </a:txBody>
                  <a:tcPr/>
                </a:tc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  <a:endParaRPr lang="ca-ES" sz="1100" dirty="0"/>
                    </a:p>
                  </a:txBody>
                  <a:tcPr/>
                </a:tc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  <a:endParaRPr lang="ca-ES" sz="1100" dirty="0"/>
                    </a:p>
                  </a:txBody>
                  <a:tcPr/>
                </a:tc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  <a:endParaRPr lang="ca-ES" sz="1100" dirty="0"/>
                    </a:p>
                  </a:txBody>
                  <a:tcPr/>
                </a:tc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  <a:endParaRPr lang="ca-ES" sz="11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  <a:endParaRPr lang="es-ES" dirty="0"/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  <a:endParaRPr lang="en-US" altLang="zh-CN" dirty="0">
              <a:sym typeface="+mn-ea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  <a:endParaRPr lang="es-ES" dirty="0"/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  <a:endParaRPr lang="es-ES" dirty="0"/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  <a:endParaRPr lang="es-ES" sz="1600" b="1" dirty="0"/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  <a:endParaRPr lang="en-US" dirty="0"/>
          </a:p>
          <a:p>
            <a:pPr latinLnBrk="1"/>
            <a:r>
              <a:rPr lang="en-US" dirty="0"/>
              <a:t>1  Train2  0.2071429  0.7928571  0.500000          0.5783251      0.8489060 0.5363180</a:t>
            </a:r>
            <a:endParaRPr lang="en-US" dirty="0"/>
          </a:p>
          <a:p>
            <a:pPr latinLnBrk="1"/>
            <a:r>
              <a:rPr lang="en-US" dirty="0"/>
              <a:t>2   Test2  0.2200000  0.7800000  0.473161          0.5471264      0.8408408 0.5074627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  <a:endParaRPr lang="es-ES" dirty="0"/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  <a:endParaRPr lang="en-US" altLang="zh-CN" dirty="0">
              <a:sym typeface="+mn-ea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  <a:endParaRPr lang="es-ES" sz="1600" b="1" dirty="0"/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  <a:endParaRPr lang="es-ES" b="1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  <a:endParaRPr lang="es-ES" dirty="0"/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  <a:endParaRPr lang="en-US" dirty="0"/>
          </a:p>
          <a:p>
            <a:pPr latinLnBrk="1"/>
            <a:r>
              <a:rPr lang="en-US" dirty="0"/>
              <a:t>1  Train2  0.3273469  0.6726531 0.3516373       0.6876847       0.6687259   0.4653333</a:t>
            </a:r>
            <a:endParaRPr lang="en-US" dirty="0"/>
          </a:p>
          <a:p>
            <a:pPr latinLnBrk="1"/>
            <a:r>
              <a:rPr lang="en-US" dirty="0"/>
              <a:t>2   Test2  0.3261905  0.6738095 0.3549884       0.7034483       0.6660661   0.4718581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  <a:endParaRPr lang="es-ES" dirty="0"/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  <a:endParaRPr lang="es-ES" dirty="0"/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  <a:endParaRPr lang="es-ES" dirty="0"/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  <a:endParaRPr lang="en-US" dirty="0"/>
          </a:p>
          <a:p>
            <a:pPr latinLnBrk="1"/>
            <a:r>
              <a:rPr lang="en-US" dirty="0"/>
              <a:t>1  Train2  0.2793878 0.7206122 0.3940120          0.6482759   0.7395109 0.4901304</a:t>
            </a:r>
            <a:endParaRPr lang="en-US" dirty="0"/>
          </a:p>
          <a:p>
            <a:pPr latinLnBrk="1"/>
            <a:r>
              <a:rPr lang="en-US" dirty="0"/>
              <a:t>2   Test2  0.2900000 0.7100000 0.3788301          0.6252874   0.7321321 0.4718127</a:t>
            </a:r>
            <a:endParaRPr lang="en-US" dirty="0"/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629675" y="1456445"/>
            <a:ext cx="7704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minima de 0.5</a:t>
            </a: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  <a:p>
            <a:pPr algn="l" latinLnBrk="1">
              <a:buNone/>
            </a:pPr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no </a:t>
            </a:r>
            <a:r>
              <a:rPr lang="en-US" dirty="0" err="1">
                <a:latin typeface="Lucida Console" panose="020B0609040504020204" pitchFamily="49" charset="0"/>
              </a:rPr>
              <a:t>mejoraban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el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modelo</a:t>
            </a:r>
            <a:r>
              <a:rPr lang="en-US" dirty="0">
                <a:latin typeface="Lucida Console" panose="020B0609040504020204" pitchFamily="49" charset="0"/>
              </a:rPr>
              <a:t> sin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n-US" dirty="0">
                <a:latin typeface="Lucida Console" panose="020B0609040504020204" pitchFamily="49" charset="0"/>
              </a:rPr>
              <a:t>Se </a:t>
            </a:r>
            <a:r>
              <a:rPr lang="en-US" dirty="0" err="1">
                <a:latin typeface="Lucida Console" panose="020B0609040504020204" pitchFamily="49" charset="0"/>
              </a:rPr>
              <a:t>intentó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r>
              <a:rPr lang="en-US" dirty="0">
                <a:latin typeface="Lucida Console" panose="020B0609040504020204" pitchFamily="49" charset="0"/>
              </a:rPr>
              <a:t> las </a:t>
            </a:r>
            <a:r>
              <a:rPr lang="en-US" dirty="0" err="1">
                <a:latin typeface="Lucida Console" panose="020B0609040504020204" pitchFamily="49" charset="0"/>
              </a:rPr>
              <a:t>reglas</a:t>
            </a:r>
            <a:r>
              <a:rPr lang="en-US" dirty="0">
                <a:latin typeface="Lucida Console" panose="020B0609040504020204" pitchFamily="49" charset="0"/>
              </a:rPr>
              <a:t> para Exited=0 con </a:t>
            </a:r>
            <a:r>
              <a:rPr lang="en-US" dirty="0" err="1">
                <a:latin typeface="Lucida Console" panose="020B0609040504020204" pitchFamily="49" charset="0"/>
              </a:rPr>
              <a:t>confianza</a:t>
            </a:r>
            <a:r>
              <a:rPr lang="en-US" dirty="0">
                <a:latin typeface="Lucida Console" panose="020B0609040504020204" pitchFamily="49" charset="0"/>
              </a:rPr>
              <a:t> de 1</a:t>
            </a: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no </a:t>
            </a:r>
            <a:r>
              <a:rPr lang="en-US" dirty="0" err="1">
                <a:latin typeface="Lucida Console" panose="020B0609040504020204" pitchFamily="49" charset="0"/>
              </a:rPr>
              <a:t>mejoraban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el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modelo</a:t>
            </a:r>
            <a:r>
              <a:rPr lang="en-US" dirty="0">
                <a:latin typeface="Lucida Console" panose="020B0609040504020204" pitchFamily="49" charset="0"/>
              </a:rPr>
              <a:t> sin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s-E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a la vez</a:t>
            </a:r>
            <a:endParaRPr lang="es-E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  <a:p>
            <a:pPr latinLnBrk="1"/>
            <a:r>
              <a:rPr lang="es-ES" dirty="0">
                <a:latin typeface="Lucida Console" panose="020B0609040504020204" pitchFamily="49" charset="0"/>
              </a:rPr>
              <a:t>Los resultados no mejoraban el modelo sin forzar</a:t>
            </a:r>
            <a:endParaRPr lang="es-ES" dirty="0"/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  <a:endParaRPr lang="es-ES" dirty="0"/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  <a:endParaRPr lang="es-ES" b="1" dirty="0"/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  <a:endParaRPr lang="es-ES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0</TotalTime>
  <Words>3943</Words>
  <Application>WPS 演示</Application>
  <PresentationFormat>Presentación en pantalla (16:9)</PresentationFormat>
  <Paragraphs>188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宋体</vt:lpstr>
      <vt:lpstr>Wingdings</vt:lpstr>
      <vt:lpstr>Arial</vt:lpstr>
      <vt:lpstr>Poppins</vt:lpstr>
      <vt:lpstr>Didact Gothic</vt:lpstr>
      <vt:lpstr>Libre Franklin</vt:lpstr>
      <vt:lpstr>Arial Black</vt:lpstr>
      <vt:lpstr>Lucida Console</vt:lpstr>
      <vt:lpstr>微软雅黑</vt:lpstr>
      <vt:lpstr>Arial Unicode MS</vt:lpstr>
      <vt:lpstr>Cycle Diagrams Theme for a Business Plan by Slidesgo</vt:lpstr>
      <vt:lpstr>Modelo de clasificación  GRUPO 5</vt:lpstr>
      <vt:lpstr>Árbol de desición</vt:lpstr>
      <vt:lpstr>PowerPoint 演示文稿</vt:lpstr>
      <vt:lpstr>Random Forest  </vt:lpstr>
      <vt:lpstr>XGBoost</vt:lpstr>
      <vt:lpstr>GLM</vt:lpstr>
      <vt:lpstr>SVM</vt:lpstr>
      <vt:lpstr>Asignaciones del AR</vt:lpstr>
      <vt:lpstr>Mejores modelos i métodos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Senri</cp:lastModifiedBy>
  <cp:revision>28</cp:revision>
  <dcterms:created xsi:type="dcterms:W3CDTF">2025-12-15T06:46:00Z</dcterms:created>
  <dcterms:modified xsi:type="dcterms:W3CDTF">2025-12-17T13:41:51Z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