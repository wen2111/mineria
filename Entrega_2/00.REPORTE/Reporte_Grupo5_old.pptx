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85" r:id="rId2"/>
    <p:sldId id="270" r:id="rId3"/>
    <p:sldId id="272" r:id="rId4"/>
    <p:sldId id="275" r:id="rId5"/>
    <p:sldId id="291" r:id="rId6"/>
    <p:sldId id="277" r:id="rId7"/>
    <p:sldId id="278" r:id="rId8"/>
    <p:sldId id="279" r:id="rId9"/>
    <p:sldId id="280" r:id="rId10"/>
    <p:sldId id="281" r:id="rId11"/>
    <p:sldId id="292" r:id="rId12"/>
    <p:sldId id="293" r:id="rId13"/>
    <p:sldId id="299" r:id="rId14"/>
    <p:sldId id="294" r:id="rId15"/>
    <p:sldId id="296" r:id="rId16"/>
    <p:sldId id="300" r:id="rId17"/>
    <p:sldId id="295" r:id="rId18"/>
    <p:sldId id="297" r:id="rId19"/>
    <p:sldId id="298" r:id="rId20"/>
  </p:sldIdLst>
  <p:sldSz cx="9144000" cy="5143500" type="screen16x9"/>
  <p:notesSz cx="6858000" cy="9144000"/>
  <p:embeddedFontLst>
    <p:embeddedFont>
      <p:font typeface="Arial Black" panose="020B0A04020102020204" pitchFamily="34" charset="0"/>
      <p:bold r:id="rId22"/>
    </p:embeddedFont>
    <p:embeddedFont>
      <p:font typeface="Arial Rounded MT Bold" panose="020F0704030504030204" pitchFamily="34" charset="0"/>
      <p:regular r:id="rId23"/>
    </p:embeddedFont>
    <p:embeddedFont>
      <p:font typeface="Libre Franklin"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41C9F-06CD-AC74-6477-F8232BBF759E}" v="2" dt="2025-12-17T13:41:34.32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autoAdjust="0"/>
    <p:restoredTop sz="94668"/>
  </p:normalViewPr>
  <p:slideViewPr>
    <p:cSldViewPr snapToGrid="0">
      <p:cViewPr varScale="1">
        <p:scale>
          <a:sx n="125" d="100"/>
          <a:sy n="125" d="100"/>
        </p:scale>
        <p:origin x="168"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ling G" userId="c2e56b80bdc69756" providerId="Windows Live" clId="Web-{35C41C9F-06CD-AC74-6477-F8232BBF759E}"/>
    <pc:docChg chg="modSld">
      <pc:chgData name="Siling G" userId="c2e56b80bdc69756" providerId="Windows Live" clId="Web-{35C41C9F-06CD-AC74-6477-F8232BBF759E}" dt="2025-12-17T13:41:34.324" v="1" actId="20577"/>
      <pc:docMkLst>
        <pc:docMk/>
      </pc:docMkLst>
      <pc:sldChg chg="modSp">
        <pc:chgData name="Siling G" userId="c2e56b80bdc69756" providerId="Windows Live" clId="Web-{35C41C9F-06CD-AC74-6477-F8232BBF759E}" dt="2025-12-17T13:41:34.324" v="1" actId="20577"/>
        <pc:sldMkLst>
          <pc:docMk/>
          <pc:sldMk cId="0" sldId="285"/>
        </pc:sldMkLst>
        <pc:spChg chg="mod">
          <ac:chgData name="Siling G" userId="c2e56b80bdc69756" providerId="Windows Live" clId="Web-{35C41C9F-06CD-AC74-6477-F8232BBF759E}" dt="2025-12-17T13:41:34.324" v="1" actId="20577"/>
          <ac:spMkLst>
            <pc:docMk/>
            <pc:sldMk cId="0" sldId="285"/>
            <ac:spMk id="4"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1" qsCatId="simple" csTypeId="urn:microsoft.com/office/officeart/2005/8/colors/accent1_2#1"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	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      	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  	Diseño del </a:t>
          </a:r>
          <a:r>
            <a:rPr lang="es-ES" sz="800" dirty="0" err="1"/>
            <a:t>metadata</a:t>
          </a:r>
          <a:r>
            <a:rPr lang="es-ES" sz="800" dirty="0"/>
            <a:t> – Melissa</a:t>
          </a:r>
        </a:p>
        <a:p>
          <a:r>
            <a:rPr lang="es-ES" sz="800" dirty="0"/>
            <a:t>     	EDA– </a:t>
          </a:r>
          <a:r>
            <a:rPr lang="es-ES" sz="800" dirty="0" err="1"/>
            <a:t>Wenjia</a:t>
          </a:r>
          <a:r>
            <a:rPr lang="es-ES" sz="800" dirty="0"/>
            <a:t> y </a:t>
          </a:r>
          <a:r>
            <a:rPr lang="es-ES" sz="800" dirty="0" err="1"/>
            <a:t>Siling</a:t>
          </a:r>
          <a:endParaRPr lang="es-ES" sz="800" dirty="0"/>
        </a:p>
        <a:p>
          <a:r>
            <a:rPr lang="es-ES" sz="800" dirty="0"/>
            <a:t>     	Análisis de </a:t>
          </a:r>
          <a:r>
            <a:rPr lang="es-ES" sz="800" dirty="0" err="1"/>
            <a:t>outliers</a:t>
          </a:r>
          <a:r>
            <a:rPr lang="es-ES" sz="800" dirty="0"/>
            <a:t> (pre-imputación):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 	Data </a:t>
          </a:r>
          <a:r>
            <a:rPr lang="es-ES" sz="800" b="1" dirty="0" err="1">
              <a:solidFill>
                <a:srgbClr val="002060"/>
              </a:solidFill>
            </a:rPr>
            <a:t>preparation</a:t>
          </a:r>
          <a:endParaRPr lang="es-ES" sz="800" b="1" dirty="0">
            <a:solidFill>
              <a:srgbClr val="002060"/>
            </a:solidFill>
          </a:endParaRPr>
        </a:p>
        <a:p>
          <a:r>
            <a:rPr lang="es-ES" sz="800" dirty="0"/>
            <a:t>	Imputación </a:t>
          </a:r>
          <a:r>
            <a:rPr lang="es-ES" sz="800" dirty="0" err="1"/>
            <a:t>missings</a:t>
          </a:r>
          <a:r>
            <a:rPr lang="es-ES" sz="800" dirty="0"/>
            <a:t> – Mario y Laura</a:t>
          </a:r>
        </a:p>
        <a:p>
          <a:r>
            <a:rPr lang="es-ES" sz="800" dirty="0"/>
            <a:t>	</a:t>
          </a:r>
          <a:r>
            <a:rPr lang="es-ES" sz="800" dirty="0" err="1"/>
            <a:t>Tratatamiento</a:t>
          </a:r>
          <a:r>
            <a:rPr lang="es-ES" sz="800" dirty="0"/>
            <a:t> </a:t>
          </a:r>
          <a:r>
            <a:rPr lang="es-ES" sz="800" dirty="0" err="1"/>
            <a:t>Outliers</a:t>
          </a:r>
          <a:r>
            <a:rPr lang="es-ES" sz="800" dirty="0"/>
            <a:t> – Mario, Laura y Melissa</a:t>
          </a:r>
        </a:p>
        <a:p>
          <a:r>
            <a:rPr lang="es-ES" sz="800" dirty="0"/>
            <a:t>	</a:t>
          </a:r>
          <a:r>
            <a:rPr lang="es-ES" sz="800" dirty="0" err="1"/>
            <a:t>Feature</a:t>
          </a:r>
          <a:r>
            <a:rPr lang="es-ES" sz="800" dirty="0"/>
            <a:t> </a:t>
          </a:r>
          <a:r>
            <a:rPr lang="es-ES" sz="800" dirty="0" err="1"/>
            <a:t>Engineering</a:t>
          </a:r>
          <a:r>
            <a:rPr lang="es-ES" sz="800" dirty="0"/>
            <a:t>– </a:t>
          </a:r>
          <a:r>
            <a:rPr lang="es-ES" sz="800" dirty="0" err="1"/>
            <a:t>Wenjia</a:t>
          </a:r>
          <a:r>
            <a:rPr lang="es-ES" sz="800" dirty="0"/>
            <a:t>, Melissa</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            	</a:t>
          </a:r>
          <a:r>
            <a:rPr lang="es-ES" sz="800" b="1" dirty="0" err="1">
              <a:solidFill>
                <a:srgbClr val="002060"/>
              </a:solidFill>
            </a:rPr>
            <a:t>Modeling</a:t>
          </a:r>
          <a:r>
            <a:rPr lang="es-ES" sz="800" b="1" dirty="0">
              <a:solidFill>
                <a:srgbClr val="002060"/>
              </a:solidFill>
            </a:rPr>
            <a:t> &amp; </a:t>
          </a:r>
          <a:r>
            <a:rPr lang="es-ES" sz="800" b="1" dirty="0" err="1">
              <a:solidFill>
                <a:srgbClr val="002060"/>
              </a:solidFill>
            </a:rPr>
            <a:t>Evaluation</a:t>
          </a:r>
          <a:endParaRPr lang="es-ES" sz="800" b="1" dirty="0">
            <a:solidFill>
              <a:srgbClr val="002060"/>
            </a:solidFill>
          </a:endParaRPr>
        </a:p>
        <a:p>
          <a:r>
            <a:rPr lang="es-ES" sz="700" dirty="0"/>
            <a:t>	KNN - </a:t>
          </a:r>
          <a:r>
            <a:rPr lang="es-ES" sz="700" dirty="0" err="1"/>
            <a:t>Siling</a:t>
          </a:r>
          <a:r>
            <a:rPr lang="es-ES" sz="700" dirty="0"/>
            <a:t>, Laura		SVM - Laura, Mario, </a:t>
          </a:r>
          <a:r>
            <a:rPr lang="es-ES" sz="700" dirty="0" err="1"/>
            <a:t>Wenjia</a:t>
          </a:r>
          <a:r>
            <a:rPr lang="es-ES" sz="700" dirty="0"/>
            <a:t>	</a:t>
          </a:r>
        </a:p>
        <a:p>
          <a:r>
            <a:rPr lang="es-ES" sz="700" dirty="0"/>
            <a:t>               </a:t>
          </a:r>
          <a:r>
            <a:rPr lang="es-ES" sz="700" dirty="0" err="1"/>
            <a:t>Naive</a:t>
          </a:r>
          <a:r>
            <a:rPr lang="es-ES" sz="700" dirty="0"/>
            <a:t> Bayes - Melissa, </a:t>
          </a:r>
          <a:r>
            <a:rPr lang="es-ES" sz="700" dirty="0" err="1"/>
            <a:t>Wenjia</a:t>
          </a:r>
          <a:r>
            <a:rPr lang="es-ES" sz="700" dirty="0"/>
            <a:t>	</a:t>
          </a:r>
          <a:r>
            <a:rPr lang="es-ES" sz="700" dirty="0" err="1"/>
            <a:t>XGBoost</a:t>
          </a:r>
          <a:r>
            <a:rPr lang="es-ES" sz="700" dirty="0"/>
            <a:t> - </a:t>
          </a:r>
          <a:r>
            <a:rPr lang="es-ES" sz="700" dirty="0" err="1"/>
            <a:t>Wenjia</a:t>
          </a:r>
          <a:r>
            <a:rPr lang="es-ES" sz="700" dirty="0"/>
            <a:t>, Melissa, </a:t>
          </a:r>
          <a:r>
            <a:rPr lang="es-ES" sz="700" dirty="0" err="1"/>
            <a:t>Siling</a:t>
          </a:r>
          <a:r>
            <a:rPr lang="es-ES" sz="700" dirty="0"/>
            <a:t>, Mario</a:t>
          </a:r>
        </a:p>
        <a:p>
          <a:r>
            <a:rPr lang="es-ES" sz="700" dirty="0"/>
            <a:t>               GLM - </a:t>
          </a:r>
          <a:r>
            <a:rPr lang="es-ES" sz="700" dirty="0" err="1"/>
            <a:t>Wenjia</a:t>
          </a:r>
          <a:r>
            <a:rPr lang="es-ES" sz="700" dirty="0"/>
            <a:t>, Melissa		</a:t>
          </a:r>
          <a:r>
            <a:rPr lang="es-ES" sz="700" dirty="0" err="1"/>
            <a:t>Random</a:t>
          </a:r>
          <a:r>
            <a:rPr lang="es-ES" sz="700" dirty="0"/>
            <a:t> Forest - </a:t>
          </a:r>
          <a:r>
            <a:rPr lang="es-ES" sz="700" dirty="0" err="1"/>
            <a:t>Wenjia</a:t>
          </a:r>
          <a:r>
            <a:rPr lang="es-ES" sz="700" dirty="0"/>
            <a:t>, Melissa, Mario</a:t>
          </a:r>
          <a:endParaRPr lang="es-ES" sz="800" b="1" dirty="0">
            <a:solidFill>
              <a:srgbClr val="002060"/>
            </a:solidFill>
          </a:endParaRP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B9802D42-76B7-4AE8-9963-A689582E6B35}">
      <dgm:prSet phldrT="[Texto]" phldr="0" custT="1"/>
      <dgm:spPr/>
      <dgm:t>
        <a:bodyPr/>
        <a:lstStyle/>
        <a:p>
          <a:r>
            <a:rPr lang="es-ES" sz="800" b="1" dirty="0">
              <a:solidFill>
                <a:srgbClr val="002060"/>
              </a:solidFill>
            </a:rPr>
            <a:t>            	</a:t>
          </a:r>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1"/>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DF5B256E-1BCA-468C-AF06-39814118FCEF}" type="presOf" srcId="{B0A54B65-E829-4553-8B45-B4EBDAF3C233}" destId="{B12AE6C0-B4ED-4A08-98AA-6732B6DC385E}" srcOrd="0" destOrd="0"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712DF1A2-9649-4A26-A0DA-529186D8E53F}" type="presOf" srcId="{D3DB2985-286F-4E1B-A3EF-B67DCD1C08F6}" destId="{9368D843-76C1-42B0-834B-2DA28FCB0771}" srcOrd="0" destOrd="0" presId="urn:microsoft.com/office/officeart/2005/8/layout/vList4"/>
    <dgm:cxn modelId="{A44658AC-B46F-4B08-B962-B06FFFD99B33}" srcId="{E0DBD592-C900-4D5D-A79A-93A58E8DA172}" destId="{B9802D42-76B7-4AE8-9963-A689582E6B35}" srcOrd="4" destOrd="0" parTransId="{5522CECA-745D-4D76-A87A-0DA536D5330D}" sibTransId="{1B62F6DE-B574-43AD-B04F-ABDF9E20E863}"/>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0F9E5-841B-FF4D-9CB5-2F1286FB0B81}" type="doc">
      <dgm:prSet loTypeId="urn:microsoft.com/office/officeart/2005/8/layout/chevron1" loCatId="list" qsTypeId="urn:microsoft.com/office/officeart/2005/8/quickstyle/simple1#2" qsCatId="simple" csTypeId="urn:microsoft.com/office/officeart/2005/8/colors/accent1_2#2" csCatId="accent1" phldr="1"/>
      <dgm:spPr/>
      <dgm:t>
        <a:bodyPr/>
        <a:lstStyle/>
        <a:p>
          <a:endParaRPr lang="en-GB"/>
        </a:p>
      </dgm:t>
    </dgm:pt>
    <dgm:pt modelId="{4B7548F0-E499-254C-9C9F-E02382EEB5E9}">
      <dgm:prSet/>
      <dgm:spPr/>
      <dgm:t>
        <a:bodyPr/>
        <a:lstStyle/>
        <a:p>
          <a:r>
            <a:rPr lang="es-ES" b="1" i="0" dirty="0"/>
            <a:t>9NN</a:t>
          </a:r>
          <a:endParaRPr lang="en-US" dirty="0"/>
        </a:p>
      </dgm:t>
    </dgm:pt>
    <dgm:pt modelId="{C262CEBB-7006-A242-ADD3-B9235EF8735C}" type="parTrans" cxnId="{702EFC95-8543-6E42-8059-09D9E582B607}">
      <dgm:prSet/>
      <dgm:spPr/>
      <dgm:t>
        <a:bodyPr/>
        <a:lstStyle/>
        <a:p>
          <a:endParaRPr lang="en-GB"/>
        </a:p>
      </dgm:t>
    </dgm:pt>
    <dgm:pt modelId="{82304106-D479-C64E-9799-69BDAE43ED77}" type="sibTrans" cxnId="{702EFC95-8543-6E42-8059-09D9E582B607}">
      <dgm:prSet/>
      <dgm:spPr/>
      <dgm:t>
        <a:bodyPr/>
        <a:lstStyle/>
        <a:p>
          <a:endParaRPr lang="en-GB"/>
        </a:p>
      </dgm:t>
    </dgm:pt>
    <dgm:pt modelId="{67E4A056-504D-AF46-98B0-70C35D9DA4E2}" type="pres">
      <dgm:prSet presAssocID="{9DF0F9E5-841B-FF4D-9CB5-2F1286FB0B81}" presName="Name0" presStyleCnt="0">
        <dgm:presLayoutVars>
          <dgm:dir/>
          <dgm:animLvl val="lvl"/>
          <dgm:resizeHandles val="exact"/>
        </dgm:presLayoutVars>
      </dgm:prSet>
      <dgm:spPr/>
    </dgm:pt>
    <dgm:pt modelId="{73A4D826-B1A8-D24F-BF3E-D0DBA84542CC}" type="pres">
      <dgm:prSet presAssocID="{4B7548F0-E499-254C-9C9F-E02382EEB5E9}" presName="parTxOnly" presStyleLbl="node1" presStyleIdx="0" presStyleCnt="1" custScaleY="100359" custLinFactY="20531" custLinFactNeighborX="-24777" custLinFactNeighborY="100000">
        <dgm:presLayoutVars>
          <dgm:chMax val="0"/>
          <dgm:chPref val="0"/>
          <dgm:bulletEnabled val="1"/>
        </dgm:presLayoutVars>
      </dgm:prSet>
      <dgm:spPr/>
    </dgm:pt>
  </dgm:ptLst>
  <dgm:cxnLst>
    <dgm:cxn modelId="{1002DE02-5ED3-4342-BDE1-FA3F312D68AD}" type="presOf" srcId="{4B7548F0-E499-254C-9C9F-E02382EEB5E9}" destId="{73A4D826-B1A8-D24F-BF3E-D0DBA84542CC}" srcOrd="0" destOrd="0" presId="urn:microsoft.com/office/officeart/2005/8/layout/chevron1"/>
    <dgm:cxn modelId="{F9CE3E5F-7A8A-9343-B18D-8C94EFA95159}" type="presOf" srcId="{9DF0F9E5-841B-FF4D-9CB5-2F1286FB0B81}" destId="{67E4A056-504D-AF46-98B0-70C35D9DA4E2}" srcOrd="0" destOrd="0" presId="urn:microsoft.com/office/officeart/2005/8/layout/chevron1"/>
    <dgm:cxn modelId="{702EFC95-8543-6E42-8059-09D9E582B607}" srcId="{9DF0F9E5-841B-FF4D-9CB5-2F1286FB0B81}" destId="{4B7548F0-E499-254C-9C9F-E02382EEB5E9}" srcOrd="0" destOrd="0" parTransId="{C262CEBB-7006-A242-ADD3-B9235EF8735C}" sibTransId="{82304106-D479-C64E-9799-69BDAE43ED77}"/>
    <dgm:cxn modelId="{69D04B74-A752-5042-9CF7-6117575B75E6}" type="presParOf" srcId="{67E4A056-504D-AF46-98B0-70C35D9DA4E2}" destId="{73A4D826-B1A8-D24F-BF3E-D0DBA84542CC}" srcOrd="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A8F40A-6895-D54A-891B-0666CD46C550}" type="doc">
      <dgm:prSet loTypeId="urn:microsoft.com/office/officeart/2005/8/layout/lProcess3#1" loCatId="process" qsTypeId="urn:microsoft.com/office/officeart/2005/8/quickstyle/simple1#3" qsCatId="simple" csTypeId="urn:microsoft.com/office/officeart/2005/8/colors/accent1_2#3" csCatId="accent1" phldr="1"/>
      <dgm:spPr/>
      <dgm:t>
        <a:bodyPr/>
        <a:lstStyle/>
        <a:p>
          <a:endParaRPr lang="en-GB"/>
        </a:p>
      </dgm:t>
    </dgm:pt>
    <dgm:pt modelId="{C1C1743D-B186-F748-A62C-FD5A8898EAD1}">
      <dgm:prSet/>
      <dgm:spPr/>
      <dgm:t>
        <a:bodyPr/>
        <a:lstStyle/>
        <a:p>
          <a:r>
            <a:rPr lang="es-ES" b="1" i="0" dirty="0" err="1"/>
            <a:t>Naive</a:t>
          </a:r>
          <a:r>
            <a:rPr lang="es-ES" b="1" i="0" dirty="0"/>
            <a:t> Bayes</a:t>
          </a:r>
          <a:endParaRPr lang="en-US" dirty="0"/>
        </a:p>
      </dgm:t>
    </dgm:pt>
    <dgm:pt modelId="{BFDED490-0320-3A44-AD14-229EFAEF53D6}" type="parTrans" cxnId="{67CFEEEF-B575-2949-97D0-9FE1107E538B}">
      <dgm:prSet/>
      <dgm:spPr/>
      <dgm:t>
        <a:bodyPr/>
        <a:lstStyle/>
        <a:p>
          <a:endParaRPr lang="en-GB"/>
        </a:p>
      </dgm:t>
    </dgm:pt>
    <dgm:pt modelId="{4D310E4D-EC3C-4D47-A9BB-A0B136EAB064}" type="sibTrans" cxnId="{67CFEEEF-B575-2949-97D0-9FE1107E538B}">
      <dgm:prSet/>
      <dgm:spPr/>
      <dgm:t>
        <a:bodyPr/>
        <a:lstStyle/>
        <a:p>
          <a:endParaRPr lang="en-GB"/>
        </a:p>
      </dgm:t>
    </dgm:pt>
    <dgm:pt modelId="{801AE17F-C31F-CA43-BC84-69CE827808FD}" type="pres">
      <dgm:prSet presAssocID="{06A8F40A-6895-D54A-891B-0666CD46C550}" presName="Name0" presStyleCnt="0">
        <dgm:presLayoutVars>
          <dgm:chPref val="3"/>
          <dgm:dir/>
          <dgm:animLvl val="lvl"/>
          <dgm:resizeHandles/>
        </dgm:presLayoutVars>
      </dgm:prSet>
      <dgm:spPr/>
    </dgm:pt>
    <dgm:pt modelId="{06EE72E4-7873-9447-9BF1-5DC88BD79E5B}" type="pres">
      <dgm:prSet presAssocID="{C1C1743D-B186-F748-A62C-FD5A8898EAD1}" presName="horFlow" presStyleCnt="0"/>
      <dgm:spPr/>
    </dgm:pt>
    <dgm:pt modelId="{259A7068-6F6F-9B4D-894D-518C62EBCA00}" type="pres">
      <dgm:prSet presAssocID="{C1C1743D-B186-F748-A62C-FD5A8898EAD1}" presName="bigChev" presStyleLbl="node1" presStyleIdx="0" presStyleCnt="1" custAng="0" custScaleX="137387" custLinFactNeighborX="23488" custLinFactNeighborY="44"/>
      <dgm:spPr/>
    </dgm:pt>
  </dgm:ptLst>
  <dgm:cxnLst>
    <dgm:cxn modelId="{5CCA5F2A-4954-FF43-8687-2DC8E689D82F}" type="presOf" srcId="{06A8F40A-6895-D54A-891B-0666CD46C550}" destId="{801AE17F-C31F-CA43-BC84-69CE827808FD}" srcOrd="0" destOrd="0" presId="urn:microsoft.com/office/officeart/2005/8/layout/lProcess3#1"/>
    <dgm:cxn modelId="{556D64A5-CEA6-3040-B2B1-568B85FB8AA7}" type="presOf" srcId="{C1C1743D-B186-F748-A62C-FD5A8898EAD1}" destId="{259A7068-6F6F-9B4D-894D-518C62EBCA00}" srcOrd="0" destOrd="0" presId="urn:microsoft.com/office/officeart/2005/8/layout/lProcess3#1"/>
    <dgm:cxn modelId="{67CFEEEF-B575-2949-97D0-9FE1107E538B}" srcId="{06A8F40A-6895-D54A-891B-0666CD46C550}" destId="{C1C1743D-B186-F748-A62C-FD5A8898EAD1}" srcOrd="0" destOrd="0" parTransId="{BFDED490-0320-3A44-AD14-229EFAEF53D6}" sibTransId="{4D310E4D-EC3C-4D47-A9BB-A0B136EAB064}"/>
    <dgm:cxn modelId="{FB2D6210-190A-204E-B71F-517859FDEE68}" type="presParOf" srcId="{801AE17F-C31F-CA43-BC84-69CE827808FD}" destId="{06EE72E4-7873-9447-9BF1-5DC88BD79E5B}" srcOrd="0" destOrd="0" presId="urn:microsoft.com/office/officeart/2005/8/layout/lProcess3#1"/>
    <dgm:cxn modelId="{FB235A8D-837A-A841-8A54-20EA48662ADC}" type="presParOf" srcId="{06EE72E4-7873-9447-9BF1-5DC88BD79E5B}" destId="{259A7068-6F6F-9B4D-894D-518C62EBCA00}" srcOrd="0" destOrd="0" presId="urn:microsoft.com/office/officeart/2005/8/layout/lProcess3#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bwMode="white">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	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bwMode="white">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  	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     	EDA–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     	Análisis de </a:t>
          </a:r>
          <a:r>
            <a:rPr lang="es-ES" sz="800" kern="1200" dirty="0" err="1"/>
            <a:t>outliers</a:t>
          </a:r>
          <a:r>
            <a:rPr lang="es-ES" sz="800" kern="1200" dirty="0"/>
            <a:t> (pre-imputación):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5"/>
          <a:ext cx="1002612" cy="666584"/>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bwMode="white">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	Imputación </a:t>
          </a:r>
          <a:r>
            <a:rPr lang="es-ES" sz="800" kern="1200" dirty="0" err="1"/>
            <a:t>missings</a:t>
          </a:r>
          <a:r>
            <a:rPr lang="es-ES" sz="800" kern="1200" dirty="0"/>
            <a:t> – Mario y Laura</a:t>
          </a:r>
        </a:p>
        <a:p>
          <a:pPr marL="0" lvl="0" indent="0" algn="l" defTabSz="355600">
            <a:lnSpc>
              <a:spcPct val="90000"/>
            </a:lnSpc>
            <a:spcBef>
              <a:spcPct val="0"/>
            </a:spcBef>
            <a:spcAft>
              <a:spcPct val="35000"/>
            </a:spcAft>
            <a:buNone/>
          </a:pPr>
          <a:r>
            <a:rPr lang="es-ES" sz="800" kern="1200" dirty="0"/>
            <a:t>	</a:t>
          </a:r>
          <a:r>
            <a:rPr lang="es-ES" sz="800" kern="1200" dirty="0" err="1"/>
            <a:t>Tratatamiento</a:t>
          </a:r>
          <a:r>
            <a:rPr lang="es-ES" sz="800" kern="1200" dirty="0"/>
            <a:t> </a:t>
          </a:r>
          <a:r>
            <a:rPr lang="es-ES" sz="800" kern="1200" dirty="0" err="1"/>
            <a:t>Outliers</a:t>
          </a:r>
          <a:r>
            <a:rPr lang="es-ES" sz="800" kern="1200" dirty="0"/>
            <a:t> – Mario, Laura y Melissa</a:t>
          </a:r>
        </a:p>
        <a:p>
          <a:pPr marL="0" lvl="0" indent="0" algn="l" defTabSz="355600">
            <a:lnSpc>
              <a:spcPct val="90000"/>
            </a:lnSpc>
            <a:spcBef>
              <a:spcPct val="0"/>
            </a:spcBef>
            <a:spcAft>
              <a:spcPct val="35000"/>
            </a:spcAft>
            <a:buNone/>
          </a:pPr>
          <a:r>
            <a:rPr lang="es-ES" sz="800" kern="1200" dirty="0"/>
            <a:t>	</a:t>
          </a:r>
          <a:r>
            <a:rPr lang="es-ES" sz="800" kern="1200" dirty="0" err="1"/>
            <a:t>Feature</a:t>
          </a:r>
          <a:r>
            <a:rPr lang="es-ES" sz="800" kern="1200" dirty="0"/>
            <a:t> </a:t>
          </a:r>
          <a:r>
            <a:rPr lang="es-ES" sz="800" kern="1200" dirty="0" err="1"/>
            <a:t>Engineering</a:t>
          </a:r>
          <a:r>
            <a:rPr lang="es-ES" sz="800" kern="1200" dirty="0"/>
            <a:t>– </a:t>
          </a:r>
          <a:r>
            <a:rPr lang="es-ES" sz="800" kern="1200" dirty="0" err="1"/>
            <a:t>Wenjia</a:t>
          </a:r>
          <a:r>
            <a:rPr lang="es-ES" sz="800" kern="1200" dirty="0"/>
            <a:t>, Melissa</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bwMode="white">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Modeling</a:t>
          </a:r>
          <a:r>
            <a:rPr lang="es-ES" sz="800" b="1" kern="1200" dirty="0">
              <a:solidFill>
                <a:srgbClr val="002060"/>
              </a:solidFill>
            </a:rPr>
            <a:t> &amp; </a:t>
          </a:r>
          <a:r>
            <a:rPr lang="es-ES" sz="800" b="1" kern="1200" dirty="0" err="1">
              <a:solidFill>
                <a:srgbClr val="002060"/>
              </a:solidFill>
            </a:rPr>
            <a:t>Evaluation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700" kern="1200" dirty="0"/>
            <a:t>	KNN - </a:t>
          </a:r>
          <a:r>
            <a:rPr lang="es-ES" sz="700" kern="1200" dirty="0" err="1"/>
            <a:t>Siling</a:t>
          </a:r>
          <a:r>
            <a:rPr lang="es-ES" sz="700" kern="1200" dirty="0"/>
            <a:t>, Laura		SVM - Laura, Mario, </a:t>
          </a:r>
          <a:r>
            <a:rPr lang="es-ES" sz="700" kern="1200" dirty="0" err="1"/>
            <a:t>Wenjia</a:t>
          </a:r>
          <a:r>
            <a:rPr lang="es-ES" sz="700" kern="1200" dirty="0"/>
            <a:t>	</a:t>
          </a:r>
        </a:p>
        <a:p>
          <a:pPr marL="0" lvl="0" indent="0" algn="l" defTabSz="355600">
            <a:lnSpc>
              <a:spcPct val="90000"/>
            </a:lnSpc>
            <a:spcBef>
              <a:spcPct val="0"/>
            </a:spcBef>
            <a:spcAft>
              <a:spcPct val="35000"/>
            </a:spcAft>
            <a:buNone/>
          </a:pPr>
          <a:r>
            <a:rPr lang="es-ES" sz="700" kern="1200" dirty="0"/>
            <a:t>               </a:t>
          </a:r>
          <a:r>
            <a:rPr lang="es-ES" sz="700" kern="1200" dirty="0" err="1"/>
            <a:t>Naive</a:t>
          </a:r>
          <a:r>
            <a:rPr lang="es-ES" sz="700" kern="1200" dirty="0"/>
            <a:t> Bayes - Melissa, </a:t>
          </a:r>
          <a:r>
            <a:rPr lang="es-ES" sz="700" kern="1200" dirty="0" err="1"/>
            <a:t>Wenjia</a:t>
          </a:r>
          <a:r>
            <a:rPr lang="es-ES" sz="700" kern="1200" dirty="0"/>
            <a:t>	</a:t>
          </a:r>
          <a:r>
            <a:rPr lang="es-ES" sz="700" kern="1200" dirty="0" err="1"/>
            <a:t>XGBoost</a:t>
          </a:r>
          <a:r>
            <a:rPr lang="es-ES" sz="700" kern="1200" dirty="0"/>
            <a:t> - </a:t>
          </a:r>
          <a:r>
            <a:rPr lang="es-ES" sz="700" kern="1200" dirty="0" err="1"/>
            <a:t>Wenjia</a:t>
          </a:r>
          <a:r>
            <a:rPr lang="es-ES" sz="700" kern="1200" dirty="0"/>
            <a:t>, Melissa, </a:t>
          </a:r>
          <a:r>
            <a:rPr lang="es-ES" sz="700" kern="1200" dirty="0" err="1"/>
            <a:t>Siling</a:t>
          </a:r>
          <a:r>
            <a:rPr lang="es-ES" sz="700" kern="1200" dirty="0"/>
            <a:t>, Mario</a:t>
          </a:r>
        </a:p>
        <a:p>
          <a:pPr marL="0" lvl="0" indent="0" algn="l" defTabSz="355600">
            <a:lnSpc>
              <a:spcPct val="90000"/>
            </a:lnSpc>
            <a:spcBef>
              <a:spcPct val="0"/>
            </a:spcBef>
            <a:spcAft>
              <a:spcPct val="35000"/>
            </a:spcAft>
            <a:buNone/>
          </a:pPr>
          <a:r>
            <a:rPr lang="es-ES" sz="700" kern="1200" dirty="0"/>
            <a:t>               GLM - </a:t>
          </a:r>
          <a:r>
            <a:rPr lang="es-ES" sz="700" kern="1200" dirty="0" err="1"/>
            <a:t>Wenjia</a:t>
          </a:r>
          <a:r>
            <a:rPr lang="es-ES" sz="700" kern="1200" dirty="0"/>
            <a:t>, Melissa		</a:t>
          </a:r>
          <a:r>
            <a:rPr lang="es-ES" sz="700" kern="1200" dirty="0" err="1"/>
            <a:t>Random</a:t>
          </a:r>
          <a:r>
            <a:rPr lang="es-ES" sz="700" kern="1200" dirty="0"/>
            <a:t> Forest - </a:t>
          </a:r>
          <a:r>
            <a:rPr lang="es-ES" sz="700" kern="1200" dirty="0" err="1"/>
            <a:t>Wenjia</a:t>
          </a:r>
          <a:r>
            <a:rPr lang="es-ES" sz="700" kern="1200" dirty="0"/>
            <a:t>, Melissa, Mario</a:t>
          </a:r>
          <a:endParaRPr lang="es-ES" sz="800" b="1" kern="1200" dirty="0">
            <a:solidFill>
              <a:srgbClr val="002060"/>
            </a:solidFill>
          </a:endParaRP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bwMode="white">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4D826-B1A8-D24F-BF3E-D0DBA84542CC}">
      <dsp:nvSpPr>
        <dsp:cNvPr id="0" name=""/>
        <dsp:cNvSpPr/>
      </dsp:nvSpPr>
      <dsp:spPr bwMode="white">
        <a:xfrm>
          <a:off x="0" y="0"/>
          <a:ext cx="1615465" cy="5727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s-ES" sz="3100" b="1" i="0" kern="1200" dirty="0"/>
            <a:t>9NN</a:t>
          </a:r>
          <a:endParaRPr lang="en-US" sz="3100" kern="1200" dirty="0"/>
        </a:p>
      </dsp:txBody>
      <dsp:txXfrm>
        <a:off x="286350" y="0"/>
        <a:ext cx="1042765" cy="57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A7068-6F6F-9B4D-894D-518C62EBCA00}">
      <dsp:nvSpPr>
        <dsp:cNvPr id="0" name=""/>
        <dsp:cNvSpPr/>
      </dsp:nvSpPr>
      <dsp:spPr bwMode="white">
        <a:xfrm>
          <a:off x="626215" y="327"/>
          <a:ext cx="1822240" cy="53054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s-ES" sz="1900" b="1" i="0" kern="1200" dirty="0" err="1"/>
            <a:t>Naive</a:t>
          </a:r>
          <a:r>
            <a:rPr lang="es-ES" sz="1900" b="1" i="0" kern="1200" dirty="0"/>
            <a:t> Bayes</a:t>
          </a:r>
          <a:endParaRPr lang="en-US" sz="1900" kern="1200" dirty="0"/>
        </a:p>
      </dsp:txBody>
      <dsp:txXfrm>
        <a:off x="891486" y="327"/>
        <a:ext cx="1291698" cy="53054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1">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nodeVertAlign" val="t"/>
          <dgm:param type="vertAlign" val="mid"/>
          <dgm:param type="nodeHorzAlign" val="l"/>
          <dgm:param type="fallback" val="2D"/>
        </dgm:alg>
      </dgm:if>
      <dgm:else name="Name3">
        <dgm:alg type="lin">
          <dgm:param type="linDir" val="fromT"/>
          <dgm:param type="nodeVertAlign" val="t"/>
          <dgm:param type="vertAlign" val="mid"/>
          <dgm:param type="nodeHorzAlign" val="r"/>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VertAlign" val="mid"/>
              <dgm:param type="nodeHorzAlign" val="l"/>
              <dgm:param type="fallback" val="2D"/>
            </dgm:alg>
          </dgm:if>
          <dgm:else name="Name7">
            <dgm:alg type="lin">
              <dgm:param type="linDir" val="fromR"/>
              <dgm:param type="nodeVertAlign" val="mid"/>
              <dgm:param type="nodeHorzAlign" val="r"/>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Comentar que no había duplicados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1pPr>
            <a:lvl2pPr lvl="1"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2pPr>
            <a:lvl3pPr lvl="2"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3pPr>
            <a:lvl4pPr lvl="3"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4pPr>
            <a:lvl5pPr lvl="4"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5pPr>
            <a:lvl6pPr lvl="5"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6pPr>
            <a:lvl7pPr lvl="6"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7pPr>
            <a:lvl8pPr lvl="7"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8pPr>
            <a:lvl9pPr lvl="8"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wen2111/Mineria.git" TargetMode="External"/><Relationship Id="rId3" Type="http://schemas.openxmlformats.org/officeDocument/2006/relationships/hyperlink" Target="mailto:maragonvalderrama@gmail.com" TargetMode="External"/><Relationship Id="rId7" Type="http://schemas.openxmlformats.org/officeDocument/2006/relationships/hyperlink" Target="mailto:wenjia.ye@estudiantat.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elissa.Vargas@estudiantat.upc.edu" TargetMode="External"/><Relationship Id="rId5" Type="http://schemas.openxmlformats.org/officeDocument/2006/relationships/hyperlink" Target="mailto:siling.guo@estudiantat.ub.edu" TargetMode="External"/><Relationship Id="rId10" Type="http://schemas.openxmlformats.org/officeDocument/2006/relationships/image" Target="../media/image2.png"/><Relationship Id="rId4" Type="http://schemas.openxmlformats.org/officeDocument/2006/relationships/hyperlink" Target="mailto:laura.Belmonte@estudiantat.upc.edu"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hyperlink" Target="https://github.com/wen2111/Mineria" TargetMode="Externa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p:cNvSpPr txBox="1"/>
          <p:nvPr/>
        </p:nvSpPr>
        <p:spPr>
          <a:xfrm>
            <a:off x="817580" y="203462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panose="00000500000000000000"/>
              <a:buNone/>
              <a:defRPr sz="16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marR="0" lvl="1"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marR="0" lvl="2"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marR="0" lvl="3"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marR="0" lvl="4"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marR="0" lvl="5"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marR="0" lvl="6"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marR="0" lvl="7"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marR="0" lvl="8"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r>
              <a:rPr lang="es-ES" dirty="0">
                <a:solidFill>
                  <a:schemeClr val="tx1"/>
                </a:solidFill>
              </a:rPr>
              <a:t>- Mario Aragón (</a:t>
            </a:r>
            <a:r>
              <a:rPr lang="es-ES" dirty="0">
                <a:solidFill>
                  <a:schemeClr val="tx1"/>
                </a:solidFill>
                <a:hlinkClick r:id="rId3"/>
              </a:rPr>
              <a:t>maragonvalderrama@gmail.com</a:t>
            </a:r>
            <a:r>
              <a:rPr lang="es-ES" dirty="0">
                <a:solidFill>
                  <a:schemeClr val="tx1"/>
                </a:solidFill>
              </a:rPr>
              <a:t>), (G05 </a:t>
            </a:r>
            <a:r>
              <a:rPr lang="es-ES" dirty="0" err="1">
                <a:solidFill>
                  <a:schemeClr val="tx1"/>
                </a:solidFill>
              </a:rPr>
              <a:t>mariovalde</a:t>
            </a:r>
            <a:r>
              <a:rPr lang="es-ES" dirty="0">
                <a:solidFill>
                  <a:schemeClr val="tx1"/>
                </a:solidFill>
              </a:rPr>
              <a:t>)</a:t>
            </a:r>
          </a:p>
          <a:p>
            <a:r>
              <a:rPr lang="es-ES" dirty="0">
                <a:solidFill>
                  <a:schemeClr val="tx1"/>
                </a:solidFill>
              </a:rPr>
              <a:t>- Laura Belmonte (</a:t>
            </a:r>
            <a:r>
              <a:rPr lang="es-ES" dirty="0">
                <a:solidFill>
                  <a:schemeClr val="tx1"/>
                </a:solidFill>
                <a:hlinkClick r:id="rId4"/>
              </a:rPr>
              <a:t>laura.Belmonte@estudiantat.upc.edu</a:t>
            </a:r>
            <a:r>
              <a:rPr lang="es-ES" dirty="0">
                <a:solidFill>
                  <a:schemeClr val="tx1"/>
                </a:solidFill>
              </a:rPr>
              <a:t>), (G05, </a:t>
            </a:r>
            <a:r>
              <a:rPr lang="es-ES" dirty="0" err="1">
                <a:solidFill>
                  <a:schemeClr val="tx1"/>
                </a:solidFill>
              </a:rPr>
              <a:t>laurabelvel</a:t>
            </a:r>
            <a:r>
              <a:rPr lang="es-ES" dirty="0">
                <a:solidFill>
                  <a:schemeClr val="tx1"/>
                </a:solidFill>
              </a:rPr>
              <a:t>)</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a:solidFill>
                  <a:schemeClr val="tx1"/>
                </a:solidFill>
              </a:rPr>
              <a:t> (</a:t>
            </a:r>
            <a:r>
              <a:rPr lang="es-ES">
                <a:solidFill>
                  <a:schemeClr val="tx1"/>
                </a:solidFill>
                <a:hlinkClick r:id="rId5">
                  <a:extLst>
                    <a:ext uri="{A12FA001-AC4F-418D-AE19-62706E023703}">
                      <ahyp:hlinkClr xmlns:ahyp="http://schemas.microsoft.com/office/drawing/2018/hyperlinkcolor" val="tx"/>
                    </a:ext>
                  </a:extLst>
                </a:hlinkClick>
              </a:rPr>
              <a:t>siling.guo@estudiantat.upc.edu</a:t>
            </a:r>
            <a:r>
              <a:rPr lang="es-ES">
                <a:solidFill>
                  <a:schemeClr val="tx1"/>
                </a:solidFill>
              </a:rPr>
              <a:t>), (G05, </a:t>
            </a:r>
            <a:r>
              <a:rPr lang="es-ES" dirty="0" err="1">
                <a:solidFill>
                  <a:schemeClr val="tx1"/>
                </a:solidFill>
              </a:rPr>
              <a:t>silinguo</a:t>
            </a:r>
            <a:r>
              <a:rPr lang="es-ES" dirty="0">
                <a:solidFill>
                  <a:schemeClr val="tx1"/>
                </a:solidFill>
              </a:rPr>
              <a:t>)</a:t>
            </a:r>
          </a:p>
          <a:p>
            <a:r>
              <a:rPr lang="es-ES" dirty="0">
                <a:solidFill>
                  <a:schemeClr val="tx1"/>
                </a:solidFill>
              </a:rPr>
              <a:t>- Melissa Vargas (</a:t>
            </a:r>
            <a:r>
              <a:rPr lang="es-ES" dirty="0">
                <a:solidFill>
                  <a:schemeClr val="tx1"/>
                </a:solidFill>
                <a:hlinkClick r:id="rId6"/>
              </a:rPr>
              <a:t>melissa.Vargas@estudiantat.upc.edu</a:t>
            </a:r>
            <a:r>
              <a:rPr lang="es-ES" dirty="0">
                <a:solidFill>
                  <a:schemeClr val="tx1"/>
                </a:solidFill>
              </a:rPr>
              <a:t>), (G05, </a:t>
            </a:r>
            <a:r>
              <a:rPr lang="es-ES" dirty="0" err="1">
                <a:solidFill>
                  <a:schemeClr val="tx1"/>
                </a:solidFill>
              </a:rPr>
              <a:t>matildasanchez</a:t>
            </a:r>
            <a:r>
              <a:rPr lang="es-ES" dirty="0">
                <a:solidFill>
                  <a:schemeClr val="tx1"/>
                </a:solidFill>
              </a:rPr>
              <a:t>)</a:t>
            </a:r>
          </a:p>
          <a:p>
            <a:r>
              <a:rPr lang="es-ES" dirty="0">
                <a:solidFill>
                  <a:schemeClr val="tx1"/>
                </a:solidFill>
              </a:rPr>
              <a:t>- </a:t>
            </a:r>
            <a:r>
              <a:rPr lang="es-ES" dirty="0" err="1">
                <a:solidFill>
                  <a:schemeClr val="tx1"/>
                </a:solidFill>
              </a:rPr>
              <a:t>Wenjia</a:t>
            </a:r>
            <a:r>
              <a:rPr lang="es-ES" dirty="0">
                <a:solidFill>
                  <a:schemeClr val="tx1"/>
                </a:solidFill>
              </a:rPr>
              <a:t> Ye (</a:t>
            </a:r>
            <a:r>
              <a:rPr lang="es-ES" dirty="0">
                <a:solidFill>
                  <a:schemeClr val="tx1"/>
                </a:solidFill>
                <a:hlinkClick r:id="rId7"/>
              </a:rPr>
              <a:t>wenjia.ye@estudiantat.upc.edu</a:t>
            </a:r>
            <a:r>
              <a:rPr lang="es-ES" dirty="0">
                <a:solidFill>
                  <a:schemeClr val="tx1"/>
                </a:solidFill>
              </a:rPr>
              <a:t>), (G05, wenjiaye03)</a:t>
            </a:r>
          </a:p>
          <a:p>
            <a:pPr marL="342900" indent="-342900">
              <a:buFontTx/>
              <a:buChar char="-"/>
            </a:pPr>
            <a:endParaRPr lang="es-ES" dirty="0">
              <a:solidFill>
                <a:schemeClr val="tx1"/>
              </a:solidFill>
            </a:endParaRPr>
          </a:p>
          <a:p>
            <a:r>
              <a:rPr lang="es-ES" dirty="0">
                <a:solidFill>
                  <a:schemeClr val="tx1"/>
                </a:solidFill>
                <a:highlight>
                  <a:srgbClr val="C0C0C0"/>
                </a:highlight>
                <a:hlinkClick r:id="rId8"/>
              </a:rPr>
              <a:t>Enlace </a:t>
            </a:r>
            <a:r>
              <a:rPr lang="es-ES" dirty="0" err="1">
                <a:solidFill>
                  <a:schemeClr val="tx1"/>
                </a:solidFill>
                <a:highlight>
                  <a:srgbClr val="C0C0C0"/>
                </a:highlight>
                <a:hlinkClick r:id="rId8"/>
              </a:rPr>
              <a:t>Github</a:t>
            </a:r>
            <a:endParaRPr lang="es-ES" dirty="0">
              <a:solidFill>
                <a:schemeClr val="tx1"/>
              </a:solidFill>
              <a:highlight>
                <a:srgbClr val="C0C0C0"/>
              </a:highlight>
            </a:endParaRPr>
          </a:p>
          <a:p>
            <a:endParaRPr lang="es-ES" dirty="0">
              <a:solidFill>
                <a:schemeClr val="tx1"/>
              </a:solidFill>
            </a:endParaRPr>
          </a:p>
        </p:txBody>
      </p:sp>
      <p:pic>
        <p:nvPicPr>
          <p:cNvPr id="5"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85" y="3919863"/>
            <a:ext cx="2794142" cy="8405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p:cNvSpPr txBox="1"/>
          <p:nvPr/>
        </p:nvSpPr>
        <p:spPr>
          <a:xfrm>
            <a:off x="5924585" y="92108"/>
            <a:ext cx="2254050" cy="307777"/>
          </a:xfrm>
          <a:prstGeom prst="rect">
            <a:avLst/>
          </a:prstGeom>
          <a:noFill/>
        </p:spPr>
        <p:txBody>
          <a:bodyPr wrap="square" rtlCol="0">
            <a:spAutoFit/>
          </a:bodyPr>
          <a:lstStyle/>
          <a:p>
            <a:r>
              <a:rPr lang="es-ES" dirty="0">
                <a:latin typeface="Arial Black" panose="020B0A04020102020204" pitchFamily="34" charset="0"/>
              </a:rPr>
              <a:t>Grado en Estadística</a:t>
            </a:r>
          </a:p>
        </p:txBody>
      </p:sp>
      <p:pic>
        <p:nvPicPr>
          <p:cNvPr id="3" name="Picture 2" descr="Blue text on a white background&#10;&#10;Description automatically generated"/>
          <p:cNvPicPr>
            <a:picLocks noChangeAspect="1"/>
          </p:cNvPicPr>
          <p:nvPr/>
        </p:nvPicPr>
        <p:blipFill>
          <a:blip r:embed="rId10"/>
          <a:stretch>
            <a:fillRect/>
          </a:stretch>
        </p:blipFill>
        <p:spPr>
          <a:xfrm>
            <a:off x="1189265" y="3988006"/>
            <a:ext cx="2603500" cy="781050"/>
          </a:xfrm>
          <a:prstGeom prst="rect">
            <a:avLst/>
          </a:prstGeom>
        </p:spPr>
      </p:pic>
      <p:sp>
        <p:nvSpPr>
          <p:cNvPr id="7" name="CuadroTexto 5"/>
          <p:cNvSpPr txBox="1"/>
          <p:nvPr/>
        </p:nvSpPr>
        <p:spPr>
          <a:xfrm>
            <a:off x="874163" y="92109"/>
            <a:ext cx="2254050" cy="307777"/>
          </a:xfrm>
          <a:prstGeom prst="rect">
            <a:avLst/>
          </a:prstGeom>
          <a:noFill/>
        </p:spPr>
        <p:txBody>
          <a:bodyPr wrap="square" rtlCol="0">
            <a:spAutoFit/>
          </a:bodyPr>
          <a:lstStyle/>
          <a:p>
            <a:r>
              <a:rPr lang="es-ES" dirty="0">
                <a:latin typeface="Arial Black" panose="020B0A04020102020204" pitchFamily="34" charset="0"/>
              </a:rPr>
              <a:t>Minería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003002" y="25989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4348510"/>
              </p:ext>
            </p:extLst>
          </p:nvPr>
        </p:nvGraphicFramePr>
        <p:xfrm>
          <a:off x="170035" y="914400"/>
          <a:ext cx="7318978" cy="3682224"/>
        </p:xfrm>
        <a:graphic>
          <a:graphicData uri="http://schemas.openxmlformats.org/drawingml/2006/table">
            <a:tbl>
              <a:tblPr firstRow="1" bandRow="1">
                <a:tableStyleId>{5C22544A-7EE6-4342-B048-85BDC9FD1C3A}</a:tableStyleId>
              </a:tblPr>
              <a:tblGrid>
                <a:gridCol w="2172643">
                  <a:extLst>
                    <a:ext uri="{9D8B030D-6E8A-4147-A177-3AD203B41FA5}">
                      <a16:colId xmlns:a16="http://schemas.microsoft.com/office/drawing/2014/main" val="20000"/>
                    </a:ext>
                  </a:extLst>
                </a:gridCol>
                <a:gridCol w="5146335">
                  <a:extLst>
                    <a:ext uri="{9D8B030D-6E8A-4147-A177-3AD203B41FA5}">
                      <a16:colId xmlns:a16="http://schemas.microsoft.com/office/drawing/2014/main" val="20001"/>
                    </a:ext>
                  </a:extLst>
                </a:gridCol>
              </a:tblGrid>
              <a:tr h="554796">
                <a:tc>
                  <a:txBody>
                    <a:bodyPr/>
                    <a:lstStyle/>
                    <a:p>
                      <a:pPr algn="l">
                        <a:defRPr sz="1400" b="1">
                          <a:solidFill>
                            <a:srgbClr val="00468C"/>
                          </a:solidFill>
                        </a:defRPr>
                      </a:pPr>
                      <a:r>
                        <a:rPr sz="1200" dirty="0" err="1"/>
                        <a:t>Resumen</a:t>
                      </a:r>
                      <a:r>
                        <a:rPr sz="1200" dirty="0"/>
                        <a:t> del </a:t>
                      </a:r>
                      <a:r>
                        <a:rPr sz="1200" dirty="0" err="1"/>
                        <a:t>problema</a:t>
                      </a:r>
                      <a:endParaRPr sz="1200" dirty="0"/>
                    </a:p>
                  </a:txBody>
                  <a:tcPr/>
                </a:tc>
                <a:tc>
                  <a:txBody>
                    <a:bodyPr/>
                    <a:lstStyle/>
                    <a:p>
                      <a:pPr algn="l">
                        <a:defRPr sz="1200"/>
                      </a:pPr>
                      <a:r>
                        <a:rPr lang="en-GB" i="1" dirty="0" err="1">
                          <a:solidFill>
                            <a:schemeClr val="tx1"/>
                          </a:solidFill>
                        </a:rPr>
                        <a:t>Clasificar</a:t>
                      </a:r>
                      <a:r>
                        <a:rPr lang="en-GB" i="1" dirty="0">
                          <a:solidFill>
                            <a:schemeClr val="tx1"/>
                          </a:solidFill>
                        </a:rPr>
                        <a:t> </a:t>
                      </a:r>
                      <a:r>
                        <a:rPr lang="en-GB" i="1" dirty="0" err="1">
                          <a:solidFill>
                            <a:schemeClr val="tx1"/>
                          </a:solidFill>
                        </a:rPr>
                        <a:t>clientes</a:t>
                      </a:r>
                      <a:r>
                        <a:rPr lang="en-GB" i="1" dirty="0">
                          <a:solidFill>
                            <a:schemeClr val="tx1"/>
                          </a:solidFill>
                        </a:rPr>
                        <a:t> </a:t>
                      </a:r>
                      <a:r>
                        <a:rPr lang="en-GB" i="1" dirty="0" err="1">
                          <a:solidFill>
                            <a:schemeClr val="tx1"/>
                          </a:solidFill>
                        </a:rPr>
                        <a:t>bancarios</a:t>
                      </a:r>
                      <a:r>
                        <a:rPr lang="en-GB" i="1" dirty="0">
                          <a:solidFill>
                            <a:schemeClr val="tx1"/>
                          </a:solidFill>
                        </a:rPr>
                        <a:t> </a:t>
                      </a:r>
                      <a:r>
                        <a:rPr lang="en-GB" i="1" dirty="0" err="1">
                          <a:solidFill>
                            <a:schemeClr val="tx1"/>
                          </a:solidFill>
                        </a:rPr>
                        <a:t>según</a:t>
                      </a:r>
                      <a:r>
                        <a:rPr lang="en-GB" i="1" dirty="0">
                          <a:solidFill>
                            <a:schemeClr val="tx1"/>
                          </a:solidFill>
                        </a:rPr>
                        <a:t> </a:t>
                      </a:r>
                      <a:r>
                        <a:rPr lang="en-GB" i="1" dirty="0" err="1">
                          <a:solidFill>
                            <a:schemeClr val="tx1"/>
                          </a:solidFill>
                        </a:rPr>
                        <a:t>riesgo</a:t>
                      </a:r>
                      <a:r>
                        <a:rPr lang="en-GB" i="1" dirty="0">
                          <a:solidFill>
                            <a:schemeClr val="tx1"/>
                          </a:solidFill>
                        </a:rPr>
                        <a:t> de </a:t>
                      </a:r>
                      <a:r>
                        <a:rPr lang="en-GB" i="1" dirty="0" err="1">
                          <a:solidFill>
                            <a:schemeClr val="tx1"/>
                          </a:solidFill>
                        </a:rPr>
                        <a:t>abandono</a:t>
                      </a:r>
                      <a:r>
                        <a:rPr lang="en-GB" i="1" dirty="0">
                          <a:solidFill>
                            <a:schemeClr val="tx1"/>
                          </a:solidFill>
                        </a:rPr>
                        <a:t> </a:t>
                      </a:r>
                      <a:r>
                        <a:rPr lang="en-GB" i="1" dirty="0" err="1">
                          <a:solidFill>
                            <a:schemeClr val="tx1"/>
                          </a:solidFill>
                        </a:rPr>
                        <a:t>mediante</a:t>
                      </a:r>
                      <a:r>
                        <a:rPr lang="en-GB" i="1" dirty="0">
                          <a:solidFill>
                            <a:schemeClr val="tx1"/>
                          </a:solidFill>
                        </a:rPr>
                        <a:t> variables del </a:t>
                      </a:r>
                      <a:r>
                        <a:rPr lang="en-GB" i="1" dirty="0" err="1">
                          <a:solidFill>
                            <a:schemeClr val="tx1"/>
                          </a:solidFill>
                        </a:rPr>
                        <a:t>usuario</a:t>
                      </a:r>
                      <a:r>
                        <a:rPr lang="en-GB" dirty="0">
                          <a:solidFill>
                            <a:schemeClr val="tx1"/>
                          </a:solidFill>
                        </a:rPr>
                        <a:t>.</a:t>
                      </a:r>
                      <a:endParaRPr dirty="0">
                        <a:solidFill>
                          <a:schemeClr val="tx1"/>
                        </a:solidFill>
                      </a:endParaRPr>
                    </a:p>
                  </a:txBody>
                  <a:tcPr/>
                </a:tc>
                <a:extLst>
                  <a:ext uri="{0D108BD9-81ED-4DB2-BD59-A6C34878D82A}">
                    <a16:rowId xmlns:a16="http://schemas.microsoft.com/office/drawing/2014/main" val="10000"/>
                  </a:ext>
                </a:extLst>
              </a:tr>
              <a:tr h="554796">
                <a:tc>
                  <a:txBody>
                    <a:bodyPr/>
                    <a:lstStyle/>
                    <a:p>
                      <a:pPr algn="l">
                        <a:defRPr sz="1400" b="1">
                          <a:solidFill>
                            <a:srgbClr val="00468C"/>
                          </a:solidFill>
                        </a:defRPr>
                      </a:pPr>
                      <a:r>
                        <a:rPr dirty="0" err="1"/>
                        <a:t>Contexto</a:t>
                      </a:r>
                      <a:r>
                        <a:rPr dirty="0"/>
                        <a:t> de </a:t>
                      </a:r>
                      <a:r>
                        <a:rPr dirty="0" err="1"/>
                        <a:t>aplicación</a:t>
                      </a:r>
                      <a:endParaRPr dirty="0"/>
                    </a:p>
                  </a:txBody>
                  <a:tcPr/>
                </a:tc>
                <a:tc>
                  <a:txBody>
                    <a:bodyPr/>
                    <a:lstStyle/>
                    <a:p>
                      <a:pPr algn="l">
                        <a:defRPr sz="1200"/>
                      </a:pPr>
                      <a:r>
                        <a:rPr lang="en-GB" dirty="0"/>
                        <a:t>Identidad </a:t>
                      </a:r>
                      <a:r>
                        <a:rPr lang="en-GB" dirty="0" err="1"/>
                        <a:t>Bancaria</a:t>
                      </a:r>
                      <a:r>
                        <a:rPr lang="en-GB" dirty="0"/>
                        <a:t>           </a:t>
                      </a:r>
                      <a:r>
                        <a:rPr lang="en-GB" dirty="0" err="1"/>
                        <a:t>busca</a:t>
                      </a:r>
                      <a:r>
                        <a:rPr lang="en-GB" dirty="0"/>
                        <a:t> </a:t>
                      </a:r>
                      <a:r>
                        <a:rPr lang="en-GB" dirty="0" err="1"/>
                        <a:t>identificar</a:t>
                      </a:r>
                      <a:r>
                        <a:rPr lang="en-GB" dirty="0"/>
                        <a:t> </a:t>
                      </a:r>
                      <a:r>
                        <a:rPr lang="en-GB" dirty="0" err="1"/>
                        <a:t>causas</a:t>
                      </a:r>
                      <a:r>
                        <a:rPr lang="en-GB" dirty="0"/>
                        <a:t> del </a:t>
                      </a:r>
                      <a:r>
                        <a:rPr lang="en-GB" dirty="0" err="1"/>
                        <a:t>abandono</a:t>
                      </a:r>
                      <a:r>
                        <a:rPr lang="en-GB" dirty="0"/>
                        <a:t> de sus </a:t>
                      </a:r>
                      <a:r>
                        <a:rPr lang="en-GB" dirty="0" err="1"/>
                        <a:t>clientes</a:t>
                      </a:r>
                      <a:endParaRPr dirty="0"/>
                    </a:p>
                  </a:txBody>
                  <a:tcPr/>
                </a:tc>
                <a:extLst>
                  <a:ext uri="{0D108BD9-81ED-4DB2-BD59-A6C34878D82A}">
                    <a16:rowId xmlns:a16="http://schemas.microsoft.com/office/drawing/2014/main" val="10001"/>
                  </a:ext>
                </a:extLst>
              </a:tr>
              <a:tr h="554796">
                <a:tc>
                  <a:txBody>
                    <a:bodyPr/>
                    <a:lstStyle/>
                    <a:p>
                      <a:pPr algn="l">
                        <a:defRPr sz="1400" b="1">
                          <a:solidFill>
                            <a:srgbClr val="00468C"/>
                          </a:solidFill>
                        </a:defRPr>
                      </a:pPr>
                      <a:r>
                        <a:t>Objetivo principal</a:t>
                      </a:r>
                    </a:p>
                  </a:txBody>
                  <a:tcPr/>
                </a:tc>
                <a:tc>
                  <a:txBody>
                    <a:bodyPr/>
                    <a:lstStyle/>
                    <a:p>
                      <a:pPr algn="l">
                        <a:defRPr sz="1200"/>
                      </a:pPr>
                      <a:r>
                        <a:rPr dirty="0" err="1"/>
                        <a:t>Modelizar</a:t>
                      </a:r>
                      <a:r>
                        <a:rPr dirty="0"/>
                        <a:t> la </a:t>
                      </a:r>
                      <a:r>
                        <a:rPr dirty="0" err="1"/>
                        <a:t>pérdida</a:t>
                      </a:r>
                      <a:r>
                        <a:rPr dirty="0"/>
                        <a:t> de </a:t>
                      </a:r>
                      <a:r>
                        <a:rPr dirty="0" err="1"/>
                        <a:t>clientes</a:t>
                      </a:r>
                      <a:r>
                        <a:rPr dirty="0"/>
                        <a:t> (churn) </a:t>
                      </a:r>
                      <a:r>
                        <a:rPr dirty="0" err="1"/>
                        <a:t>en</a:t>
                      </a:r>
                      <a:r>
                        <a:rPr dirty="0"/>
                        <a:t> </a:t>
                      </a:r>
                      <a:r>
                        <a:rPr dirty="0" err="1"/>
                        <a:t>función</a:t>
                      </a:r>
                      <a:r>
                        <a:rPr dirty="0"/>
                        <a:t> de variables del </a:t>
                      </a:r>
                      <a:r>
                        <a:rPr dirty="0" err="1"/>
                        <a:t>usuario</a:t>
                      </a:r>
                      <a:r>
                        <a:rPr dirty="0"/>
                        <a:t>.</a:t>
                      </a:r>
                    </a:p>
                  </a:txBody>
                  <a:tcPr/>
                </a:tc>
                <a:extLst>
                  <a:ext uri="{0D108BD9-81ED-4DB2-BD59-A6C34878D82A}">
                    <a16:rowId xmlns:a16="http://schemas.microsoft.com/office/drawing/2014/main" val="10002"/>
                  </a:ext>
                </a:extLst>
              </a:tr>
              <a:tr h="612776">
                <a:tc>
                  <a:txBody>
                    <a:bodyPr/>
                    <a:lstStyle/>
                    <a:p>
                      <a:pPr algn="l">
                        <a:defRPr sz="1400" b="1">
                          <a:solidFill>
                            <a:srgbClr val="00468C"/>
                          </a:solidFill>
                        </a:defRPr>
                      </a:pPr>
                      <a:r>
                        <a:t>Objetivos secundarios</a:t>
                      </a:r>
                    </a:p>
                  </a:txBody>
                  <a:tcPr/>
                </a:tc>
                <a:tc>
                  <a:txBody>
                    <a:bodyPr/>
                    <a:lstStyle/>
                    <a:p>
                      <a:pPr algn="l">
                        <a:defRPr sz="1200"/>
                      </a:pPr>
                      <a:r>
                        <a:rPr dirty="0"/>
                        <a:t>• </a:t>
                      </a:r>
                      <a:r>
                        <a:rPr dirty="0" err="1"/>
                        <a:t>Analizar</a:t>
                      </a:r>
                      <a:r>
                        <a:rPr dirty="0"/>
                        <a:t> la </a:t>
                      </a:r>
                      <a:r>
                        <a:rPr dirty="0" err="1"/>
                        <a:t>estructura</a:t>
                      </a:r>
                      <a:r>
                        <a:rPr dirty="0"/>
                        <a:t> de </a:t>
                      </a:r>
                      <a:r>
                        <a:rPr dirty="0" err="1"/>
                        <a:t>los</a:t>
                      </a:r>
                      <a:r>
                        <a:rPr dirty="0"/>
                        <a:t> </a:t>
                      </a:r>
                      <a:r>
                        <a:rPr dirty="0" err="1"/>
                        <a:t>datos</a:t>
                      </a:r>
                      <a:r>
                        <a:rPr dirty="0"/>
                        <a:t>.</a:t>
                      </a:r>
                      <a:br>
                        <a:rPr dirty="0"/>
                      </a:br>
                      <a:r>
                        <a:rPr dirty="0"/>
                        <a:t>• </a:t>
                      </a:r>
                      <a:r>
                        <a:rPr dirty="0" err="1"/>
                        <a:t>Identificar</a:t>
                      </a:r>
                      <a:r>
                        <a:rPr dirty="0"/>
                        <a:t> </a:t>
                      </a:r>
                      <a:r>
                        <a:rPr dirty="0" err="1"/>
                        <a:t>relaciones</a:t>
                      </a:r>
                      <a:r>
                        <a:rPr dirty="0"/>
                        <a:t> entre variables.</a:t>
                      </a:r>
                      <a:br>
                        <a:rPr dirty="0"/>
                      </a:br>
                      <a:r>
                        <a:rPr dirty="0"/>
                        <a:t>• </a:t>
                      </a:r>
                      <a:r>
                        <a:rPr dirty="0" err="1"/>
                        <a:t>Evaluar</a:t>
                      </a:r>
                      <a:r>
                        <a:rPr dirty="0"/>
                        <a:t> la </a:t>
                      </a:r>
                      <a:r>
                        <a:rPr dirty="0" err="1"/>
                        <a:t>influencia</a:t>
                      </a:r>
                      <a:r>
                        <a:rPr dirty="0"/>
                        <a:t> de las variables </a:t>
                      </a:r>
                      <a:r>
                        <a:rPr dirty="0" err="1"/>
                        <a:t>en</a:t>
                      </a:r>
                      <a:r>
                        <a:rPr dirty="0"/>
                        <a:t> la </a:t>
                      </a:r>
                      <a:r>
                        <a:rPr dirty="0" err="1"/>
                        <a:t>permanencia</a:t>
                      </a:r>
                      <a:r>
                        <a:rPr dirty="0"/>
                        <a:t> del </a:t>
                      </a:r>
                      <a:r>
                        <a:rPr dirty="0" err="1"/>
                        <a:t>cliente</a:t>
                      </a:r>
                      <a:r>
                        <a:rPr dirty="0"/>
                        <a:t>.</a:t>
                      </a:r>
                    </a:p>
                  </a:txBody>
                  <a:tcPr/>
                </a:tc>
                <a:extLst>
                  <a:ext uri="{0D108BD9-81ED-4DB2-BD59-A6C34878D82A}">
                    <a16:rowId xmlns:a16="http://schemas.microsoft.com/office/drawing/2014/main" val="10003"/>
                  </a:ext>
                </a:extLst>
              </a:tr>
              <a:tr h="787855">
                <a:tc>
                  <a:txBody>
                    <a:bodyPr/>
                    <a:lstStyle/>
                    <a:p>
                      <a:pPr algn="l">
                        <a:defRPr sz="1400" b="1">
                          <a:solidFill>
                            <a:srgbClr val="00468C"/>
                          </a:solidFill>
                        </a:defRPr>
                      </a:pPr>
                      <a:r>
                        <a:t>KPIs de control (modelo)</a:t>
                      </a:r>
                    </a:p>
                  </a:txBody>
                  <a:tcPr/>
                </a:tc>
                <a:tc>
                  <a:txBody>
                    <a:bodyPr/>
                    <a:lstStyle/>
                    <a:p>
                      <a:pPr algn="l">
                        <a:defRPr sz="1200"/>
                      </a:pPr>
                      <a:r>
                        <a:rPr dirty="0"/>
                        <a:t>• Accuracy</a:t>
                      </a:r>
                      <a:br>
                        <a:rPr dirty="0"/>
                      </a:br>
                      <a:r>
                        <a:rPr dirty="0"/>
                        <a:t>• Precision</a:t>
                      </a:r>
                      <a:br>
                        <a:rPr dirty="0"/>
                      </a:br>
                      <a:r>
                        <a:rPr dirty="0"/>
                        <a:t>• </a:t>
                      </a:r>
                      <a:r>
                        <a:rPr lang="ca-ES" dirty="0" err="1"/>
                        <a:t>Recall</a:t>
                      </a:r>
                      <a:r>
                        <a:rPr lang="ca-ES" dirty="0"/>
                        <a:t> / </a:t>
                      </a:r>
                      <a:r>
                        <a:rPr dirty="0"/>
                        <a:t>F1-Score</a:t>
                      </a:r>
                      <a:br>
                        <a:rPr dirty="0"/>
                      </a:br>
                      <a:r>
                        <a:rPr dirty="0"/>
                        <a:t>• AUC-ROC</a:t>
                      </a:r>
                    </a:p>
                  </a:txBody>
                  <a:tcPr/>
                </a:tc>
                <a:extLst>
                  <a:ext uri="{0D108BD9-81ED-4DB2-BD59-A6C34878D82A}">
                    <a16:rowId xmlns:a16="http://schemas.microsoft.com/office/drawing/2014/main" val="10004"/>
                  </a:ext>
                </a:extLst>
              </a:tr>
              <a:tr h="554796">
                <a:tc>
                  <a:txBody>
                    <a:bodyPr/>
                    <a:lstStyle/>
                    <a:p>
                      <a:pPr algn="l">
                        <a:defRPr sz="1400" b="1">
                          <a:solidFill>
                            <a:srgbClr val="00468C"/>
                          </a:solidFill>
                        </a:defRPr>
                      </a:pPr>
                      <a:r>
                        <a:t>KPI de negocio</a:t>
                      </a:r>
                    </a:p>
                  </a:txBody>
                  <a:tcPr/>
                </a:tc>
                <a:tc>
                  <a:txBody>
                    <a:bodyPr/>
                    <a:lstStyle/>
                    <a:p>
                      <a:pPr algn="l">
                        <a:defRPr sz="1200"/>
                      </a:pPr>
                      <a:r>
                        <a:rPr dirty="0"/>
                        <a:t>Tasa de </a:t>
                      </a:r>
                      <a:r>
                        <a:rPr dirty="0" err="1"/>
                        <a:t>retención</a:t>
                      </a:r>
                      <a:r>
                        <a:rPr dirty="0"/>
                        <a:t> de </a:t>
                      </a:r>
                      <a:r>
                        <a:rPr dirty="0" err="1"/>
                        <a:t>clientes</a:t>
                      </a:r>
                      <a:r>
                        <a:rPr dirty="0"/>
                        <a:t>.</a:t>
                      </a:r>
                    </a:p>
                  </a:txBody>
                  <a:tcPr/>
                </a:tc>
                <a:extLst>
                  <a:ext uri="{0D108BD9-81ED-4DB2-BD59-A6C34878D82A}">
                    <a16:rowId xmlns:a16="http://schemas.microsoft.com/office/drawing/2014/main" val="10005"/>
                  </a:ext>
                </a:extLst>
              </a:tr>
            </a:tbl>
          </a:graphicData>
        </a:graphic>
      </p:graphicFrame>
      <p:cxnSp>
        <p:nvCxnSpPr>
          <p:cNvPr id="5" name="Straight Arrow Connector 4"/>
          <p:cNvCxnSpPr/>
          <p:nvPr/>
        </p:nvCxnSpPr>
        <p:spPr>
          <a:xfrm>
            <a:off x="3829524" y="1636004"/>
            <a:ext cx="302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black and white logo&#10;&#10;AI-generated content may be incorrect."/>
          <p:cNvPicPr>
            <a:picLocks noChangeAspect="1"/>
          </p:cNvPicPr>
          <p:nvPr/>
        </p:nvPicPr>
        <p:blipFill>
          <a:blip r:embed="rId3"/>
          <a:stretch>
            <a:fillRect/>
          </a:stretch>
        </p:blipFill>
        <p:spPr>
          <a:xfrm>
            <a:off x="7489013" y="332509"/>
            <a:ext cx="1566241" cy="1300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p:cNvGraphicFramePr/>
          <p:nvPr>
            <p:extLst>
              <p:ext uri="{D42A27DB-BD31-4B8C-83A1-F6EECF244321}">
                <p14:modId xmlns:p14="http://schemas.microsoft.com/office/powerpoint/2010/main" val="2165948479"/>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p:cNvSpPr txBox="1"/>
          <p:nvPr/>
        </p:nvSpPr>
        <p:spPr>
          <a:xfrm>
            <a:off x="279699" y="1112200"/>
            <a:ext cx="3131238" cy="1231106"/>
          </a:xfrm>
          <a:prstGeom prst="rect">
            <a:avLst/>
          </a:prstGeom>
          <a:noFill/>
        </p:spPr>
        <p:txBody>
          <a:bodyPr wrap="square" rtlCol="0">
            <a:spAutoFit/>
          </a:bodyPr>
          <a:lstStyle/>
          <a:p>
            <a:pPr marL="285750" indent="-285750">
              <a:buFont typeface="Arial" panose="020B0604020202020204" pitchFamily="34" charset="0"/>
              <a:buChar char="•"/>
            </a:pPr>
            <a:r>
              <a:rPr lang="en-GB" sz="1200" dirty="0" err="1"/>
              <a:t>Metodología</a:t>
            </a:r>
            <a:r>
              <a:rPr lang="en-GB" sz="1200" dirty="0"/>
              <a:t>: CRISP-DM (Cross Industry Standard Process for Data Mining)</a:t>
            </a:r>
          </a:p>
          <a:p>
            <a:pPr marL="285750" indent="-285750">
              <a:buFont typeface="Arial" panose="020B0604020202020204" pitchFamily="34" charset="0"/>
              <a:buChar char="•"/>
            </a:pPr>
            <a:r>
              <a:rPr lang="en-GB" sz="1200" dirty="0" err="1"/>
              <a:t>Enfoque</a:t>
            </a:r>
            <a:r>
              <a:rPr lang="en-GB" sz="1200" dirty="0"/>
              <a:t>: </a:t>
            </a:r>
            <a:r>
              <a:rPr lang="en-GB" sz="1200" dirty="0" err="1"/>
              <a:t>Trabajo</a:t>
            </a:r>
            <a:r>
              <a:rPr lang="en-GB" sz="1200" dirty="0"/>
              <a:t> </a:t>
            </a:r>
            <a:r>
              <a:rPr lang="en-GB" sz="1200" dirty="0" err="1"/>
              <a:t>colaborativo</a:t>
            </a:r>
            <a:r>
              <a:rPr lang="en-GB" sz="1200" dirty="0"/>
              <a:t> con </a:t>
            </a:r>
            <a:r>
              <a:rPr lang="en-GB" sz="1200" dirty="0" err="1"/>
              <a:t>asignación</a:t>
            </a:r>
            <a:r>
              <a:rPr lang="en-GB" sz="1200" dirty="0"/>
              <a:t> de </a:t>
            </a:r>
            <a:r>
              <a:rPr lang="en-GB" sz="1200" dirty="0" err="1"/>
              <a:t>responsables</a:t>
            </a:r>
            <a:r>
              <a:rPr lang="en-GB" sz="1200" dirty="0"/>
              <a:t> </a:t>
            </a:r>
            <a:r>
              <a:rPr lang="en-GB" sz="1200" dirty="0" err="1"/>
              <a:t>por</a:t>
            </a:r>
            <a:r>
              <a:rPr lang="en-GB" sz="1200" dirty="0"/>
              <a:t> </a:t>
            </a:r>
            <a:r>
              <a:rPr lang="en-GB" sz="1200" dirty="0" err="1"/>
              <a:t>fase</a:t>
            </a:r>
            <a:endParaRPr lang="en-GB" sz="1200" dirty="0"/>
          </a:p>
          <a:p>
            <a:pPr marL="285750" indent="-285750">
              <a:buFont typeface="Arial" panose="020B0604020202020204" pitchFamily="34" charset="0"/>
              <a:buChar char="•"/>
            </a:pPr>
            <a:endParaRPr lang="es-ES" b="1" dirty="0"/>
          </a:p>
        </p:txBody>
      </p:sp>
      <p:pic>
        <p:nvPicPr>
          <p:cNvPr id="9" name="Imagen 8"/>
          <p:cNvPicPr>
            <a:picLocks noChangeAspect="1"/>
          </p:cNvPicPr>
          <p:nvPr/>
        </p:nvPicPr>
        <p:blipFill>
          <a:blip r:embed="rId8"/>
          <a:stretch>
            <a:fillRect/>
          </a:stretch>
        </p:blipFill>
        <p:spPr>
          <a:xfrm>
            <a:off x="374437" y="2250295"/>
            <a:ext cx="2750004" cy="2663526"/>
          </a:xfrm>
          <a:prstGeom prst="rect">
            <a:avLst/>
          </a:prstGeom>
          <a:ln>
            <a:solidFill>
              <a:schemeClr val="bg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pic>
        <p:nvPicPr>
          <p:cNvPr id="6" name="Imagen 5"/>
          <p:cNvPicPr>
            <a:picLocks noChangeAspect="1"/>
          </p:cNvPicPr>
          <p:nvPr/>
        </p:nvPicPr>
        <p:blipFill>
          <a:blip r:embed="rId3"/>
          <a:stretch>
            <a:fillRect/>
          </a:stretch>
        </p:blipFill>
        <p:spPr>
          <a:xfrm>
            <a:off x="20443" y="2251639"/>
            <a:ext cx="4381801" cy="2848282"/>
          </a:xfrm>
          <a:prstGeom prst="rect">
            <a:avLst/>
          </a:prstGeom>
        </p:spPr>
      </p:pic>
      <p:pic>
        <p:nvPicPr>
          <p:cNvPr id="8" name="Imagen 7"/>
          <p:cNvPicPr>
            <a:picLocks noChangeAspect="1"/>
          </p:cNvPicPr>
          <p:nvPr/>
        </p:nvPicPr>
        <p:blipFill>
          <a:blip r:embed="rId4"/>
          <a:stretch>
            <a:fillRect/>
          </a:stretch>
        </p:blipFill>
        <p:spPr>
          <a:xfrm>
            <a:off x="4572000" y="2251639"/>
            <a:ext cx="4626707" cy="2872676"/>
          </a:xfrm>
          <a:prstGeom prst="rect">
            <a:avLst/>
          </a:prstGeom>
        </p:spPr>
      </p:pic>
      <p:sp>
        <p:nvSpPr>
          <p:cNvPr id="2" name="Rounded Rectangle 1"/>
          <p:cNvSpPr/>
          <p:nvPr/>
        </p:nvSpPr>
        <p:spPr>
          <a:xfrm>
            <a:off x="115049" y="709411"/>
            <a:ext cx="1432397"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Detección</a:t>
            </a:r>
          </a:p>
        </p:txBody>
      </p:sp>
      <p:sp>
        <p:nvSpPr>
          <p:cNvPr id="3" name="TextBox 2"/>
          <p:cNvSpPr txBox="1"/>
          <p:nvPr/>
        </p:nvSpPr>
        <p:spPr>
          <a:xfrm>
            <a:off x="115049" y="1024623"/>
            <a:ext cx="2589581" cy="1231106"/>
          </a:xfrm>
          <a:prstGeom prst="rect">
            <a:avLst/>
          </a:prstGeom>
          <a:noFill/>
        </p:spPr>
        <p:txBody>
          <a:bodyPr wrap="square" rtlCol="0">
            <a:spAutoFit/>
          </a:bodyPr>
          <a:lstStyle/>
          <a:p>
            <a:r>
              <a:rPr lang="en-GB" sz="1200" b="1" dirty="0"/>
              <a:t>30% </a:t>
            </a:r>
            <a:r>
              <a:rPr lang="en-GB" sz="1200" dirty="0" err="1"/>
              <a:t>en</a:t>
            </a:r>
            <a:r>
              <a:rPr lang="en-GB" sz="1200" dirty="0"/>
              <a:t> </a:t>
            </a:r>
            <a:r>
              <a:rPr lang="en-GB" sz="1200" dirty="0" err="1"/>
              <a:t>todas</a:t>
            </a:r>
            <a:r>
              <a:rPr lang="en-GB" sz="1200" dirty="0"/>
              <a:t> las variables (</a:t>
            </a:r>
            <a:r>
              <a:rPr lang="en-GB" sz="1200" dirty="0" err="1"/>
              <a:t>excepto</a:t>
            </a:r>
            <a:r>
              <a:rPr lang="en-GB" sz="1200" dirty="0"/>
              <a:t> ID)</a:t>
            </a:r>
          </a:p>
          <a:p>
            <a:r>
              <a:rPr lang="en-GB" sz="1200" b="1" dirty="0">
                <a:highlight>
                  <a:srgbClr val="FFFF00"/>
                </a:highlight>
              </a:rPr>
              <a:t>Test MCAR</a:t>
            </a:r>
          </a:p>
          <a:p>
            <a:r>
              <a:rPr lang="en-GB" sz="1200" b="1" dirty="0"/>
              <a:t>p-</a:t>
            </a:r>
            <a:r>
              <a:rPr lang="en-GB" sz="1200" b="1" dirty="0" err="1"/>
              <a:t>valor</a:t>
            </a:r>
            <a:r>
              <a:rPr lang="en-GB" sz="1200" b="1" dirty="0"/>
              <a:t> = 0.39</a:t>
            </a:r>
          </a:p>
          <a:p>
            <a:r>
              <a:rPr lang="en-GB" sz="1200" dirty="0"/>
              <a:t>✓ </a:t>
            </a:r>
            <a:r>
              <a:rPr lang="en-GB" sz="1200" dirty="0" err="1"/>
              <a:t>Aleatoriedad</a:t>
            </a:r>
            <a:r>
              <a:rPr lang="en-GB" sz="1200" dirty="0"/>
              <a:t> </a:t>
            </a:r>
            <a:r>
              <a:rPr lang="en-GB" sz="1200" dirty="0" err="1"/>
              <a:t>confirmada</a:t>
            </a:r>
            <a:endParaRPr lang="en-GB" sz="1200" dirty="0"/>
          </a:p>
          <a:p>
            <a:endParaRPr lang="en-US" dirty="0"/>
          </a:p>
        </p:txBody>
      </p:sp>
      <p:sp>
        <p:nvSpPr>
          <p:cNvPr id="4" name="TextBox 3"/>
          <p:cNvSpPr txBox="1"/>
          <p:nvPr/>
        </p:nvSpPr>
        <p:spPr>
          <a:xfrm>
            <a:off x="2240937" y="605827"/>
            <a:ext cx="3391877" cy="1269578"/>
          </a:xfrm>
          <a:prstGeom prst="rect">
            <a:avLst/>
          </a:prstGeom>
          <a:noFill/>
        </p:spPr>
        <p:txBody>
          <a:bodyPr wrap="square">
            <a:spAutoFit/>
          </a:bodyPr>
          <a:lstStyle/>
          <a:p>
            <a:pPr algn="l">
              <a:buNone/>
            </a:pPr>
            <a:br>
              <a:rPr lang="en-GB" b="1" i="0" dirty="0">
                <a:solidFill>
                  <a:srgbClr val="030712"/>
                </a:solidFill>
                <a:effectLst/>
                <a:latin typeface="ui-sans-serif"/>
              </a:rPr>
            </a:br>
            <a:r>
              <a:rPr lang="en-GB" sz="1100" b="1" i="0" dirty="0" err="1">
                <a:solidFill>
                  <a:srgbClr val="030712"/>
                </a:solidFill>
                <a:effectLst/>
                <a:latin typeface="ui-sans-serif"/>
              </a:rPr>
              <a:t>Métodos</a:t>
            </a:r>
            <a:r>
              <a:rPr lang="en-GB" sz="1100" b="1" i="0" dirty="0">
                <a:solidFill>
                  <a:srgbClr val="030712"/>
                </a:solidFill>
                <a:effectLst/>
                <a:latin typeface="ui-sans-serif"/>
              </a:rPr>
              <a:t> </a:t>
            </a:r>
            <a:r>
              <a:rPr lang="en-GB" sz="1100" b="1" i="0" dirty="0" err="1">
                <a:solidFill>
                  <a:srgbClr val="030712"/>
                </a:solidFill>
                <a:effectLst/>
                <a:latin typeface="ui-sans-serif"/>
              </a:rPr>
              <a:t>Probados</a:t>
            </a:r>
            <a:r>
              <a:rPr lang="en-GB" sz="1100" b="1" i="0" dirty="0">
                <a:solidFill>
                  <a:srgbClr val="030712"/>
                </a:solidFill>
                <a:effectLst/>
                <a:latin typeface="ui-sans-serif"/>
              </a:rPr>
              <a:t> </a:t>
            </a:r>
            <a:r>
              <a:rPr lang="en-GB" sz="1100" b="1" i="0" dirty="0" err="1">
                <a:solidFill>
                  <a:srgbClr val="030712"/>
                </a:solidFill>
                <a:effectLst/>
                <a:latin typeface="ui-sans-serif"/>
              </a:rPr>
              <a:t>Implementados</a:t>
            </a:r>
            <a:r>
              <a:rPr lang="en-GB" sz="1100" b="1" i="0" dirty="0">
                <a:solidFill>
                  <a:srgbClr val="030712"/>
                </a:solidFill>
                <a:effectLst/>
                <a:latin typeface="ui-sans-serif"/>
              </a:rPr>
              <a:t> </a:t>
            </a:r>
          </a:p>
          <a:p>
            <a:pPr algn="l">
              <a:buNone/>
            </a:pPr>
            <a:r>
              <a:rPr lang="en-GB" sz="1100" b="1" i="0" dirty="0">
                <a:solidFill>
                  <a:srgbClr val="7F1D1D"/>
                </a:solidFill>
                <a:effectLst/>
                <a:latin typeface="ui-sans-serif"/>
              </a:rPr>
              <a:t>- </a:t>
            </a:r>
            <a:r>
              <a:rPr lang="en-GB" sz="1100" b="1" i="0" dirty="0" err="1">
                <a:solidFill>
                  <a:srgbClr val="7F1D1D"/>
                </a:solidFill>
                <a:effectLst/>
                <a:latin typeface="ui-sans-serif"/>
              </a:rPr>
              <a:t>Imputación</a:t>
            </a:r>
            <a:r>
              <a:rPr lang="en-GB" sz="1100" b="1" i="0" dirty="0">
                <a:solidFill>
                  <a:srgbClr val="7F1D1D"/>
                </a:solidFill>
                <a:effectLst/>
                <a:latin typeface="ui-sans-serif"/>
              </a:rPr>
              <a:t> Simple</a:t>
            </a:r>
          </a:p>
          <a:p>
            <a:pPr algn="l">
              <a:buNone/>
            </a:pPr>
            <a:r>
              <a:rPr lang="en-GB" sz="1100" b="0" i="0" dirty="0">
                <a:solidFill>
                  <a:srgbClr val="4B5563"/>
                </a:solidFill>
                <a:effectLst/>
                <a:latin typeface="ui-sans-serif"/>
              </a:rPr>
              <a:t>Media/</a:t>
            </a:r>
            <a:r>
              <a:rPr lang="en-GB" sz="1100" b="0" i="0" dirty="0" err="1">
                <a:solidFill>
                  <a:srgbClr val="4B5563"/>
                </a:solidFill>
                <a:effectLst/>
                <a:latin typeface="ui-sans-serif"/>
              </a:rPr>
              <a:t>mediana</a:t>
            </a:r>
            <a:r>
              <a:rPr lang="en-GB" sz="1100" b="0" i="0" dirty="0">
                <a:solidFill>
                  <a:srgbClr val="4B5563"/>
                </a:solidFill>
                <a:effectLst/>
                <a:latin typeface="ui-sans-serif"/>
              </a:rPr>
              <a:t>/</a:t>
            </a:r>
            <a:r>
              <a:rPr lang="en-GB" sz="1100" b="0" i="0" dirty="0" err="1">
                <a:solidFill>
                  <a:srgbClr val="4B5563"/>
                </a:solidFill>
                <a:effectLst/>
                <a:latin typeface="ui-sans-serif"/>
              </a:rPr>
              <a:t>moda</a:t>
            </a:r>
            <a:endParaRPr lang="en-GB" sz="1100" b="0" i="0" dirty="0">
              <a:solidFill>
                <a:srgbClr val="4B5563"/>
              </a:solidFill>
              <a:effectLst/>
              <a:latin typeface="ui-sans-serif"/>
            </a:endParaRPr>
          </a:p>
          <a:p>
            <a:pPr algn="l">
              <a:buNone/>
            </a:pPr>
            <a:r>
              <a:rPr lang="en-GB" sz="1100" b="0" i="1" dirty="0" err="1">
                <a:solidFill>
                  <a:srgbClr val="B91C1C"/>
                </a:solidFill>
                <a:effectLst/>
                <a:latin typeface="ui-sans-serif"/>
              </a:rPr>
              <a:t>Distorsiona</a:t>
            </a:r>
            <a:r>
              <a:rPr lang="en-GB" sz="1100" b="0" i="1" dirty="0">
                <a:solidFill>
                  <a:srgbClr val="B91C1C"/>
                </a:solidFill>
                <a:effectLst/>
                <a:latin typeface="ui-sans-serif"/>
              </a:rPr>
              <a:t> </a:t>
            </a:r>
            <a:r>
              <a:rPr lang="en-GB" sz="1100" b="0" i="1" dirty="0" err="1">
                <a:solidFill>
                  <a:srgbClr val="B91C1C"/>
                </a:solidFill>
                <a:effectLst/>
                <a:latin typeface="ui-sans-serif"/>
              </a:rPr>
              <a:t>distribuciones</a:t>
            </a:r>
            <a:endParaRPr lang="en-GB" sz="1100" b="0" i="1" dirty="0">
              <a:solidFill>
                <a:srgbClr val="B91C1C"/>
              </a:solidFill>
              <a:effectLst/>
              <a:latin typeface="ui-sans-serif"/>
            </a:endParaRPr>
          </a:p>
          <a:p>
            <a:pPr marL="171450" indent="-171450" algn="l">
              <a:spcBef>
                <a:spcPts val="900"/>
              </a:spcBef>
              <a:buFontTx/>
              <a:buChar char="-"/>
            </a:pPr>
            <a:r>
              <a:rPr lang="en-GB" sz="1100" b="1" i="0" dirty="0">
                <a:solidFill>
                  <a:srgbClr val="713F12"/>
                </a:solidFill>
                <a:effectLst/>
                <a:latin typeface="ui-sans-serif"/>
              </a:rPr>
              <a:t>KNN </a:t>
            </a:r>
            <a:r>
              <a:rPr lang="en-GB" sz="1100" b="1" i="0" dirty="0" err="1">
                <a:solidFill>
                  <a:srgbClr val="713F12"/>
                </a:solidFill>
                <a:effectLst/>
                <a:latin typeface="ui-sans-serif"/>
              </a:rPr>
              <a:t>Multivariante</a:t>
            </a:r>
            <a:endParaRPr lang="en-GB" sz="1100" b="1" dirty="0">
              <a:solidFill>
                <a:srgbClr val="713F12"/>
              </a:solidFill>
              <a:latin typeface="ui-sans-serif"/>
            </a:endParaRPr>
          </a:p>
        </p:txBody>
      </p:sp>
      <p:sp>
        <p:nvSpPr>
          <p:cNvPr id="5" name="TextBox 4"/>
          <p:cNvSpPr txBox="1"/>
          <p:nvPr/>
        </p:nvSpPr>
        <p:spPr>
          <a:xfrm>
            <a:off x="3832213" y="1046039"/>
            <a:ext cx="3321538" cy="1331134"/>
          </a:xfrm>
          <a:prstGeom prst="rect">
            <a:avLst/>
          </a:prstGeom>
          <a:noFill/>
        </p:spPr>
        <p:txBody>
          <a:bodyPr wrap="square" rtlCol="0">
            <a:spAutoFit/>
          </a:bodyPr>
          <a:lstStyle/>
          <a:p>
            <a:pPr>
              <a:spcBef>
                <a:spcPts val="900"/>
              </a:spcBef>
            </a:pPr>
            <a:r>
              <a:rPr lang="en-GB" sz="1100" dirty="0">
                <a:solidFill>
                  <a:srgbClr val="4B5563"/>
                </a:solidFill>
                <a:latin typeface="ui-sans-serif"/>
              </a:rPr>
              <a:t>Mejor </a:t>
            </a:r>
            <a:r>
              <a:rPr lang="en-GB" sz="1100" dirty="0" err="1">
                <a:solidFill>
                  <a:srgbClr val="4B5563"/>
                </a:solidFill>
                <a:latin typeface="ui-sans-serif"/>
              </a:rPr>
              <a:t>ajuste</a:t>
            </a:r>
            <a:r>
              <a:rPr lang="en-GB" sz="1100" dirty="0">
                <a:solidFill>
                  <a:srgbClr val="4B5563"/>
                </a:solidFill>
                <a:latin typeface="ui-sans-serif"/>
              </a:rPr>
              <a:t>, </a:t>
            </a:r>
            <a:r>
              <a:rPr lang="en-GB" sz="1100" dirty="0" err="1">
                <a:solidFill>
                  <a:srgbClr val="4B5563"/>
                </a:solidFill>
                <a:latin typeface="ui-sans-serif"/>
              </a:rPr>
              <a:t>pero</a:t>
            </a:r>
            <a:r>
              <a:rPr lang="en-GB" sz="1100" dirty="0">
                <a:solidFill>
                  <a:srgbClr val="4B5563"/>
                </a:solidFill>
                <a:latin typeface="ui-sans-serif"/>
              </a:rPr>
              <a:t> </a:t>
            </a:r>
            <a:r>
              <a:rPr lang="en-GB" sz="1100" dirty="0" err="1">
                <a:solidFill>
                  <a:srgbClr val="4B5563"/>
                </a:solidFill>
                <a:latin typeface="ui-sans-serif"/>
              </a:rPr>
              <a:t>mejorable</a:t>
            </a:r>
            <a:endParaRPr lang="en-GB" sz="1100" dirty="0">
              <a:solidFill>
                <a:srgbClr val="4B5563"/>
              </a:solidFill>
              <a:latin typeface="ui-sans-serif"/>
            </a:endParaRPr>
          </a:p>
          <a:p>
            <a:pPr>
              <a:spcBef>
                <a:spcPts val="900"/>
              </a:spcBef>
            </a:pPr>
            <a:r>
              <a:rPr lang="en-GB" sz="1100" b="1" dirty="0">
                <a:solidFill>
                  <a:srgbClr val="14532D"/>
                </a:solidFill>
                <a:highlight>
                  <a:srgbClr val="FFFF00"/>
                </a:highlight>
                <a:latin typeface="ui-sans-serif"/>
              </a:rPr>
              <a:t>- MICE (</a:t>
            </a:r>
            <a:r>
              <a:rPr lang="en-GB" sz="1100" b="1" dirty="0" err="1">
                <a:solidFill>
                  <a:srgbClr val="14532D"/>
                </a:solidFill>
                <a:highlight>
                  <a:srgbClr val="FFFF00"/>
                </a:highlight>
                <a:latin typeface="ui-sans-serif"/>
              </a:rPr>
              <a:t>Multivariante</a:t>
            </a:r>
            <a:r>
              <a:rPr lang="en-GB" sz="1100" b="1" dirty="0">
                <a:solidFill>
                  <a:srgbClr val="14532D"/>
                </a:solidFill>
                <a:highlight>
                  <a:srgbClr val="FFFF00"/>
                </a:highlight>
                <a:latin typeface="ui-sans-serif"/>
              </a:rPr>
              <a:t>)</a:t>
            </a:r>
          </a:p>
          <a:p>
            <a:pPr>
              <a:spcBef>
                <a:spcPts val="900"/>
              </a:spcBef>
            </a:pPr>
            <a:r>
              <a:rPr lang="en-GB" sz="1100" dirty="0" err="1">
                <a:solidFill>
                  <a:srgbClr val="4B5563"/>
                </a:solidFill>
                <a:latin typeface="ui-sans-serif"/>
              </a:rPr>
              <a:t>Ajuste</a:t>
            </a:r>
            <a:r>
              <a:rPr lang="en-GB" sz="1100" dirty="0">
                <a:solidFill>
                  <a:srgbClr val="4B5563"/>
                </a:solidFill>
                <a:latin typeface="ui-sans-serif"/>
              </a:rPr>
              <a:t> perfecto de </a:t>
            </a:r>
            <a:r>
              <a:rPr lang="en-GB" sz="1100" dirty="0" err="1">
                <a:solidFill>
                  <a:srgbClr val="4B5563"/>
                </a:solidFill>
                <a:latin typeface="ui-sans-serif"/>
              </a:rPr>
              <a:t>distribuciones</a:t>
            </a:r>
            <a:endParaRPr lang="en-GB" sz="1100" dirty="0">
              <a:solidFill>
                <a:srgbClr val="4B5563"/>
              </a:solidFill>
              <a:latin typeface="ui-sans-serif"/>
            </a:endParaRPr>
          </a:p>
          <a:p>
            <a:pPr>
              <a:spcBef>
                <a:spcPts val="900"/>
              </a:spcBef>
            </a:pPr>
            <a:r>
              <a:rPr lang="en-GB" sz="1100" b="1" dirty="0">
                <a:solidFill>
                  <a:srgbClr val="166534"/>
                </a:solidFill>
                <a:latin typeface="ui-sans-serif"/>
              </a:rPr>
              <a:t>✓ MÉTODO SELECCIONADO</a:t>
            </a:r>
          </a:p>
          <a:p>
            <a:endParaRPr lang="en-US" dirty="0"/>
          </a:p>
        </p:txBody>
      </p:sp>
      <p:cxnSp>
        <p:nvCxnSpPr>
          <p:cNvPr id="9" name="Straight Connector 8"/>
          <p:cNvCxnSpPr/>
          <p:nvPr/>
        </p:nvCxnSpPr>
        <p:spPr>
          <a:xfrm>
            <a:off x="2110153" y="590805"/>
            <a:ext cx="0" cy="1594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920153" y="661390"/>
            <a:ext cx="0" cy="159433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942367" y="674103"/>
            <a:ext cx="3044340" cy="1277273"/>
          </a:xfrm>
          <a:prstGeom prst="rect">
            <a:avLst/>
          </a:prstGeom>
          <a:noFill/>
        </p:spPr>
        <p:txBody>
          <a:bodyPr wrap="square" rtlCol="0">
            <a:spAutoFit/>
          </a:bodyPr>
          <a:lstStyle/>
          <a:p>
            <a:pPr algn="just"/>
            <a:r>
              <a:rPr lang="es-ES" sz="1100" i="1" dirty="0"/>
              <a:t>Finalmente, tras aplicar el método </a:t>
            </a:r>
            <a:r>
              <a:rPr lang="es-ES" sz="1100" b="1" i="1" dirty="0"/>
              <a:t>MICE</a:t>
            </a:r>
            <a:r>
              <a:rPr lang="es-ES" sz="1100" i="1" dirty="0"/>
              <a:t> (multivariante), llegamos a unos resultados muy buenos, encontrando un ajuste prácticamente perfecto de las distribuciones. </a:t>
            </a:r>
          </a:p>
          <a:p>
            <a:pPr algn="just"/>
            <a:endParaRPr lang="es-ES" sz="1100" i="1" dirty="0"/>
          </a:p>
          <a:p>
            <a:pPr algn="just"/>
            <a:r>
              <a:rPr lang="es-ES" sz="1100" i="1" dirty="0"/>
              <a:t>Se decidió validar el método y la base de datos imputada por MICE.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3" name="CuadroTexto 2"/>
          <p:cNvSpPr txBox="1"/>
          <p:nvPr/>
        </p:nvSpPr>
        <p:spPr>
          <a:xfrm>
            <a:off x="256412" y="4096818"/>
            <a:ext cx="8306195" cy="93871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100" dirty="0">
                <a:solidFill>
                  <a:schemeClr val="tx1"/>
                </a:solidFill>
              </a:rPr>
              <a:t>Se realizó un estudio de </a:t>
            </a:r>
            <a:r>
              <a:rPr lang="es-ES" sz="1100" dirty="0" err="1">
                <a:solidFill>
                  <a:schemeClr val="tx1"/>
                </a:solidFill>
              </a:rPr>
              <a:t>outliers</a:t>
            </a:r>
            <a:r>
              <a:rPr lang="es-ES" sz="1100" dirty="0">
                <a:solidFill>
                  <a:schemeClr val="tx1"/>
                </a:solidFill>
              </a:rPr>
              <a:t> previo y posterior a la imputación, obteniendo los mismos resultados tanto a nivel univariante como multivariante.</a:t>
            </a:r>
          </a:p>
          <a:p>
            <a:endParaRPr lang="es-ES" sz="1100" dirty="0">
              <a:solidFill>
                <a:schemeClr val="tx1"/>
              </a:solidFill>
            </a:endParaRPr>
          </a:p>
          <a:p>
            <a:r>
              <a:rPr lang="es-ES" sz="1100" dirty="0">
                <a:solidFill>
                  <a:schemeClr val="tx1"/>
                </a:solidFill>
              </a:rPr>
              <a:t>Se decidió mantenerlos en la base de datos, ya que suponían una proporción que se puede entender como normal (~4-5%) y no se observaron valores extremos o imposibles.</a:t>
            </a:r>
          </a:p>
        </p:txBody>
      </p:sp>
      <p:graphicFrame>
        <p:nvGraphicFramePr>
          <p:cNvPr id="4" name="Table 3"/>
          <p:cNvGraphicFramePr>
            <a:graphicFrameLocks noGrp="1"/>
          </p:cNvGraphicFramePr>
          <p:nvPr/>
        </p:nvGraphicFramePr>
        <p:xfrm>
          <a:off x="299923" y="1101572"/>
          <a:ext cx="5398617" cy="1630680"/>
        </p:xfrm>
        <a:graphic>
          <a:graphicData uri="http://schemas.openxmlformats.org/drawingml/2006/table">
            <a:tbl>
              <a:tblPr firstRow="1" bandRow="1">
                <a:tableStyleId>{7FD54D1E-A07F-487E-B709-6B33F1453160}</a:tableStyleId>
              </a:tblPr>
              <a:tblGrid>
                <a:gridCol w="1080507">
                  <a:extLst>
                    <a:ext uri="{9D8B030D-6E8A-4147-A177-3AD203B41FA5}">
                      <a16:colId xmlns:a16="http://schemas.microsoft.com/office/drawing/2014/main" val="20000"/>
                    </a:ext>
                  </a:extLst>
                </a:gridCol>
                <a:gridCol w="1439370">
                  <a:extLst>
                    <a:ext uri="{9D8B030D-6E8A-4147-A177-3AD203B41FA5}">
                      <a16:colId xmlns:a16="http://schemas.microsoft.com/office/drawing/2014/main" val="20001"/>
                    </a:ext>
                  </a:extLst>
                </a:gridCol>
                <a:gridCol w="1439370">
                  <a:extLst>
                    <a:ext uri="{9D8B030D-6E8A-4147-A177-3AD203B41FA5}">
                      <a16:colId xmlns:a16="http://schemas.microsoft.com/office/drawing/2014/main" val="20002"/>
                    </a:ext>
                  </a:extLst>
                </a:gridCol>
                <a:gridCol w="1439370">
                  <a:extLst>
                    <a:ext uri="{9D8B030D-6E8A-4147-A177-3AD203B41FA5}">
                      <a16:colId xmlns:a16="http://schemas.microsoft.com/office/drawing/2014/main" val="20003"/>
                    </a:ext>
                  </a:extLst>
                </a:gridCol>
              </a:tblGrid>
              <a:tr h="251459">
                <a:tc>
                  <a:txBody>
                    <a:bodyPr/>
                    <a:lstStyle/>
                    <a:p>
                      <a:r>
                        <a:rPr lang="en-US" sz="1100" b="1" dirty="0"/>
                        <a:t>Nivel</a:t>
                      </a:r>
                    </a:p>
                  </a:txBody>
                  <a:tcPr>
                    <a:solidFill>
                      <a:schemeClr val="accent2"/>
                    </a:solidFill>
                  </a:tcPr>
                </a:tc>
                <a:tc>
                  <a:txBody>
                    <a:bodyPr/>
                    <a:lstStyle/>
                    <a:p>
                      <a:r>
                        <a:rPr lang="en-US" sz="1100" b="1" dirty="0"/>
                        <a:t>Tipo de Variable </a:t>
                      </a:r>
                    </a:p>
                  </a:txBody>
                  <a:tcPr>
                    <a:solidFill>
                      <a:schemeClr val="accent2"/>
                    </a:solidFill>
                  </a:tcPr>
                </a:tc>
                <a:tc>
                  <a:txBody>
                    <a:bodyPr/>
                    <a:lstStyle/>
                    <a:p>
                      <a:r>
                        <a:rPr lang="en-US" sz="1100" b="1" dirty="0"/>
                        <a:t>Método</a:t>
                      </a:r>
                    </a:p>
                  </a:txBody>
                  <a:tcPr>
                    <a:solidFill>
                      <a:schemeClr val="accent2"/>
                    </a:solidFill>
                  </a:tcPr>
                </a:tc>
                <a:tc>
                  <a:txBody>
                    <a:bodyPr/>
                    <a:lstStyle/>
                    <a:p>
                      <a:r>
                        <a:rPr lang="en-US" sz="1100" b="1" dirty="0"/>
                        <a:t>Criterio</a:t>
                      </a:r>
                    </a:p>
                  </a:txBody>
                  <a:tcPr>
                    <a:solidFill>
                      <a:schemeClr val="accent2"/>
                    </a:solidFill>
                  </a:tcPr>
                </a:tc>
                <a:extLst>
                  <a:ext uri="{0D108BD9-81ED-4DB2-BD59-A6C34878D82A}">
                    <a16:rowId xmlns:a16="http://schemas.microsoft.com/office/drawing/2014/main" val="10000"/>
                  </a:ext>
                </a:extLst>
              </a:tr>
              <a:tr h="251459">
                <a:tc>
                  <a:txBody>
                    <a:bodyPr/>
                    <a:lstStyle/>
                    <a:p>
                      <a:r>
                        <a:rPr lang="en-US" sz="1100" dirty="0"/>
                        <a:t>Univariante</a:t>
                      </a:r>
                    </a:p>
                  </a:txBody>
                  <a:tcPr/>
                </a:tc>
                <a:tc>
                  <a:txBody>
                    <a:bodyPr/>
                    <a:lstStyle/>
                    <a:p>
                      <a:r>
                        <a:rPr lang="en-GB" sz="1100" dirty="0" err="1"/>
                        <a:t>Simétricas</a:t>
                      </a:r>
                      <a:endParaRPr lang="en-US" sz="1100" dirty="0"/>
                    </a:p>
                  </a:txBody>
                  <a:tcPr/>
                </a:tc>
                <a:tc>
                  <a:txBody>
                    <a:bodyPr/>
                    <a:lstStyle/>
                    <a:p>
                      <a:r>
                        <a:rPr lang="en-US" sz="1100" dirty="0"/>
                        <a:t>IQR</a:t>
                      </a:r>
                    </a:p>
                  </a:txBody>
                  <a:tcPr/>
                </a:tc>
                <a:tc>
                  <a:txBody>
                    <a:bodyPr/>
                    <a:lstStyle/>
                    <a:p>
                      <a:r>
                        <a:rPr lang="en-GB" sz="1100" dirty="0"/>
                        <a:t>1.5 × IQR</a:t>
                      </a:r>
                      <a:endParaRPr lang="en-US" sz="1100" dirty="0"/>
                    </a:p>
                  </a:txBody>
                  <a:tcPr/>
                </a:tc>
                <a:extLst>
                  <a:ext uri="{0D108BD9-81ED-4DB2-BD59-A6C34878D82A}">
                    <a16:rowId xmlns:a16="http://schemas.microsoft.com/office/drawing/2014/main" val="10001"/>
                  </a:ext>
                </a:extLst>
              </a:tr>
              <a:tr h="251459">
                <a:tc>
                  <a:txBody>
                    <a:bodyPr/>
                    <a:lstStyle/>
                    <a:p>
                      <a:r>
                        <a:rPr lang="en-US" sz="1100" dirty="0"/>
                        <a:t>Univariante </a:t>
                      </a:r>
                    </a:p>
                  </a:txBody>
                  <a:tcPr/>
                </a:tc>
                <a:tc>
                  <a:txBody>
                    <a:bodyPr/>
                    <a:lstStyle/>
                    <a:p>
                      <a:r>
                        <a:rPr lang="en-GB" sz="1100" dirty="0"/>
                        <a:t>No </a:t>
                      </a:r>
                      <a:r>
                        <a:rPr lang="en-GB" sz="1100" dirty="0" err="1"/>
                        <a:t>simétricas</a:t>
                      </a:r>
                      <a:endParaRPr lang="en-US" sz="1100" dirty="0"/>
                    </a:p>
                  </a:txBody>
                  <a:tcPr/>
                </a:tc>
                <a:tc>
                  <a:txBody>
                    <a:bodyPr/>
                    <a:lstStyle/>
                    <a:p>
                      <a:r>
                        <a:rPr lang="en-US" sz="1100" dirty="0"/>
                        <a:t>Hampel</a:t>
                      </a:r>
                    </a:p>
                  </a:txBody>
                  <a:tcPr/>
                </a:tc>
                <a:tc>
                  <a:txBody>
                    <a:bodyPr/>
                    <a:lstStyle/>
                    <a:p>
                      <a:r>
                        <a:rPr lang="en-GB" sz="1100" dirty="0"/>
                        <a:t>Mediana + MAD</a:t>
                      </a:r>
                      <a:endParaRPr lang="en-US" sz="1100" dirty="0"/>
                    </a:p>
                  </a:txBody>
                  <a:tcPr/>
                </a:tc>
                <a:extLst>
                  <a:ext uri="{0D108BD9-81ED-4DB2-BD59-A6C34878D82A}">
                    <a16:rowId xmlns:a16="http://schemas.microsoft.com/office/drawing/2014/main" val="10002"/>
                  </a:ext>
                </a:extLst>
              </a:tr>
              <a:tr h="251459">
                <a:tc>
                  <a:txBody>
                    <a:bodyPr/>
                    <a:lstStyle/>
                    <a:p>
                      <a:r>
                        <a:rPr lang="en-US" sz="1100" dirty="0"/>
                        <a:t>Univariante </a:t>
                      </a:r>
                    </a:p>
                  </a:txBody>
                  <a:tcPr/>
                </a:tc>
                <a:tc>
                  <a:txBody>
                    <a:bodyPr/>
                    <a:lstStyle/>
                    <a:p>
                      <a:r>
                        <a:rPr lang="en-GB" sz="1100" dirty="0" err="1"/>
                        <a:t>Categóricas</a:t>
                      </a:r>
                      <a:endParaRPr lang="en-US" sz="1100" dirty="0"/>
                    </a:p>
                  </a:txBody>
                  <a:tcPr/>
                </a:tc>
                <a:tc>
                  <a:txBody>
                    <a:bodyPr/>
                    <a:lstStyle/>
                    <a:p>
                      <a:r>
                        <a:rPr lang="en-GB" sz="1100" dirty="0" err="1"/>
                        <a:t>Frecuencias</a:t>
                      </a:r>
                      <a:r>
                        <a:rPr lang="en-GB" sz="1100" dirty="0"/>
                        <a:t> </a:t>
                      </a:r>
                      <a:r>
                        <a:rPr lang="en-GB" sz="1100" dirty="0" err="1"/>
                        <a:t>relativas</a:t>
                      </a:r>
                      <a:endParaRPr lang="en-US" sz="1100" dirty="0"/>
                    </a:p>
                  </a:txBody>
                  <a:tcPr/>
                </a:tc>
                <a:tc>
                  <a:txBody>
                    <a:bodyPr/>
                    <a:lstStyle/>
                    <a:p>
                      <a:r>
                        <a:rPr lang="en-GB" sz="1100" dirty="0"/>
                        <a:t>&lt; 5% del total</a:t>
                      </a:r>
                      <a:endParaRPr lang="en-US" sz="1100" dirty="0"/>
                    </a:p>
                  </a:txBody>
                  <a:tcPr/>
                </a:tc>
                <a:extLst>
                  <a:ext uri="{0D108BD9-81ED-4DB2-BD59-A6C34878D82A}">
                    <a16:rowId xmlns:a16="http://schemas.microsoft.com/office/drawing/2014/main" val="10003"/>
                  </a:ext>
                </a:extLst>
              </a:tr>
              <a:tr h="306609">
                <a:tc>
                  <a:txBody>
                    <a:bodyPr/>
                    <a:lstStyle/>
                    <a:p>
                      <a:r>
                        <a:rPr lang="en-US" sz="1100" dirty="0"/>
                        <a:t>Multivariante</a:t>
                      </a:r>
                    </a:p>
                  </a:txBody>
                  <a:tcPr/>
                </a:tc>
                <a:tc>
                  <a:txBody>
                    <a:bodyPr/>
                    <a:lstStyle/>
                    <a:p>
                      <a:r>
                        <a:rPr lang="en-US" sz="1100" dirty="0"/>
                        <a:t>Númericas</a:t>
                      </a:r>
                    </a:p>
                  </a:txBody>
                  <a:tcPr/>
                </a:tc>
                <a:tc>
                  <a:txBody>
                    <a:bodyPr/>
                    <a:lstStyle/>
                    <a:p>
                      <a:r>
                        <a:rPr lang="en-GB" sz="1100" dirty="0"/>
                        <a:t>Distancia </a:t>
                      </a:r>
                      <a:r>
                        <a:rPr lang="en-GB" sz="1100" dirty="0" err="1"/>
                        <a:t>Mahalanobis</a:t>
                      </a:r>
                      <a:r>
                        <a:rPr lang="en-GB" sz="1100" dirty="0"/>
                        <a:t> + LOF</a:t>
                      </a:r>
                      <a:endParaRPr lang="en-US" sz="1100" dirty="0"/>
                    </a:p>
                  </a:txBody>
                  <a:tcPr/>
                </a:tc>
                <a:tc>
                  <a:txBody>
                    <a:bodyPr/>
                    <a:lstStyle/>
                    <a:p>
                      <a:r>
                        <a:rPr lang="en-US" sz="1100" dirty="0"/>
                        <a:t>Gràficos </a:t>
                      </a:r>
                    </a:p>
                  </a:txBody>
                  <a:tcPr/>
                </a:tc>
                <a:extLst>
                  <a:ext uri="{0D108BD9-81ED-4DB2-BD59-A6C34878D82A}">
                    <a16:rowId xmlns:a16="http://schemas.microsoft.com/office/drawing/2014/main" val="10004"/>
                  </a:ext>
                </a:extLst>
              </a:tr>
            </a:tbl>
          </a:graphicData>
        </a:graphic>
      </p:graphicFrame>
      <p:sp>
        <p:nvSpPr>
          <p:cNvPr id="5" name="Rounded Rectangle 4"/>
          <p:cNvSpPr/>
          <p:nvPr/>
        </p:nvSpPr>
        <p:spPr>
          <a:xfrm>
            <a:off x="1338682" y="838225"/>
            <a:ext cx="2355494" cy="200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Métodos</a:t>
            </a:r>
          </a:p>
        </p:txBody>
      </p:sp>
      <p:pic>
        <p:nvPicPr>
          <p:cNvPr id="8" name="Picture 7" descr="A diagram of a graph&#10;&#10;AI-generated content may be incorrect."/>
          <p:cNvPicPr>
            <a:picLocks noChangeAspect="1"/>
          </p:cNvPicPr>
          <p:nvPr/>
        </p:nvPicPr>
        <p:blipFill>
          <a:blip r:embed="rId3"/>
          <a:stretch>
            <a:fillRect/>
          </a:stretch>
        </p:blipFill>
        <p:spPr>
          <a:xfrm>
            <a:off x="5897580" y="1101572"/>
            <a:ext cx="2895290" cy="1630680"/>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2083712892"/>
              </p:ext>
            </p:extLst>
          </p:nvPr>
        </p:nvGraphicFramePr>
        <p:xfrm>
          <a:off x="204824" y="2786279"/>
          <a:ext cx="8219176" cy="1220012"/>
        </p:xfrm>
        <a:graphic>
          <a:graphicData uri="http://schemas.openxmlformats.org/drawingml/2006/table">
            <a:tbl>
              <a:tblPr firstRow="1" bandRow="1">
                <a:tableStyleId>{7FD54D1E-A07F-487E-B709-6B33F1453160}</a:tableStyleId>
              </a:tblPr>
              <a:tblGrid>
                <a:gridCol w="2054794">
                  <a:extLst>
                    <a:ext uri="{9D8B030D-6E8A-4147-A177-3AD203B41FA5}">
                      <a16:colId xmlns:a16="http://schemas.microsoft.com/office/drawing/2014/main" val="20000"/>
                    </a:ext>
                  </a:extLst>
                </a:gridCol>
                <a:gridCol w="2054794">
                  <a:extLst>
                    <a:ext uri="{9D8B030D-6E8A-4147-A177-3AD203B41FA5}">
                      <a16:colId xmlns:a16="http://schemas.microsoft.com/office/drawing/2014/main" val="20001"/>
                    </a:ext>
                  </a:extLst>
                </a:gridCol>
                <a:gridCol w="2054794">
                  <a:extLst>
                    <a:ext uri="{9D8B030D-6E8A-4147-A177-3AD203B41FA5}">
                      <a16:colId xmlns:a16="http://schemas.microsoft.com/office/drawing/2014/main" val="20002"/>
                    </a:ext>
                  </a:extLst>
                </a:gridCol>
                <a:gridCol w="2054794">
                  <a:extLst>
                    <a:ext uri="{9D8B030D-6E8A-4147-A177-3AD203B41FA5}">
                      <a16:colId xmlns:a16="http://schemas.microsoft.com/office/drawing/2014/main" val="20003"/>
                    </a:ext>
                  </a:extLst>
                </a:gridCol>
              </a:tblGrid>
              <a:tr h="305003">
                <a:tc>
                  <a:txBody>
                    <a:bodyPr/>
                    <a:lstStyle/>
                    <a:p>
                      <a:r>
                        <a:rPr lang="en-US" dirty="0"/>
                        <a:t>Variable </a:t>
                      </a:r>
                    </a:p>
                  </a:txBody>
                  <a:tcPr/>
                </a:tc>
                <a:tc>
                  <a:txBody>
                    <a:bodyPr/>
                    <a:lstStyle/>
                    <a:p>
                      <a:r>
                        <a:rPr lang="en-US" dirty="0"/>
                        <a:t>Outliers detected</a:t>
                      </a:r>
                    </a:p>
                  </a:txBody>
                  <a:tcPr/>
                </a:tc>
                <a:tc>
                  <a:txBody>
                    <a:bodyPr/>
                    <a:lstStyle/>
                    <a:p>
                      <a:r>
                        <a:rPr lang="en-US" dirty="0"/>
                        <a:t>Ubicación</a:t>
                      </a:r>
                    </a:p>
                  </a:txBody>
                  <a:tcPr/>
                </a:tc>
                <a:tc>
                  <a:txBody>
                    <a:bodyPr/>
                    <a:lstStyle/>
                    <a:p>
                      <a:r>
                        <a:rPr lang="en-US" dirty="0"/>
                        <a:t>Características</a:t>
                      </a:r>
                    </a:p>
                  </a:txBody>
                  <a:tcPr/>
                </a:tc>
                <a:extLst>
                  <a:ext uri="{0D108BD9-81ED-4DB2-BD59-A6C34878D82A}">
                    <a16:rowId xmlns:a16="http://schemas.microsoft.com/office/drawing/2014/main" val="10000"/>
                  </a:ext>
                </a:extLst>
              </a:tr>
              <a:tr h="305003">
                <a:tc>
                  <a:txBody>
                    <a:bodyPr/>
                    <a:lstStyle/>
                    <a:p>
                      <a:r>
                        <a:rPr lang="en-US" dirty="0"/>
                        <a:t>Age</a:t>
                      </a:r>
                    </a:p>
                  </a:txBody>
                  <a:tcPr/>
                </a:tc>
                <a:tc>
                  <a:txBody>
                    <a:bodyPr/>
                    <a:lstStyle/>
                    <a:p>
                      <a:endParaRPr lang="en-US" dirty="0"/>
                    </a:p>
                  </a:txBody>
                  <a:tcPr/>
                </a:tc>
                <a:tc>
                  <a:txBody>
                    <a:bodyPr/>
                    <a:lstStyle/>
                    <a:p>
                      <a:r>
                        <a:rPr lang="en-US" dirty="0"/>
                        <a:t>Cola Derecha</a:t>
                      </a:r>
                    </a:p>
                  </a:txBody>
                  <a:tcPr/>
                </a:tc>
                <a:tc>
                  <a:txBody>
                    <a:bodyPr/>
                    <a:lstStyle/>
                    <a:p>
                      <a:r>
                        <a:rPr lang="en-GB" dirty="0"/>
                        <a:t>Valores </a:t>
                      </a:r>
                      <a:r>
                        <a:rPr lang="en-GB" dirty="0" err="1"/>
                        <a:t>extremos</a:t>
                      </a:r>
                      <a:r>
                        <a:rPr lang="en-GB" dirty="0"/>
                        <a:t> altos</a:t>
                      </a:r>
                      <a:endParaRPr lang="en-US" dirty="0"/>
                    </a:p>
                  </a:txBody>
                  <a:tcPr/>
                </a:tc>
                <a:extLst>
                  <a:ext uri="{0D108BD9-81ED-4DB2-BD59-A6C34878D82A}">
                    <a16:rowId xmlns:a16="http://schemas.microsoft.com/office/drawing/2014/main" val="10001"/>
                  </a:ext>
                </a:extLst>
              </a:tr>
              <a:tr h="305003">
                <a:tc>
                  <a:txBody>
                    <a:bodyPr/>
                    <a:lstStyle/>
                    <a:p>
                      <a:r>
                        <a:rPr lang="en-US" dirty="0"/>
                        <a:t>Estimated Salary</a:t>
                      </a:r>
                    </a:p>
                  </a:txBody>
                  <a:tcPr/>
                </a:tc>
                <a:tc>
                  <a:txBody>
                    <a:bodyPr/>
                    <a:lstStyle/>
                    <a:p>
                      <a:endParaRPr lang="en-US" dirty="0"/>
                    </a:p>
                  </a:txBody>
                  <a:tcPr/>
                </a:tc>
                <a:tc>
                  <a:txBody>
                    <a:bodyPr/>
                    <a:lstStyle/>
                    <a:p>
                      <a:r>
                        <a:rPr lang="en-US" dirty="0"/>
                        <a:t>Cola Derecha</a:t>
                      </a:r>
                    </a:p>
                  </a:txBody>
                  <a:tcPr/>
                </a:tc>
                <a:tc>
                  <a:txBody>
                    <a:bodyPr/>
                    <a:lstStyle/>
                    <a:p>
                      <a:r>
                        <a:rPr lang="en-GB" dirty="0" err="1"/>
                        <a:t>Salarios</a:t>
                      </a:r>
                      <a:r>
                        <a:rPr lang="en-GB" dirty="0"/>
                        <a:t> </a:t>
                      </a:r>
                      <a:r>
                        <a:rPr lang="en-GB" dirty="0" err="1"/>
                        <a:t>muy</a:t>
                      </a:r>
                      <a:r>
                        <a:rPr lang="en-GB" dirty="0"/>
                        <a:t> </a:t>
                      </a:r>
                      <a:r>
                        <a:rPr lang="en-GB" dirty="0" err="1"/>
                        <a:t>elevados</a:t>
                      </a:r>
                      <a:endParaRPr lang="en-US" dirty="0"/>
                    </a:p>
                  </a:txBody>
                  <a:tcPr/>
                </a:tc>
                <a:extLst>
                  <a:ext uri="{0D108BD9-81ED-4DB2-BD59-A6C34878D82A}">
                    <a16:rowId xmlns:a16="http://schemas.microsoft.com/office/drawing/2014/main" val="10002"/>
                  </a:ext>
                </a:extLst>
              </a:tr>
              <a:tr h="305003">
                <a:tc>
                  <a:txBody>
                    <a:bodyPr/>
                    <a:lstStyle/>
                    <a:p>
                      <a:r>
                        <a:rPr lang="en-US" dirty="0"/>
                        <a:t>Balance</a:t>
                      </a:r>
                    </a:p>
                  </a:txBody>
                  <a:tcPr/>
                </a:tc>
                <a:tc>
                  <a:txBody>
                    <a:bodyPr/>
                    <a:lstStyle/>
                    <a:p>
                      <a:endParaRPr lang="en-US" dirty="0"/>
                    </a:p>
                  </a:txBody>
                  <a:tcPr/>
                </a:tc>
                <a:tc>
                  <a:txBody>
                    <a:bodyPr/>
                    <a:lstStyle/>
                    <a:p>
                      <a:r>
                        <a:rPr lang="en-US" dirty="0"/>
                        <a:t>Cola Derecha</a:t>
                      </a:r>
                    </a:p>
                  </a:txBody>
                  <a:tcPr/>
                </a:tc>
                <a:tc>
                  <a:txBody>
                    <a:bodyPr/>
                    <a:lstStyle/>
                    <a:p>
                      <a:r>
                        <a:rPr lang="en-GB" dirty="0"/>
                        <a:t>Balances </a:t>
                      </a:r>
                      <a:r>
                        <a:rPr lang="en-GB" dirty="0" err="1"/>
                        <a:t>superiores</a:t>
                      </a:r>
                      <a:endParaRPr lang="en-US" dirty="0"/>
                    </a:p>
                  </a:txBody>
                  <a:tcPr/>
                </a:tc>
                <a:extLst>
                  <a:ext uri="{0D108BD9-81ED-4DB2-BD59-A6C34878D82A}">
                    <a16:rowId xmlns:a16="http://schemas.microsoft.com/office/drawing/2014/main" val="10003"/>
                  </a:ext>
                </a:extLst>
              </a:tr>
            </a:tbl>
          </a:graphicData>
        </a:graphic>
      </p:graphicFrame>
      <p:pic>
        <p:nvPicPr>
          <p:cNvPr id="12" name="Graphic 11" descr="Tick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031540"/>
            <a:ext cx="373532" cy="373532"/>
          </a:xfrm>
          <a:prstGeom prst="rect">
            <a:avLst/>
          </a:prstGeom>
        </p:spPr>
      </p:pic>
      <p:pic>
        <p:nvPicPr>
          <p:cNvPr id="13" name="Graphic 12" descr="Tick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377413"/>
            <a:ext cx="373532" cy="373532"/>
          </a:xfrm>
          <a:prstGeom prst="rect">
            <a:avLst/>
          </a:prstGeom>
        </p:spPr>
      </p:pic>
      <p:pic>
        <p:nvPicPr>
          <p:cNvPr id="14" name="Graphic 13" descr="Tick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1112" y="3742158"/>
            <a:ext cx="221132" cy="2817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0" y="398517"/>
            <a:ext cx="9004913" cy="572700"/>
          </a:xfrm>
          <a:prstGeom prst="rect">
            <a:avLst/>
          </a:prstGeom>
        </p:spPr>
        <p:txBody>
          <a:bodyPr spcFirstLastPara="1" wrap="square" lIns="91425" tIns="91425" rIns="91425" bIns="91425" anchor="t" anchorCtr="0">
            <a:noAutofit/>
          </a:bodyPr>
          <a:lstStyle/>
          <a:p>
            <a:pPr lvl="0"/>
            <a:r>
              <a:rPr lang="es-ES" sz="2400" dirty="0"/>
              <a:t>Ingeniería de variables 1/2: transformación</a:t>
            </a:r>
            <a:endParaRPr sz="2400" dirty="0"/>
          </a:p>
        </p:txBody>
      </p:sp>
      <p:cxnSp>
        <p:nvCxnSpPr>
          <p:cNvPr id="5" name="Straight Connector 4">
            <a:extLst>
              <a:ext uri="{FF2B5EF4-FFF2-40B4-BE49-F238E27FC236}">
                <a16:creationId xmlns:a16="http://schemas.microsoft.com/office/drawing/2014/main" id="{0B77C555-2991-906F-3AAB-CC0936277AAC}"/>
              </a:ext>
            </a:extLst>
          </p:cNvPr>
          <p:cNvCxnSpPr>
            <a:cxnSpLocks/>
          </p:cNvCxnSpPr>
          <p:nvPr/>
        </p:nvCxnSpPr>
        <p:spPr>
          <a:xfrm>
            <a:off x="4502456" y="1083778"/>
            <a:ext cx="0" cy="16573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579B8F9-8F3D-B404-74CE-72EEB3B4A68A}"/>
              </a:ext>
            </a:extLst>
          </p:cNvPr>
          <p:cNvCxnSpPr>
            <a:cxnSpLocks/>
          </p:cNvCxnSpPr>
          <p:nvPr/>
        </p:nvCxnSpPr>
        <p:spPr>
          <a:xfrm flipH="1">
            <a:off x="-69544" y="2720772"/>
            <a:ext cx="4572000" cy="2402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51AC01-62C7-8AB4-F21A-1DB2D2D2E369}"/>
              </a:ext>
            </a:extLst>
          </p:cNvPr>
          <p:cNvCxnSpPr>
            <a:cxnSpLocks/>
          </p:cNvCxnSpPr>
          <p:nvPr/>
        </p:nvCxnSpPr>
        <p:spPr>
          <a:xfrm>
            <a:off x="4502456" y="2735149"/>
            <a:ext cx="4631996" cy="2369388"/>
          </a:xfrm>
          <a:prstGeom prst="line">
            <a:avLst/>
          </a:prstGeom>
        </p:spPr>
        <p:style>
          <a:lnRef idx="1">
            <a:schemeClr val="accent1"/>
          </a:lnRef>
          <a:fillRef idx="0">
            <a:schemeClr val="accent1"/>
          </a:fillRef>
          <a:effectRef idx="0">
            <a:schemeClr val="accent1"/>
          </a:effectRef>
          <a:fontRef idx="minor">
            <a:schemeClr val="tx1"/>
          </a:fontRef>
        </p:style>
      </p:cxnSp>
      <p:sp>
        <p:nvSpPr>
          <p:cNvPr id="27" name="CuadroTexto 1">
            <a:extLst>
              <a:ext uri="{FF2B5EF4-FFF2-40B4-BE49-F238E27FC236}">
                <a16:creationId xmlns:a16="http://schemas.microsoft.com/office/drawing/2014/main" id="{9792A6BF-D3C9-1DCD-FB9A-10296D882659}"/>
              </a:ext>
            </a:extLst>
          </p:cNvPr>
          <p:cNvSpPr txBox="1"/>
          <p:nvPr/>
        </p:nvSpPr>
        <p:spPr>
          <a:xfrm>
            <a:off x="289112" y="902637"/>
            <a:ext cx="3779968" cy="1369606"/>
          </a:xfrm>
          <a:prstGeom prst="rect">
            <a:avLst/>
          </a:prstGeom>
          <a:noFill/>
        </p:spPr>
        <p:txBody>
          <a:bodyPr wrap="square" rtlCol="0">
            <a:spAutoFit/>
          </a:bodyPr>
          <a:lstStyle/>
          <a:p>
            <a:pPr algn="just"/>
            <a:r>
              <a:rPr lang="es-ES" sz="1100" b="1" dirty="0" err="1"/>
              <a:t>ComplaintsCount</a:t>
            </a:r>
            <a:endParaRPr lang="es-ES" sz="1100" b="1" dirty="0"/>
          </a:p>
          <a:p>
            <a:pPr lvl="0" eaLnBrk="0" fontAlgn="base" hangingPunct="0">
              <a:spcBef>
                <a:spcPct val="0"/>
              </a:spcBef>
              <a:spcAft>
                <a:spcPct val="0"/>
              </a:spcAft>
              <a:buClrTx/>
              <a:buFontTx/>
              <a:buChar char="•"/>
            </a:pPr>
            <a:r>
              <a:rPr lang="en-ES" altLang="en-ES" sz="1100" dirty="0">
                <a:solidFill>
                  <a:schemeClr val="tx1"/>
                </a:solidFill>
                <a:latin typeface="Arial" panose="020B0604020202020204" pitchFamily="34" charset="0"/>
              </a:rPr>
              <a:t>Se decidió </a:t>
            </a:r>
            <a:r>
              <a:rPr lang="en-ES" altLang="en-ES" sz="1100" b="1" dirty="0">
                <a:solidFill>
                  <a:schemeClr val="tx1"/>
                </a:solidFill>
                <a:latin typeface="Arial" panose="020B0604020202020204" pitchFamily="34" charset="0"/>
              </a:rPr>
              <a:t>dummyficar la variable</a:t>
            </a:r>
          </a:p>
          <a:p>
            <a:pPr lvl="0" eaLnBrk="0" fontAlgn="base" hangingPunct="0">
              <a:spcBef>
                <a:spcPct val="0"/>
              </a:spcBef>
              <a:spcAft>
                <a:spcPct val="0"/>
              </a:spcAft>
              <a:buClrTx/>
              <a:buFontTx/>
              <a:buChar char="•"/>
            </a:pPr>
            <a:r>
              <a:rPr lang="en-ES" altLang="en-ES" sz="1100" dirty="0">
                <a:solidFill>
                  <a:schemeClr val="tx1"/>
                </a:solidFill>
                <a:latin typeface="Arial" panose="020B0604020202020204" pitchFamily="34" charset="0"/>
              </a:rPr>
              <a:t>. La información se simplifica para indicar </a:t>
            </a:r>
          </a:p>
          <a:p>
            <a:pPr lvl="0" eaLnBrk="0" fontAlgn="base" hangingPunct="0">
              <a:spcBef>
                <a:spcPct val="0"/>
              </a:spcBef>
              <a:spcAft>
                <a:spcPct val="0"/>
              </a:spcAft>
              <a:buClrTx/>
            </a:pPr>
            <a:r>
              <a:rPr lang="en-ES" altLang="en-ES" sz="1100" b="1" dirty="0">
                <a:solidFill>
                  <a:schemeClr val="tx1"/>
                </a:solidFill>
                <a:latin typeface="Arial" panose="020B0604020202020204" pitchFamily="34" charset="0"/>
              </a:rPr>
              <a:t>si el cliente ha emitido alguna queja o no</a:t>
            </a:r>
          </a:p>
          <a:p>
            <a:pPr marL="285750" lvl="0" indent="-285750" eaLnBrk="0" fontAlgn="base" hangingPunct="0">
              <a:spcBef>
                <a:spcPct val="0"/>
              </a:spcBef>
              <a:spcAft>
                <a:spcPct val="0"/>
              </a:spcAft>
              <a:buClrTx/>
              <a:buFont typeface="Arial" panose="020B0604020202020204" pitchFamily="34" charset="0"/>
              <a:buChar char="•"/>
            </a:pPr>
            <a:r>
              <a:rPr lang="en-ES" altLang="en-ES" sz="1100" dirty="0">
                <a:solidFill>
                  <a:schemeClr val="tx1"/>
                </a:solidFill>
                <a:latin typeface="Arial" panose="020B0604020202020204" pitchFamily="34" charset="0"/>
              </a:rPr>
              <a:t>Variable: Númerica            Factor binario</a:t>
            </a:r>
          </a:p>
          <a:p>
            <a:pPr lvl="0" eaLnBrk="0" fontAlgn="base" hangingPunct="0">
              <a:spcBef>
                <a:spcPct val="0"/>
              </a:spcBef>
              <a:spcAft>
                <a:spcPct val="0"/>
              </a:spcAft>
              <a:buClrTx/>
            </a:pPr>
            <a:endParaRPr lang="es-ES" b="1" dirty="0"/>
          </a:p>
          <a:p>
            <a:pPr marL="285750" indent="-285750" algn="just">
              <a:buFont typeface="Arial" panose="020B0604020202020204" pitchFamily="34" charset="0"/>
              <a:buChar char="•"/>
            </a:pPr>
            <a:endParaRPr lang="es-ES" b="1" dirty="0"/>
          </a:p>
        </p:txBody>
      </p:sp>
      <p:cxnSp>
        <p:nvCxnSpPr>
          <p:cNvPr id="28" name="Straight Arrow Connector 27">
            <a:extLst>
              <a:ext uri="{FF2B5EF4-FFF2-40B4-BE49-F238E27FC236}">
                <a16:creationId xmlns:a16="http://schemas.microsoft.com/office/drawing/2014/main" id="{D63D8225-BE49-E574-F7AD-586AF271CAC0}"/>
              </a:ext>
            </a:extLst>
          </p:cNvPr>
          <p:cNvCxnSpPr>
            <a:cxnSpLocks/>
          </p:cNvCxnSpPr>
          <p:nvPr/>
        </p:nvCxnSpPr>
        <p:spPr>
          <a:xfrm>
            <a:off x="1979003" y="1725659"/>
            <a:ext cx="2000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Imagen 5">
            <a:extLst>
              <a:ext uri="{FF2B5EF4-FFF2-40B4-BE49-F238E27FC236}">
                <a16:creationId xmlns:a16="http://schemas.microsoft.com/office/drawing/2014/main" id="{2473D714-7AFD-5B6A-7337-D8E77EDAF5C4}"/>
              </a:ext>
            </a:extLst>
          </p:cNvPr>
          <p:cNvPicPr>
            <a:picLocks noChangeAspect="1"/>
          </p:cNvPicPr>
          <p:nvPr/>
        </p:nvPicPr>
        <p:blipFill>
          <a:blip r:embed="rId3"/>
          <a:stretch>
            <a:fillRect/>
          </a:stretch>
        </p:blipFill>
        <p:spPr>
          <a:xfrm>
            <a:off x="92951" y="2130401"/>
            <a:ext cx="1625642" cy="1911754"/>
          </a:xfrm>
          <a:prstGeom prst="rect">
            <a:avLst/>
          </a:prstGeom>
        </p:spPr>
      </p:pic>
      <p:sp>
        <p:nvSpPr>
          <p:cNvPr id="31" name="Flecha: a la derecha 8">
            <a:extLst>
              <a:ext uri="{FF2B5EF4-FFF2-40B4-BE49-F238E27FC236}">
                <a16:creationId xmlns:a16="http://schemas.microsoft.com/office/drawing/2014/main" id="{30F0B31A-26C7-9855-91A6-C2461B77F3AA}"/>
              </a:ext>
            </a:extLst>
          </p:cNvPr>
          <p:cNvSpPr/>
          <p:nvPr/>
        </p:nvSpPr>
        <p:spPr>
          <a:xfrm>
            <a:off x="1856166" y="2882971"/>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2" name="Imagen 7">
            <a:extLst>
              <a:ext uri="{FF2B5EF4-FFF2-40B4-BE49-F238E27FC236}">
                <a16:creationId xmlns:a16="http://schemas.microsoft.com/office/drawing/2014/main" id="{B6086ABC-6B96-0101-76AA-A415BE9723C9}"/>
              </a:ext>
            </a:extLst>
          </p:cNvPr>
          <p:cNvPicPr>
            <a:picLocks noChangeAspect="1"/>
          </p:cNvPicPr>
          <p:nvPr/>
        </p:nvPicPr>
        <p:blipFill>
          <a:blip r:embed="rId4"/>
          <a:stretch>
            <a:fillRect/>
          </a:stretch>
        </p:blipFill>
        <p:spPr>
          <a:xfrm>
            <a:off x="2371476" y="2066017"/>
            <a:ext cx="1313795" cy="1711680"/>
          </a:xfrm>
          <a:prstGeom prst="rect">
            <a:avLst/>
          </a:prstGeom>
        </p:spPr>
      </p:pic>
      <p:sp>
        <p:nvSpPr>
          <p:cNvPr id="34" name="CuadroTexto 9">
            <a:extLst>
              <a:ext uri="{FF2B5EF4-FFF2-40B4-BE49-F238E27FC236}">
                <a16:creationId xmlns:a16="http://schemas.microsoft.com/office/drawing/2014/main" id="{20BEEFED-2A6B-33EF-B1CA-CBD837A43B1D}"/>
              </a:ext>
            </a:extLst>
          </p:cNvPr>
          <p:cNvSpPr txBox="1"/>
          <p:nvPr/>
        </p:nvSpPr>
        <p:spPr>
          <a:xfrm>
            <a:off x="4844426" y="1002664"/>
            <a:ext cx="3948057" cy="769441"/>
          </a:xfrm>
          <a:prstGeom prst="rect">
            <a:avLst/>
          </a:prstGeom>
          <a:noFill/>
        </p:spPr>
        <p:txBody>
          <a:bodyPr wrap="square" rtlCol="0">
            <a:spAutoFit/>
          </a:bodyPr>
          <a:lstStyle/>
          <a:p>
            <a:pPr algn="just"/>
            <a:r>
              <a:rPr lang="es-ES" sz="1100" b="1" dirty="0" err="1"/>
              <a:t>NumOfProducts</a:t>
            </a:r>
            <a:endParaRPr lang="es-ES" sz="1100" b="1" dirty="0"/>
          </a:p>
          <a:p>
            <a:pPr marL="285750" indent="-285750" algn="just">
              <a:buFont typeface="Arial" panose="020B0604020202020204" pitchFamily="34" charset="0"/>
              <a:buChar char="•"/>
            </a:pPr>
            <a:r>
              <a:rPr lang="es-ES" sz="1100" dirty="0" err="1"/>
              <a:t>Mayoria</a:t>
            </a:r>
            <a:r>
              <a:rPr lang="es-ES" sz="1100" dirty="0"/>
              <a:t> de clientes tienes </a:t>
            </a:r>
            <a:r>
              <a:rPr lang="es-ES" sz="1100" b="1" dirty="0"/>
              <a:t>1 | 2 productos </a:t>
            </a:r>
          </a:p>
          <a:p>
            <a:pPr marL="285750" indent="-285750" algn="just">
              <a:buFont typeface="Arial" panose="020B0604020202020204" pitchFamily="34" charset="0"/>
              <a:buChar char="•"/>
            </a:pPr>
            <a:r>
              <a:rPr lang="es-ES" sz="1100" b="1" dirty="0" err="1"/>
              <a:t>Minoria</a:t>
            </a:r>
            <a:r>
              <a:rPr lang="es-ES" sz="1100" b="1" dirty="0"/>
              <a:t>         </a:t>
            </a:r>
            <a:r>
              <a:rPr lang="es-ES" sz="1100" dirty="0"/>
              <a:t>3 o más productos</a:t>
            </a:r>
          </a:p>
          <a:p>
            <a:pPr marL="285750" indent="-285750" algn="just">
              <a:buFont typeface="Arial" panose="020B0604020202020204" pitchFamily="34" charset="0"/>
              <a:buChar char="•"/>
            </a:pPr>
            <a:r>
              <a:rPr lang="es-ES" sz="1100" dirty="0"/>
              <a:t>Categorización de la variable (1, 2, +3 productos)</a:t>
            </a:r>
          </a:p>
        </p:txBody>
      </p:sp>
      <p:cxnSp>
        <p:nvCxnSpPr>
          <p:cNvPr id="35" name="Straight Arrow Connector 34">
            <a:extLst>
              <a:ext uri="{FF2B5EF4-FFF2-40B4-BE49-F238E27FC236}">
                <a16:creationId xmlns:a16="http://schemas.microsoft.com/office/drawing/2014/main" id="{3834C496-A928-10D0-48C6-CE8CEF9BC974}"/>
              </a:ext>
            </a:extLst>
          </p:cNvPr>
          <p:cNvCxnSpPr>
            <a:cxnSpLocks/>
          </p:cNvCxnSpPr>
          <p:nvPr/>
        </p:nvCxnSpPr>
        <p:spPr>
          <a:xfrm>
            <a:off x="5789919" y="1483607"/>
            <a:ext cx="252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Imagen 14">
            <a:extLst>
              <a:ext uri="{FF2B5EF4-FFF2-40B4-BE49-F238E27FC236}">
                <a16:creationId xmlns:a16="http://schemas.microsoft.com/office/drawing/2014/main" id="{B6FD0232-66CA-722F-FE7D-46333FFF578A}"/>
              </a:ext>
            </a:extLst>
          </p:cNvPr>
          <p:cNvPicPr>
            <a:picLocks noChangeAspect="1"/>
          </p:cNvPicPr>
          <p:nvPr/>
        </p:nvPicPr>
        <p:blipFill>
          <a:blip r:embed="rId5"/>
          <a:stretch>
            <a:fillRect/>
          </a:stretch>
        </p:blipFill>
        <p:spPr>
          <a:xfrm>
            <a:off x="4978143" y="1806569"/>
            <a:ext cx="1490982" cy="1810178"/>
          </a:xfrm>
          <a:prstGeom prst="rect">
            <a:avLst/>
          </a:prstGeom>
        </p:spPr>
      </p:pic>
      <p:sp>
        <p:nvSpPr>
          <p:cNvPr id="38" name="Flecha: a la derecha 15">
            <a:extLst>
              <a:ext uri="{FF2B5EF4-FFF2-40B4-BE49-F238E27FC236}">
                <a16:creationId xmlns:a16="http://schemas.microsoft.com/office/drawing/2014/main" id="{97FDFF4E-DB65-0A9D-AD32-A48F44DCCB2C}"/>
              </a:ext>
            </a:extLst>
          </p:cNvPr>
          <p:cNvSpPr/>
          <p:nvPr/>
        </p:nvSpPr>
        <p:spPr>
          <a:xfrm>
            <a:off x="6584820" y="26314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9" name="Imagen 12">
            <a:extLst>
              <a:ext uri="{FF2B5EF4-FFF2-40B4-BE49-F238E27FC236}">
                <a16:creationId xmlns:a16="http://schemas.microsoft.com/office/drawing/2014/main" id="{1630429D-38A6-5D5E-B15C-26CDC195A904}"/>
              </a:ext>
            </a:extLst>
          </p:cNvPr>
          <p:cNvPicPr>
            <a:picLocks noChangeAspect="1"/>
          </p:cNvPicPr>
          <p:nvPr/>
        </p:nvPicPr>
        <p:blipFill>
          <a:blip r:embed="rId6"/>
          <a:stretch>
            <a:fillRect/>
          </a:stretch>
        </p:blipFill>
        <p:spPr>
          <a:xfrm>
            <a:off x="7121457" y="1764302"/>
            <a:ext cx="2022543" cy="2315110"/>
          </a:xfrm>
          <a:prstGeom prst="rect">
            <a:avLst/>
          </a:prstGeom>
        </p:spPr>
      </p:pic>
      <p:sp>
        <p:nvSpPr>
          <p:cNvPr id="41" name="TextBox 40">
            <a:extLst>
              <a:ext uri="{FF2B5EF4-FFF2-40B4-BE49-F238E27FC236}">
                <a16:creationId xmlns:a16="http://schemas.microsoft.com/office/drawing/2014/main" id="{81B73DF3-889B-919D-3428-CF6CB6CA8160}"/>
              </a:ext>
            </a:extLst>
          </p:cNvPr>
          <p:cNvSpPr txBox="1"/>
          <p:nvPr/>
        </p:nvSpPr>
        <p:spPr>
          <a:xfrm>
            <a:off x="1097992" y="4586981"/>
            <a:ext cx="1842171" cy="307777"/>
          </a:xfrm>
          <a:prstGeom prst="rect">
            <a:avLst/>
          </a:prstGeom>
          <a:noFill/>
        </p:spPr>
        <p:txBody>
          <a:bodyPr wrap="none" rtlCol="0">
            <a:spAutoFit/>
          </a:bodyPr>
          <a:lstStyle/>
          <a:p>
            <a:r>
              <a:rPr lang="en-ES" b="1" dirty="0"/>
              <a:t>Balance -&gt; Dummy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2" name="Google Shape;633;p34"/>
          <p:cNvSpPr txBox="1">
            <a:spLocks noGrp="1"/>
          </p:cNvSpPr>
          <p:nvPr>
            <p:ph type="title"/>
          </p:nvPr>
        </p:nvSpPr>
        <p:spPr>
          <a:xfrm>
            <a:off x="720725" y="428526"/>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p:cNvSpPr txBox="1"/>
          <p:nvPr/>
        </p:nvSpPr>
        <p:spPr>
          <a:xfrm>
            <a:off x="2117102" y="1253058"/>
            <a:ext cx="7702550" cy="1384995"/>
          </a:xfrm>
          <a:prstGeom prst="rect">
            <a:avLst/>
          </a:prstGeom>
          <a:noFill/>
        </p:spPr>
        <p:txBody>
          <a:bodyPr wrap="square" rtlCol="0">
            <a:spAutoFit/>
          </a:bodyPr>
          <a:lstStyle/>
          <a:p>
            <a:endParaRPr lang="es-ES" sz="1200" dirty="0"/>
          </a:p>
          <a:p>
            <a:endParaRPr lang="es-ES" sz="1200" dirty="0"/>
          </a:p>
          <a:p>
            <a:pPr marL="171450" indent="-171450">
              <a:buFont typeface="Arial" panose="020B0604020202020204" pitchFamily="34" charset="0"/>
              <a:buChar char="•"/>
            </a:pPr>
            <a:r>
              <a:rPr lang="es-ES" sz="1200" dirty="0"/>
              <a:t>Variables numéricas: Test de mediana</a:t>
            </a:r>
          </a:p>
          <a:p>
            <a:pPr marL="171450" indent="-171450">
              <a:buFont typeface="Arial" panose="020B0604020202020204" pitchFamily="34" charset="0"/>
              <a:buChar char="•"/>
            </a:pPr>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p:cNvPicPr>
            <a:picLocks noChangeAspect="1"/>
          </p:cNvPicPr>
          <p:nvPr/>
        </p:nvPicPr>
        <p:blipFill>
          <a:blip r:embed="rId3"/>
          <a:stretch>
            <a:fillRect/>
          </a:stretch>
        </p:blipFill>
        <p:spPr>
          <a:xfrm>
            <a:off x="2119997" y="2510828"/>
            <a:ext cx="4594061" cy="1418710"/>
          </a:xfrm>
          <a:prstGeom prst="rect">
            <a:avLst/>
          </a:prstGeom>
        </p:spPr>
      </p:pic>
      <p:sp>
        <p:nvSpPr>
          <p:cNvPr id="8" name="CuadroTexto 7"/>
          <p:cNvSpPr txBox="1"/>
          <p:nvPr/>
        </p:nvSpPr>
        <p:spPr>
          <a:xfrm>
            <a:off x="408790" y="4046018"/>
            <a:ext cx="8178017" cy="461665"/>
          </a:xfrm>
          <a:prstGeom prst="rect">
            <a:avLst/>
          </a:prstGeom>
          <a:noFill/>
        </p:spPr>
        <p:txBody>
          <a:bodyPr wrap="square" rtlCol="0">
            <a:spAutoFit/>
          </a:bodyPr>
          <a:lstStyle/>
          <a:p>
            <a:pPr marL="171450" indent="-171450">
              <a:buFont typeface="Arial" panose="020B0604020202020204" pitchFamily="34" charset="0"/>
              <a:buChar char="•"/>
              <a:defRPr sz="1600">
                <a:latin typeface="Arial" panose="020B0604020202020204"/>
              </a:defRPr>
            </a:pPr>
            <a:r>
              <a:rPr lang="en-GB" sz="1200" dirty="0"/>
              <a:t>Las variables </a:t>
            </a:r>
            <a:r>
              <a:rPr lang="en-GB" sz="1200" b="1" dirty="0" err="1"/>
              <a:t>EstimatedSalary</a:t>
            </a:r>
            <a:r>
              <a:rPr lang="en-GB" sz="1200" b="1" dirty="0"/>
              <a:t> y </a:t>
            </a:r>
            <a:r>
              <a:rPr lang="en-GB" sz="1200" b="1" dirty="0" err="1"/>
              <a:t>CreditScore</a:t>
            </a:r>
            <a:r>
              <a:rPr lang="en-GB" sz="1200" b="1" dirty="0"/>
              <a:t>         </a:t>
            </a:r>
            <a:r>
              <a:rPr lang="en-GB" sz="1200" dirty="0"/>
              <a:t>p-</a:t>
            </a:r>
            <a:r>
              <a:rPr lang="en-GB" sz="1200" dirty="0" err="1"/>
              <a:t>valores</a:t>
            </a:r>
            <a:r>
              <a:rPr lang="en-GB" sz="1200" dirty="0"/>
              <a:t> </a:t>
            </a:r>
            <a:r>
              <a:rPr lang="en-GB" sz="1200" dirty="0" err="1"/>
              <a:t>cercanos</a:t>
            </a:r>
            <a:r>
              <a:rPr lang="en-GB" sz="1200" dirty="0"/>
              <a:t> a 0.05 antes de la </a:t>
            </a:r>
            <a:r>
              <a:rPr lang="en-GB" sz="1200" dirty="0" err="1"/>
              <a:t>imputación</a:t>
            </a:r>
            <a:r>
              <a:rPr lang="en-GB" sz="1200" dirty="0"/>
              <a:t> de NA.</a:t>
            </a:r>
          </a:p>
          <a:p>
            <a:pPr marL="171450" indent="-171450">
              <a:buFont typeface="Arial" panose="020B0604020202020204" pitchFamily="34" charset="0"/>
              <a:buChar char="•"/>
              <a:defRPr sz="1600">
                <a:latin typeface="Arial" panose="020B0604020202020204"/>
              </a:defRPr>
            </a:pPr>
            <a:r>
              <a:rPr lang="en-GB" sz="1200" dirty="0"/>
              <a:t>Se </a:t>
            </a:r>
            <a:r>
              <a:rPr lang="en-GB" sz="1200" dirty="0" err="1"/>
              <a:t>probará</a:t>
            </a:r>
            <a:r>
              <a:rPr lang="en-GB" sz="1200" dirty="0"/>
              <a:t> </a:t>
            </a:r>
            <a:r>
              <a:rPr lang="en-GB" sz="1200" dirty="0" err="1"/>
              <a:t>el</a:t>
            </a:r>
            <a:r>
              <a:rPr lang="en-GB" sz="1200" dirty="0"/>
              <a:t> </a:t>
            </a:r>
            <a:r>
              <a:rPr lang="en-GB" sz="1200" dirty="0" err="1"/>
              <a:t>modelo</a:t>
            </a:r>
            <a:r>
              <a:rPr lang="en-GB" sz="1200" dirty="0"/>
              <a:t> con y sin </a:t>
            </a:r>
            <a:r>
              <a:rPr lang="en-GB" sz="1200" dirty="0" err="1"/>
              <a:t>estas</a:t>
            </a:r>
            <a:r>
              <a:rPr lang="en-GB" sz="1200" dirty="0"/>
              <a:t> dos variables para </a:t>
            </a:r>
            <a:r>
              <a:rPr lang="en-GB" sz="1200" dirty="0" err="1"/>
              <a:t>verificar</a:t>
            </a:r>
            <a:r>
              <a:rPr lang="en-GB" sz="1200" dirty="0"/>
              <a:t> </a:t>
            </a:r>
            <a:r>
              <a:rPr lang="en-GB" sz="1200" b="1" dirty="0" err="1"/>
              <a:t>diferencias</a:t>
            </a:r>
            <a:r>
              <a:rPr lang="en-GB" sz="1200" b="1" dirty="0"/>
              <a:t> </a:t>
            </a:r>
            <a:r>
              <a:rPr lang="en-GB" sz="1200" b="1" dirty="0" err="1"/>
              <a:t>en</a:t>
            </a:r>
            <a:r>
              <a:rPr lang="en-GB" sz="1200" b="1" dirty="0"/>
              <a:t> </a:t>
            </a:r>
            <a:r>
              <a:rPr lang="en-GB" sz="1200" b="1" dirty="0" err="1"/>
              <a:t>los</a:t>
            </a:r>
            <a:r>
              <a:rPr lang="en-GB" sz="1200" b="1" dirty="0"/>
              <a:t> </a:t>
            </a:r>
            <a:r>
              <a:rPr lang="en-GB" sz="1200" b="1" dirty="0" err="1"/>
              <a:t>resultados</a:t>
            </a:r>
            <a:r>
              <a:rPr lang="en-GB" sz="1200" b="1" dirty="0"/>
              <a:t>.</a:t>
            </a:r>
          </a:p>
        </p:txBody>
      </p:sp>
      <p:sp>
        <p:nvSpPr>
          <p:cNvPr id="4" name="Rounded Rectangle 3"/>
          <p:cNvSpPr/>
          <p:nvPr/>
        </p:nvSpPr>
        <p:spPr>
          <a:xfrm>
            <a:off x="817297" y="964666"/>
            <a:ext cx="7025864" cy="43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t>Sobre la base de datos imputada y transformada se realizaron </a:t>
            </a:r>
            <a:r>
              <a:rPr lang="es-ES" sz="1100" dirty="0" err="1"/>
              <a:t>tests</a:t>
            </a:r>
            <a:r>
              <a:rPr lang="es-ES" sz="1100" dirty="0"/>
              <a:t> de significancia para determinar qué variables son importantes para describir el comportamiento de la variable </a:t>
            </a:r>
            <a:r>
              <a:rPr lang="es-ES" sz="1100" dirty="0" err="1"/>
              <a:t>Exited</a:t>
            </a:r>
            <a:endParaRPr lang="en-US" sz="1100" dirty="0"/>
          </a:p>
        </p:txBody>
      </p:sp>
      <p:cxnSp>
        <p:nvCxnSpPr>
          <p:cNvPr id="6" name="Straight Arrow Connector 5"/>
          <p:cNvCxnSpPr/>
          <p:nvPr/>
        </p:nvCxnSpPr>
        <p:spPr>
          <a:xfrm>
            <a:off x="3876085" y="4046018"/>
            <a:ext cx="21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p:cNvGrpSpPr/>
          <p:nvPr/>
        </p:nvGrpSpPr>
        <p:grpSpPr>
          <a:xfrm>
            <a:off x="1263704" y="2892821"/>
            <a:ext cx="362991" cy="290018"/>
            <a:chOff x="3049653" y="2321468"/>
            <a:chExt cx="362991" cy="290018"/>
          </a:xfrm>
        </p:grpSpPr>
        <p:sp>
          <p:nvSpPr>
            <p:cNvPr id="617" name="Google Shape;895;p25"/>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p:cNvSpPr/>
          <p:nvPr/>
        </p:nvSpPr>
        <p:spPr>
          <a:xfrm>
            <a:off x="147827" y="741395"/>
            <a:ext cx="4026138"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 (el cliente se queda)</a:t>
            </a:r>
            <a:endParaRPr dirty="0">
              <a:latin typeface="Arial Rounded MT Bold" panose="020F0704030504030204" pitchFamily="34" charset="0"/>
            </a:endParaRPr>
          </a:p>
        </p:txBody>
      </p:sp>
      <p:pic>
        <p:nvPicPr>
          <p:cNvPr id="630" name="Imagen 629"/>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p:cNvSpPr txBox="1"/>
          <p:nvPr/>
        </p:nvSpPr>
        <p:spPr>
          <a:xfrm>
            <a:off x="4649663" y="3336128"/>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p:cNvSpPr/>
          <p:nvPr/>
        </p:nvSpPr>
        <p:spPr>
          <a:xfrm>
            <a:off x="4582757" y="730815"/>
            <a:ext cx="3774337"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 (el cliente se va)</a:t>
            </a:r>
          </a:p>
        </p:txBody>
      </p:sp>
      <p:sp>
        <p:nvSpPr>
          <p:cNvPr id="634" name="CuadroTexto 633"/>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673945" y="285499"/>
            <a:ext cx="7704000" cy="572700"/>
          </a:xfrm>
          <a:prstGeom prst="rect">
            <a:avLst/>
          </a:prstGeom>
        </p:spPr>
        <p:txBody>
          <a:bodyPr spcFirstLastPara="1" wrap="square" lIns="91425" tIns="91425" rIns="91425" bIns="91425" anchor="t" anchorCtr="0">
            <a:noAutofit/>
          </a:bodyPr>
          <a:lstStyle/>
          <a:p>
            <a:pPr lvl="0"/>
            <a:r>
              <a:rPr lang="es-ES" dirty="0"/>
              <a:t>PREPARACIÓN PARA EL MODELADO</a:t>
            </a:r>
            <a:endParaRPr dirty="0"/>
          </a:p>
        </p:txBody>
      </p:sp>
      <p:pic>
        <p:nvPicPr>
          <p:cNvPr id="1026" name="Picture 2" descr="Handling Imbalanced Dataset In Machine Learning. | by Shivam Chhetry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48" y="1073150"/>
            <a:ext cx="2318042" cy="1155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59833" y="748484"/>
            <a:ext cx="2064989" cy="307777"/>
          </a:xfrm>
          <a:prstGeom prst="rect">
            <a:avLst/>
          </a:prstGeom>
          <a:noFill/>
        </p:spPr>
        <p:txBody>
          <a:bodyPr wrap="none" rtlCol="0">
            <a:spAutoFit/>
          </a:bodyPr>
          <a:lstStyle/>
          <a:p>
            <a:r>
              <a:rPr lang="en-US" dirty="0"/>
              <a:t>Dataset desbalanceado</a:t>
            </a:r>
          </a:p>
        </p:txBody>
      </p:sp>
      <p:sp>
        <p:nvSpPr>
          <p:cNvPr id="5" name="TextBox 4"/>
          <p:cNvSpPr txBox="1"/>
          <p:nvPr/>
        </p:nvSpPr>
        <p:spPr>
          <a:xfrm>
            <a:off x="862078" y="2242522"/>
            <a:ext cx="1460500" cy="430887"/>
          </a:xfrm>
          <a:prstGeom prst="rect">
            <a:avLst/>
          </a:prstGeom>
          <a:noFill/>
        </p:spPr>
        <p:txBody>
          <a:bodyPr wrap="square">
            <a:spAutoFit/>
          </a:bodyPr>
          <a:lstStyle/>
          <a:p>
            <a:pPr algn="ctr"/>
            <a:r>
              <a:rPr lang="en-US" sz="1100" dirty="0"/>
              <a:t>Clase negativa 80%</a:t>
            </a:r>
            <a:br>
              <a:rPr lang="en-US" sz="1100" dirty="0"/>
            </a:br>
            <a:r>
              <a:rPr lang="en-US" sz="1100" dirty="0"/>
              <a:t>Modelo sesgado</a:t>
            </a:r>
          </a:p>
        </p:txBody>
      </p:sp>
      <p:pic>
        <p:nvPicPr>
          <p:cNvPr id="1028" name="Picture 4" descr="71 mil resultados de imágenes, fotos de stock e ilustraciones libres de  regalías para Red x symbol | Shuttersto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485" y="2301581"/>
            <a:ext cx="458759" cy="421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2908300" y="1651000"/>
            <a:ext cx="844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752551" y="765373"/>
            <a:ext cx="1925527" cy="307777"/>
          </a:xfrm>
          <a:prstGeom prst="rect">
            <a:avLst/>
          </a:prstGeom>
          <a:noFill/>
        </p:spPr>
        <p:txBody>
          <a:bodyPr wrap="none" rtlCol="0">
            <a:spAutoFit/>
          </a:bodyPr>
          <a:lstStyle/>
          <a:p>
            <a:r>
              <a:rPr lang="en-US" dirty="0"/>
              <a:t>Técnicas de balanceo</a:t>
            </a:r>
          </a:p>
        </p:txBody>
      </p:sp>
      <p:pic>
        <p:nvPicPr>
          <p:cNvPr id="1030" name="Picture 6" descr="Imbalanced Vs Balanced Dataset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710" y="855762"/>
            <a:ext cx="2318042" cy="15909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706863" y="740645"/>
            <a:ext cx="1717137" cy="307777"/>
          </a:xfrm>
          <a:prstGeom prst="rect">
            <a:avLst/>
          </a:prstGeom>
          <a:noFill/>
        </p:spPr>
        <p:txBody>
          <a:bodyPr wrap="none" rtlCol="0">
            <a:spAutoFit/>
          </a:bodyPr>
          <a:lstStyle/>
          <a:p>
            <a:r>
              <a:rPr lang="en-US" dirty="0"/>
              <a:t>Datos balanceados</a:t>
            </a:r>
          </a:p>
        </p:txBody>
      </p:sp>
      <p:sp>
        <p:nvSpPr>
          <p:cNvPr id="10" name="TextBox 9"/>
          <p:cNvSpPr txBox="1"/>
          <p:nvPr/>
        </p:nvSpPr>
        <p:spPr>
          <a:xfrm>
            <a:off x="6836802" y="2455328"/>
            <a:ext cx="1313180" cy="261610"/>
          </a:xfrm>
          <a:prstGeom prst="rect">
            <a:avLst/>
          </a:prstGeom>
          <a:noFill/>
        </p:spPr>
        <p:txBody>
          <a:bodyPr wrap="none" rtlCol="0">
            <a:spAutoFit/>
          </a:bodyPr>
          <a:lstStyle/>
          <a:p>
            <a:r>
              <a:rPr lang="en-US" sz="1100" dirty="0"/>
              <a:t>Mejor rendimiento</a:t>
            </a:r>
          </a:p>
        </p:txBody>
      </p:sp>
      <p:cxnSp>
        <p:nvCxnSpPr>
          <p:cNvPr id="11" name="Straight Arrow Connector 10"/>
          <p:cNvCxnSpPr/>
          <p:nvPr/>
        </p:nvCxnSpPr>
        <p:spPr>
          <a:xfrm>
            <a:off x="5630353" y="1651000"/>
            <a:ext cx="780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34" name="Picture 10" descr="30.600+ Tick Verde Fotografías de stock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364" y="2348495"/>
            <a:ext cx="475275" cy="47527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3860728" y="1084156"/>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a:t>
            </a:r>
            <a:r>
              <a:rPr lang="en-US" dirty="0">
                <a:solidFill>
                  <a:schemeClr val="tx1"/>
                </a:solidFill>
              </a:rPr>
              <a:t>versampling</a:t>
            </a:r>
          </a:p>
        </p:txBody>
      </p:sp>
      <p:sp>
        <p:nvSpPr>
          <p:cNvPr id="14" name="Rounded Rectangle 13"/>
          <p:cNvSpPr/>
          <p:nvPr/>
        </p:nvSpPr>
        <p:spPr>
          <a:xfrm>
            <a:off x="3850487" y="1456037"/>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Undersampling</a:t>
            </a:r>
            <a:endParaRPr lang="en-US" dirty="0">
              <a:solidFill>
                <a:schemeClr val="tx1"/>
              </a:solidFill>
            </a:endParaRPr>
          </a:p>
        </p:txBody>
      </p:sp>
      <p:sp>
        <p:nvSpPr>
          <p:cNvPr id="15" name="Rounded Rectangle 14"/>
          <p:cNvSpPr/>
          <p:nvPr/>
        </p:nvSpPr>
        <p:spPr>
          <a:xfrm>
            <a:off x="3850486" y="1839743"/>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ROSE</a:t>
            </a:r>
            <a:endParaRPr lang="en-US" dirty="0">
              <a:solidFill>
                <a:schemeClr val="tx1"/>
              </a:solidFill>
            </a:endParaRPr>
          </a:p>
        </p:txBody>
      </p:sp>
      <p:sp>
        <p:nvSpPr>
          <p:cNvPr id="18" name="TextBox 17"/>
          <p:cNvSpPr txBox="1"/>
          <p:nvPr/>
        </p:nvSpPr>
        <p:spPr>
          <a:xfrm>
            <a:off x="3330425" y="2439538"/>
            <a:ext cx="2520242" cy="261610"/>
          </a:xfrm>
          <a:prstGeom prst="rect">
            <a:avLst/>
          </a:prstGeom>
          <a:noFill/>
        </p:spPr>
        <p:txBody>
          <a:bodyPr wrap="none" rtlCol="0">
            <a:spAutoFit/>
          </a:bodyPr>
          <a:lstStyle/>
          <a:p>
            <a:r>
              <a:rPr lang="en-US" sz="1100" dirty="0"/>
              <a:t>Todas las técnicas mejoran resultado</a:t>
            </a:r>
          </a:p>
        </p:txBody>
      </p:sp>
      <p:pic>
        <p:nvPicPr>
          <p:cNvPr id="19" name="Picture 18"/>
          <p:cNvPicPr>
            <a:picLocks noChangeAspect="1"/>
          </p:cNvPicPr>
          <p:nvPr/>
        </p:nvPicPr>
        <p:blipFill>
          <a:blip r:embed="rId7"/>
          <a:stretch>
            <a:fillRect/>
          </a:stretch>
        </p:blipFill>
        <p:spPr>
          <a:xfrm>
            <a:off x="317403" y="3028784"/>
            <a:ext cx="8609085" cy="2052892"/>
          </a:xfrm>
          <a:prstGeom prst="rect">
            <a:avLst/>
          </a:prstGeom>
        </p:spPr>
      </p:pic>
      <p:sp>
        <p:nvSpPr>
          <p:cNvPr id="3" name="Rounded Rectangle 2"/>
          <p:cNvSpPr/>
          <p:nvPr/>
        </p:nvSpPr>
        <p:spPr>
          <a:xfrm>
            <a:off x="3860726" y="2163638"/>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SMOTE</a:t>
            </a:r>
            <a:endParaRPr lang="en-US"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a:t>
            </a:r>
            <a:endParaRPr dirty="0"/>
          </a:p>
        </p:txBody>
      </p:sp>
      <p:graphicFrame>
        <p:nvGraphicFramePr>
          <p:cNvPr id="4" name="Tabla 3"/>
          <p:cNvGraphicFramePr>
            <a:graphicFrameLocks noGrp="1"/>
          </p:cNvGraphicFramePr>
          <p:nvPr/>
        </p:nvGraphicFramePr>
        <p:xfrm>
          <a:off x="2462406" y="2051066"/>
          <a:ext cx="4374692" cy="520684"/>
        </p:xfrm>
        <a:graphic>
          <a:graphicData uri="http://schemas.openxmlformats.org/drawingml/2006/table">
            <a:tbl>
              <a:tblPr>
                <a:tableStyleId>{7FD54D1E-A07F-487E-B709-6B33F1453160}</a:tableStyleId>
              </a:tblPr>
              <a:tblGrid>
                <a:gridCol w="611319">
                  <a:extLst>
                    <a:ext uri="{9D8B030D-6E8A-4147-A177-3AD203B41FA5}">
                      <a16:colId xmlns:a16="http://schemas.microsoft.com/office/drawing/2014/main" val="20000"/>
                    </a:ext>
                  </a:extLst>
                </a:gridCol>
                <a:gridCol w="736805">
                  <a:extLst>
                    <a:ext uri="{9D8B030D-6E8A-4147-A177-3AD203B41FA5}">
                      <a16:colId xmlns:a16="http://schemas.microsoft.com/office/drawing/2014/main" val="20001"/>
                    </a:ext>
                  </a:extLst>
                </a:gridCol>
                <a:gridCol w="736805">
                  <a:extLst>
                    <a:ext uri="{9D8B030D-6E8A-4147-A177-3AD203B41FA5}">
                      <a16:colId xmlns:a16="http://schemas.microsoft.com/office/drawing/2014/main" val="20002"/>
                    </a:ext>
                  </a:extLst>
                </a:gridCol>
                <a:gridCol w="816153">
                  <a:extLst>
                    <a:ext uri="{9D8B030D-6E8A-4147-A177-3AD203B41FA5}">
                      <a16:colId xmlns:a16="http://schemas.microsoft.com/office/drawing/2014/main" val="20003"/>
                    </a:ext>
                  </a:extLst>
                </a:gridCol>
                <a:gridCol w="736805">
                  <a:extLst>
                    <a:ext uri="{9D8B030D-6E8A-4147-A177-3AD203B41FA5}">
                      <a16:colId xmlns:a16="http://schemas.microsoft.com/office/drawing/2014/main" val="20004"/>
                    </a:ext>
                  </a:extLst>
                </a:gridCol>
                <a:gridCol w="736805">
                  <a:extLst>
                    <a:ext uri="{9D8B030D-6E8A-4147-A177-3AD203B41FA5}">
                      <a16:colId xmlns:a16="http://schemas.microsoft.com/office/drawing/2014/main" val="20005"/>
                    </a:ext>
                  </a:extLst>
                </a:gridCol>
              </a:tblGrid>
              <a:tr h="260342">
                <a:tc>
                  <a:txBody>
                    <a:bodyPr/>
                    <a:lstStyle/>
                    <a:p>
                      <a:pPr algn="l" fontAlgn="ctr">
                        <a:buNone/>
                      </a:pPr>
                      <a:r>
                        <a:rPr lang="es-ES" sz="1100" b="1" i="0" u="none" strike="noStrike" dirty="0">
                          <a:solidFill>
                            <a:srgbClr val="000000"/>
                          </a:solidFill>
                          <a:effectLst/>
                          <a:latin typeface="+mj-lt"/>
                        </a:rPr>
                        <a:t>TRAIN</a:t>
                      </a:r>
                    </a:p>
                  </a:txBody>
                  <a:tcPr marL="7620" marR="7620" marT="7620" marB="0" anchor="ctr"/>
                </a:tc>
                <a:tc>
                  <a:txBody>
                    <a:bodyPr/>
                    <a:lstStyle/>
                    <a:p>
                      <a:pPr algn="l" fontAlgn="ctr">
                        <a:buNone/>
                      </a:pPr>
                      <a:r>
                        <a:rPr lang="es-ES" sz="1100" b="1" u="none" strike="noStrike" dirty="0">
                          <a:effectLst/>
                          <a:latin typeface="+mj-lt"/>
                        </a:rPr>
                        <a:t>0.7477551</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0.4010743</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a:effectLst/>
                          <a:latin typeface="+mj-lt"/>
                        </a:rPr>
                        <a:t>0.4413793</a:t>
                      </a:r>
                      <a:endParaRPr lang="es-ES" sz="1100" b="1" i="0" u="none" strike="noStrike">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0.8277992</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0.4202627</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0"/>
                  </a:ext>
                </a:extLst>
              </a:tr>
              <a:tr h="260342">
                <a:tc>
                  <a:txBody>
                    <a:bodyPr/>
                    <a:lstStyle/>
                    <a:p>
                      <a:pPr algn="l" fontAlgn="ctr">
                        <a:buNone/>
                      </a:pPr>
                      <a:r>
                        <a:rPr lang="es-ES" sz="1100" b="1" i="0" u="none" strike="noStrike" dirty="0">
                          <a:solidFill>
                            <a:srgbClr val="000000"/>
                          </a:solidFill>
                          <a:effectLst/>
                          <a:latin typeface="+mj-lt"/>
                        </a:rPr>
                        <a:t>TEST</a:t>
                      </a:r>
                    </a:p>
                  </a:txBody>
                  <a:tcPr marL="7620" marR="7620" marT="7620" marB="0" anchor="ctr"/>
                </a:tc>
                <a:tc>
                  <a:txBody>
                    <a:bodyPr/>
                    <a:lstStyle/>
                    <a:p>
                      <a:pPr algn="l" fontAlgn="ctr">
                        <a:buNone/>
                      </a:pPr>
                      <a:r>
                        <a:rPr lang="es-ES" sz="1100" b="1" u="none" strike="noStrike" dirty="0">
                          <a:effectLst/>
                          <a:latin typeface="+mj-lt"/>
                        </a:rPr>
                        <a:t>0.7595238</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0.4264706</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0.4666667</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0.8360360</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0.4456641</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1"/>
                  </a:ext>
                </a:extLst>
              </a:tr>
            </a:tbl>
          </a:graphicData>
        </a:graphic>
      </p:graphicFrame>
      <p:graphicFrame>
        <p:nvGraphicFramePr>
          <p:cNvPr id="5" name="Tabla 4"/>
          <p:cNvGraphicFramePr>
            <a:graphicFrameLocks noGrp="1"/>
          </p:cNvGraphicFramePr>
          <p:nvPr/>
        </p:nvGraphicFramePr>
        <p:xfrm>
          <a:off x="2455224" y="1148854"/>
          <a:ext cx="4381876" cy="778842"/>
        </p:xfrm>
        <a:graphic>
          <a:graphicData uri="http://schemas.openxmlformats.org/drawingml/2006/table">
            <a:tbl>
              <a:tblPr>
                <a:tableStyleId>{7FD54D1E-A07F-487E-B709-6B33F1453160}</a:tableStyleId>
              </a:tblPr>
              <a:tblGrid>
                <a:gridCol w="641276">
                  <a:extLst>
                    <a:ext uri="{9D8B030D-6E8A-4147-A177-3AD203B41FA5}">
                      <a16:colId xmlns:a16="http://schemas.microsoft.com/office/drawing/2014/main" val="20000"/>
                    </a:ext>
                  </a:extLst>
                </a:gridCol>
                <a:gridCol w="709607">
                  <a:extLst>
                    <a:ext uri="{9D8B030D-6E8A-4147-A177-3AD203B41FA5}">
                      <a16:colId xmlns:a16="http://schemas.microsoft.com/office/drawing/2014/main" val="20001"/>
                    </a:ext>
                  </a:extLst>
                </a:gridCol>
                <a:gridCol w="730054">
                  <a:extLst>
                    <a:ext uri="{9D8B030D-6E8A-4147-A177-3AD203B41FA5}">
                      <a16:colId xmlns:a16="http://schemas.microsoft.com/office/drawing/2014/main" val="20002"/>
                    </a:ext>
                  </a:extLst>
                </a:gridCol>
                <a:gridCol w="839275">
                  <a:extLst>
                    <a:ext uri="{9D8B030D-6E8A-4147-A177-3AD203B41FA5}">
                      <a16:colId xmlns:a16="http://schemas.microsoft.com/office/drawing/2014/main" val="20003"/>
                    </a:ext>
                  </a:extLst>
                </a:gridCol>
                <a:gridCol w="713544">
                  <a:extLst>
                    <a:ext uri="{9D8B030D-6E8A-4147-A177-3AD203B41FA5}">
                      <a16:colId xmlns:a16="http://schemas.microsoft.com/office/drawing/2014/main" val="20004"/>
                    </a:ext>
                  </a:extLst>
                </a:gridCol>
                <a:gridCol w="748120">
                  <a:extLst>
                    <a:ext uri="{9D8B030D-6E8A-4147-A177-3AD203B41FA5}">
                      <a16:colId xmlns:a16="http://schemas.microsoft.com/office/drawing/2014/main" val="20005"/>
                    </a:ext>
                  </a:extLst>
                </a:gridCol>
              </a:tblGrid>
              <a:tr h="329827">
                <a:tc>
                  <a:txBody>
                    <a:bodyPr/>
                    <a:lstStyle/>
                    <a:p>
                      <a:pPr algn="l" fontAlgn="ctr">
                        <a:buNone/>
                      </a:pPr>
                      <a:r>
                        <a:rPr lang="en-US" altLang="es-ES" sz="1100" b="1" i="0" u="none" strike="noStrike" dirty="0">
                          <a:solidFill>
                            <a:srgbClr val="7030A0"/>
                          </a:solidFill>
                          <a:effectLst/>
                          <a:latin typeface="+mj-lt"/>
                        </a:rPr>
                        <a:t>Split</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Accuracy</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zh-CN" sz="1100" b="1" i="0" u="none" strike="noStrike" dirty="0">
                          <a:solidFill>
                            <a:srgbClr val="7030A0"/>
                          </a:solidFill>
                          <a:effectLst/>
                          <a:latin typeface="+mj-lt"/>
                        </a:rPr>
                        <a:t>Precision</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Recall</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Specificity</a:t>
                      </a: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F1-Score</a:t>
                      </a:r>
                    </a:p>
                  </a:txBody>
                  <a:tcPr marL="7620" marR="7620" marT="7620" marB="0" anchor="ctr"/>
                </a:tc>
                <a:extLst>
                  <a:ext uri="{0D108BD9-81ED-4DB2-BD59-A6C34878D82A}">
                    <a16:rowId xmlns:a16="http://schemas.microsoft.com/office/drawing/2014/main" val="10000"/>
                  </a:ext>
                </a:extLst>
              </a:tr>
              <a:tr h="244469">
                <a:tc>
                  <a:txBody>
                    <a:bodyPr/>
                    <a:lstStyle/>
                    <a:p>
                      <a:pPr algn="l" fontAlgn="ctr">
                        <a:buNone/>
                      </a:pPr>
                      <a:r>
                        <a:rPr lang="es-ES" sz="1100" b="1" i="0" u="none" strike="noStrike" dirty="0">
                          <a:solidFill>
                            <a:srgbClr val="000000"/>
                          </a:solidFill>
                          <a:effectLst/>
                        </a:rPr>
                        <a:t>TRAIN</a:t>
                      </a:r>
                    </a:p>
                  </a:txBody>
                  <a:tcPr marL="7620" marR="7620" marT="7620" marB="0" anchor="ctr"/>
                </a:tc>
                <a:tc>
                  <a:txBody>
                    <a:bodyPr/>
                    <a:lstStyle/>
                    <a:p>
                      <a:pPr algn="l" fontAlgn="ctr"/>
                      <a:r>
                        <a:rPr lang="es-ES" sz="1100" b="1" i="0" dirty="0">
                          <a:solidFill>
                            <a:srgbClr val="000000"/>
                          </a:solidFill>
                          <a:effectLst/>
                        </a:rPr>
                        <a:t>0.7708163</a:t>
                      </a:r>
                    </a:p>
                  </a:txBody>
                  <a:tcPr marL="9842" marR="9842" marT="9842" marB="0" anchor="ctr"/>
                </a:tc>
                <a:tc>
                  <a:txBody>
                    <a:bodyPr/>
                    <a:lstStyle/>
                    <a:p>
                      <a:pPr algn="l" fontAlgn="ctr">
                        <a:buNone/>
                      </a:pPr>
                      <a:r>
                        <a:rPr lang="es-ES" sz="1100" b="1" u="none" strike="noStrike" dirty="0">
                          <a:effectLst/>
                        </a:rPr>
                        <a:t>0.4686241</a:t>
                      </a:r>
                    </a:p>
                  </a:txBody>
                  <a:tcPr marL="7620" marR="7620" marT="7620" marB="0" anchor="ctr"/>
                </a:tc>
                <a:tc>
                  <a:txBody>
                    <a:bodyPr/>
                    <a:lstStyle/>
                    <a:p>
                      <a:pPr algn="l" fontAlgn="ctr"/>
                      <a:r>
                        <a:rPr lang="es-ES" sz="1100" b="1" i="0" dirty="0">
                          <a:solidFill>
                            <a:srgbClr val="000000"/>
                          </a:solidFill>
                          <a:effectLst/>
                        </a:rPr>
                        <a:t>0.8027613</a:t>
                      </a:r>
                    </a:p>
                  </a:txBody>
                  <a:tcPr marL="9842" marR="9842" marT="9842" marB="0" anchor="ctr"/>
                </a:tc>
                <a:tc>
                  <a:txBody>
                    <a:bodyPr/>
                    <a:lstStyle/>
                    <a:p>
                      <a:pPr algn="l" fontAlgn="ctr"/>
                      <a:r>
                        <a:rPr lang="es-ES" sz="1100" b="1" i="0" dirty="0">
                          <a:solidFill>
                            <a:srgbClr val="000000"/>
                          </a:solidFill>
                          <a:effectLst/>
                        </a:rPr>
                        <a:t>0.7624807</a:t>
                      </a:r>
                    </a:p>
                  </a:txBody>
                  <a:tcPr marL="9842" marR="9842" marT="9842" marB="0" anchor="ctr"/>
                </a:tc>
                <a:tc>
                  <a:txBody>
                    <a:bodyPr/>
                    <a:lstStyle/>
                    <a:p>
                      <a:pPr algn="l" fontAlgn="ctr"/>
                      <a:r>
                        <a:rPr lang="es-ES" sz="1100" b="1" i="0" dirty="0">
                          <a:solidFill>
                            <a:srgbClr val="000000"/>
                          </a:solidFill>
                          <a:effectLst/>
                        </a:rPr>
                        <a:t>0.5917848</a:t>
                      </a:r>
                    </a:p>
                  </a:txBody>
                  <a:tcPr marL="9842" marR="9842" marT="9842" marB="0" anchor="ctr"/>
                </a:tc>
                <a:extLst>
                  <a:ext uri="{0D108BD9-81ED-4DB2-BD59-A6C34878D82A}">
                    <a16:rowId xmlns:a16="http://schemas.microsoft.com/office/drawing/2014/main" val="10001"/>
                  </a:ext>
                </a:extLst>
              </a:tr>
              <a:tr h="204546">
                <a:tc>
                  <a:txBody>
                    <a:bodyPr/>
                    <a:lstStyle/>
                    <a:p>
                      <a:pPr algn="l" fontAlgn="ctr">
                        <a:buNone/>
                      </a:pPr>
                      <a:r>
                        <a:rPr lang="es-ES" sz="1100" b="1" i="0" u="none" strike="noStrike" dirty="0">
                          <a:solidFill>
                            <a:srgbClr val="000000"/>
                          </a:solidFill>
                          <a:effectLst/>
                        </a:rPr>
                        <a:t>TEST</a:t>
                      </a:r>
                    </a:p>
                  </a:txBody>
                  <a:tcPr marL="7620" marR="7620" marT="7620" marB="0" anchor="ctr"/>
                </a:tc>
                <a:tc>
                  <a:txBody>
                    <a:bodyPr/>
                    <a:lstStyle/>
                    <a:p>
                      <a:pPr algn="l" fontAlgn="b"/>
                      <a:r>
                        <a:rPr lang="es-ES" sz="1100" b="1" i="0" dirty="0">
                          <a:solidFill>
                            <a:srgbClr val="000000"/>
                          </a:solidFill>
                          <a:effectLst/>
                        </a:rPr>
                        <a:t>0.6790476</a:t>
                      </a:r>
                    </a:p>
                  </a:txBody>
                  <a:tcPr marL="9842" marR="9842" marT="9842" marB="0" anchor="b"/>
                </a:tc>
                <a:tc>
                  <a:txBody>
                    <a:bodyPr/>
                    <a:lstStyle/>
                    <a:p>
                      <a:pPr algn="l" fontAlgn="b"/>
                      <a:r>
                        <a:rPr lang="es-ES" sz="1100" b="1" i="0" dirty="0">
                          <a:solidFill>
                            <a:srgbClr val="000000"/>
                          </a:solidFill>
                          <a:effectLst/>
                        </a:rPr>
                        <a:t>0.3342618</a:t>
                      </a:r>
                    </a:p>
                  </a:txBody>
                  <a:tcPr marL="9842" marR="9842" marT="9842" marB="0" anchor="b"/>
                </a:tc>
                <a:tc>
                  <a:txBody>
                    <a:bodyPr/>
                    <a:lstStyle/>
                    <a:p>
                      <a:pPr algn="l" fontAlgn="b"/>
                      <a:r>
                        <a:rPr lang="es-ES" sz="1100" b="1" i="0" dirty="0">
                          <a:solidFill>
                            <a:srgbClr val="000000"/>
                          </a:solidFill>
                          <a:effectLst/>
                        </a:rPr>
                        <a:t>0.5504587</a:t>
                      </a:r>
                    </a:p>
                  </a:txBody>
                  <a:tcPr marL="9842" marR="9842" marT="9842" marB="0" anchor="b"/>
                </a:tc>
                <a:tc>
                  <a:txBody>
                    <a:bodyPr/>
                    <a:lstStyle/>
                    <a:p>
                      <a:pPr algn="l" fontAlgn="b"/>
                      <a:r>
                        <a:rPr lang="es-ES" sz="1100" b="1" i="0" dirty="0">
                          <a:solidFill>
                            <a:srgbClr val="000000"/>
                          </a:solidFill>
                          <a:effectLst/>
                        </a:rPr>
                        <a:t>0.7127404</a:t>
                      </a:r>
                    </a:p>
                  </a:txBody>
                  <a:tcPr marL="9842" marR="9842" marT="9842" marB="0" anchor="b"/>
                </a:tc>
                <a:tc>
                  <a:txBody>
                    <a:bodyPr/>
                    <a:lstStyle/>
                    <a:p>
                      <a:pPr algn="l" fontAlgn="b"/>
                      <a:r>
                        <a:rPr lang="es-ES" sz="1100" b="1" i="0" dirty="0">
                          <a:solidFill>
                            <a:srgbClr val="000000"/>
                          </a:solidFill>
                          <a:effectLst/>
                        </a:rPr>
                        <a:t>0.4159445</a:t>
                      </a:r>
                    </a:p>
                  </a:txBody>
                  <a:tcPr marL="9842" marR="9842" marT="9842" marB="0" anchor="b"/>
                </a:tc>
                <a:extLst>
                  <a:ext uri="{0D108BD9-81ED-4DB2-BD59-A6C34878D82A}">
                    <a16:rowId xmlns:a16="http://schemas.microsoft.com/office/drawing/2014/main" val="10002"/>
                  </a:ext>
                </a:extLst>
              </a:tr>
            </a:tbl>
          </a:graphicData>
        </a:graphic>
      </p:graphicFrame>
      <p:sp>
        <p:nvSpPr>
          <p:cNvPr id="7" name="CuadroTexto 6"/>
          <p:cNvSpPr txBox="1"/>
          <p:nvPr/>
        </p:nvSpPr>
        <p:spPr>
          <a:xfrm>
            <a:off x="534539" y="2607967"/>
            <a:ext cx="8609461" cy="2446824"/>
          </a:xfrm>
          <a:prstGeom prst="rect">
            <a:avLst/>
          </a:prstGeom>
          <a:noFill/>
        </p:spPr>
        <p:txBody>
          <a:bodyPr wrap="square">
            <a:spAutoFit/>
          </a:bodyPr>
          <a:lstStyle/>
          <a:p>
            <a:r>
              <a:rPr lang="en-GB" sz="1300" b="1" dirty="0"/>
              <a:t>Naive Bayes:</a:t>
            </a:r>
            <a:r>
              <a:rPr lang="en-GB" sz="1300" dirty="0"/>
              <a:t> </a:t>
            </a:r>
          </a:p>
          <a:p>
            <a:pPr marL="285750" indent="-285750">
              <a:buFont typeface="Arial" panose="020B0604020202020204" pitchFamily="34" charset="0"/>
              <a:buChar char="•"/>
            </a:pPr>
            <a:r>
              <a:rPr lang="en-GB" sz="1300" dirty="0"/>
              <a:t>Se </a:t>
            </a:r>
            <a:r>
              <a:rPr lang="en-GB" sz="1300" dirty="0" err="1"/>
              <a:t>aplicó</a:t>
            </a:r>
            <a:r>
              <a:rPr lang="en-GB" sz="1300" dirty="0"/>
              <a:t> </a:t>
            </a:r>
            <a:r>
              <a:rPr lang="en-GB" sz="1300" dirty="0" err="1"/>
              <a:t>el</a:t>
            </a:r>
            <a:r>
              <a:rPr lang="en-GB" sz="1300" dirty="0"/>
              <a:t> </a:t>
            </a:r>
            <a:r>
              <a:rPr lang="en-GB" sz="1300" dirty="0">
                <a:solidFill>
                  <a:srgbClr val="FF0000"/>
                </a:solidFill>
              </a:rPr>
              <a:t>FAMD</a:t>
            </a:r>
            <a:r>
              <a:rPr lang="en-GB" sz="1300" dirty="0"/>
              <a:t>, </a:t>
            </a:r>
            <a:r>
              <a:rPr lang="en-GB" sz="1300" dirty="0" err="1"/>
              <a:t>obteniendo</a:t>
            </a:r>
            <a:r>
              <a:rPr lang="en-GB" sz="1300" dirty="0"/>
              <a:t> </a:t>
            </a:r>
            <a:r>
              <a:rPr lang="en-GB" sz="1300" dirty="0" err="1"/>
              <a:t>una</a:t>
            </a:r>
            <a:r>
              <a:rPr lang="en-GB" sz="1300" dirty="0"/>
              <a:t> </a:t>
            </a:r>
            <a:r>
              <a:rPr lang="en-GB" sz="1300" dirty="0" err="1"/>
              <a:t>leve</a:t>
            </a:r>
            <a:r>
              <a:rPr lang="en-GB" sz="1300" dirty="0"/>
              <a:t> </a:t>
            </a:r>
            <a:r>
              <a:rPr lang="en-GB" sz="1300" dirty="0" err="1"/>
              <a:t>mejora</a:t>
            </a:r>
            <a:r>
              <a:rPr lang="en-GB" sz="1300" dirty="0"/>
              <a:t> general </a:t>
            </a:r>
            <a:r>
              <a:rPr lang="en-GB" sz="1300" dirty="0" err="1"/>
              <a:t>en</a:t>
            </a:r>
            <a:r>
              <a:rPr lang="en-GB" sz="1300" dirty="0"/>
              <a:t> las </a:t>
            </a:r>
            <a:r>
              <a:rPr lang="en-GB" sz="1300" dirty="0" err="1"/>
              <a:t>métricas</a:t>
            </a:r>
            <a:endParaRPr lang="en-GB" sz="1300" dirty="0"/>
          </a:p>
          <a:p>
            <a:pPr marL="285750" indent="-285750">
              <a:buFont typeface="Arial" panose="020B0604020202020204" pitchFamily="34" charset="0"/>
              <a:buChar char="•"/>
            </a:pPr>
            <a:r>
              <a:rPr lang="en-GB" sz="1300" dirty="0"/>
              <a:t>No se ha </a:t>
            </a:r>
            <a:r>
              <a:rPr lang="en-GB" sz="1300" dirty="0" err="1"/>
              <a:t>detectado</a:t>
            </a:r>
            <a:r>
              <a:rPr lang="en-GB" sz="1300" dirty="0"/>
              <a:t> </a:t>
            </a:r>
            <a:r>
              <a:rPr lang="en-GB" sz="1300" dirty="0" err="1"/>
              <a:t>sobreajuste</a:t>
            </a:r>
            <a:endParaRPr lang="en-GB" sz="1300" dirty="0"/>
          </a:p>
          <a:p>
            <a:pPr marL="285750" indent="-285750">
              <a:buFont typeface="Arial" panose="020B0604020202020204" pitchFamily="34" charset="0"/>
              <a:buChar char="•"/>
            </a:pPr>
            <a:r>
              <a:rPr lang="en-GB" sz="1300" dirty="0"/>
              <a:t>No hay </a:t>
            </a:r>
            <a:r>
              <a:rPr lang="en-GB" sz="1300" dirty="0" err="1"/>
              <a:t>diferencia</a:t>
            </a:r>
            <a:r>
              <a:rPr lang="en-GB" sz="1300" dirty="0"/>
              <a:t> entre </a:t>
            </a:r>
            <a:r>
              <a:rPr lang="en-GB" sz="1300" dirty="0" err="1"/>
              <a:t>métodos</a:t>
            </a:r>
            <a:r>
              <a:rPr lang="en-GB" sz="1300" dirty="0"/>
              <a:t> de </a:t>
            </a:r>
            <a:r>
              <a:rPr lang="en-GB" sz="1300" dirty="0" err="1"/>
              <a:t>balanceo</a:t>
            </a:r>
            <a:endParaRPr lang="en-GB" sz="1300" dirty="0"/>
          </a:p>
          <a:p>
            <a:r>
              <a:rPr lang="en-GB" sz="1300" b="1" dirty="0"/>
              <a:t>KNN (9NN)</a:t>
            </a:r>
          </a:p>
          <a:p>
            <a:pPr marL="285750" indent="-285750">
              <a:buFont typeface="Arial" panose="020B0604020202020204" pitchFamily="34" charset="0"/>
              <a:buChar char="•"/>
            </a:pPr>
            <a:r>
              <a:rPr lang="en-GB" sz="1300" dirty="0"/>
              <a:t>Entre </a:t>
            </a:r>
            <a:r>
              <a:rPr lang="en-GB" sz="1300" dirty="0" err="1"/>
              <a:t>los</a:t>
            </a:r>
            <a:r>
              <a:rPr lang="en-GB" sz="1300" dirty="0"/>
              <a:t> </a:t>
            </a:r>
            <a:r>
              <a:rPr lang="en-GB" sz="1300" dirty="0" err="1"/>
              <a:t>métodos</a:t>
            </a:r>
            <a:r>
              <a:rPr lang="en-GB" sz="1300" dirty="0"/>
              <a:t> de </a:t>
            </a:r>
            <a:r>
              <a:rPr lang="en-GB" sz="1300" dirty="0" err="1"/>
              <a:t>balanceo</a:t>
            </a:r>
            <a:r>
              <a:rPr lang="en-GB" sz="1300" dirty="0"/>
              <a:t>, </a:t>
            </a:r>
            <a:r>
              <a:rPr lang="en-GB" sz="1300" i="1" dirty="0">
                <a:solidFill>
                  <a:srgbClr val="7030A0"/>
                </a:solidFill>
              </a:rPr>
              <a:t>SMOTE</a:t>
            </a:r>
            <a:r>
              <a:rPr lang="en-GB" sz="1300" i="1" dirty="0"/>
              <a:t>, (</a:t>
            </a:r>
            <a:r>
              <a:rPr lang="en-GB" sz="1300" dirty="0" err="1"/>
              <a:t>ofreció</a:t>
            </a:r>
            <a:r>
              <a:rPr lang="en-GB" sz="1300" dirty="0"/>
              <a:t> </a:t>
            </a:r>
            <a:r>
              <a:rPr lang="en-GB" sz="1300" dirty="0" err="1"/>
              <a:t>los</a:t>
            </a:r>
            <a:r>
              <a:rPr lang="en-GB" sz="1300" dirty="0"/>
              <a:t> </a:t>
            </a:r>
            <a:r>
              <a:rPr lang="en-GB" sz="1300" dirty="0" err="1"/>
              <a:t>mejoros</a:t>
            </a:r>
            <a:r>
              <a:rPr lang="en-GB" sz="1300" dirty="0"/>
              <a:t> </a:t>
            </a:r>
            <a:r>
              <a:rPr lang="en-GB" sz="1300" dirty="0" err="1"/>
              <a:t>resultados</a:t>
            </a:r>
            <a:r>
              <a:rPr lang="en-GB" sz="1300" dirty="0"/>
              <a:t> via </a:t>
            </a:r>
            <a:r>
              <a:rPr lang="en-GB" sz="1300" dirty="0" err="1"/>
              <a:t>poca</a:t>
            </a:r>
            <a:r>
              <a:rPr lang="en-GB" sz="1300" dirty="0"/>
              <a:t> </a:t>
            </a:r>
            <a:r>
              <a:rPr lang="en-GB" sz="1300" dirty="0" err="1"/>
              <a:t>diferencia</a:t>
            </a:r>
            <a:r>
              <a:rPr lang="en-GB" sz="1300" dirty="0"/>
              <a:t>)</a:t>
            </a:r>
          </a:p>
          <a:p>
            <a:pPr marL="285750" indent="-285750">
              <a:buFont typeface="Arial" panose="020B0604020202020204" pitchFamily="34" charset="0"/>
              <a:buChar char="•"/>
            </a:pPr>
            <a:r>
              <a:rPr lang="en-GB" sz="1300" dirty="0" err="1"/>
              <a:t>Detección</a:t>
            </a:r>
            <a:r>
              <a:rPr lang="en-GB" sz="1300" dirty="0"/>
              <a:t> de </a:t>
            </a:r>
            <a:r>
              <a:rPr lang="en-GB" sz="1300" i="1" dirty="0">
                <a:solidFill>
                  <a:srgbClr val="7030A0"/>
                </a:solidFill>
              </a:rPr>
              <a:t>ligero </a:t>
            </a:r>
            <a:r>
              <a:rPr lang="en-GB" sz="1300" i="1" dirty="0" err="1">
                <a:solidFill>
                  <a:srgbClr val="7030A0"/>
                </a:solidFill>
              </a:rPr>
              <a:t>sobreajuste</a:t>
            </a:r>
            <a:endParaRPr lang="en-GB" sz="1300" i="1" dirty="0">
              <a:solidFill>
                <a:srgbClr val="7030A0"/>
              </a:solidFill>
            </a:endParaRPr>
          </a:p>
          <a:p>
            <a:endParaRPr lang="en-GB" i="1" dirty="0"/>
          </a:p>
          <a:p>
            <a:r>
              <a:rPr lang="en-GB" sz="1200" i="1" dirty="0"/>
              <a:t>En ambos temenos </a:t>
            </a:r>
            <a:r>
              <a:rPr lang="en-GB" sz="1200" i="1" dirty="0" err="1"/>
              <a:t>una</a:t>
            </a:r>
            <a:r>
              <a:rPr lang="en-GB" sz="1200" i="1" dirty="0"/>
              <a:t> </a:t>
            </a:r>
            <a:r>
              <a:rPr lang="en-GB" sz="1200" i="1" dirty="0" err="1"/>
              <a:t>alta</a:t>
            </a:r>
            <a:r>
              <a:rPr lang="en-GB" sz="1200" i="1" dirty="0"/>
              <a:t> </a:t>
            </a:r>
            <a:r>
              <a:rPr lang="en-GB" sz="1200" i="1" dirty="0" err="1"/>
              <a:t>especificidad</a:t>
            </a:r>
            <a:r>
              <a:rPr lang="en-GB" sz="1200" i="1" dirty="0"/>
              <a:t>, </a:t>
            </a:r>
            <a:r>
              <a:rPr lang="en-GB" sz="1200" i="1" dirty="0" err="1"/>
              <a:t>por</a:t>
            </a:r>
            <a:r>
              <a:rPr lang="en-GB" sz="1200" i="1" dirty="0"/>
              <a:t> lo tanto, </a:t>
            </a:r>
            <a:r>
              <a:rPr lang="en-GB" sz="1200" i="1" dirty="0" err="1"/>
              <a:t>correcto</a:t>
            </a:r>
            <a:r>
              <a:rPr lang="en-GB" sz="1200" i="1" dirty="0"/>
              <a:t> para detector </a:t>
            </a:r>
            <a:r>
              <a:rPr lang="en-GB" sz="1200" i="1" dirty="0" err="1"/>
              <a:t>los</a:t>
            </a:r>
            <a:r>
              <a:rPr lang="en-GB" sz="1200" i="1" dirty="0"/>
              <a:t> </a:t>
            </a:r>
            <a:r>
              <a:rPr lang="en-GB" sz="1200" i="1" dirty="0" err="1"/>
              <a:t>casos</a:t>
            </a:r>
            <a:r>
              <a:rPr lang="en-GB" sz="1200" i="1" dirty="0"/>
              <a:t> </a:t>
            </a:r>
            <a:r>
              <a:rPr lang="en-GB" sz="1200" i="1" dirty="0" err="1"/>
              <a:t>negativos</a:t>
            </a:r>
            <a:r>
              <a:rPr lang="en-GB" sz="1200" i="1" dirty="0"/>
              <a:t> </a:t>
            </a:r>
            <a:r>
              <a:rPr lang="en-GB" sz="1200" i="1" dirty="0" err="1"/>
              <a:t>pero</a:t>
            </a:r>
            <a:r>
              <a:rPr lang="en-GB" sz="1200" i="1" dirty="0"/>
              <a:t> </a:t>
            </a:r>
            <a:r>
              <a:rPr lang="en-GB" sz="1200" i="1" dirty="0" err="1"/>
              <a:t>en</a:t>
            </a:r>
            <a:r>
              <a:rPr lang="en-GB" sz="1200" i="1" dirty="0"/>
              <a:t> </a:t>
            </a:r>
            <a:r>
              <a:rPr lang="en-GB" sz="1200" i="1" dirty="0" err="1"/>
              <a:t>nuestro</a:t>
            </a:r>
            <a:r>
              <a:rPr lang="en-GB" sz="1200" i="1" dirty="0"/>
              <a:t> </a:t>
            </a:r>
            <a:r>
              <a:rPr lang="en-GB" sz="1200" i="1" dirty="0" err="1"/>
              <a:t>estudio</a:t>
            </a:r>
            <a:r>
              <a:rPr lang="en-GB" sz="1200" i="1" dirty="0"/>
              <a:t> </a:t>
            </a:r>
            <a:r>
              <a:rPr lang="en-GB" sz="1200" i="1" dirty="0" err="1"/>
              <a:t>nos</a:t>
            </a:r>
            <a:r>
              <a:rPr lang="en-GB" sz="1200" i="1" dirty="0"/>
              <a:t> </a:t>
            </a:r>
            <a:r>
              <a:rPr lang="en-GB" sz="1200" i="1" dirty="0" err="1"/>
              <a:t>interesa</a:t>
            </a:r>
            <a:r>
              <a:rPr lang="en-GB" sz="1200" i="1" dirty="0"/>
              <a:t> la </a:t>
            </a:r>
            <a:r>
              <a:rPr lang="en-GB" sz="1200" i="1" dirty="0" err="1"/>
              <a:t>clase</a:t>
            </a:r>
            <a:r>
              <a:rPr lang="en-GB" sz="1200" i="1" dirty="0"/>
              <a:t> positive, </a:t>
            </a:r>
            <a:r>
              <a:rPr lang="en-GB" sz="1200" i="1" dirty="0" err="1"/>
              <a:t>indicando</a:t>
            </a:r>
            <a:r>
              <a:rPr lang="en-GB" sz="1200" i="1" dirty="0"/>
              <a:t> </a:t>
            </a:r>
            <a:r>
              <a:rPr lang="en-GB" sz="1200" i="1" dirty="0" err="1"/>
              <a:t>que</a:t>
            </a:r>
            <a:r>
              <a:rPr lang="en-GB" sz="1200" i="1" dirty="0"/>
              <a:t> para </a:t>
            </a:r>
            <a:r>
              <a:rPr lang="en-GB" sz="1200" i="1" dirty="0" err="1"/>
              <a:t>nuestro</a:t>
            </a:r>
            <a:r>
              <a:rPr lang="en-GB" sz="1200" i="1" dirty="0"/>
              <a:t> </a:t>
            </a:r>
            <a:r>
              <a:rPr lang="en-GB" sz="1200" i="1" dirty="0" err="1"/>
              <a:t>trabajo</a:t>
            </a:r>
            <a:r>
              <a:rPr lang="en-GB" sz="1200" i="1" dirty="0"/>
              <a:t> no es tan </a:t>
            </a:r>
            <a:r>
              <a:rPr lang="en-GB" sz="1200" i="1" dirty="0" err="1"/>
              <a:t>útil</a:t>
            </a:r>
            <a:r>
              <a:rPr lang="en-GB" sz="1200" i="1" dirty="0"/>
              <a:t>. </a:t>
            </a:r>
          </a:p>
          <a:p>
            <a:r>
              <a:rPr lang="en-GB" sz="1200" i="1" dirty="0"/>
              <a:t>Al ser </a:t>
            </a:r>
            <a:r>
              <a:rPr lang="en-GB" sz="1200" i="1" dirty="0" err="1"/>
              <a:t>datos</a:t>
            </a:r>
            <a:r>
              <a:rPr lang="en-GB" sz="1200" i="1" dirty="0"/>
              <a:t> </a:t>
            </a:r>
            <a:r>
              <a:rPr lang="en-GB" sz="1200" i="1" dirty="0" err="1"/>
              <a:t>desbalancedos</a:t>
            </a:r>
            <a:r>
              <a:rPr lang="en-GB" sz="1200" i="1" dirty="0"/>
              <a:t>. El accuracy no da </a:t>
            </a:r>
            <a:r>
              <a:rPr lang="en-GB" sz="1200" i="1" dirty="0" err="1"/>
              <a:t>una</a:t>
            </a:r>
            <a:r>
              <a:rPr lang="en-GB" sz="1200" i="1" dirty="0"/>
              <a:t> </a:t>
            </a:r>
            <a:r>
              <a:rPr lang="en-GB" sz="1200" i="1" dirty="0" err="1"/>
              <a:t>métrica</a:t>
            </a:r>
            <a:r>
              <a:rPr lang="en-GB" sz="1200" i="1" dirty="0"/>
              <a:t> </a:t>
            </a:r>
            <a:r>
              <a:rPr lang="en-GB" sz="1200" i="1" dirty="0" err="1"/>
              <a:t>correcta</a:t>
            </a:r>
            <a:r>
              <a:rPr lang="en-GB" sz="1200" i="1" dirty="0"/>
              <a:t> o </a:t>
            </a:r>
            <a:r>
              <a:rPr lang="en-GB" sz="1200" i="1" dirty="0" err="1"/>
              <a:t>creïble</a:t>
            </a:r>
            <a:r>
              <a:rPr lang="en-GB" sz="1200" i="1" dirty="0"/>
              <a:t>. </a:t>
            </a:r>
          </a:p>
          <a:p>
            <a:pPr lvl="5"/>
            <a:r>
              <a:rPr lang="es-ES" sz="1200" i="1" dirty="0"/>
              <a:t>(Ver todas las modelizaciones realizadas en “Registros </a:t>
            </a:r>
            <a:r>
              <a:rPr lang="es-ES" sz="1200" i="1" dirty="0" err="1"/>
              <a:t>modelos.xlsx</a:t>
            </a:r>
            <a:r>
              <a:rPr lang="es-ES" sz="1200" i="1" dirty="0"/>
              <a:t>” evaluados en </a:t>
            </a:r>
            <a:r>
              <a:rPr lang="es-ES" sz="1200" i="1" dirty="0">
                <a:hlinkClick r:id="rId3"/>
              </a:rPr>
              <a:t>Github</a:t>
            </a:r>
            <a:r>
              <a:rPr lang="es-ES" sz="1200" i="1" dirty="0"/>
              <a:t>)</a:t>
            </a:r>
            <a:endParaRPr lang="ca-ES" sz="1200" i="1" dirty="0"/>
          </a:p>
        </p:txBody>
      </p:sp>
      <p:sp>
        <p:nvSpPr>
          <p:cNvPr id="10" name="Flecha: hacia la izquierda 9"/>
          <p:cNvSpPr/>
          <p:nvPr/>
        </p:nvSpPr>
        <p:spPr>
          <a:xfrm>
            <a:off x="7050491" y="1944838"/>
            <a:ext cx="1840101" cy="673582"/>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1200" dirty="0" err="1">
                <a:solidFill>
                  <a:srgbClr val="FF0000"/>
                </a:solidFill>
              </a:rPr>
              <a:t>Insufficient</a:t>
            </a:r>
            <a:r>
              <a:rPr lang="ca-ES" sz="1200" dirty="0">
                <a:solidFill>
                  <a:srgbClr val="FF0000"/>
                </a:solidFill>
              </a:rPr>
              <a:t> </a:t>
            </a:r>
            <a:r>
              <a:rPr lang="ca-ES" sz="1200" dirty="0" err="1">
                <a:solidFill>
                  <a:srgbClr val="FF0000"/>
                </a:solidFill>
              </a:rPr>
              <a:t>results</a:t>
            </a:r>
            <a:r>
              <a:rPr lang="ca-ES" sz="1200" dirty="0">
                <a:solidFill>
                  <a:srgbClr val="FF0000"/>
                </a:solidFill>
              </a:rPr>
              <a:t> F1&lt;0,5</a:t>
            </a:r>
          </a:p>
        </p:txBody>
      </p:sp>
      <p:graphicFrame>
        <p:nvGraphicFramePr>
          <p:cNvPr id="15" name="Diagram 14"/>
          <p:cNvGraphicFramePr/>
          <p:nvPr/>
        </p:nvGraphicFramePr>
        <p:xfrm>
          <a:off x="782760" y="1353106"/>
          <a:ext cx="1617045" cy="572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6" name="Diagram 15"/>
          <p:cNvGraphicFramePr/>
          <p:nvPr/>
        </p:nvGraphicFramePr>
        <p:xfrm>
          <a:off x="-51798" y="2004664"/>
          <a:ext cx="2451603" cy="530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Left Arrow 1"/>
          <p:cNvSpPr/>
          <p:nvPr/>
        </p:nvSpPr>
        <p:spPr>
          <a:xfrm>
            <a:off x="7012237" y="1156497"/>
            <a:ext cx="1916610" cy="4538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Cross Validation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0000" y="508144"/>
            <a:ext cx="7704000" cy="572700"/>
          </a:xfrm>
        </p:spPr>
        <p:txBody>
          <a:bodyPr/>
          <a:lstStyle/>
          <a:p>
            <a:r>
              <a:rPr lang="es-ES" noProof="0" dirty="0"/>
              <a:t>Árbol de </a:t>
            </a:r>
            <a:r>
              <a:rPr lang="es-ES" noProof="0" dirty="0" err="1"/>
              <a:t>desición</a:t>
            </a:r>
            <a:endParaRPr lang="es-ES" noProof="0" dirty="0"/>
          </a:p>
        </p:txBody>
      </p:sp>
      <p:graphicFrame>
        <p:nvGraphicFramePr>
          <p:cNvPr id="5" name="Tabla 4"/>
          <p:cNvGraphicFramePr>
            <a:graphicFrameLocks noGrp="1"/>
          </p:cNvGraphicFramePr>
          <p:nvPr>
            <p:extLst>
              <p:ext uri="{D42A27DB-BD31-4B8C-83A1-F6EECF244321}">
                <p14:modId xmlns:p14="http://schemas.microsoft.com/office/powerpoint/2010/main" val="3616029438"/>
              </p:ext>
            </p:extLst>
          </p:nvPr>
        </p:nvGraphicFramePr>
        <p:xfrm>
          <a:off x="369480" y="1499123"/>
          <a:ext cx="4427034" cy="2758440"/>
        </p:xfrm>
        <a:graphic>
          <a:graphicData uri="http://schemas.openxmlformats.org/drawingml/2006/table">
            <a:tbl>
              <a:tblPr firstRow="1" bandRow="1">
                <a:tableStyleId>{69012ECD-51FC-41F1-AA8D-1B2483CD663E}</a:tableStyleId>
              </a:tblPr>
              <a:tblGrid>
                <a:gridCol w="2213517">
                  <a:extLst>
                    <a:ext uri="{9D8B030D-6E8A-4147-A177-3AD203B41FA5}">
                      <a16:colId xmlns:a16="http://schemas.microsoft.com/office/drawing/2014/main" val="20000"/>
                    </a:ext>
                  </a:extLst>
                </a:gridCol>
                <a:gridCol w="2213517">
                  <a:extLst>
                    <a:ext uri="{9D8B030D-6E8A-4147-A177-3AD203B41FA5}">
                      <a16:colId xmlns:a16="http://schemas.microsoft.com/office/drawing/2014/main" val="20001"/>
                    </a:ext>
                  </a:extLst>
                </a:gridCol>
              </a:tblGrid>
              <a:tr h="212904">
                <a:tc>
                  <a:txBody>
                    <a:bodyPr/>
                    <a:lstStyle/>
                    <a:p>
                      <a:r>
                        <a:rPr lang="ca-ES" sz="1100" dirty="0"/>
                        <a:t>Característica</a:t>
                      </a:r>
                    </a:p>
                  </a:txBody>
                  <a:tcPr/>
                </a:tc>
                <a:tc>
                  <a:txBody>
                    <a:bodyPr/>
                    <a:lstStyle/>
                    <a:p>
                      <a:r>
                        <a:rPr lang="ca-ES" sz="1100" dirty="0"/>
                        <a:t>Valor</a:t>
                      </a:r>
                    </a:p>
                  </a:txBody>
                  <a:tcPr/>
                </a:tc>
                <a:extLst>
                  <a:ext uri="{0D108BD9-81ED-4DB2-BD59-A6C34878D82A}">
                    <a16:rowId xmlns:a16="http://schemas.microsoft.com/office/drawing/2014/main" val="10000"/>
                  </a:ext>
                </a:extLst>
              </a:tr>
              <a:tr h="212904">
                <a:tc>
                  <a:txBody>
                    <a:bodyPr/>
                    <a:lstStyle/>
                    <a:p>
                      <a:r>
                        <a:rPr lang="ca-ES" sz="1100" dirty="0" err="1"/>
                        <a:t>Balanceo</a:t>
                      </a:r>
                      <a:endParaRPr lang="ca-ES" sz="1100" dirty="0"/>
                    </a:p>
                  </a:txBody>
                  <a:tcPr/>
                </a:tc>
                <a:tc>
                  <a:txBody>
                    <a:bodyPr/>
                    <a:lstStyle/>
                    <a:p>
                      <a:r>
                        <a:rPr lang="ca-ES" sz="1100" dirty="0"/>
                        <a:t>Sí (ROSE: 43-57)</a:t>
                      </a:r>
                    </a:p>
                  </a:txBody>
                  <a:tcPr/>
                </a:tc>
                <a:extLst>
                  <a:ext uri="{0D108BD9-81ED-4DB2-BD59-A6C34878D82A}">
                    <a16:rowId xmlns:a16="http://schemas.microsoft.com/office/drawing/2014/main" val="10001"/>
                  </a:ext>
                </a:extLst>
              </a:tr>
              <a:tr h="212904">
                <a:tc>
                  <a:txBody>
                    <a:bodyPr/>
                    <a:lstStyle/>
                    <a:p>
                      <a:r>
                        <a:rPr lang="ca-ES" sz="1100" dirty="0"/>
                        <a:t>Umbral de </a:t>
                      </a:r>
                      <a:r>
                        <a:rPr lang="ca-ES" sz="1100" dirty="0" err="1"/>
                        <a:t>discriminación</a:t>
                      </a:r>
                      <a:endParaRPr lang="ca-ES" sz="1100" dirty="0"/>
                    </a:p>
                  </a:txBody>
                  <a:tcPr/>
                </a:tc>
                <a:tc>
                  <a:txBody>
                    <a:bodyPr/>
                    <a:lstStyle/>
                    <a:p>
                      <a:r>
                        <a:rPr lang="ca-ES" sz="1100" dirty="0"/>
                        <a:t>0.43</a:t>
                      </a:r>
                    </a:p>
                  </a:txBody>
                  <a:tcPr/>
                </a:tc>
                <a:extLst>
                  <a:ext uri="{0D108BD9-81ED-4DB2-BD59-A6C34878D82A}">
                    <a16:rowId xmlns:a16="http://schemas.microsoft.com/office/drawing/2014/main" val="10002"/>
                  </a:ext>
                </a:extLst>
              </a:tr>
              <a:tr h="212904">
                <a:tc>
                  <a:txBody>
                    <a:bodyPr/>
                    <a:lstStyle/>
                    <a:p>
                      <a:r>
                        <a:rPr lang="ca-ES" sz="1100" dirty="0" err="1"/>
                        <a:t>Escalado</a:t>
                      </a:r>
                      <a:r>
                        <a:rPr lang="ca-ES" sz="1100" dirty="0"/>
                        <a:t> de </a:t>
                      </a:r>
                      <a:r>
                        <a:rPr lang="ca-ES" sz="1100" dirty="0" err="1"/>
                        <a:t>numéricas</a:t>
                      </a:r>
                      <a:endParaRPr lang="ca-ES" sz="1100" dirty="0"/>
                    </a:p>
                  </a:txBody>
                  <a:tcPr/>
                </a:tc>
                <a:tc>
                  <a:txBody>
                    <a:bodyPr/>
                    <a:lstStyle/>
                    <a:p>
                      <a:r>
                        <a:rPr lang="ca-ES" sz="1100" dirty="0"/>
                        <a:t>Sí</a:t>
                      </a:r>
                    </a:p>
                  </a:txBody>
                  <a:tcPr/>
                </a:tc>
                <a:extLst>
                  <a:ext uri="{0D108BD9-81ED-4DB2-BD59-A6C34878D82A}">
                    <a16:rowId xmlns:a16="http://schemas.microsoft.com/office/drawing/2014/main" val="10003"/>
                  </a:ext>
                </a:extLst>
              </a:tr>
              <a:tr h="212904">
                <a:tc>
                  <a:txBody>
                    <a:bodyPr/>
                    <a:lstStyle/>
                    <a:p>
                      <a:r>
                        <a:rPr lang="ca-ES" sz="1100" dirty="0"/>
                        <a:t>Cross </a:t>
                      </a:r>
                      <a:r>
                        <a:rPr lang="ca-ES" sz="1100" dirty="0" err="1"/>
                        <a:t>Validation</a:t>
                      </a:r>
                      <a:endParaRPr lang="ca-ES" sz="1100" dirty="0"/>
                    </a:p>
                  </a:txBody>
                  <a:tcPr/>
                </a:tc>
                <a:tc>
                  <a:txBody>
                    <a:bodyPr/>
                    <a:lstStyle/>
                    <a:p>
                      <a:r>
                        <a:rPr lang="ca-ES" sz="1100" dirty="0"/>
                        <a:t>Sí (10 </a:t>
                      </a:r>
                      <a:r>
                        <a:rPr lang="ca-ES" sz="1100" dirty="0" err="1"/>
                        <a:t>folds</a:t>
                      </a:r>
                      <a:r>
                        <a:rPr lang="ca-ES" sz="1100" dirty="0"/>
                        <a:t>)</a:t>
                      </a:r>
                    </a:p>
                  </a:txBody>
                  <a:tcPr/>
                </a:tc>
                <a:extLst>
                  <a:ext uri="{0D108BD9-81ED-4DB2-BD59-A6C34878D82A}">
                    <a16:rowId xmlns:a16="http://schemas.microsoft.com/office/drawing/2014/main" val="10004"/>
                  </a:ext>
                </a:extLst>
              </a:tr>
              <a:tr h="212904">
                <a:tc>
                  <a:txBody>
                    <a:bodyPr/>
                    <a:lstStyle/>
                    <a:p>
                      <a:r>
                        <a:rPr lang="ca-ES" sz="1100" dirty="0" err="1"/>
                        <a:t>Criterio</a:t>
                      </a:r>
                      <a:r>
                        <a:rPr lang="ca-ES" sz="1100" dirty="0"/>
                        <a:t> para dividir </a:t>
                      </a:r>
                      <a:r>
                        <a:rPr lang="ca-ES" sz="1100" dirty="0" err="1"/>
                        <a:t>nodos</a:t>
                      </a:r>
                      <a:endParaRPr lang="ca-ES" sz="1100" dirty="0"/>
                    </a:p>
                  </a:txBody>
                  <a:tcPr/>
                </a:tc>
                <a:tc>
                  <a:txBody>
                    <a:bodyPr/>
                    <a:lstStyle/>
                    <a:p>
                      <a:r>
                        <a:rPr lang="ca-ES" sz="1100" dirty="0" err="1"/>
                        <a:t>Índice</a:t>
                      </a:r>
                      <a:r>
                        <a:rPr lang="ca-ES" sz="1100" dirty="0"/>
                        <a:t> de </a:t>
                      </a:r>
                      <a:r>
                        <a:rPr lang="ca-ES" sz="1100" dirty="0" err="1"/>
                        <a:t>Gini</a:t>
                      </a:r>
                      <a:endParaRPr lang="ca-ES" sz="1100" dirty="0"/>
                    </a:p>
                  </a:txBody>
                  <a:tcPr/>
                </a:tc>
                <a:extLst>
                  <a:ext uri="{0D108BD9-81ED-4DB2-BD59-A6C34878D82A}">
                    <a16:rowId xmlns:a16="http://schemas.microsoft.com/office/drawing/2014/main" val="10005"/>
                  </a:ext>
                </a:extLst>
              </a:tr>
              <a:tr h="361936">
                <a:tc>
                  <a:txBody>
                    <a:bodyPr/>
                    <a:lstStyle/>
                    <a:p>
                      <a:r>
                        <a:rPr lang="ca-ES" sz="1100" dirty="0" err="1"/>
                        <a:t>Parámetro</a:t>
                      </a:r>
                      <a:r>
                        <a:rPr lang="ca-ES" sz="1100" dirty="0"/>
                        <a:t> de </a:t>
                      </a:r>
                      <a:r>
                        <a:rPr lang="ca-ES" sz="1100" dirty="0" err="1"/>
                        <a:t>complejidad</a:t>
                      </a:r>
                      <a:r>
                        <a:rPr lang="ca-ES" sz="1100" dirty="0"/>
                        <a:t> </a:t>
                      </a:r>
                      <a:r>
                        <a:rPr lang="ca-ES" sz="1100" dirty="0" err="1"/>
                        <a:t>Cp</a:t>
                      </a:r>
                      <a:endParaRPr lang="ca-ES" sz="1100" dirty="0"/>
                    </a:p>
                  </a:txBody>
                  <a:tcPr/>
                </a:tc>
                <a:tc>
                  <a:txBody>
                    <a:bodyPr/>
                    <a:lstStyle/>
                    <a:p>
                      <a:r>
                        <a:rPr lang="ca-ES" sz="1100" dirty="0" err="1"/>
                        <a:t>Optimizado</a:t>
                      </a:r>
                      <a:r>
                        <a:rPr lang="ca-ES" sz="1100" dirty="0"/>
                        <a:t> </a:t>
                      </a:r>
                      <a:r>
                        <a:rPr lang="ca-ES" sz="1100" dirty="0" err="1"/>
                        <a:t>vía</a:t>
                      </a:r>
                      <a:r>
                        <a:rPr lang="ca-ES" sz="1100" dirty="0"/>
                        <a:t> CV=&gt; </a:t>
                      </a:r>
                      <a:r>
                        <a:rPr lang="es-ES" sz="1100" dirty="0"/>
                        <a:t>0.004039924</a:t>
                      </a:r>
                      <a:endParaRPr lang="ca-ES" sz="1100" dirty="0"/>
                    </a:p>
                  </a:txBody>
                  <a:tcPr/>
                </a:tc>
                <a:extLst>
                  <a:ext uri="{0D108BD9-81ED-4DB2-BD59-A6C34878D82A}">
                    <a16:rowId xmlns:a16="http://schemas.microsoft.com/office/drawing/2014/main" val="10006"/>
                  </a:ext>
                </a:extLst>
              </a:tr>
              <a:tr h="212904">
                <a:tc>
                  <a:txBody>
                    <a:bodyPr/>
                    <a:lstStyle/>
                    <a:p>
                      <a:r>
                        <a:rPr lang="ca-ES" sz="1100" dirty="0"/>
                        <a:t>Número total de </a:t>
                      </a:r>
                      <a:r>
                        <a:rPr lang="ca-ES" sz="1100" dirty="0" err="1"/>
                        <a:t>nodos</a:t>
                      </a:r>
                      <a:endParaRPr lang="ca-ES" sz="1100" dirty="0"/>
                    </a:p>
                  </a:txBody>
                  <a:tcPr/>
                </a:tc>
                <a:tc>
                  <a:txBody>
                    <a:bodyPr/>
                    <a:lstStyle/>
                    <a:p>
                      <a:r>
                        <a:rPr lang="ca-ES" sz="1100" dirty="0"/>
                        <a:t>27</a:t>
                      </a:r>
                    </a:p>
                  </a:txBody>
                  <a:tcPr/>
                </a:tc>
                <a:extLst>
                  <a:ext uri="{0D108BD9-81ED-4DB2-BD59-A6C34878D82A}">
                    <a16:rowId xmlns:a16="http://schemas.microsoft.com/office/drawing/2014/main" val="10007"/>
                  </a:ext>
                </a:extLst>
              </a:tr>
              <a:tr h="212904">
                <a:tc>
                  <a:txBody>
                    <a:bodyPr/>
                    <a:lstStyle/>
                    <a:p>
                      <a:r>
                        <a:rPr lang="ca-ES" sz="1100" dirty="0"/>
                        <a:t>Número de </a:t>
                      </a:r>
                      <a:r>
                        <a:rPr lang="ca-ES" sz="1100" dirty="0" err="1"/>
                        <a:t>hojas</a:t>
                      </a:r>
                      <a:endParaRPr lang="ca-ES" sz="1100" dirty="0"/>
                    </a:p>
                  </a:txBody>
                  <a:tcPr/>
                </a:tc>
                <a:tc>
                  <a:txBody>
                    <a:bodyPr/>
                    <a:lstStyle/>
                    <a:p>
                      <a:r>
                        <a:rPr lang="ca-ES" sz="1100" dirty="0"/>
                        <a:t>14</a:t>
                      </a:r>
                    </a:p>
                  </a:txBody>
                  <a:tcPr/>
                </a:tc>
                <a:extLst>
                  <a:ext uri="{0D108BD9-81ED-4DB2-BD59-A6C34878D82A}">
                    <a16:rowId xmlns:a16="http://schemas.microsoft.com/office/drawing/2014/main" val="10008"/>
                  </a:ext>
                </a:extLst>
              </a:tr>
              <a:tr h="212904">
                <a:tc>
                  <a:txBody>
                    <a:bodyPr/>
                    <a:lstStyle/>
                    <a:p>
                      <a:r>
                        <a:rPr lang="ca-ES" sz="1100" dirty="0" err="1"/>
                        <a:t>Tamáño</a:t>
                      </a:r>
                      <a:r>
                        <a:rPr lang="ca-ES" sz="1100" dirty="0"/>
                        <a:t> </a:t>
                      </a:r>
                      <a:r>
                        <a:rPr lang="ca-ES" sz="1100" dirty="0" err="1"/>
                        <a:t>mínimo</a:t>
                      </a:r>
                      <a:r>
                        <a:rPr lang="ca-ES" sz="1100" dirty="0"/>
                        <a:t> de </a:t>
                      </a:r>
                      <a:r>
                        <a:rPr lang="ca-ES" sz="1100" dirty="0" err="1"/>
                        <a:t>hoja</a:t>
                      </a:r>
                      <a:endParaRPr lang="ca-ES" sz="1100" dirty="0"/>
                    </a:p>
                  </a:txBody>
                  <a:tcPr/>
                </a:tc>
                <a:tc>
                  <a:txBody>
                    <a:bodyPr/>
                    <a:lstStyle/>
                    <a:p>
                      <a:r>
                        <a:rPr lang="ca-ES" sz="1100" dirty="0"/>
                        <a:t>15</a:t>
                      </a:r>
                    </a:p>
                  </a:txBody>
                  <a:tcPr/>
                </a:tc>
                <a:extLst>
                  <a:ext uri="{0D108BD9-81ED-4DB2-BD59-A6C34878D82A}">
                    <a16:rowId xmlns:a16="http://schemas.microsoft.com/office/drawing/2014/main" val="10009"/>
                  </a:ext>
                </a:extLst>
              </a:tr>
            </a:tbl>
          </a:graphicData>
        </a:graphic>
      </p:graphicFrame>
      <p:sp>
        <p:nvSpPr>
          <p:cNvPr id="6" name="AutoShape 2"/>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ca-ES"/>
          </a:p>
        </p:txBody>
      </p:sp>
      <p:graphicFrame>
        <p:nvGraphicFramePr>
          <p:cNvPr id="7" name="Tabla 6"/>
          <p:cNvGraphicFramePr>
            <a:graphicFrameLocks noGrp="1"/>
          </p:cNvGraphicFramePr>
          <p:nvPr>
            <p:extLst>
              <p:ext uri="{D42A27DB-BD31-4B8C-83A1-F6EECF244321}">
                <p14:modId xmlns:p14="http://schemas.microsoft.com/office/powerpoint/2010/main" val="1333039329"/>
              </p:ext>
            </p:extLst>
          </p:nvPr>
        </p:nvGraphicFramePr>
        <p:xfrm>
          <a:off x="5221678" y="1499119"/>
          <a:ext cx="3552842" cy="2758444"/>
        </p:xfrm>
        <a:graphic>
          <a:graphicData uri="http://schemas.openxmlformats.org/drawingml/2006/table">
            <a:tbl>
              <a:tblPr firstRow="1" bandRow="1">
                <a:tableStyleId>{69012ECD-51FC-41F1-AA8D-1B2483CD663E}</a:tableStyleId>
              </a:tblPr>
              <a:tblGrid>
                <a:gridCol w="1776421">
                  <a:extLst>
                    <a:ext uri="{9D8B030D-6E8A-4147-A177-3AD203B41FA5}">
                      <a16:colId xmlns:a16="http://schemas.microsoft.com/office/drawing/2014/main" val="20000"/>
                    </a:ext>
                  </a:extLst>
                </a:gridCol>
                <a:gridCol w="1776421">
                  <a:extLst>
                    <a:ext uri="{9D8B030D-6E8A-4147-A177-3AD203B41FA5}">
                      <a16:colId xmlns:a16="http://schemas.microsoft.com/office/drawing/2014/main" val="20001"/>
                    </a:ext>
                  </a:extLst>
                </a:gridCol>
              </a:tblGrid>
              <a:tr h="293545">
                <a:tc>
                  <a:txBody>
                    <a:bodyPr/>
                    <a:lstStyle/>
                    <a:p>
                      <a:r>
                        <a:rPr lang="ca-ES" sz="1100" dirty="0"/>
                        <a:t>KPI</a:t>
                      </a:r>
                    </a:p>
                  </a:txBody>
                  <a:tcPr/>
                </a:tc>
                <a:tc>
                  <a:txBody>
                    <a:bodyPr/>
                    <a:lstStyle/>
                    <a:p>
                      <a:r>
                        <a:rPr lang="ca-ES" sz="1100" dirty="0"/>
                        <a:t>Valor</a:t>
                      </a:r>
                    </a:p>
                  </a:txBody>
                  <a:tcPr/>
                </a:tc>
                <a:extLst>
                  <a:ext uri="{0D108BD9-81ED-4DB2-BD59-A6C34878D82A}">
                    <a16:rowId xmlns:a16="http://schemas.microsoft.com/office/drawing/2014/main" val="10000"/>
                  </a:ext>
                </a:extLst>
              </a:tr>
              <a:tr h="293545">
                <a:tc>
                  <a:txBody>
                    <a:bodyPr/>
                    <a:lstStyle/>
                    <a:p>
                      <a:r>
                        <a:rPr lang="ca-ES" sz="1100" dirty="0"/>
                        <a:t>F1 </a:t>
                      </a:r>
                      <a:r>
                        <a:rPr lang="ca-ES" sz="1100" dirty="0" err="1"/>
                        <a:t>train</a:t>
                      </a:r>
                      <a:endParaRPr lang="ca-ES" sz="1100" dirty="0"/>
                    </a:p>
                  </a:txBody>
                  <a:tcPr/>
                </a:tc>
                <a:tc>
                  <a:txBody>
                    <a:bodyPr/>
                    <a:lstStyle/>
                    <a:p>
                      <a:r>
                        <a:rPr lang="ca-ES" sz="1100" dirty="0"/>
                        <a:t>0.4870878</a:t>
                      </a:r>
                    </a:p>
                  </a:txBody>
                  <a:tcPr/>
                </a:tc>
                <a:extLst>
                  <a:ext uri="{0D108BD9-81ED-4DB2-BD59-A6C34878D82A}">
                    <a16:rowId xmlns:a16="http://schemas.microsoft.com/office/drawing/2014/main" val="10001"/>
                  </a:ext>
                </a:extLst>
              </a:tr>
              <a:tr h="293545">
                <a:tc>
                  <a:txBody>
                    <a:bodyPr/>
                    <a:lstStyle/>
                    <a:p>
                      <a:r>
                        <a:rPr lang="ca-ES" sz="1100" dirty="0"/>
                        <a:t>F1 test</a:t>
                      </a:r>
                    </a:p>
                  </a:txBody>
                  <a:tcPr/>
                </a:tc>
                <a:tc>
                  <a:txBody>
                    <a:bodyPr/>
                    <a:lstStyle/>
                    <a:p>
                      <a:r>
                        <a:rPr lang="ca-ES" sz="1100" dirty="0"/>
                        <a:t>0.4990826</a:t>
                      </a:r>
                    </a:p>
                  </a:txBody>
                  <a:tcPr/>
                </a:tc>
                <a:extLst>
                  <a:ext uri="{0D108BD9-81ED-4DB2-BD59-A6C34878D82A}">
                    <a16:rowId xmlns:a16="http://schemas.microsoft.com/office/drawing/2014/main" val="10002"/>
                  </a:ext>
                </a:extLst>
              </a:tr>
              <a:tr h="293545">
                <a:tc>
                  <a:txBody>
                    <a:bodyPr/>
                    <a:lstStyle/>
                    <a:p>
                      <a:r>
                        <a:rPr lang="ca-ES" sz="1100" dirty="0" err="1"/>
                        <a:t>Recall</a:t>
                      </a:r>
                      <a:r>
                        <a:rPr lang="ca-ES" sz="1100" dirty="0"/>
                        <a:t> </a:t>
                      </a:r>
                      <a:r>
                        <a:rPr lang="ca-ES" sz="1100" dirty="0" err="1"/>
                        <a:t>train</a:t>
                      </a:r>
                      <a:endParaRPr lang="ca-ES" sz="1100" dirty="0"/>
                    </a:p>
                  </a:txBody>
                  <a:tcPr/>
                </a:tc>
                <a:tc>
                  <a:txBody>
                    <a:bodyPr/>
                    <a:lstStyle/>
                    <a:p>
                      <a:r>
                        <a:rPr lang="ca-ES" sz="1100" dirty="0"/>
                        <a:t>0.607</a:t>
                      </a:r>
                    </a:p>
                  </a:txBody>
                  <a:tcPr/>
                </a:tc>
                <a:extLst>
                  <a:ext uri="{0D108BD9-81ED-4DB2-BD59-A6C34878D82A}">
                    <a16:rowId xmlns:a16="http://schemas.microsoft.com/office/drawing/2014/main" val="10003"/>
                  </a:ext>
                </a:extLst>
              </a:tr>
              <a:tr h="293545">
                <a:tc>
                  <a:txBody>
                    <a:bodyPr/>
                    <a:lstStyle/>
                    <a:p>
                      <a:r>
                        <a:rPr lang="ca-ES" sz="1100" dirty="0" err="1"/>
                        <a:t>Recall</a:t>
                      </a:r>
                      <a:r>
                        <a:rPr lang="ca-ES" sz="1100" dirty="0"/>
                        <a:t> test</a:t>
                      </a:r>
                    </a:p>
                  </a:txBody>
                  <a:tcPr/>
                </a:tc>
                <a:tc>
                  <a:txBody>
                    <a:bodyPr/>
                    <a:lstStyle/>
                    <a:p>
                      <a:r>
                        <a:rPr lang="ca-ES" sz="1100" dirty="0"/>
                        <a:t>0.61678</a:t>
                      </a:r>
                    </a:p>
                  </a:txBody>
                  <a:tcPr/>
                </a:tc>
                <a:extLst>
                  <a:ext uri="{0D108BD9-81ED-4DB2-BD59-A6C34878D82A}">
                    <a16:rowId xmlns:a16="http://schemas.microsoft.com/office/drawing/2014/main" val="10004"/>
                  </a:ext>
                </a:extLst>
              </a:tr>
              <a:tr h="293545">
                <a:tc>
                  <a:txBody>
                    <a:bodyPr/>
                    <a:lstStyle/>
                    <a:p>
                      <a:r>
                        <a:rPr lang="ca-ES" sz="1100" dirty="0" err="1"/>
                        <a:t>Sprecificity_train</a:t>
                      </a:r>
                      <a:endParaRPr lang="ca-ES" sz="1100" dirty="0"/>
                    </a:p>
                  </a:txBody>
                  <a:tcPr/>
                </a:tc>
                <a:tc>
                  <a:txBody>
                    <a:bodyPr/>
                    <a:lstStyle/>
                    <a:p>
                      <a:r>
                        <a:rPr lang="ca-ES" sz="1100" dirty="0"/>
                        <a:t>0.769982</a:t>
                      </a:r>
                    </a:p>
                  </a:txBody>
                  <a:tcPr/>
                </a:tc>
                <a:extLst>
                  <a:ext uri="{0D108BD9-81ED-4DB2-BD59-A6C34878D82A}">
                    <a16:rowId xmlns:a16="http://schemas.microsoft.com/office/drawing/2014/main" val="10005"/>
                  </a:ext>
                </a:extLst>
              </a:tr>
              <a:tr h="410084">
                <a:tc>
                  <a:txBody>
                    <a:bodyPr/>
                    <a:lstStyle/>
                    <a:p>
                      <a:r>
                        <a:rPr lang="ca-ES" sz="1100" dirty="0" err="1"/>
                        <a:t>Specificity</a:t>
                      </a:r>
                      <a:r>
                        <a:rPr lang="ca-ES" sz="1100" dirty="0"/>
                        <a:t> test</a:t>
                      </a:r>
                    </a:p>
                  </a:txBody>
                  <a:tcPr/>
                </a:tc>
                <a:tc>
                  <a:txBody>
                    <a:bodyPr/>
                    <a:lstStyle/>
                    <a:p>
                      <a:r>
                        <a:rPr lang="ca-ES" sz="1100" dirty="0"/>
                        <a:t>0.7727</a:t>
                      </a:r>
                    </a:p>
                  </a:txBody>
                  <a:tcPr/>
                </a:tc>
                <a:extLst>
                  <a:ext uri="{0D108BD9-81ED-4DB2-BD59-A6C34878D82A}">
                    <a16:rowId xmlns:a16="http://schemas.microsoft.com/office/drawing/2014/main" val="10006"/>
                  </a:ext>
                </a:extLst>
              </a:tr>
              <a:tr h="293545">
                <a:tc>
                  <a:txBody>
                    <a:bodyPr/>
                    <a:lstStyle/>
                    <a:p>
                      <a:r>
                        <a:rPr lang="ca-ES" sz="1100" dirty="0" err="1"/>
                        <a:t>Accuracy</a:t>
                      </a:r>
                      <a:r>
                        <a:rPr lang="ca-ES" sz="1100" dirty="0"/>
                        <a:t> </a:t>
                      </a:r>
                      <a:r>
                        <a:rPr lang="ca-ES" sz="1100" dirty="0" err="1"/>
                        <a:t>train</a:t>
                      </a:r>
                      <a:endParaRPr lang="ca-ES" sz="1100" dirty="0"/>
                    </a:p>
                  </a:txBody>
                  <a:tcPr/>
                </a:tc>
                <a:tc>
                  <a:txBody>
                    <a:bodyPr/>
                    <a:lstStyle/>
                    <a:p>
                      <a:r>
                        <a:rPr lang="ca-ES" sz="1100" dirty="0"/>
                        <a:t>0.7365306</a:t>
                      </a:r>
                    </a:p>
                  </a:txBody>
                  <a:tcPr/>
                </a:tc>
                <a:extLst>
                  <a:ext uri="{0D108BD9-81ED-4DB2-BD59-A6C34878D82A}">
                    <a16:rowId xmlns:a16="http://schemas.microsoft.com/office/drawing/2014/main" val="10007"/>
                  </a:ext>
                </a:extLst>
              </a:tr>
              <a:tr h="293545">
                <a:tc>
                  <a:txBody>
                    <a:bodyPr/>
                    <a:lstStyle/>
                    <a:p>
                      <a:r>
                        <a:rPr lang="ca-ES" sz="1100" dirty="0" err="1"/>
                        <a:t>Accuracy</a:t>
                      </a:r>
                      <a:r>
                        <a:rPr lang="ca-ES" sz="1100" dirty="0"/>
                        <a:t> test</a:t>
                      </a:r>
                    </a:p>
                  </a:txBody>
                  <a:tcPr/>
                </a:tc>
                <a:tc>
                  <a:txBody>
                    <a:bodyPr/>
                    <a:lstStyle/>
                    <a:p>
                      <a:r>
                        <a:rPr lang="ca-ES" sz="1100" dirty="0"/>
                        <a:t>0.74</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descr="Tabla&#10;&#10;El contenido generado por IA puede ser incorrecto."/>
          <p:cNvPicPr>
            <a:picLocks noChangeAspect="1"/>
          </p:cNvPicPr>
          <p:nvPr/>
        </p:nvPicPr>
        <p:blipFill>
          <a:blip r:embed="rId2"/>
          <a:stretch>
            <a:fillRect/>
          </a:stretch>
        </p:blipFill>
        <p:spPr>
          <a:xfrm>
            <a:off x="746161" y="1673485"/>
            <a:ext cx="2683327" cy="2732123"/>
          </a:xfrm>
          <a:prstGeom prst="rect">
            <a:avLst/>
          </a:prstGeom>
        </p:spPr>
      </p:pic>
      <p:sp>
        <p:nvSpPr>
          <p:cNvPr id="2" name="TextBox 1">
            <a:extLst>
              <a:ext uri="{FF2B5EF4-FFF2-40B4-BE49-F238E27FC236}">
                <a16:creationId xmlns:a16="http://schemas.microsoft.com/office/drawing/2014/main" id="{7B9C6DA5-3145-B0ED-C9C6-3EEBA06235C6}"/>
              </a:ext>
            </a:extLst>
          </p:cNvPr>
          <p:cNvSpPr txBox="1"/>
          <p:nvPr/>
        </p:nvSpPr>
        <p:spPr>
          <a:xfrm>
            <a:off x="746161" y="798852"/>
            <a:ext cx="2918460" cy="677108"/>
          </a:xfrm>
          <a:prstGeom prst="rect">
            <a:avLst/>
          </a:prstGeom>
          <a:noFill/>
        </p:spPr>
        <p:txBody>
          <a:bodyPr wrap="square" rtlCol="0">
            <a:spAutoFit/>
          </a:bodyPr>
          <a:lstStyle/>
          <a:p>
            <a:r>
              <a:rPr lang="en-ES" b="1" dirty="0"/>
              <a:t>Las variables más importantes </a:t>
            </a:r>
          </a:p>
          <a:p>
            <a:pPr marL="285750" indent="-285750">
              <a:buFont typeface="Arial" panose="020B0604020202020204" pitchFamily="34" charset="0"/>
              <a:buChar char="•"/>
            </a:pPr>
            <a:r>
              <a:rPr lang="en-GB" sz="1200" dirty="0" err="1"/>
              <a:t>demográficas</a:t>
            </a:r>
            <a:r>
              <a:rPr lang="en-GB" sz="1200" dirty="0"/>
              <a:t>  </a:t>
            </a:r>
          </a:p>
          <a:p>
            <a:pPr marL="285750" indent="-285750">
              <a:buFont typeface="Arial" panose="020B0604020202020204" pitchFamily="34" charset="0"/>
              <a:buChar char="•"/>
            </a:pPr>
            <a:r>
              <a:rPr lang="en-GB" sz="1200" dirty="0" err="1"/>
              <a:t>relación</a:t>
            </a:r>
            <a:r>
              <a:rPr lang="en-GB" sz="1200" dirty="0"/>
              <a:t> con </a:t>
            </a:r>
            <a:r>
              <a:rPr lang="en-GB" sz="1200" dirty="0" err="1"/>
              <a:t>el</a:t>
            </a:r>
            <a:r>
              <a:rPr lang="en-GB" sz="1200" dirty="0"/>
              <a:t> banco</a:t>
            </a:r>
            <a:endParaRPr lang="en-ES" sz="1200" dirty="0"/>
          </a:p>
        </p:txBody>
      </p:sp>
      <p:pic>
        <p:nvPicPr>
          <p:cNvPr id="5" name="Picture 4" descr="A graph with red dots and blue lines&#10;&#10;AI-generated content may be incorrect.">
            <a:extLst>
              <a:ext uri="{FF2B5EF4-FFF2-40B4-BE49-F238E27FC236}">
                <a16:creationId xmlns:a16="http://schemas.microsoft.com/office/drawing/2014/main" id="{DC1FC1D7-9B3C-12AD-0C86-48078DF9D2C4}"/>
              </a:ext>
            </a:extLst>
          </p:cNvPr>
          <p:cNvPicPr>
            <a:picLocks noChangeAspect="1"/>
          </p:cNvPicPr>
          <p:nvPr/>
        </p:nvPicPr>
        <p:blipFill>
          <a:blip r:embed="rId3"/>
          <a:stretch>
            <a:fillRect/>
          </a:stretch>
        </p:blipFill>
        <p:spPr>
          <a:xfrm>
            <a:off x="4001770" y="1216660"/>
            <a:ext cx="4691896" cy="3188948"/>
          </a:xfrm>
          <a:prstGeom prst="rect">
            <a:avLst/>
          </a:prstGeom>
        </p:spPr>
      </p:pic>
      <p:pic>
        <p:nvPicPr>
          <p:cNvPr id="7" name="Picture 6" descr="A diagram of a family tree&#10;&#10;AI-generated content may be incorrect.">
            <a:extLst>
              <a:ext uri="{FF2B5EF4-FFF2-40B4-BE49-F238E27FC236}">
                <a16:creationId xmlns:a16="http://schemas.microsoft.com/office/drawing/2014/main" id="{A3E3CB3F-4865-6CA8-52D6-66CA6A623D08}"/>
              </a:ext>
            </a:extLst>
          </p:cNvPr>
          <p:cNvPicPr>
            <a:picLocks noChangeAspect="1"/>
          </p:cNvPicPr>
          <p:nvPr/>
        </p:nvPicPr>
        <p:blipFill>
          <a:blip r:embed="rId4"/>
          <a:stretch>
            <a:fillRect/>
          </a:stretch>
        </p:blipFill>
        <p:spPr>
          <a:xfrm>
            <a:off x="560263" y="363493"/>
            <a:ext cx="8023474" cy="45591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Random</a:t>
            </a:r>
            <a:r>
              <a:rPr lang="es-ES" dirty="0"/>
              <a:t> Forest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XGBoost</a:t>
            </a:r>
            <a:endParaRPr lang="es-E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8223F-DC0A-7F09-D656-8C62A51F23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F9EDE1-D675-2BCD-9A9A-27D97C1F6889}"/>
              </a:ext>
            </a:extLst>
          </p:cNvPr>
          <p:cNvSpPr>
            <a:spLocks noGrp="1"/>
          </p:cNvSpPr>
          <p:nvPr>
            <p:ph type="title"/>
          </p:nvPr>
        </p:nvSpPr>
        <p:spPr>
          <a:xfrm>
            <a:off x="720000" y="508144"/>
            <a:ext cx="7704000" cy="572700"/>
          </a:xfrm>
        </p:spPr>
        <p:txBody>
          <a:bodyPr/>
          <a:lstStyle/>
          <a:p>
            <a:r>
              <a:rPr lang="es-ES" noProof="0" dirty="0"/>
              <a:t>GLM</a:t>
            </a:r>
          </a:p>
        </p:txBody>
      </p:sp>
      <p:graphicFrame>
        <p:nvGraphicFramePr>
          <p:cNvPr id="5" name="Tabla 4">
            <a:extLst>
              <a:ext uri="{FF2B5EF4-FFF2-40B4-BE49-F238E27FC236}">
                <a16:creationId xmlns:a16="http://schemas.microsoft.com/office/drawing/2014/main" id="{CC3D65DF-32A4-E8C8-4876-F2BBAB77A87D}"/>
              </a:ext>
            </a:extLst>
          </p:cNvPr>
          <p:cNvGraphicFramePr>
            <a:graphicFrameLocks noGrp="1"/>
          </p:cNvGraphicFramePr>
          <p:nvPr/>
        </p:nvGraphicFramePr>
        <p:xfrm>
          <a:off x="369480" y="1499123"/>
          <a:ext cx="4427034" cy="2758440"/>
        </p:xfrm>
        <a:graphic>
          <a:graphicData uri="http://schemas.openxmlformats.org/drawingml/2006/table">
            <a:tbl>
              <a:tblPr firstRow="1" bandRow="1">
                <a:tableStyleId>{69012ECD-51FC-41F1-AA8D-1B2483CD663E}</a:tableStyleId>
              </a:tblPr>
              <a:tblGrid>
                <a:gridCol w="2213517">
                  <a:extLst>
                    <a:ext uri="{9D8B030D-6E8A-4147-A177-3AD203B41FA5}">
                      <a16:colId xmlns:a16="http://schemas.microsoft.com/office/drawing/2014/main" val="20000"/>
                    </a:ext>
                  </a:extLst>
                </a:gridCol>
                <a:gridCol w="2213517">
                  <a:extLst>
                    <a:ext uri="{9D8B030D-6E8A-4147-A177-3AD203B41FA5}">
                      <a16:colId xmlns:a16="http://schemas.microsoft.com/office/drawing/2014/main" val="20001"/>
                    </a:ext>
                  </a:extLst>
                </a:gridCol>
              </a:tblGrid>
              <a:tr h="212904">
                <a:tc>
                  <a:txBody>
                    <a:bodyPr/>
                    <a:lstStyle/>
                    <a:p>
                      <a:r>
                        <a:rPr lang="ca-ES" sz="1100" dirty="0"/>
                        <a:t>Característica</a:t>
                      </a:r>
                    </a:p>
                  </a:txBody>
                  <a:tcPr/>
                </a:tc>
                <a:tc>
                  <a:txBody>
                    <a:bodyPr/>
                    <a:lstStyle/>
                    <a:p>
                      <a:r>
                        <a:rPr lang="ca-ES" sz="1100" dirty="0"/>
                        <a:t>Valor</a:t>
                      </a:r>
                    </a:p>
                  </a:txBody>
                  <a:tcPr/>
                </a:tc>
                <a:extLst>
                  <a:ext uri="{0D108BD9-81ED-4DB2-BD59-A6C34878D82A}">
                    <a16:rowId xmlns:a16="http://schemas.microsoft.com/office/drawing/2014/main" val="10000"/>
                  </a:ext>
                </a:extLst>
              </a:tr>
              <a:tr h="212904">
                <a:tc>
                  <a:txBody>
                    <a:bodyPr/>
                    <a:lstStyle/>
                    <a:p>
                      <a:r>
                        <a:rPr lang="ca-ES" sz="1100" dirty="0" err="1"/>
                        <a:t>Balanceo</a:t>
                      </a:r>
                      <a:endParaRPr lang="ca-ES" sz="1100" dirty="0"/>
                    </a:p>
                  </a:txBody>
                  <a:tcPr/>
                </a:tc>
                <a:tc>
                  <a:txBody>
                    <a:bodyPr/>
                    <a:lstStyle/>
                    <a:p>
                      <a:r>
                        <a:rPr lang="ca-ES" sz="1100" dirty="0"/>
                        <a:t>Sí (ROSE: 43-57)</a:t>
                      </a:r>
                    </a:p>
                  </a:txBody>
                  <a:tcPr/>
                </a:tc>
                <a:extLst>
                  <a:ext uri="{0D108BD9-81ED-4DB2-BD59-A6C34878D82A}">
                    <a16:rowId xmlns:a16="http://schemas.microsoft.com/office/drawing/2014/main" val="10001"/>
                  </a:ext>
                </a:extLst>
              </a:tr>
              <a:tr h="212904">
                <a:tc>
                  <a:txBody>
                    <a:bodyPr/>
                    <a:lstStyle/>
                    <a:p>
                      <a:r>
                        <a:rPr lang="ca-ES" sz="1100" dirty="0"/>
                        <a:t>Umbral de </a:t>
                      </a:r>
                      <a:r>
                        <a:rPr lang="ca-ES" sz="1100" dirty="0" err="1"/>
                        <a:t>discriminación</a:t>
                      </a:r>
                      <a:endParaRPr lang="ca-ES" sz="1100" dirty="0"/>
                    </a:p>
                  </a:txBody>
                  <a:tcPr/>
                </a:tc>
                <a:tc>
                  <a:txBody>
                    <a:bodyPr/>
                    <a:lstStyle/>
                    <a:p>
                      <a:r>
                        <a:rPr lang="ca-ES" sz="1100" dirty="0"/>
                        <a:t>0.43</a:t>
                      </a:r>
                    </a:p>
                  </a:txBody>
                  <a:tcPr/>
                </a:tc>
                <a:extLst>
                  <a:ext uri="{0D108BD9-81ED-4DB2-BD59-A6C34878D82A}">
                    <a16:rowId xmlns:a16="http://schemas.microsoft.com/office/drawing/2014/main" val="10002"/>
                  </a:ext>
                </a:extLst>
              </a:tr>
              <a:tr h="212904">
                <a:tc>
                  <a:txBody>
                    <a:bodyPr/>
                    <a:lstStyle/>
                    <a:p>
                      <a:r>
                        <a:rPr lang="ca-ES" sz="1100" dirty="0" err="1"/>
                        <a:t>Escalado</a:t>
                      </a:r>
                      <a:r>
                        <a:rPr lang="ca-ES" sz="1100" dirty="0"/>
                        <a:t> de </a:t>
                      </a:r>
                      <a:r>
                        <a:rPr lang="ca-ES" sz="1100" dirty="0" err="1"/>
                        <a:t>numéricas</a:t>
                      </a:r>
                      <a:endParaRPr lang="ca-ES" sz="1100" dirty="0"/>
                    </a:p>
                  </a:txBody>
                  <a:tcPr/>
                </a:tc>
                <a:tc>
                  <a:txBody>
                    <a:bodyPr/>
                    <a:lstStyle/>
                    <a:p>
                      <a:r>
                        <a:rPr lang="ca-ES" sz="1100" dirty="0"/>
                        <a:t>Sí</a:t>
                      </a:r>
                    </a:p>
                  </a:txBody>
                  <a:tcPr/>
                </a:tc>
                <a:extLst>
                  <a:ext uri="{0D108BD9-81ED-4DB2-BD59-A6C34878D82A}">
                    <a16:rowId xmlns:a16="http://schemas.microsoft.com/office/drawing/2014/main" val="10003"/>
                  </a:ext>
                </a:extLst>
              </a:tr>
              <a:tr h="212904">
                <a:tc>
                  <a:txBody>
                    <a:bodyPr/>
                    <a:lstStyle/>
                    <a:p>
                      <a:r>
                        <a:rPr lang="ca-ES" sz="1100" dirty="0"/>
                        <a:t>Cross </a:t>
                      </a:r>
                      <a:r>
                        <a:rPr lang="ca-ES" sz="1100" dirty="0" err="1"/>
                        <a:t>Validation</a:t>
                      </a:r>
                      <a:endParaRPr lang="ca-ES" sz="1100" dirty="0"/>
                    </a:p>
                  </a:txBody>
                  <a:tcPr/>
                </a:tc>
                <a:tc>
                  <a:txBody>
                    <a:bodyPr/>
                    <a:lstStyle/>
                    <a:p>
                      <a:r>
                        <a:rPr lang="ca-ES" sz="1100" dirty="0"/>
                        <a:t>Sí (10 </a:t>
                      </a:r>
                      <a:r>
                        <a:rPr lang="ca-ES" sz="1100" dirty="0" err="1"/>
                        <a:t>folds</a:t>
                      </a:r>
                      <a:r>
                        <a:rPr lang="ca-ES" sz="1100" dirty="0"/>
                        <a:t>)</a:t>
                      </a:r>
                    </a:p>
                  </a:txBody>
                  <a:tcPr/>
                </a:tc>
                <a:extLst>
                  <a:ext uri="{0D108BD9-81ED-4DB2-BD59-A6C34878D82A}">
                    <a16:rowId xmlns:a16="http://schemas.microsoft.com/office/drawing/2014/main" val="10004"/>
                  </a:ext>
                </a:extLst>
              </a:tr>
              <a:tr h="212904">
                <a:tc>
                  <a:txBody>
                    <a:bodyPr/>
                    <a:lstStyle/>
                    <a:p>
                      <a:r>
                        <a:rPr lang="ca-ES" sz="1100" dirty="0" err="1"/>
                        <a:t>Criterio</a:t>
                      </a:r>
                      <a:r>
                        <a:rPr lang="ca-ES" sz="1100" dirty="0"/>
                        <a:t> para dividir </a:t>
                      </a:r>
                      <a:r>
                        <a:rPr lang="ca-ES" sz="1100" dirty="0" err="1"/>
                        <a:t>nodos</a:t>
                      </a:r>
                      <a:endParaRPr lang="ca-ES" sz="1100" dirty="0"/>
                    </a:p>
                  </a:txBody>
                  <a:tcPr/>
                </a:tc>
                <a:tc>
                  <a:txBody>
                    <a:bodyPr/>
                    <a:lstStyle/>
                    <a:p>
                      <a:r>
                        <a:rPr lang="ca-ES" sz="1100" dirty="0" err="1"/>
                        <a:t>Índice</a:t>
                      </a:r>
                      <a:r>
                        <a:rPr lang="ca-ES" sz="1100" dirty="0"/>
                        <a:t> de </a:t>
                      </a:r>
                      <a:r>
                        <a:rPr lang="ca-ES" sz="1100" dirty="0" err="1"/>
                        <a:t>Gini</a:t>
                      </a:r>
                      <a:endParaRPr lang="ca-ES" sz="1100" dirty="0"/>
                    </a:p>
                  </a:txBody>
                  <a:tcPr/>
                </a:tc>
                <a:extLst>
                  <a:ext uri="{0D108BD9-81ED-4DB2-BD59-A6C34878D82A}">
                    <a16:rowId xmlns:a16="http://schemas.microsoft.com/office/drawing/2014/main" val="10005"/>
                  </a:ext>
                </a:extLst>
              </a:tr>
              <a:tr h="361936">
                <a:tc>
                  <a:txBody>
                    <a:bodyPr/>
                    <a:lstStyle/>
                    <a:p>
                      <a:r>
                        <a:rPr lang="ca-ES" sz="1100" dirty="0" err="1"/>
                        <a:t>Parámetro</a:t>
                      </a:r>
                      <a:r>
                        <a:rPr lang="ca-ES" sz="1100" dirty="0"/>
                        <a:t> de </a:t>
                      </a:r>
                      <a:r>
                        <a:rPr lang="ca-ES" sz="1100" dirty="0" err="1"/>
                        <a:t>complejidad</a:t>
                      </a:r>
                      <a:r>
                        <a:rPr lang="ca-ES" sz="1100" dirty="0"/>
                        <a:t> </a:t>
                      </a:r>
                      <a:r>
                        <a:rPr lang="ca-ES" sz="1100" dirty="0" err="1"/>
                        <a:t>Cp</a:t>
                      </a:r>
                      <a:endParaRPr lang="ca-ES" sz="1100" dirty="0"/>
                    </a:p>
                  </a:txBody>
                  <a:tcPr/>
                </a:tc>
                <a:tc>
                  <a:txBody>
                    <a:bodyPr/>
                    <a:lstStyle/>
                    <a:p>
                      <a:r>
                        <a:rPr lang="ca-ES" sz="1100" dirty="0" err="1"/>
                        <a:t>Optimizado</a:t>
                      </a:r>
                      <a:r>
                        <a:rPr lang="ca-ES" sz="1100" dirty="0"/>
                        <a:t> </a:t>
                      </a:r>
                      <a:r>
                        <a:rPr lang="ca-ES" sz="1100" dirty="0" err="1"/>
                        <a:t>vía</a:t>
                      </a:r>
                      <a:r>
                        <a:rPr lang="ca-ES" sz="1100" dirty="0"/>
                        <a:t> CV=&gt; </a:t>
                      </a:r>
                      <a:r>
                        <a:rPr lang="es-ES" sz="1100" dirty="0"/>
                        <a:t>0.004039924</a:t>
                      </a:r>
                      <a:endParaRPr lang="ca-ES" sz="1100" dirty="0"/>
                    </a:p>
                  </a:txBody>
                  <a:tcPr/>
                </a:tc>
                <a:extLst>
                  <a:ext uri="{0D108BD9-81ED-4DB2-BD59-A6C34878D82A}">
                    <a16:rowId xmlns:a16="http://schemas.microsoft.com/office/drawing/2014/main" val="10006"/>
                  </a:ext>
                </a:extLst>
              </a:tr>
              <a:tr h="212904">
                <a:tc>
                  <a:txBody>
                    <a:bodyPr/>
                    <a:lstStyle/>
                    <a:p>
                      <a:r>
                        <a:rPr lang="ca-ES" sz="1100" dirty="0"/>
                        <a:t>Número total de </a:t>
                      </a:r>
                      <a:r>
                        <a:rPr lang="ca-ES" sz="1100" dirty="0" err="1"/>
                        <a:t>nodos</a:t>
                      </a:r>
                      <a:endParaRPr lang="ca-ES" sz="1100" dirty="0"/>
                    </a:p>
                  </a:txBody>
                  <a:tcPr/>
                </a:tc>
                <a:tc>
                  <a:txBody>
                    <a:bodyPr/>
                    <a:lstStyle/>
                    <a:p>
                      <a:r>
                        <a:rPr lang="ca-ES" sz="1100" dirty="0"/>
                        <a:t>27</a:t>
                      </a:r>
                    </a:p>
                  </a:txBody>
                  <a:tcPr/>
                </a:tc>
                <a:extLst>
                  <a:ext uri="{0D108BD9-81ED-4DB2-BD59-A6C34878D82A}">
                    <a16:rowId xmlns:a16="http://schemas.microsoft.com/office/drawing/2014/main" val="10007"/>
                  </a:ext>
                </a:extLst>
              </a:tr>
              <a:tr h="212904">
                <a:tc>
                  <a:txBody>
                    <a:bodyPr/>
                    <a:lstStyle/>
                    <a:p>
                      <a:r>
                        <a:rPr lang="ca-ES" sz="1100" dirty="0"/>
                        <a:t>Número de </a:t>
                      </a:r>
                      <a:r>
                        <a:rPr lang="ca-ES" sz="1100" dirty="0" err="1"/>
                        <a:t>hojas</a:t>
                      </a:r>
                      <a:endParaRPr lang="ca-ES" sz="1100" dirty="0"/>
                    </a:p>
                  </a:txBody>
                  <a:tcPr/>
                </a:tc>
                <a:tc>
                  <a:txBody>
                    <a:bodyPr/>
                    <a:lstStyle/>
                    <a:p>
                      <a:r>
                        <a:rPr lang="ca-ES" sz="1100" dirty="0"/>
                        <a:t>14</a:t>
                      </a:r>
                    </a:p>
                  </a:txBody>
                  <a:tcPr/>
                </a:tc>
                <a:extLst>
                  <a:ext uri="{0D108BD9-81ED-4DB2-BD59-A6C34878D82A}">
                    <a16:rowId xmlns:a16="http://schemas.microsoft.com/office/drawing/2014/main" val="10008"/>
                  </a:ext>
                </a:extLst>
              </a:tr>
              <a:tr h="212904">
                <a:tc>
                  <a:txBody>
                    <a:bodyPr/>
                    <a:lstStyle/>
                    <a:p>
                      <a:r>
                        <a:rPr lang="ca-ES" sz="1100" dirty="0" err="1"/>
                        <a:t>Tamáño</a:t>
                      </a:r>
                      <a:r>
                        <a:rPr lang="ca-ES" sz="1100" dirty="0"/>
                        <a:t> </a:t>
                      </a:r>
                      <a:r>
                        <a:rPr lang="ca-ES" sz="1100" dirty="0" err="1"/>
                        <a:t>mínimo</a:t>
                      </a:r>
                      <a:r>
                        <a:rPr lang="ca-ES" sz="1100" dirty="0"/>
                        <a:t> de </a:t>
                      </a:r>
                      <a:r>
                        <a:rPr lang="ca-ES" sz="1100" dirty="0" err="1"/>
                        <a:t>hoja</a:t>
                      </a:r>
                      <a:endParaRPr lang="ca-ES" sz="1100" dirty="0"/>
                    </a:p>
                  </a:txBody>
                  <a:tcPr/>
                </a:tc>
                <a:tc>
                  <a:txBody>
                    <a:bodyPr/>
                    <a:lstStyle/>
                    <a:p>
                      <a:r>
                        <a:rPr lang="ca-ES" sz="1100" dirty="0"/>
                        <a:t>15</a:t>
                      </a:r>
                    </a:p>
                  </a:txBody>
                  <a:tcPr/>
                </a:tc>
                <a:extLst>
                  <a:ext uri="{0D108BD9-81ED-4DB2-BD59-A6C34878D82A}">
                    <a16:rowId xmlns:a16="http://schemas.microsoft.com/office/drawing/2014/main" val="10009"/>
                  </a:ext>
                </a:extLst>
              </a:tr>
            </a:tbl>
          </a:graphicData>
        </a:graphic>
      </p:graphicFrame>
      <p:sp>
        <p:nvSpPr>
          <p:cNvPr id="6" name="AutoShape 2">
            <a:extLst>
              <a:ext uri="{FF2B5EF4-FFF2-40B4-BE49-F238E27FC236}">
                <a16:creationId xmlns:a16="http://schemas.microsoft.com/office/drawing/2014/main" id="{9C10D6D8-36E3-BD23-3379-2C50A976A5C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ca-ES"/>
          </a:p>
        </p:txBody>
      </p:sp>
      <p:graphicFrame>
        <p:nvGraphicFramePr>
          <p:cNvPr id="7" name="Tabla 6">
            <a:extLst>
              <a:ext uri="{FF2B5EF4-FFF2-40B4-BE49-F238E27FC236}">
                <a16:creationId xmlns:a16="http://schemas.microsoft.com/office/drawing/2014/main" id="{B0F3E520-D0E8-57E8-92EE-03E667D854C6}"/>
              </a:ext>
            </a:extLst>
          </p:cNvPr>
          <p:cNvGraphicFramePr>
            <a:graphicFrameLocks noGrp="1"/>
          </p:cNvGraphicFramePr>
          <p:nvPr/>
        </p:nvGraphicFramePr>
        <p:xfrm>
          <a:off x="5221678" y="1499119"/>
          <a:ext cx="3552842" cy="2758444"/>
        </p:xfrm>
        <a:graphic>
          <a:graphicData uri="http://schemas.openxmlformats.org/drawingml/2006/table">
            <a:tbl>
              <a:tblPr firstRow="1" bandRow="1">
                <a:tableStyleId>{69012ECD-51FC-41F1-AA8D-1B2483CD663E}</a:tableStyleId>
              </a:tblPr>
              <a:tblGrid>
                <a:gridCol w="1776421">
                  <a:extLst>
                    <a:ext uri="{9D8B030D-6E8A-4147-A177-3AD203B41FA5}">
                      <a16:colId xmlns:a16="http://schemas.microsoft.com/office/drawing/2014/main" val="20000"/>
                    </a:ext>
                  </a:extLst>
                </a:gridCol>
                <a:gridCol w="1776421">
                  <a:extLst>
                    <a:ext uri="{9D8B030D-6E8A-4147-A177-3AD203B41FA5}">
                      <a16:colId xmlns:a16="http://schemas.microsoft.com/office/drawing/2014/main" val="20001"/>
                    </a:ext>
                  </a:extLst>
                </a:gridCol>
              </a:tblGrid>
              <a:tr h="293545">
                <a:tc>
                  <a:txBody>
                    <a:bodyPr/>
                    <a:lstStyle/>
                    <a:p>
                      <a:r>
                        <a:rPr lang="ca-ES" sz="1100" dirty="0"/>
                        <a:t>KPI</a:t>
                      </a:r>
                    </a:p>
                  </a:txBody>
                  <a:tcPr/>
                </a:tc>
                <a:tc>
                  <a:txBody>
                    <a:bodyPr/>
                    <a:lstStyle/>
                    <a:p>
                      <a:r>
                        <a:rPr lang="ca-ES" sz="1100" dirty="0"/>
                        <a:t>Valor</a:t>
                      </a:r>
                    </a:p>
                  </a:txBody>
                  <a:tcPr/>
                </a:tc>
                <a:extLst>
                  <a:ext uri="{0D108BD9-81ED-4DB2-BD59-A6C34878D82A}">
                    <a16:rowId xmlns:a16="http://schemas.microsoft.com/office/drawing/2014/main" val="10000"/>
                  </a:ext>
                </a:extLst>
              </a:tr>
              <a:tr h="293545">
                <a:tc>
                  <a:txBody>
                    <a:bodyPr/>
                    <a:lstStyle/>
                    <a:p>
                      <a:r>
                        <a:rPr lang="ca-ES" sz="1100" dirty="0"/>
                        <a:t>F1 </a:t>
                      </a:r>
                      <a:r>
                        <a:rPr lang="ca-ES" sz="1100" dirty="0" err="1"/>
                        <a:t>train</a:t>
                      </a:r>
                      <a:endParaRPr lang="ca-ES" sz="1100" dirty="0"/>
                    </a:p>
                  </a:txBody>
                  <a:tcPr/>
                </a:tc>
                <a:tc>
                  <a:txBody>
                    <a:bodyPr/>
                    <a:lstStyle/>
                    <a:p>
                      <a:r>
                        <a:rPr lang="ca-ES" sz="1100" dirty="0"/>
                        <a:t>0.4870878</a:t>
                      </a:r>
                    </a:p>
                  </a:txBody>
                  <a:tcPr/>
                </a:tc>
                <a:extLst>
                  <a:ext uri="{0D108BD9-81ED-4DB2-BD59-A6C34878D82A}">
                    <a16:rowId xmlns:a16="http://schemas.microsoft.com/office/drawing/2014/main" val="10001"/>
                  </a:ext>
                </a:extLst>
              </a:tr>
              <a:tr h="293545">
                <a:tc>
                  <a:txBody>
                    <a:bodyPr/>
                    <a:lstStyle/>
                    <a:p>
                      <a:r>
                        <a:rPr lang="ca-ES" sz="1100" dirty="0"/>
                        <a:t>F1 test</a:t>
                      </a:r>
                    </a:p>
                  </a:txBody>
                  <a:tcPr/>
                </a:tc>
                <a:tc>
                  <a:txBody>
                    <a:bodyPr/>
                    <a:lstStyle/>
                    <a:p>
                      <a:r>
                        <a:rPr lang="ca-ES" sz="1100" dirty="0"/>
                        <a:t>0.4990826</a:t>
                      </a:r>
                    </a:p>
                  </a:txBody>
                  <a:tcPr/>
                </a:tc>
                <a:extLst>
                  <a:ext uri="{0D108BD9-81ED-4DB2-BD59-A6C34878D82A}">
                    <a16:rowId xmlns:a16="http://schemas.microsoft.com/office/drawing/2014/main" val="10002"/>
                  </a:ext>
                </a:extLst>
              </a:tr>
              <a:tr h="293545">
                <a:tc>
                  <a:txBody>
                    <a:bodyPr/>
                    <a:lstStyle/>
                    <a:p>
                      <a:r>
                        <a:rPr lang="ca-ES" sz="1100" dirty="0" err="1"/>
                        <a:t>Recall</a:t>
                      </a:r>
                      <a:r>
                        <a:rPr lang="ca-ES" sz="1100" dirty="0"/>
                        <a:t> </a:t>
                      </a:r>
                      <a:r>
                        <a:rPr lang="ca-ES" sz="1100" dirty="0" err="1"/>
                        <a:t>train</a:t>
                      </a:r>
                      <a:endParaRPr lang="ca-ES" sz="1100" dirty="0"/>
                    </a:p>
                  </a:txBody>
                  <a:tcPr/>
                </a:tc>
                <a:tc>
                  <a:txBody>
                    <a:bodyPr/>
                    <a:lstStyle/>
                    <a:p>
                      <a:r>
                        <a:rPr lang="ca-ES" sz="1100" dirty="0"/>
                        <a:t>0.607</a:t>
                      </a:r>
                    </a:p>
                  </a:txBody>
                  <a:tcPr/>
                </a:tc>
                <a:extLst>
                  <a:ext uri="{0D108BD9-81ED-4DB2-BD59-A6C34878D82A}">
                    <a16:rowId xmlns:a16="http://schemas.microsoft.com/office/drawing/2014/main" val="10003"/>
                  </a:ext>
                </a:extLst>
              </a:tr>
              <a:tr h="293545">
                <a:tc>
                  <a:txBody>
                    <a:bodyPr/>
                    <a:lstStyle/>
                    <a:p>
                      <a:r>
                        <a:rPr lang="ca-ES" sz="1100" dirty="0" err="1"/>
                        <a:t>Recall</a:t>
                      </a:r>
                      <a:r>
                        <a:rPr lang="ca-ES" sz="1100" dirty="0"/>
                        <a:t> test</a:t>
                      </a:r>
                    </a:p>
                  </a:txBody>
                  <a:tcPr/>
                </a:tc>
                <a:tc>
                  <a:txBody>
                    <a:bodyPr/>
                    <a:lstStyle/>
                    <a:p>
                      <a:r>
                        <a:rPr lang="ca-ES" sz="1100" dirty="0"/>
                        <a:t>0.61678</a:t>
                      </a:r>
                    </a:p>
                  </a:txBody>
                  <a:tcPr/>
                </a:tc>
                <a:extLst>
                  <a:ext uri="{0D108BD9-81ED-4DB2-BD59-A6C34878D82A}">
                    <a16:rowId xmlns:a16="http://schemas.microsoft.com/office/drawing/2014/main" val="10004"/>
                  </a:ext>
                </a:extLst>
              </a:tr>
              <a:tr h="293545">
                <a:tc>
                  <a:txBody>
                    <a:bodyPr/>
                    <a:lstStyle/>
                    <a:p>
                      <a:r>
                        <a:rPr lang="ca-ES" sz="1100" dirty="0" err="1"/>
                        <a:t>Sprecificity_train</a:t>
                      </a:r>
                      <a:endParaRPr lang="ca-ES" sz="1100" dirty="0"/>
                    </a:p>
                  </a:txBody>
                  <a:tcPr/>
                </a:tc>
                <a:tc>
                  <a:txBody>
                    <a:bodyPr/>
                    <a:lstStyle/>
                    <a:p>
                      <a:r>
                        <a:rPr lang="ca-ES" sz="1100" dirty="0"/>
                        <a:t>0.769982</a:t>
                      </a:r>
                    </a:p>
                  </a:txBody>
                  <a:tcPr/>
                </a:tc>
                <a:extLst>
                  <a:ext uri="{0D108BD9-81ED-4DB2-BD59-A6C34878D82A}">
                    <a16:rowId xmlns:a16="http://schemas.microsoft.com/office/drawing/2014/main" val="10005"/>
                  </a:ext>
                </a:extLst>
              </a:tr>
              <a:tr h="410084">
                <a:tc>
                  <a:txBody>
                    <a:bodyPr/>
                    <a:lstStyle/>
                    <a:p>
                      <a:r>
                        <a:rPr lang="ca-ES" sz="1100" dirty="0" err="1"/>
                        <a:t>Specificity</a:t>
                      </a:r>
                      <a:r>
                        <a:rPr lang="ca-ES" sz="1100" dirty="0"/>
                        <a:t> test</a:t>
                      </a:r>
                    </a:p>
                  </a:txBody>
                  <a:tcPr/>
                </a:tc>
                <a:tc>
                  <a:txBody>
                    <a:bodyPr/>
                    <a:lstStyle/>
                    <a:p>
                      <a:r>
                        <a:rPr lang="ca-ES" sz="1100" dirty="0"/>
                        <a:t>0.7727</a:t>
                      </a:r>
                    </a:p>
                  </a:txBody>
                  <a:tcPr/>
                </a:tc>
                <a:extLst>
                  <a:ext uri="{0D108BD9-81ED-4DB2-BD59-A6C34878D82A}">
                    <a16:rowId xmlns:a16="http://schemas.microsoft.com/office/drawing/2014/main" val="10006"/>
                  </a:ext>
                </a:extLst>
              </a:tr>
              <a:tr h="293545">
                <a:tc>
                  <a:txBody>
                    <a:bodyPr/>
                    <a:lstStyle/>
                    <a:p>
                      <a:r>
                        <a:rPr lang="ca-ES" sz="1100" dirty="0" err="1"/>
                        <a:t>Accuracy</a:t>
                      </a:r>
                      <a:r>
                        <a:rPr lang="ca-ES" sz="1100" dirty="0"/>
                        <a:t> </a:t>
                      </a:r>
                      <a:r>
                        <a:rPr lang="ca-ES" sz="1100" dirty="0" err="1"/>
                        <a:t>train</a:t>
                      </a:r>
                      <a:endParaRPr lang="ca-ES" sz="1100" dirty="0"/>
                    </a:p>
                  </a:txBody>
                  <a:tcPr/>
                </a:tc>
                <a:tc>
                  <a:txBody>
                    <a:bodyPr/>
                    <a:lstStyle/>
                    <a:p>
                      <a:r>
                        <a:rPr lang="ca-ES" sz="1100" dirty="0"/>
                        <a:t>0.7365306</a:t>
                      </a:r>
                    </a:p>
                  </a:txBody>
                  <a:tcPr/>
                </a:tc>
                <a:extLst>
                  <a:ext uri="{0D108BD9-81ED-4DB2-BD59-A6C34878D82A}">
                    <a16:rowId xmlns:a16="http://schemas.microsoft.com/office/drawing/2014/main" val="10007"/>
                  </a:ext>
                </a:extLst>
              </a:tr>
              <a:tr h="293545">
                <a:tc>
                  <a:txBody>
                    <a:bodyPr/>
                    <a:lstStyle/>
                    <a:p>
                      <a:r>
                        <a:rPr lang="ca-ES" sz="1100" dirty="0" err="1"/>
                        <a:t>Accuracy</a:t>
                      </a:r>
                      <a:r>
                        <a:rPr lang="ca-ES" sz="1100" dirty="0"/>
                        <a:t> test</a:t>
                      </a:r>
                    </a:p>
                  </a:txBody>
                  <a:tcPr/>
                </a:tc>
                <a:tc>
                  <a:txBody>
                    <a:bodyPr/>
                    <a:lstStyle/>
                    <a:p>
                      <a:r>
                        <a:rPr lang="ca-ES" sz="1100" dirty="0"/>
                        <a:t>0.74</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94522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tge 3">
            <a:extLst>
              <a:ext uri="{FF2B5EF4-FFF2-40B4-BE49-F238E27FC236}">
                <a16:creationId xmlns:a16="http://schemas.microsoft.com/office/drawing/2014/main" id="{FD18AD5A-A558-46E8-B520-4851F6DA7AC5}"/>
              </a:ext>
            </a:extLst>
          </p:cNvPr>
          <p:cNvPicPr>
            <a:picLocks noChangeAspect="1"/>
          </p:cNvPicPr>
          <p:nvPr/>
        </p:nvPicPr>
        <p:blipFill>
          <a:blip r:embed="rId2"/>
          <a:stretch>
            <a:fillRect/>
          </a:stretch>
        </p:blipFill>
        <p:spPr>
          <a:xfrm>
            <a:off x="628245" y="2331145"/>
            <a:ext cx="3942525" cy="1853949"/>
          </a:xfrm>
          <a:prstGeom prst="rect">
            <a:avLst/>
          </a:prstGeom>
        </p:spPr>
      </p:pic>
      <p:sp>
        <p:nvSpPr>
          <p:cNvPr id="5" name="CuadroTexto 1">
            <a:extLst>
              <a:ext uri="{FF2B5EF4-FFF2-40B4-BE49-F238E27FC236}">
                <a16:creationId xmlns:a16="http://schemas.microsoft.com/office/drawing/2014/main" id="{0E5ACF7D-A8A8-4ECF-A0B3-997DFB48CE1F}"/>
              </a:ext>
            </a:extLst>
          </p:cNvPr>
          <p:cNvSpPr txBox="1"/>
          <p:nvPr/>
        </p:nvSpPr>
        <p:spPr>
          <a:xfrm>
            <a:off x="6487122" y="816165"/>
            <a:ext cx="1404295" cy="307777"/>
          </a:xfrm>
          <a:prstGeom prst="rect">
            <a:avLst/>
          </a:prstGeom>
          <a:noFill/>
        </p:spPr>
        <p:txBody>
          <a:bodyPr wrap="square" rtlCol="0">
            <a:spAutoFit/>
          </a:bodyPr>
          <a:lstStyle/>
          <a:p>
            <a:pPr algn="just"/>
            <a:r>
              <a:rPr lang="es-ES" b="1" dirty="0"/>
              <a:t>GLM </a:t>
            </a:r>
            <a:r>
              <a:rPr lang="es-ES" b="1" dirty="0" err="1"/>
              <a:t>Boostrap</a:t>
            </a:r>
            <a:endParaRPr lang="es-ES" b="1" dirty="0"/>
          </a:p>
        </p:txBody>
      </p:sp>
      <p:sp>
        <p:nvSpPr>
          <p:cNvPr id="6" name="CuadroTexto 1">
            <a:extLst>
              <a:ext uri="{FF2B5EF4-FFF2-40B4-BE49-F238E27FC236}">
                <a16:creationId xmlns:a16="http://schemas.microsoft.com/office/drawing/2014/main" id="{0F507262-0434-4F81-B071-7689150C6818}"/>
              </a:ext>
            </a:extLst>
          </p:cNvPr>
          <p:cNvSpPr txBox="1"/>
          <p:nvPr/>
        </p:nvSpPr>
        <p:spPr>
          <a:xfrm>
            <a:off x="230777" y="816166"/>
            <a:ext cx="4737463" cy="307777"/>
          </a:xfrm>
          <a:prstGeom prst="rect">
            <a:avLst/>
          </a:prstGeom>
          <a:noFill/>
        </p:spPr>
        <p:txBody>
          <a:bodyPr wrap="square" rtlCol="0">
            <a:spAutoFit/>
          </a:bodyPr>
          <a:lstStyle/>
          <a:p>
            <a:pPr algn="ctr"/>
            <a:r>
              <a:rPr lang="es-ES" b="1" dirty="0"/>
              <a:t>GLM </a:t>
            </a:r>
            <a:r>
              <a:rPr lang="es-ES" b="1" dirty="0" err="1"/>
              <a:t>feat</a:t>
            </a:r>
            <a:r>
              <a:rPr lang="es-ES" b="1" dirty="0"/>
              <a:t>. </a:t>
            </a:r>
            <a:r>
              <a:rPr lang="es-ES" b="1" dirty="0" err="1"/>
              <a:t>Engineering</a:t>
            </a:r>
            <a:r>
              <a:rPr lang="es-ES" b="1" dirty="0"/>
              <a:t>:</a:t>
            </a:r>
          </a:p>
        </p:txBody>
      </p:sp>
      <p:cxnSp>
        <p:nvCxnSpPr>
          <p:cNvPr id="9" name="Straight Connector 8">
            <a:extLst>
              <a:ext uri="{FF2B5EF4-FFF2-40B4-BE49-F238E27FC236}">
                <a16:creationId xmlns:a16="http://schemas.microsoft.com/office/drawing/2014/main" id="{8263F184-9316-D009-6877-F53CDBF24F55}"/>
              </a:ext>
            </a:extLst>
          </p:cNvPr>
          <p:cNvCxnSpPr>
            <a:cxnSpLocks/>
          </p:cNvCxnSpPr>
          <p:nvPr/>
        </p:nvCxnSpPr>
        <p:spPr>
          <a:xfrm>
            <a:off x="4968240" y="365760"/>
            <a:ext cx="0" cy="4777740"/>
          </a:xfrm>
          <a:prstGeom prst="line">
            <a:avLst/>
          </a:prstGeom>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B2617394-827B-86A0-0A29-8DC6DD1BDA78}"/>
              </a:ext>
            </a:extLst>
          </p:cNvPr>
          <p:cNvSpPr/>
          <p:nvPr/>
        </p:nvSpPr>
        <p:spPr>
          <a:xfrm>
            <a:off x="230777" y="1300824"/>
            <a:ext cx="4511018" cy="853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Exited</a:t>
            </a:r>
            <a:r>
              <a:rPr lang="es-ES" dirty="0"/>
              <a:t> ~ </a:t>
            </a:r>
            <a:r>
              <a:rPr lang="es-ES" dirty="0" err="1"/>
              <a:t>Gender</a:t>
            </a:r>
            <a:r>
              <a:rPr lang="es-ES" dirty="0"/>
              <a:t> + Age</a:t>
            </a:r>
            <a:r>
              <a:rPr lang="es-ES" baseline="30000" dirty="0"/>
              <a:t>2</a:t>
            </a:r>
            <a:r>
              <a:rPr lang="es-ES" dirty="0"/>
              <a:t> + Balance + </a:t>
            </a:r>
            <a:r>
              <a:rPr lang="es-ES" dirty="0" err="1"/>
              <a:t>NumOfProd</a:t>
            </a:r>
            <a:r>
              <a:rPr lang="es-ES" dirty="0"/>
              <a:t> + </a:t>
            </a:r>
            <a:r>
              <a:rPr lang="es-ES" dirty="0" err="1"/>
              <a:t>Geography</a:t>
            </a:r>
            <a:r>
              <a:rPr lang="es-ES" dirty="0"/>
              <a:t> + </a:t>
            </a:r>
            <a:r>
              <a:rPr lang="es-ES" dirty="0" err="1"/>
              <a:t>Geography:Gender</a:t>
            </a:r>
            <a:endParaRPr lang="es-ES" dirty="0"/>
          </a:p>
          <a:p>
            <a:pPr algn="ctr"/>
            <a:endParaRPr lang="en-E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SVM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Mejores modelos i métodos</a:t>
            </a:r>
          </a:p>
        </p:txBody>
      </p:sp>
    </p:spTree>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141</TotalTime>
  <Words>1495</Words>
  <Application>Microsoft Office PowerPoint</Application>
  <PresentationFormat>全屏显示(16:9)</PresentationFormat>
  <Paragraphs>286</Paragraphs>
  <Slides>19</Slides>
  <Notes>11</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Cycle Diagrams Theme for a Business Plan by Slidesgo</vt:lpstr>
      <vt:lpstr>Modelo de clasificación  GRUPO 5</vt:lpstr>
      <vt:lpstr>ENTENDIMIENTO DE NEGOCIO</vt:lpstr>
      <vt:lpstr>FRAMEWORK METODOLÓGICO</vt:lpstr>
      <vt:lpstr>Tratamiento de Missing</vt:lpstr>
      <vt:lpstr>Tratamiento de Outliers</vt:lpstr>
      <vt:lpstr>Ingeniería de variables 1/2: transformación</vt:lpstr>
      <vt:lpstr>Ingeniería de Variables 2/2: selección</vt:lpstr>
      <vt:lpstr>Association Rules 1/2</vt:lpstr>
      <vt:lpstr>Association Rules 2/2: resultados</vt:lpstr>
      <vt:lpstr>PREPARACIÓN PARA EL MODELADO</vt:lpstr>
      <vt:lpstr>PRIMEROS MODELOS</vt:lpstr>
      <vt:lpstr>Árbol de desición</vt:lpstr>
      <vt:lpstr>PowerPoint 演示文稿</vt:lpstr>
      <vt:lpstr>Random Forest</vt:lpstr>
      <vt:lpstr>XGBoost</vt:lpstr>
      <vt:lpstr>GLM</vt:lpstr>
      <vt:lpstr>PowerPoint 演示文稿</vt:lpstr>
      <vt:lpstr>SVM</vt:lpstr>
      <vt:lpstr>Mejores modelos i métodos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LAURA BELMONTE VELASCO</cp:lastModifiedBy>
  <cp:revision>26</cp:revision>
  <dcterms:created xsi:type="dcterms:W3CDTF">2025-12-15T06:46:40Z</dcterms:created>
  <dcterms:modified xsi:type="dcterms:W3CDTF">2025-12-17T13:41:39Z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060FF5A1F8DE40999C85C594E7927946_12</vt:lpwstr>
  </property>
  <property fmtid="{D5CDD505-2E9C-101B-9397-08002B2CF9AE}" pid="3" name="KSOProductBuildVer">
    <vt:lpwstr>2052-12.1.0.24034</vt:lpwstr>
  </property>
</Properties>
</file>