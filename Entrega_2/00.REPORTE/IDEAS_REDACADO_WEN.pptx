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5" r:id="rId1"/>
  </p:sldMasterIdLst>
  <p:notesMasterIdLst>
    <p:notesMasterId r:id="rId8"/>
  </p:notesMasterIdLst>
  <p:sldIdLst>
    <p:sldId id="294" r:id="rId2"/>
    <p:sldId id="296" r:id="rId3"/>
    <p:sldId id="295" r:id="rId4"/>
    <p:sldId id="297" r:id="rId5"/>
    <p:sldId id="299" r:id="rId6"/>
    <p:sldId id="298" r:id="rId7"/>
  </p:sldIdLst>
  <p:sldSz cx="9144000" cy="5143500" type="screen16x9"/>
  <p:notesSz cx="6858000" cy="9144000"/>
  <p:embeddedFontLst>
    <p:embeddedFont>
      <p:font typeface="Didact Gothic" panose="00000500000000000000" pitchFamily="2" charset="0"/>
      <p:regular r:id="rId9"/>
    </p:embeddedFont>
    <p:embeddedFont>
      <p:font typeface="Libre Franklin" pitchFamily="2" charset="0"/>
      <p:regular r:id="rId10"/>
      <p:bold r:id="rId11"/>
      <p:italic r:id="rId12"/>
      <p:boldItalic r:id="rId13"/>
    </p:embeddedFont>
    <p:embeddedFont>
      <p:font typeface="Lucida Console" panose="020B0609040504020204" pitchFamily="49" charset="0"/>
      <p:regular r:id="rId14"/>
    </p:embeddedFont>
    <p:embeddedFont>
      <p:font typeface="Poppins" panose="00000500000000000000" pitchFamily="2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F7D9DAED-CE01-4974-B421-1BAEB5EA31DF}">
          <p14:sldIdLst/>
        </p14:section>
        <p14:section name="Sección sin título" id="{3C6AE5C8-3EF0-4B99-A95E-6559323A7B24}">
          <p14:sldIdLst>
            <p14:sldId id="294"/>
            <p14:sldId id="296"/>
            <p14:sldId id="295"/>
            <p14:sldId id="297"/>
            <p14:sldId id="299"/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>
    <p:extLst>
      <p:ext uri="{19B8F6BF-5375-455C-9EA6-DF929625EA0E}">
        <p15:presenceInfo xmlns:p15="http://schemas.microsoft.com/office/powerpoint/2012/main" userId="ab42593c9091a3c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FD54D1E-A07F-487E-B709-6B33F1453160}">
  <a:tblStyle styleId="{7FD54D1E-A07F-487E-B709-6B33F14531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10" autoAdjust="0"/>
    <p:restoredTop sz="94648"/>
  </p:normalViewPr>
  <p:slideViewPr>
    <p:cSldViewPr snapToGrid="0">
      <p:cViewPr varScale="1">
        <p:scale>
          <a:sx n="108" d="100"/>
          <a:sy n="108" d="100"/>
        </p:scale>
        <p:origin x="69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23" Type="http://schemas.openxmlformats.org/officeDocument/2006/relationships/tableStyles" Target="tableStyles.xml"/><Relationship Id="rId10" Type="http://schemas.openxmlformats.org/officeDocument/2006/relationships/font" Target="fonts/font2.fntdata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/>
              <a:buNone/>
              <a:defRPr sz="28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/>
              <a:buNone/>
              <a:defRPr sz="28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/>
              <a:buNone/>
              <a:defRPr sz="28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/>
              <a:buNone/>
              <a:defRPr sz="28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/>
              <a:buNone/>
              <a:defRPr sz="28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/>
              <a:buNone/>
              <a:defRPr sz="28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/>
              <a:buNone/>
              <a:defRPr sz="28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/>
              <a:buNone/>
              <a:defRPr sz="28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/>
              <a:buNone/>
              <a:defRPr sz="28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/>
              <a:buChar char="●"/>
              <a:defRPr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/>
              <a:buChar char="○"/>
              <a:defRPr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/>
              <a:buChar char="■"/>
              <a:defRPr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/>
              <a:buChar char="●"/>
              <a:defRPr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/>
              <a:buChar char="○"/>
              <a:defRPr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/>
              <a:buChar char="■"/>
              <a:defRPr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/>
              <a:buChar char="●"/>
              <a:defRPr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/>
              <a:buChar char="○"/>
              <a:defRPr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/>
              <a:buChar char="■"/>
              <a:defRPr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2" r:id="rId1"/>
    <p:sldLayoutId id="2147483654" r:id="rId2"/>
    <p:sldLayoutId id="2147483655" r:id="rId3"/>
    <p:sldLayoutId id="2147483656" r:id="rId4"/>
    <p:sldLayoutId id="2147483657" r:id="rId5"/>
    <p:sldLayoutId id="2147483662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0DB030-9BC2-5D4D-B7DE-F1672C407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8A9760E-CDDB-195F-0F63-2F098445A54D}"/>
              </a:ext>
            </a:extLst>
          </p:cNvPr>
          <p:cNvSpPr txBox="1"/>
          <p:nvPr/>
        </p:nvSpPr>
        <p:spPr>
          <a:xfrm>
            <a:off x="1024800" y="1306423"/>
            <a:ext cx="7828577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El primer paso fue probar con </a:t>
            </a:r>
            <a:r>
              <a:rPr lang="es-ES" dirty="0" err="1"/>
              <a:t>con</a:t>
            </a:r>
            <a:r>
              <a:rPr lang="es-ES" dirty="0"/>
              <a:t> el data completo. Posteriormente se creó un </a:t>
            </a:r>
            <a:r>
              <a:rPr lang="es-ES" dirty="0" err="1"/>
              <a:t>dataset</a:t>
            </a:r>
            <a:r>
              <a:rPr lang="es-ES" dirty="0"/>
              <a:t> que consiste en variables relevantes según el </a:t>
            </a:r>
            <a:r>
              <a:rPr lang="es-ES" dirty="0" err="1"/>
              <a:t>varImp</a:t>
            </a:r>
            <a:r>
              <a:rPr lang="es-ES" dirty="0"/>
              <a:t> del propio método y las que salieron significativas en los test estadísticos. Peores métricas que el data reducido.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También se llevado a cabo con el </a:t>
            </a:r>
            <a:r>
              <a:rPr lang="es-ES" dirty="0" err="1"/>
              <a:t>dataset</a:t>
            </a:r>
            <a:r>
              <a:rPr lang="es-ES" dirty="0"/>
              <a:t> (cual aplicó Melissa) tras aplicar FAMD.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También se ha probado solo con las variables estadísticamente significativas.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Este último ha sido el mejor. 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Métricas obtenidas con el </a:t>
            </a:r>
            <a:r>
              <a:rPr lang="es-ES" dirty="0" err="1"/>
              <a:t>seed</a:t>
            </a:r>
            <a:r>
              <a:rPr lang="es-ES" dirty="0"/>
              <a:t> () y una p de () 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  <a:p>
            <a:r>
              <a:rPr lang="es-ES" dirty="0"/>
              <a:t>DECIDIR UNA SEMILLA</a:t>
            </a:r>
          </a:p>
        </p:txBody>
      </p:sp>
    </p:spTree>
    <p:extLst>
      <p:ext uri="{BB962C8B-B14F-4D97-AF65-F5344CB8AC3E}">
        <p14:creationId xmlns:p14="http://schemas.microsoft.com/office/powerpoint/2010/main" val="3627796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35A133-552C-F60D-3767-71D9B2556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XGBoots</a:t>
            </a:r>
            <a:endParaRPr lang="es-ES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53F1EB3-647C-8BE7-7ADE-113DB8415A54}"/>
              </a:ext>
            </a:extLst>
          </p:cNvPr>
          <p:cNvSpPr txBox="1"/>
          <p:nvPr/>
        </p:nvSpPr>
        <p:spPr>
          <a:xfrm>
            <a:off x="2286000" y="1734519"/>
            <a:ext cx="4572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En mi caso, p del mejor f1 se encontró en el </a:t>
            </a:r>
            <a:r>
              <a:rPr lang="es-ES" dirty="0" err="1"/>
              <a:t>search</a:t>
            </a:r>
            <a:r>
              <a:rPr lang="es-ES" dirty="0"/>
              <a:t> del </a:t>
            </a:r>
            <a:r>
              <a:rPr lang="es-ES" dirty="0" err="1"/>
              <a:t>best</a:t>
            </a:r>
            <a:r>
              <a:rPr lang="es-ES" dirty="0"/>
              <a:t> p.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Para mayor </a:t>
            </a:r>
            <a:r>
              <a:rPr lang="es-ES" dirty="0" err="1"/>
              <a:t>recall</a:t>
            </a:r>
            <a:r>
              <a:rPr lang="es-ES" dirty="0"/>
              <a:t> ( mas interesante para el proyecto) la p original 0.2071429.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Se creó la variable </a:t>
            </a:r>
            <a:r>
              <a:rPr lang="es-ES" dirty="0" err="1"/>
              <a:t>hasBalance</a:t>
            </a:r>
            <a:r>
              <a:rPr lang="es-ES" dirty="0"/>
              <a:t> y se suprimió el original.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Se ha llevado a cabo </a:t>
            </a:r>
            <a:r>
              <a:rPr lang="es-ES" dirty="0" err="1"/>
              <a:t>biperparamtre</a:t>
            </a:r>
            <a:r>
              <a:rPr lang="es-ES" dirty="0"/>
              <a:t> </a:t>
            </a:r>
            <a:r>
              <a:rPr lang="es-ES" dirty="0" err="1"/>
              <a:t>tuning</a:t>
            </a:r>
            <a:endParaRPr lang="es-ES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Caso Melissa.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No se</a:t>
            </a:r>
          </a:p>
        </p:txBody>
      </p:sp>
    </p:spTree>
    <p:extLst>
      <p:ext uri="{BB962C8B-B14F-4D97-AF65-F5344CB8AC3E}">
        <p14:creationId xmlns:p14="http://schemas.microsoft.com/office/powerpoint/2010/main" val="4400278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3930F5-ACC3-7379-7FD6-8B2C2ABF6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19C81F1-A15F-835A-5E3B-0AFBC06BA8D2}"/>
              </a:ext>
            </a:extLst>
          </p:cNvPr>
          <p:cNvSpPr txBox="1"/>
          <p:nvPr/>
        </p:nvSpPr>
        <p:spPr>
          <a:xfrm>
            <a:off x="857693" y="1363131"/>
            <a:ext cx="7896445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No hay gran diferencia de resultados entre los ambos.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dirty="0" err="1"/>
              <a:t>clogclog</a:t>
            </a:r>
            <a:r>
              <a:rPr lang="es-ES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Se aplico el modelo en el </a:t>
            </a:r>
            <a:r>
              <a:rPr lang="es-ES" dirty="0" err="1"/>
              <a:t>dataset</a:t>
            </a:r>
            <a:r>
              <a:rPr lang="es-ES" dirty="0"/>
              <a:t> reducido i </a:t>
            </a:r>
            <a:r>
              <a:rPr lang="es-ES" dirty="0" err="1"/>
              <a:t>reducido_plus</a:t>
            </a:r>
            <a:r>
              <a:rPr lang="es-ES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Mejores resultados en el reducido, posiblemente porque hay menos ruido.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El punto de corte óptimo para un mayor F1 es: p=0.26.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Métricas obtenidas con el </a:t>
            </a:r>
            <a:r>
              <a:rPr lang="es-ES" dirty="0" err="1"/>
              <a:t>seed</a:t>
            </a:r>
            <a:r>
              <a:rPr lang="es-ES" dirty="0"/>
              <a:t>: 666 </a:t>
            </a:r>
          </a:p>
          <a:p>
            <a:pPr latinLnBrk="1"/>
            <a:endParaRPr lang="en-US" dirty="0"/>
          </a:p>
          <a:p>
            <a:pPr latinLnBrk="1"/>
            <a:r>
              <a:rPr lang="en-US" dirty="0"/>
              <a:t>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0.2602041 0.7397959 0.4062049          0.5546798   0.7881596 0.4689713</a:t>
            </a:r>
          </a:p>
          <a:p>
            <a:pPr latinLnBrk="1"/>
            <a:r>
              <a:rPr lang="en-US" dirty="0"/>
              <a:t>2   Test2  0.2519048 0.7480952 0.4203390          0.5701149   0.7945946 0.4839024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22311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3690A8-11D9-D221-FD81-BC5116D5E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D20F7B5-5B8C-4D93-7C02-5FD163CA25D8}"/>
              </a:ext>
            </a:extLst>
          </p:cNvPr>
          <p:cNvSpPr txBox="1"/>
          <p:nvPr/>
        </p:nvSpPr>
        <p:spPr>
          <a:xfrm>
            <a:off x="602512" y="1879252"/>
            <a:ext cx="817998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latinLnBrk="1">
              <a:buFont typeface="Wingdings" panose="05000000000000000000" pitchFamily="2" charset="2"/>
              <a:buChar char="ü"/>
            </a:pP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Se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hizó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hiperparémtre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tunig</a:t>
            </a:r>
            <a:r>
              <a:rPr lang="en-US" dirty="0">
                <a:latin typeface="Lucida Console" panose="020B0609040504020204" pitchFamily="49" charset="0"/>
              </a:rPr>
              <a:t> Best gamma 0.02 I </a:t>
            </a:r>
            <a:r>
              <a:rPr lang="en-US" dirty="0" err="1">
                <a:latin typeface="Lucida Console" panose="020B0609040504020204" pitchFamily="49" charset="0"/>
              </a:rPr>
              <a:t>coste</a:t>
            </a:r>
            <a:r>
              <a:rPr lang="en-US" dirty="0">
                <a:latin typeface="Lucida Console" panose="020B0609040504020204" pitchFamily="49" charset="0"/>
              </a:rPr>
              <a:t>=10.</a:t>
            </a:r>
          </a:p>
          <a:p>
            <a:pPr marL="285750" indent="-285750" latinLnBrk="1">
              <a:buFont typeface="Wingdings" panose="05000000000000000000" pitchFamily="2" charset="2"/>
              <a:buChar char="ü"/>
            </a:pPr>
            <a:r>
              <a:rPr lang="en-US" dirty="0">
                <a:latin typeface="Lucida Console" panose="020B0609040504020204" pitchFamily="49" charset="0"/>
              </a:rPr>
              <a:t>Data set </a:t>
            </a:r>
            <a:r>
              <a:rPr lang="en-US" dirty="0" err="1">
                <a:latin typeface="Lucida Console" panose="020B0609040504020204" pitchFamily="49" charset="0"/>
              </a:rPr>
              <a:t>reducido</a:t>
            </a:r>
            <a:r>
              <a:rPr lang="en-US" dirty="0">
                <a:latin typeface="Lucida Console" panose="020B0609040504020204" pitchFamily="49" charset="0"/>
              </a:rPr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El punto de corte óptimo para un mayor F1 es: p=.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Métricas obtenidas con el </a:t>
            </a:r>
            <a:r>
              <a:rPr lang="es-ES" dirty="0" err="1"/>
              <a:t>seed</a:t>
            </a:r>
            <a:r>
              <a:rPr lang="es-ES" dirty="0"/>
              <a:t>: y una p.</a:t>
            </a:r>
          </a:p>
          <a:p>
            <a:pPr algn="l" latinLnBrk="1">
              <a:buNone/>
            </a:pPr>
            <a:endParaRPr lang="es-ES" dirty="0">
              <a:latin typeface="Lucida Console" panose="020B0609040504020204" pitchFamily="49" charset="0"/>
            </a:endParaRPr>
          </a:p>
          <a:p>
            <a:pPr algn="l" latinLnBrk="1">
              <a:buNone/>
            </a:pPr>
            <a:r>
              <a:rPr lang="es-ES" dirty="0">
                <a:latin typeface="Lucida Console" panose="020B0609040504020204" pitchFamily="49" charset="0"/>
              </a:rPr>
              <a:t>DECIDIR UNA SEMILLA, MIRAR COMO CAMBIA RECALL MIENTAS QUE F1 NO SEA MUY MIEREDA, QUEDAR CON MEJOR RECALL.</a:t>
            </a:r>
            <a:endParaRPr lang="en-US" dirty="0">
              <a:latin typeface="Lucida Console" panose="020B0609040504020204" pitchFamily="49" charset="0"/>
            </a:endParaRPr>
          </a:p>
          <a:p>
            <a:pPr algn="l" latinLnBrk="1">
              <a:buNone/>
            </a:pPr>
            <a:endParaRPr lang="en-US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10349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F75E8-11BA-7674-DE3A-BF9C2C98E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313715-5039-9E86-CD00-62B5394BE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5AAD5D2-DF63-EE2F-79C1-F0CAB2917DB1}"/>
              </a:ext>
            </a:extLst>
          </p:cNvPr>
          <p:cNvSpPr txBox="1"/>
          <p:nvPr/>
        </p:nvSpPr>
        <p:spPr>
          <a:xfrm>
            <a:off x="823312" y="1880582"/>
            <a:ext cx="7704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buNone/>
            </a:pP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Se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intentó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forzar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la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regla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para Exited=1</a:t>
            </a:r>
          </a:p>
          <a:p>
            <a:pPr algn="l" latinLnBrk="1">
              <a:buNone/>
            </a:pPr>
            <a:r>
              <a:rPr lang="en-US" dirty="0">
                <a:latin typeface="Lucida Console" panose="020B0609040504020204" pitchFamily="49" charset="0"/>
              </a:rPr>
              <a:t>Los </a:t>
            </a:r>
            <a:r>
              <a:rPr lang="en-US" dirty="0" err="1">
                <a:latin typeface="Lucida Console" panose="020B0609040504020204" pitchFamily="49" charset="0"/>
              </a:rPr>
              <a:t>resultados</a:t>
            </a:r>
            <a:r>
              <a:rPr lang="en-US" dirty="0">
                <a:latin typeface="Lucida Console" panose="020B0609040504020204" pitchFamily="49" charset="0"/>
              </a:rPr>
              <a:t> </a:t>
            </a:r>
            <a:r>
              <a:rPr lang="en-US" dirty="0" err="1">
                <a:latin typeface="Lucida Console" panose="020B0609040504020204" pitchFamily="49" charset="0"/>
              </a:rPr>
              <a:t>fueron</a:t>
            </a:r>
            <a:r>
              <a:rPr lang="en-US" dirty="0">
                <a:latin typeface="Lucida Console" panose="020B0609040504020204" pitchFamily="49" charset="0"/>
              </a:rPr>
              <a:t> bueno/</a:t>
            </a:r>
            <a:r>
              <a:rPr lang="en-US" dirty="0" err="1">
                <a:latin typeface="Lucida Console" panose="020B0609040504020204" pitchFamily="49" charset="0"/>
              </a:rPr>
              <a:t>malo</a:t>
            </a:r>
            <a:r>
              <a:rPr lang="en-US" dirty="0">
                <a:latin typeface="Lucida Console" panose="020B0609040504020204" pitchFamily="49" charset="0"/>
              </a:rPr>
              <a:t>.</a:t>
            </a:r>
          </a:p>
          <a:p>
            <a:pPr algn="l" latinLnBrk="1">
              <a:buNone/>
            </a:pP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Métricas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93844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9CF6E-112B-D9C4-F76D-9DBE2EFB2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861A1F-D8C8-E3EE-FB99-A420783A8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i métodos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FC550B3-19E2-B999-88E4-FAA56B2062BA}"/>
              </a:ext>
            </a:extLst>
          </p:cNvPr>
          <p:cNvSpPr txBox="1"/>
          <p:nvPr/>
        </p:nvSpPr>
        <p:spPr>
          <a:xfrm>
            <a:off x="1006548" y="1412749"/>
            <a:ext cx="787518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(</a:t>
            </a:r>
            <a:r>
              <a:rPr lang="es-ES" dirty="0" err="1"/>
              <a:t>Diria</a:t>
            </a:r>
            <a:r>
              <a:rPr lang="es-ES" dirty="0"/>
              <a:t>)</a:t>
            </a:r>
            <a:r>
              <a:rPr lang="es-ES" dirty="0" err="1"/>
              <a:t>Preferibelmente</a:t>
            </a:r>
            <a:r>
              <a:rPr lang="es-ES" dirty="0"/>
              <a:t> el </a:t>
            </a:r>
            <a:r>
              <a:rPr lang="es-ES" dirty="0" err="1"/>
              <a:t>XGBoost</a:t>
            </a:r>
            <a:r>
              <a:rPr lang="es-ES" dirty="0"/>
              <a:t>, buenos (mejores) resultados ( mayor </a:t>
            </a:r>
            <a:r>
              <a:rPr lang="es-ES" dirty="0" err="1"/>
              <a:t>recal?l</a:t>
            </a:r>
            <a:r>
              <a:rPr lang="es-ES" dirty="0"/>
              <a:t>) , </a:t>
            </a:r>
            <a:r>
              <a:rPr lang="es-ES" b="1" dirty="0"/>
              <a:t>computacionalmente menos costoso.</a:t>
            </a:r>
          </a:p>
          <a:p>
            <a:r>
              <a:rPr lang="es-ES" b="1" dirty="0"/>
              <a:t> f1 similar, mirar </a:t>
            </a:r>
            <a:r>
              <a:rPr lang="es-ES" b="1" dirty="0" err="1"/>
              <a:t>besst</a:t>
            </a:r>
            <a:r>
              <a:rPr lang="es-ES" b="1" dirty="0"/>
              <a:t> </a:t>
            </a:r>
            <a:r>
              <a:rPr lang="es-ES" b="1" dirty="0" err="1"/>
              <a:t>recall</a:t>
            </a:r>
            <a:r>
              <a:rPr lang="es-ES" b="1" dirty="0"/>
              <a:t> i mas estable</a:t>
            </a:r>
          </a:p>
        </p:txBody>
      </p:sp>
    </p:spTree>
    <p:extLst>
      <p:ext uri="{BB962C8B-B14F-4D97-AF65-F5344CB8AC3E}">
        <p14:creationId xmlns:p14="http://schemas.microsoft.com/office/powerpoint/2010/main" val="1303636660"/>
      </p:ext>
    </p:extLst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1075</TotalTime>
  <Words>419</Words>
  <Application>Microsoft Office PowerPoint</Application>
  <PresentationFormat>Presentación en pantalla (16:9)</PresentationFormat>
  <Paragraphs>45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3" baseType="lpstr">
      <vt:lpstr>Didact Gothic</vt:lpstr>
      <vt:lpstr>Lucida Console</vt:lpstr>
      <vt:lpstr>Arial</vt:lpstr>
      <vt:lpstr>Wingdings</vt:lpstr>
      <vt:lpstr>Poppins</vt:lpstr>
      <vt:lpstr>Libre Franklin</vt:lpstr>
      <vt:lpstr>Cycle Diagrams Theme for a Business Plan by Slidesgo</vt:lpstr>
      <vt:lpstr>Random Forest</vt:lpstr>
      <vt:lpstr>XGBoots</vt:lpstr>
      <vt:lpstr>GLM</vt:lpstr>
      <vt:lpstr>SVM</vt:lpstr>
      <vt:lpstr>Asignaciones del AR</vt:lpstr>
      <vt:lpstr>Mejores modelos i métodos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Wenjia Ye</cp:lastModifiedBy>
  <cp:revision>21</cp:revision>
  <dcterms:modified xsi:type="dcterms:W3CDTF">2025-12-16T00:02:00Z</dcterms:modified>
</cp:coreProperties>
</file>