
<file path=[Content_Types].xml><?xml version="1.0" encoding="utf-8"?>
<Types xmlns="http://schemas.openxmlformats.org/package/2006/content-types">
  <Default Extension="fntdata" ContentType="application/x-fontdata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5" r:id="rId1"/>
  </p:sldMasterIdLst>
  <p:notesMasterIdLst>
    <p:notesMasterId r:id="rId8"/>
  </p:notesMasterIdLst>
  <p:sldIdLst>
    <p:sldId id="300" r:id="rId2"/>
    <p:sldId id="296" r:id="rId3"/>
    <p:sldId id="295" r:id="rId4"/>
    <p:sldId id="297" r:id="rId5"/>
    <p:sldId id="299" r:id="rId6"/>
    <p:sldId id="298" r:id="rId7"/>
  </p:sldIdLst>
  <p:sldSz cx="9144000" cy="5143500" type="screen16x9"/>
  <p:notesSz cx="6858000" cy="9144000"/>
  <p:embeddedFontLst>
    <p:embeddedFont>
      <p:font typeface="Didact Gothic" panose="00000500000000000000" pitchFamily="2" charset="0"/>
      <p:regular r:id="rId9"/>
    </p:embeddedFont>
    <p:embeddedFont>
      <p:font typeface="Libre Franklin" pitchFamily="2" charset="0"/>
      <p:regular r:id="rId10"/>
      <p:bold r:id="rId11"/>
      <p:italic r:id="rId12"/>
      <p:boldItalic r:id="rId13"/>
    </p:embeddedFont>
    <p:embeddedFont>
      <p:font typeface="Lucida Console" panose="020B0609040504020204" pitchFamily="49" charset="0"/>
      <p:regular r:id="rId14"/>
    </p:embeddedFont>
    <p:embeddedFont>
      <p:font typeface="Poppins" panose="00000500000000000000" pitchFamily="2" charset="0"/>
      <p:regular r:id="rId15"/>
      <p:bold r:id="rId16"/>
      <p:italic r:id="rId17"/>
      <p:boldItalic r:id="rId1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521415D9-36F7-43E2-AB2F-B90AF26B5E84}">
      <p14:sectionLst xmlns:p14="http://schemas.microsoft.com/office/powerpoint/2010/main">
        <p14:section name="Sección predeterminada" id="{F7D9DAED-CE01-4974-B421-1BAEB5EA31DF}">
          <p14:sldIdLst/>
        </p14:section>
        <p14:section name="Sección sin título" id="{3C6AE5C8-3EF0-4B99-A95E-6559323A7B24}">
          <p14:sldIdLst>
            <p14:sldId id="300"/>
            <p14:sldId id="296"/>
            <p14:sldId id="295"/>
            <p14:sldId id="297"/>
            <p14:sldId id="299"/>
            <p14:sldId id="29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ario Aragón Valderrama" initials="MA" lastIdx="1" clrIdx="0">
    <p:extLst>
      <p:ext uri="{19B8F6BF-5375-455C-9EA6-DF929625EA0E}">
        <p15:presenceInfo xmlns:p15="http://schemas.microsoft.com/office/powerpoint/2012/main" userId="ab42593c9091a3c7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7FD54D1E-A07F-487E-B709-6B33F1453160}">
  <a:tblStyle styleId="{7FD54D1E-A07F-487E-B709-6B33F1453160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3C2FFA5D-87B4-456A-9821-1D502468CF0F}" styleName="Estilo temático 1 - Énfasis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10" autoAdjust="0"/>
    <p:restoredTop sz="94648"/>
  </p:normalViewPr>
  <p:slideViewPr>
    <p:cSldViewPr snapToGrid="0">
      <p:cViewPr varScale="1">
        <p:scale>
          <a:sx n="103" d="100"/>
          <a:sy n="103" d="100"/>
        </p:scale>
        <p:origin x="835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font" Target="fonts/font5.fntdata"/><Relationship Id="rId18" Type="http://schemas.openxmlformats.org/officeDocument/2006/relationships/font" Target="fonts/font10.fntdata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font" Target="fonts/font4.fntdata"/><Relationship Id="rId17" Type="http://schemas.openxmlformats.org/officeDocument/2006/relationships/font" Target="fonts/font9.fntdata"/><Relationship Id="rId2" Type="http://schemas.openxmlformats.org/officeDocument/2006/relationships/slide" Target="slides/slide1.xml"/><Relationship Id="rId16" Type="http://schemas.openxmlformats.org/officeDocument/2006/relationships/font" Target="fonts/font8.fntdata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3.fntdata"/><Relationship Id="rId5" Type="http://schemas.openxmlformats.org/officeDocument/2006/relationships/slide" Target="slides/slide4.xml"/><Relationship Id="rId15" Type="http://schemas.openxmlformats.org/officeDocument/2006/relationships/font" Target="fonts/font7.fntdata"/><Relationship Id="rId23" Type="http://schemas.openxmlformats.org/officeDocument/2006/relationships/tableStyles" Target="tableStyles.xml"/><Relationship Id="rId10" Type="http://schemas.openxmlformats.org/officeDocument/2006/relationships/font" Target="fonts/font2.fntdata"/><Relationship Id="rId19" Type="http://schemas.openxmlformats.org/officeDocument/2006/relationships/commentAuthors" Target="commentAuthors.xml"/><Relationship Id="rId4" Type="http://schemas.openxmlformats.org/officeDocument/2006/relationships/slide" Target="slides/slide3.xml"/><Relationship Id="rId9" Type="http://schemas.openxmlformats.org/officeDocument/2006/relationships/font" Target="fonts/font1.fntdata"/><Relationship Id="rId14" Type="http://schemas.openxmlformats.org/officeDocument/2006/relationships/font" Target="fonts/font6.fntdata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720000" y="5395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grpSp>
        <p:nvGrpSpPr>
          <p:cNvPr id="35" name="Google Shape;35;p6"/>
          <p:cNvGrpSpPr/>
          <p:nvPr/>
        </p:nvGrpSpPr>
        <p:grpSpPr>
          <a:xfrm>
            <a:off x="0" y="0"/>
            <a:ext cx="9144000" cy="312600"/>
            <a:chOff x="0" y="0"/>
            <a:chExt cx="9144000" cy="312600"/>
          </a:xfrm>
        </p:grpSpPr>
        <p:sp>
          <p:nvSpPr>
            <p:cNvPr id="36" name="Google Shape;36;p6"/>
            <p:cNvSpPr/>
            <p:nvPr/>
          </p:nvSpPr>
          <p:spPr>
            <a:xfrm>
              <a:off x="0" y="0"/>
              <a:ext cx="9144000" cy="3126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37" name="Google Shape;37;p6"/>
            <p:cNvSpPr/>
            <p:nvPr/>
          </p:nvSpPr>
          <p:spPr>
            <a:xfrm>
              <a:off x="0" y="0"/>
              <a:ext cx="713100" cy="3126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9"/>
          <p:cNvSpPr txBox="1">
            <a:spLocks noGrp="1"/>
          </p:cNvSpPr>
          <p:nvPr>
            <p:ph type="title"/>
          </p:nvPr>
        </p:nvSpPr>
        <p:spPr>
          <a:xfrm>
            <a:off x="2135550" y="1189100"/>
            <a:ext cx="4872900" cy="1964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9"/>
          <p:cNvSpPr txBox="1">
            <a:spLocks noGrp="1"/>
          </p:cNvSpPr>
          <p:nvPr>
            <p:ph type="subTitle" idx="1"/>
          </p:nvPr>
        </p:nvSpPr>
        <p:spPr>
          <a:xfrm>
            <a:off x="2135550" y="3153500"/>
            <a:ext cx="4872900" cy="67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grpSp>
        <p:nvGrpSpPr>
          <p:cNvPr id="53" name="Google Shape;53;p9"/>
          <p:cNvGrpSpPr/>
          <p:nvPr/>
        </p:nvGrpSpPr>
        <p:grpSpPr>
          <a:xfrm>
            <a:off x="-8400" y="0"/>
            <a:ext cx="728475" cy="5163250"/>
            <a:chOff x="-8400" y="0"/>
            <a:chExt cx="728475" cy="5163250"/>
          </a:xfrm>
        </p:grpSpPr>
        <p:sp>
          <p:nvSpPr>
            <p:cNvPr id="54" name="Google Shape;54;p9"/>
            <p:cNvSpPr/>
            <p:nvPr/>
          </p:nvSpPr>
          <p:spPr>
            <a:xfrm rot="5400000">
              <a:off x="-1968300" y="2474950"/>
              <a:ext cx="4648200" cy="7284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55" name="Google Shape;55;p9"/>
            <p:cNvSpPr/>
            <p:nvPr/>
          </p:nvSpPr>
          <p:spPr>
            <a:xfrm>
              <a:off x="-8325" y="0"/>
              <a:ext cx="728400" cy="6393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0"/>
          <p:cNvSpPr>
            <a:spLocks noGrp="1"/>
          </p:cNvSpPr>
          <p:nvPr>
            <p:ph type="pic" idx="2"/>
          </p:nvPr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58" name="Google Shape;58;p10"/>
          <p:cNvSpPr txBox="1">
            <a:spLocks noGrp="1"/>
          </p:cNvSpPr>
          <p:nvPr>
            <p:ph type="title"/>
          </p:nvPr>
        </p:nvSpPr>
        <p:spPr>
          <a:xfrm>
            <a:off x="720000" y="4014450"/>
            <a:ext cx="7704000" cy="572700"/>
          </a:xfrm>
          <a:prstGeom prst="rect">
            <a:avLst/>
          </a:prstGeom>
          <a:solidFill>
            <a:schemeClr val="lt1"/>
          </a:solidFill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1"/>
          <p:cNvSpPr txBox="1">
            <a:spLocks noGrp="1"/>
          </p:cNvSpPr>
          <p:nvPr>
            <p:ph type="title" hasCustomPrompt="1"/>
          </p:nvPr>
        </p:nvSpPr>
        <p:spPr>
          <a:xfrm>
            <a:off x="1284000" y="1303775"/>
            <a:ext cx="6576000" cy="1654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6000"/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61" name="Google Shape;61;p11"/>
          <p:cNvSpPr txBox="1">
            <a:spLocks noGrp="1"/>
          </p:cNvSpPr>
          <p:nvPr>
            <p:ph type="subTitle" idx="1"/>
          </p:nvPr>
        </p:nvSpPr>
        <p:spPr>
          <a:xfrm>
            <a:off x="1284000" y="3259075"/>
            <a:ext cx="6576000" cy="497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grpSp>
        <p:nvGrpSpPr>
          <p:cNvPr id="62" name="Google Shape;62;p11"/>
          <p:cNvGrpSpPr/>
          <p:nvPr/>
        </p:nvGrpSpPr>
        <p:grpSpPr>
          <a:xfrm>
            <a:off x="-8400" y="0"/>
            <a:ext cx="728475" cy="5163250"/>
            <a:chOff x="-8400" y="0"/>
            <a:chExt cx="728475" cy="5163250"/>
          </a:xfrm>
        </p:grpSpPr>
        <p:sp>
          <p:nvSpPr>
            <p:cNvPr id="63" name="Google Shape;63;p11"/>
            <p:cNvSpPr/>
            <p:nvPr/>
          </p:nvSpPr>
          <p:spPr>
            <a:xfrm rot="5400000">
              <a:off x="-1968300" y="2474950"/>
              <a:ext cx="4648200" cy="7284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64" name="Google Shape;64;p11"/>
            <p:cNvSpPr/>
            <p:nvPr/>
          </p:nvSpPr>
          <p:spPr>
            <a:xfrm>
              <a:off x="-8325" y="0"/>
              <a:ext cx="728400" cy="6393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9_1"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5" name="Google Shape;95;p16"/>
          <p:cNvGrpSpPr/>
          <p:nvPr/>
        </p:nvGrpSpPr>
        <p:grpSpPr>
          <a:xfrm rot="10800000">
            <a:off x="0" y="4830900"/>
            <a:ext cx="9144000" cy="312600"/>
            <a:chOff x="0" y="0"/>
            <a:chExt cx="9144000" cy="312600"/>
          </a:xfrm>
        </p:grpSpPr>
        <p:sp>
          <p:nvSpPr>
            <p:cNvPr id="96" name="Google Shape;96;p16"/>
            <p:cNvSpPr/>
            <p:nvPr/>
          </p:nvSpPr>
          <p:spPr>
            <a:xfrm>
              <a:off x="0" y="0"/>
              <a:ext cx="9144000" cy="3126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97" name="Google Shape;97;p16"/>
            <p:cNvSpPr/>
            <p:nvPr/>
          </p:nvSpPr>
          <p:spPr>
            <a:xfrm>
              <a:off x="0" y="0"/>
              <a:ext cx="713100" cy="3126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None/>
              <a:defRPr sz="28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None/>
              <a:defRPr sz="28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None/>
              <a:defRPr sz="28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None/>
              <a:defRPr sz="28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None/>
              <a:defRPr sz="28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None/>
              <a:defRPr sz="28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None/>
              <a:defRPr sz="28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None/>
              <a:defRPr sz="28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None/>
              <a:defRPr sz="28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idact Gothic"/>
              <a:buChar char="●"/>
              <a:defRPr sz="1200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marL="914400" lvl="1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idact Gothic"/>
              <a:buChar char="○"/>
              <a:defRPr sz="1200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marL="1371600" lvl="2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idact Gothic"/>
              <a:buChar char="■"/>
              <a:defRPr sz="1200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marL="1828800" lvl="3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idact Gothic"/>
              <a:buChar char="●"/>
              <a:defRPr sz="1200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marL="2286000" lvl="4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idact Gothic"/>
              <a:buChar char="○"/>
              <a:defRPr sz="1200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marL="2743200" lvl="5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idact Gothic"/>
              <a:buChar char="■"/>
              <a:defRPr sz="1200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marL="3200400" lvl="6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idact Gothic"/>
              <a:buChar char="●"/>
              <a:defRPr sz="1200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marL="3657600" lvl="7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idact Gothic"/>
              <a:buChar char="○"/>
              <a:defRPr sz="1200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marL="4114800" lvl="8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idact Gothic"/>
              <a:buChar char="■"/>
              <a:defRPr sz="1200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2" r:id="rId1"/>
    <p:sldLayoutId id="2147483655" r:id="rId2"/>
    <p:sldLayoutId id="2147483656" r:id="rId3"/>
    <p:sldLayoutId id="2147483657" r:id="rId4"/>
    <p:sldLayoutId id="2147483662" r:id="rId5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7F3FB6-0B3A-0034-1847-7992A2337B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92F289C-7F3A-0FA1-5ADE-4786233487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err="1"/>
              <a:t>Random</a:t>
            </a:r>
            <a:r>
              <a:rPr lang="es-ES" dirty="0"/>
              <a:t> Forest</a:t>
            </a:r>
            <a:br>
              <a:rPr lang="es-ES" dirty="0"/>
            </a:br>
            <a:br>
              <a:rPr lang="es-ES" dirty="0"/>
            </a:br>
            <a:endParaRPr lang="es-ES" dirty="0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CA24C387-6A16-E8AF-E5B9-811810BD2EF2}"/>
              </a:ext>
            </a:extLst>
          </p:cNvPr>
          <p:cNvSpPr txBox="1"/>
          <p:nvPr/>
        </p:nvSpPr>
        <p:spPr>
          <a:xfrm>
            <a:off x="1258229" y="1564572"/>
            <a:ext cx="6627541" cy="27084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lvl="3" indent="-285750">
              <a:buClr>
                <a:srgbClr val="FF0000"/>
              </a:buClr>
              <a:buSzPct val="150000"/>
              <a:buFont typeface="Arial" panose="020B0604020202020204" pitchFamily="34" charset="0"/>
              <a:buChar char="×"/>
            </a:pPr>
            <a:r>
              <a:rPr lang="es-ES" dirty="0"/>
              <a:t>Data completo.                 Métricas no destacables</a:t>
            </a:r>
          </a:p>
          <a:p>
            <a:pPr marL="285750" lvl="3" indent="-285750">
              <a:buClr>
                <a:srgbClr val="FF0000"/>
              </a:buClr>
              <a:buSzPct val="150000"/>
              <a:buFont typeface="Arial" panose="020B0604020202020204" pitchFamily="34" charset="0"/>
              <a:buChar char="×"/>
            </a:pPr>
            <a:r>
              <a:rPr lang="en-US" altLang="zh-CN" dirty="0" err="1">
                <a:sym typeface="+mn-ea"/>
              </a:rPr>
              <a:t>Reducción</a:t>
            </a:r>
            <a:r>
              <a:rPr lang="en-US" altLang="zh-CN" dirty="0">
                <a:sym typeface="+mn-ea"/>
              </a:rPr>
              <a:t> 1: </a:t>
            </a:r>
            <a:r>
              <a:rPr lang="en-US" altLang="zh-CN" dirty="0" err="1">
                <a:sym typeface="+mn-ea"/>
              </a:rPr>
              <a:t>varImp</a:t>
            </a:r>
            <a:r>
              <a:rPr lang="en-US" altLang="zh-CN" dirty="0">
                <a:sym typeface="+mn-ea"/>
              </a:rPr>
              <a:t> + variables </a:t>
            </a:r>
            <a:r>
              <a:rPr lang="en-US" altLang="zh-CN" dirty="0" err="1">
                <a:sym typeface="+mn-ea"/>
              </a:rPr>
              <a:t>significativas</a:t>
            </a:r>
            <a:r>
              <a:rPr lang="en-US" altLang="zh-CN" dirty="0">
                <a:sym typeface="+mn-ea"/>
              </a:rPr>
              <a:t> (</a:t>
            </a:r>
            <a:r>
              <a:rPr lang="en-US" altLang="zh-CN" dirty="0" err="1">
                <a:sym typeface="+mn-ea"/>
              </a:rPr>
              <a:t>estadisticamente</a:t>
            </a:r>
            <a:r>
              <a:rPr lang="en-US" altLang="zh-CN" dirty="0">
                <a:sym typeface="+mn-ea"/>
              </a:rPr>
              <a:t>).           BAD </a:t>
            </a:r>
          </a:p>
          <a:p>
            <a:pPr marL="285750" indent="-285750">
              <a:buClr>
                <a:srgbClr val="00B050"/>
              </a:buClr>
              <a:buSzPct val="150000"/>
              <a:buFont typeface="Wingdings" panose="05000000000000000000" pitchFamily="2" charset="2"/>
              <a:buChar char="ü"/>
            </a:pPr>
            <a:r>
              <a:rPr lang="es-ES" dirty="0" err="1"/>
              <a:t>Dataset</a:t>
            </a:r>
            <a:r>
              <a:rPr lang="es-ES" dirty="0"/>
              <a:t> reducido.</a:t>
            </a:r>
          </a:p>
          <a:p>
            <a:pPr marL="285750" lvl="3" indent="-285750">
              <a:buClr>
                <a:srgbClr val="FF0000"/>
              </a:buClr>
              <a:buSzPct val="150000"/>
              <a:buFont typeface="Arial" panose="020B0604020202020204" pitchFamily="34" charset="0"/>
              <a:buChar char="×"/>
            </a:pPr>
            <a:r>
              <a:rPr lang="es-ES" dirty="0"/>
              <a:t>FAMD                   Mucho </a:t>
            </a:r>
            <a:r>
              <a:rPr lang="es-ES" dirty="0" err="1"/>
              <a:t>Overfitting</a:t>
            </a:r>
            <a:endParaRPr lang="es-ES" dirty="0"/>
          </a:p>
          <a:p>
            <a:pPr marL="285750" lvl="3" indent="-285750">
              <a:buClr>
                <a:srgbClr val="FF0000"/>
              </a:buClr>
              <a:buSzPct val="150000"/>
              <a:buFont typeface="Arial" panose="020B0604020202020204" pitchFamily="34" charset="0"/>
              <a:buChar char="×"/>
            </a:pPr>
            <a:r>
              <a:rPr lang="es-ES" dirty="0"/>
              <a:t>Balanceo de datos                    Peores que sin balancear, más </a:t>
            </a:r>
            <a:r>
              <a:rPr lang="es-ES" dirty="0" err="1"/>
              <a:t>overfitting</a:t>
            </a:r>
            <a:endParaRPr lang="es-ES" dirty="0"/>
          </a:p>
          <a:p>
            <a:endParaRPr lang="es-ES" dirty="0"/>
          </a:p>
          <a:p>
            <a:r>
              <a:rPr lang="es-ES" sz="1600" b="1" dirty="0" err="1"/>
              <a:t>Caracteristicas</a:t>
            </a:r>
            <a:r>
              <a:rPr lang="es-ES" sz="1600" b="1" dirty="0"/>
              <a:t> del mejor: </a:t>
            </a:r>
          </a:p>
          <a:p>
            <a:endParaRPr lang="es-ES" b="1" dirty="0"/>
          </a:p>
          <a:p>
            <a:pPr marL="285750" indent="-285750">
              <a:buClr>
                <a:srgbClr val="00B050"/>
              </a:buClr>
              <a:buSzPct val="150000"/>
              <a:buFont typeface="Wingdings" panose="05000000000000000000" pitchFamily="2" charset="2"/>
              <a:buChar char="ü"/>
            </a:pPr>
            <a:r>
              <a:rPr lang="es-ES" dirty="0"/>
              <a:t>No hay </a:t>
            </a:r>
            <a:r>
              <a:rPr lang="es-ES" dirty="0" err="1"/>
              <a:t>overfitting</a:t>
            </a:r>
            <a:r>
              <a:rPr lang="es-ES" dirty="0"/>
              <a:t> y es estable.</a:t>
            </a:r>
          </a:p>
          <a:p>
            <a:pPr marL="285750" indent="-285750">
              <a:buClr>
                <a:srgbClr val="00B050"/>
              </a:buClr>
              <a:buSzPct val="150000"/>
              <a:buFont typeface="Wingdings" panose="05000000000000000000" pitchFamily="2" charset="2"/>
              <a:buChar char="ü"/>
            </a:pPr>
            <a:r>
              <a:rPr lang="es-ES" dirty="0" err="1"/>
              <a:t>Hiperparémetros</a:t>
            </a:r>
            <a:r>
              <a:rPr lang="es-ES" dirty="0"/>
              <a:t>: </a:t>
            </a:r>
            <a:r>
              <a:rPr lang="es-ES" dirty="0" err="1"/>
              <a:t>maxnode</a:t>
            </a:r>
            <a:r>
              <a:rPr lang="es-ES" dirty="0"/>
              <a:t>=45 ; nodesize:20 ; </a:t>
            </a:r>
            <a:r>
              <a:rPr lang="es-ES" dirty="0" err="1"/>
              <a:t>mtry</a:t>
            </a:r>
            <a:r>
              <a:rPr lang="es-ES" dirty="0"/>
              <a:t>=5</a:t>
            </a:r>
          </a:p>
          <a:p>
            <a:pPr marL="285750" indent="-285750">
              <a:buClr>
                <a:srgbClr val="00B050"/>
              </a:buClr>
              <a:buSzPct val="150000"/>
              <a:buFont typeface="Wingdings" panose="05000000000000000000" pitchFamily="2" charset="2"/>
              <a:buChar char="ü"/>
            </a:pPr>
            <a:r>
              <a:rPr lang="es-ES" dirty="0"/>
              <a:t>Métricas obtenidas con el </a:t>
            </a:r>
            <a:r>
              <a:rPr lang="es-ES" dirty="0" err="1"/>
              <a:t>seed</a:t>
            </a:r>
            <a:r>
              <a:rPr lang="es-ES" dirty="0"/>
              <a:t> () y una p de () .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endParaRPr lang="es-ES" dirty="0"/>
          </a:p>
        </p:txBody>
      </p:sp>
      <p:sp>
        <p:nvSpPr>
          <p:cNvPr id="6" name="Flecha: a la derecha 5">
            <a:extLst>
              <a:ext uri="{FF2B5EF4-FFF2-40B4-BE49-F238E27FC236}">
                <a16:creationId xmlns:a16="http://schemas.microsoft.com/office/drawing/2014/main" id="{960D4467-E153-86D2-A2DC-D941EB45263E}"/>
              </a:ext>
            </a:extLst>
          </p:cNvPr>
          <p:cNvSpPr/>
          <p:nvPr/>
        </p:nvSpPr>
        <p:spPr>
          <a:xfrm>
            <a:off x="2230244" y="2280938"/>
            <a:ext cx="735981" cy="178884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7" name="Flecha: a la derecha 6">
            <a:extLst>
              <a:ext uri="{FF2B5EF4-FFF2-40B4-BE49-F238E27FC236}">
                <a16:creationId xmlns:a16="http://schemas.microsoft.com/office/drawing/2014/main" id="{82BA70BD-DC96-5102-F3C5-E7313A0F35AD}"/>
              </a:ext>
            </a:extLst>
          </p:cNvPr>
          <p:cNvSpPr/>
          <p:nvPr/>
        </p:nvSpPr>
        <p:spPr>
          <a:xfrm>
            <a:off x="2869580" y="1635752"/>
            <a:ext cx="735981" cy="178884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9" name="Flecha: a la derecha 8">
            <a:extLst>
              <a:ext uri="{FF2B5EF4-FFF2-40B4-BE49-F238E27FC236}">
                <a16:creationId xmlns:a16="http://schemas.microsoft.com/office/drawing/2014/main" id="{6A0B7F8B-B8DC-ECFC-2CD9-483238071DB4}"/>
              </a:ext>
            </a:extLst>
          </p:cNvPr>
          <p:cNvSpPr/>
          <p:nvPr/>
        </p:nvSpPr>
        <p:spPr>
          <a:xfrm>
            <a:off x="3237571" y="2489742"/>
            <a:ext cx="735981" cy="164016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0" name="Flecha: a la derecha 9">
            <a:extLst>
              <a:ext uri="{FF2B5EF4-FFF2-40B4-BE49-F238E27FC236}">
                <a16:creationId xmlns:a16="http://schemas.microsoft.com/office/drawing/2014/main" id="{4D7CC98C-6553-E590-7A7D-C87B6D4E1360}"/>
              </a:ext>
            </a:extLst>
          </p:cNvPr>
          <p:cNvSpPr/>
          <p:nvPr/>
        </p:nvSpPr>
        <p:spPr>
          <a:xfrm>
            <a:off x="6831980" y="1873173"/>
            <a:ext cx="431181" cy="15240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53BD1220-CE1A-331A-047F-390BDD4C319A}"/>
              </a:ext>
            </a:extLst>
          </p:cNvPr>
          <p:cNvSpPr txBox="1"/>
          <p:nvPr/>
        </p:nvSpPr>
        <p:spPr>
          <a:xfrm>
            <a:off x="976639" y="4136825"/>
            <a:ext cx="7566307" cy="738664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latinLnBrk="1"/>
            <a:r>
              <a:rPr lang="en-US" dirty="0"/>
              <a:t> Dataset   </a:t>
            </a:r>
            <a:r>
              <a:rPr lang="en-US" dirty="0" err="1"/>
              <a:t>Error_rate</a:t>
            </a:r>
            <a:r>
              <a:rPr lang="en-US" dirty="0"/>
              <a:t>    Accuracy    Precision    </a:t>
            </a:r>
            <a:r>
              <a:rPr lang="en-US" dirty="0" err="1"/>
              <a:t>Recall_Sensitivity</a:t>
            </a:r>
            <a:r>
              <a:rPr lang="en-US" dirty="0"/>
              <a:t>  Specificity    F1_Score</a:t>
            </a:r>
          </a:p>
          <a:p>
            <a:pPr latinLnBrk="1"/>
            <a:r>
              <a:rPr lang="en-US" dirty="0"/>
              <a:t>1  Train2  0.2602041   0.7397959   0.4062049     0.5546798          0.7881596   0.4689713</a:t>
            </a:r>
          </a:p>
          <a:p>
            <a:pPr latinLnBrk="1"/>
            <a:r>
              <a:rPr lang="en-US" dirty="0"/>
              <a:t>2   Test2  0.2519048   0.7480952   0.4203390     0.5701149          0.7945946   0.4839024</a:t>
            </a:r>
          </a:p>
        </p:txBody>
      </p:sp>
    </p:spTree>
    <p:extLst>
      <p:ext uri="{BB962C8B-B14F-4D97-AF65-F5344CB8AC3E}">
        <p14:creationId xmlns:p14="http://schemas.microsoft.com/office/powerpoint/2010/main" val="20449265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A35A133-552C-F60D-3767-71D9B25565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err="1"/>
              <a:t>XGBoots</a:t>
            </a:r>
            <a:endParaRPr lang="es-ES" dirty="0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853F1EB3-647C-8BE7-7ADE-113DB8415A54}"/>
              </a:ext>
            </a:extLst>
          </p:cNvPr>
          <p:cNvSpPr txBox="1"/>
          <p:nvPr/>
        </p:nvSpPr>
        <p:spPr>
          <a:xfrm>
            <a:off x="2286000" y="1734519"/>
            <a:ext cx="4572000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es-ES" dirty="0"/>
              <a:t>En mi caso, p del mejor f1 se encontró en el </a:t>
            </a:r>
            <a:r>
              <a:rPr lang="es-ES" dirty="0" err="1"/>
              <a:t>search</a:t>
            </a:r>
            <a:r>
              <a:rPr lang="es-ES" dirty="0"/>
              <a:t> del </a:t>
            </a:r>
            <a:r>
              <a:rPr lang="es-ES" dirty="0" err="1"/>
              <a:t>best</a:t>
            </a:r>
            <a:r>
              <a:rPr lang="es-ES" dirty="0"/>
              <a:t> p.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s-ES" dirty="0"/>
              <a:t>Para mayor </a:t>
            </a:r>
            <a:r>
              <a:rPr lang="es-ES" dirty="0" err="1"/>
              <a:t>recall</a:t>
            </a:r>
            <a:r>
              <a:rPr lang="es-ES" dirty="0"/>
              <a:t> ( mas interesante para el proyecto) la p original 0.2071429.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s-ES" dirty="0"/>
              <a:t>Se creó la variable </a:t>
            </a:r>
            <a:r>
              <a:rPr lang="es-ES" dirty="0" err="1"/>
              <a:t>hasBalance</a:t>
            </a:r>
            <a:r>
              <a:rPr lang="es-ES" dirty="0"/>
              <a:t> y se suprimió el original.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s-ES" dirty="0"/>
              <a:t>Se ha llevado a cabo </a:t>
            </a:r>
            <a:r>
              <a:rPr lang="es-ES" dirty="0" err="1"/>
              <a:t>biperparamtre</a:t>
            </a:r>
            <a:r>
              <a:rPr lang="es-ES" dirty="0"/>
              <a:t> </a:t>
            </a:r>
            <a:r>
              <a:rPr lang="es-ES" dirty="0" err="1"/>
              <a:t>tuning</a:t>
            </a:r>
            <a:endParaRPr lang="es-ES" dirty="0"/>
          </a:p>
          <a:p>
            <a:pPr marL="285750" indent="-285750">
              <a:buFont typeface="Wingdings" panose="05000000000000000000" pitchFamily="2" charset="2"/>
              <a:buChar char="ü"/>
            </a:pPr>
            <a:endParaRPr lang="es-ES" dirty="0"/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s-ES" dirty="0"/>
              <a:t>Caso Melissa. 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s-ES" dirty="0"/>
              <a:t>No se</a:t>
            </a:r>
          </a:p>
        </p:txBody>
      </p:sp>
    </p:spTree>
    <p:extLst>
      <p:ext uri="{BB962C8B-B14F-4D97-AF65-F5344CB8AC3E}">
        <p14:creationId xmlns:p14="http://schemas.microsoft.com/office/powerpoint/2010/main" val="4400278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D3930F5-ACC3-7379-7FD6-8B2C2ABF6A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GLM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A19C81F1-A15F-835A-5E3B-0AFBC06BA8D2}"/>
              </a:ext>
            </a:extLst>
          </p:cNvPr>
          <p:cNvSpPr txBox="1"/>
          <p:nvPr/>
        </p:nvSpPr>
        <p:spPr>
          <a:xfrm>
            <a:off x="857693" y="1363131"/>
            <a:ext cx="7896445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es-ES" dirty="0"/>
              <a:t>Se ha probado 4 enlaces: </a:t>
            </a:r>
            <a:r>
              <a:rPr lang="es-ES" dirty="0" err="1"/>
              <a:t>logit</a:t>
            </a:r>
            <a:r>
              <a:rPr lang="es-ES" dirty="0"/>
              <a:t>, </a:t>
            </a:r>
            <a:r>
              <a:rPr lang="es-ES" dirty="0" err="1"/>
              <a:t>probit</a:t>
            </a:r>
            <a:r>
              <a:rPr lang="es-ES" dirty="0"/>
              <a:t>, </a:t>
            </a:r>
            <a:r>
              <a:rPr lang="es-ES" dirty="0" err="1"/>
              <a:t>cloglog</a:t>
            </a:r>
            <a:r>
              <a:rPr lang="es-ES" dirty="0"/>
              <a:t> y </a:t>
            </a:r>
            <a:r>
              <a:rPr lang="es-ES" dirty="0" err="1"/>
              <a:t>cauchy</a:t>
            </a:r>
            <a:r>
              <a:rPr lang="es-ES" dirty="0"/>
              <a:t>.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s-ES" dirty="0"/>
              <a:t>No hay gran diferencia de resultados entre los ambos.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s-ES" dirty="0"/>
              <a:t>Se decidió quedarse con el </a:t>
            </a:r>
            <a:r>
              <a:rPr lang="es-ES" dirty="0" err="1"/>
              <a:t>clogclog</a:t>
            </a:r>
            <a:r>
              <a:rPr lang="es-ES" dirty="0"/>
              <a:t>.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s-ES" dirty="0"/>
              <a:t>Se aplico el modelo en el </a:t>
            </a:r>
            <a:r>
              <a:rPr lang="es-ES" dirty="0" err="1"/>
              <a:t>dataset</a:t>
            </a:r>
            <a:r>
              <a:rPr lang="es-ES" dirty="0"/>
              <a:t> reducido i </a:t>
            </a:r>
            <a:r>
              <a:rPr lang="es-ES" dirty="0" err="1"/>
              <a:t>reducido_plus</a:t>
            </a:r>
            <a:r>
              <a:rPr lang="es-ES" dirty="0"/>
              <a:t>.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s-ES" dirty="0"/>
              <a:t>Mejores resultados en el reducido, posiblemente porque hay menos ruido.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s-ES" dirty="0" err="1"/>
              <a:t>Scale</a:t>
            </a:r>
            <a:r>
              <a:rPr lang="es-ES" dirty="0"/>
              <a:t>, </a:t>
            </a:r>
            <a:r>
              <a:rPr lang="es-ES" dirty="0" err="1"/>
              <a:t>Dummys</a:t>
            </a:r>
            <a:r>
              <a:rPr lang="es-ES" dirty="0"/>
              <a:t> de las variables categóricas.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s-ES" dirty="0"/>
              <a:t>El punto de corte óptimo para un mayor F1 es: p=0.26.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s-ES" dirty="0"/>
              <a:t>Métricas obtenidas con el </a:t>
            </a:r>
            <a:r>
              <a:rPr lang="es-ES" dirty="0" err="1"/>
              <a:t>seed</a:t>
            </a:r>
            <a:r>
              <a:rPr lang="es-ES" dirty="0"/>
              <a:t>: 666 </a:t>
            </a:r>
          </a:p>
          <a:p>
            <a:pPr latinLnBrk="1"/>
            <a:endParaRPr lang="en-US" dirty="0"/>
          </a:p>
          <a:p>
            <a:endParaRPr lang="es-ES" dirty="0"/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E1F418CC-45B9-57D6-1A31-8F0E6480A384}"/>
              </a:ext>
            </a:extLst>
          </p:cNvPr>
          <p:cNvSpPr txBox="1"/>
          <p:nvPr/>
        </p:nvSpPr>
        <p:spPr>
          <a:xfrm>
            <a:off x="857693" y="3731941"/>
            <a:ext cx="7566307" cy="738664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latinLnBrk="1"/>
            <a:r>
              <a:rPr lang="en-US" dirty="0"/>
              <a:t> Dataset   </a:t>
            </a:r>
            <a:r>
              <a:rPr lang="en-US" dirty="0" err="1"/>
              <a:t>Error_rate</a:t>
            </a:r>
            <a:r>
              <a:rPr lang="en-US" dirty="0"/>
              <a:t>    Accuracy    Precision    </a:t>
            </a:r>
            <a:r>
              <a:rPr lang="en-US" dirty="0" err="1"/>
              <a:t>Recall_Sensitivity</a:t>
            </a:r>
            <a:r>
              <a:rPr lang="en-US" dirty="0"/>
              <a:t>  Specificity    F1_Score</a:t>
            </a:r>
          </a:p>
          <a:p>
            <a:pPr latinLnBrk="1"/>
            <a:r>
              <a:rPr lang="en-US" dirty="0"/>
              <a:t>1  Train2  0.2602041   0.7397959   0.4062049     0.5546798          0.7881596   0.4689713</a:t>
            </a:r>
          </a:p>
          <a:p>
            <a:pPr latinLnBrk="1"/>
            <a:r>
              <a:rPr lang="en-US" dirty="0"/>
              <a:t>2   Test2  0.2519048   0.7480952   0.4203390     0.5701149          0.7945946   0.4839024</a:t>
            </a:r>
          </a:p>
        </p:txBody>
      </p:sp>
    </p:spTree>
    <p:extLst>
      <p:ext uri="{BB962C8B-B14F-4D97-AF65-F5344CB8AC3E}">
        <p14:creationId xmlns:p14="http://schemas.microsoft.com/office/powerpoint/2010/main" val="40223117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03690A8-11D9-D221-FD81-BC5116D5E7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SVM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9D20F7B5-5B8C-4D93-7C02-5FD163CA25D8}"/>
              </a:ext>
            </a:extLst>
          </p:cNvPr>
          <p:cNvSpPr txBox="1"/>
          <p:nvPr/>
        </p:nvSpPr>
        <p:spPr>
          <a:xfrm>
            <a:off x="602512" y="1879252"/>
            <a:ext cx="8179980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latinLnBrk="1">
              <a:buFont typeface="Wingdings" panose="05000000000000000000" pitchFamily="2" charset="2"/>
              <a:buChar char="ü"/>
            </a:pPr>
            <a:r>
              <a:rPr lang="en-US" b="0" i="0" dirty="0">
                <a:solidFill>
                  <a:srgbClr val="000000"/>
                </a:solidFill>
                <a:effectLst/>
                <a:latin typeface="Lucida Console" panose="020B0609040504020204" pitchFamily="49" charset="0"/>
              </a:rPr>
              <a:t>Se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Lucida Console" panose="020B0609040504020204" pitchFamily="49" charset="0"/>
              </a:rPr>
              <a:t>hizó</a:t>
            </a:r>
            <a:r>
              <a:rPr lang="en-US" b="0" i="0" dirty="0">
                <a:solidFill>
                  <a:srgbClr val="000000"/>
                </a:solidFill>
                <a:effectLst/>
                <a:latin typeface="Lucida Console" panose="020B0609040504020204" pitchFamily="49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Lucida Console" panose="020B0609040504020204" pitchFamily="49" charset="0"/>
              </a:rPr>
              <a:t>hiperparémtre</a:t>
            </a:r>
            <a:r>
              <a:rPr lang="en-US" b="0" i="0" dirty="0">
                <a:solidFill>
                  <a:srgbClr val="000000"/>
                </a:solidFill>
                <a:effectLst/>
                <a:latin typeface="Lucida Console" panose="020B0609040504020204" pitchFamily="49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Lucida Console" panose="020B0609040504020204" pitchFamily="49" charset="0"/>
              </a:rPr>
              <a:t>tunig</a:t>
            </a:r>
            <a:r>
              <a:rPr lang="en-US" dirty="0">
                <a:latin typeface="Lucida Console" panose="020B0609040504020204" pitchFamily="49" charset="0"/>
              </a:rPr>
              <a:t> Best gamma 0.02 I </a:t>
            </a:r>
            <a:r>
              <a:rPr lang="en-US" dirty="0" err="1">
                <a:latin typeface="Lucida Console" panose="020B0609040504020204" pitchFamily="49" charset="0"/>
              </a:rPr>
              <a:t>coste</a:t>
            </a:r>
            <a:r>
              <a:rPr lang="en-US" dirty="0">
                <a:latin typeface="Lucida Console" panose="020B0609040504020204" pitchFamily="49" charset="0"/>
              </a:rPr>
              <a:t>=10.</a:t>
            </a:r>
          </a:p>
          <a:p>
            <a:pPr marL="285750" indent="-285750" latinLnBrk="1">
              <a:buFont typeface="Wingdings" panose="05000000000000000000" pitchFamily="2" charset="2"/>
              <a:buChar char="ü"/>
            </a:pPr>
            <a:r>
              <a:rPr lang="en-US" dirty="0">
                <a:latin typeface="Lucida Console" panose="020B0609040504020204" pitchFamily="49" charset="0"/>
              </a:rPr>
              <a:t>Data set </a:t>
            </a:r>
            <a:r>
              <a:rPr lang="en-US" dirty="0" err="1">
                <a:latin typeface="Lucida Console" panose="020B0609040504020204" pitchFamily="49" charset="0"/>
              </a:rPr>
              <a:t>reducido</a:t>
            </a:r>
            <a:r>
              <a:rPr lang="en-US" dirty="0">
                <a:latin typeface="Lucida Console" panose="020B0609040504020204" pitchFamily="49" charset="0"/>
              </a:rPr>
              <a:t>.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s-ES" dirty="0" err="1"/>
              <a:t>Scale</a:t>
            </a:r>
            <a:r>
              <a:rPr lang="es-ES" dirty="0"/>
              <a:t>, </a:t>
            </a:r>
            <a:r>
              <a:rPr lang="es-ES" dirty="0" err="1"/>
              <a:t>Dummys</a:t>
            </a:r>
            <a:r>
              <a:rPr lang="es-ES" dirty="0"/>
              <a:t> de las variables categóricas.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s-ES" dirty="0"/>
              <a:t>El punto de corte óptimo para un mayor F1 es: p=.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s-ES" dirty="0"/>
              <a:t>Métricas obtenidas con el </a:t>
            </a:r>
            <a:r>
              <a:rPr lang="es-ES" dirty="0" err="1"/>
              <a:t>seed</a:t>
            </a:r>
            <a:r>
              <a:rPr lang="es-ES" dirty="0"/>
              <a:t>: y una p.</a:t>
            </a:r>
          </a:p>
          <a:p>
            <a:pPr algn="l" latinLnBrk="1">
              <a:buNone/>
            </a:pPr>
            <a:endParaRPr lang="es-ES" dirty="0">
              <a:latin typeface="Lucida Console" panose="020B0609040504020204" pitchFamily="49" charset="0"/>
            </a:endParaRPr>
          </a:p>
          <a:p>
            <a:pPr algn="l" latinLnBrk="1">
              <a:buNone/>
            </a:pPr>
            <a:r>
              <a:rPr lang="es-ES" dirty="0">
                <a:latin typeface="Lucida Console" panose="020B0609040504020204" pitchFamily="49" charset="0"/>
              </a:rPr>
              <a:t>DECIDIR UNA SEMILLA, MIRAR COMO CAMBIA RECALL MIENTAS QUE F1 NO SEA MUY MIEREDA, QUEDAR CON MEJOR RECALL.</a:t>
            </a:r>
            <a:endParaRPr lang="en-US" dirty="0">
              <a:latin typeface="Lucida Console" panose="020B0609040504020204" pitchFamily="49" charset="0"/>
            </a:endParaRPr>
          </a:p>
          <a:p>
            <a:pPr algn="l" latinLnBrk="1">
              <a:buNone/>
            </a:pPr>
            <a:endParaRPr lang="en-US" dirty="0">
              <a:latin typeface="Lucida Console" panose="020B06090405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510349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2F75E8-11BA-7674-DE3A-BF9C2C98ED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E313715-5039-9E86-CD00-62B5394BE6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Asignaciones del AR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35AAD5D2-DF63-EE2F-79C1-F0CAB2917DB1}"/>
              </a:ext>
            </a:extLst>
          </p:cNvPr>
          <p:cNvSpPr txBox="1"/>
          <p:nvPr/>
        </p:nvSpPr>
        <p:spPr>
          <a:xfrm>
            <a:off x="823312" y="1880582"/>
            <a:ext cx="7704000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latinLnBrk="1">
              <a:buNone/>
            </a:pPr>
            <a:r>
              <a:rPr lang="en-US" b="0" i="0" dirty="0">
                <a:solidFill>
                  <a:srgbClr val="000000"/>
                </a:solidFill>
                <a:effectLst/>
                <a:latin typeface="Lucida Console" panose="020B0609040504020204" pitchFamily="49" charset="0"/>
              </a:rPr>
              <a:t>Se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Lucida Console" panose="020B0609040504020204" pitchFamily="49" charset="0"/>
              </a:rPr>
              <a:t>intentó</a:t>
            </a:r>
            <a:r>
              <a:rPr lang="en-US" b="0" i="0" dirty="0">
                <a:solidFill>
                  <a:srgbClr val="000000"/>
                </a:solidFill>
                <a:effectLst/>
                <a:latin typeface="Lucida Console" panose="020B0609040504020204" pitchFamily="49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Lucida Console" panose="020B0609040504020204" pitchFamily="49" charset="0"/>
              </a:rPr>
              <a:t>forzar</a:t>
            </a:r>
            <a:r>
              <a:rPr lang="en-US" b="0" i="0" dirty="0">
                <a:solidFill>
                  <a:srgbClr val="000000"/>
                </a:solidFill>
                <a:effectLst/>
                <a:latin typeface="Lucida Console" panose="020B0609040504020204" pitchFamily="49" charset="0"/>
              </a:rPr>
              <a:t> la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Lucida Console" panose="020B0609040504020204" pitchFamily="49" charset="0"/>
              </a:rPr>
              <a:t>regla</a:t>
            </a:r>
            <a:r>
              <a:rPr lang="en-US" b="0" i="0" dirty="0">
                <a:solidFill>
                  <a:srgbClr val="000000"/>
                </a:solidFill>
                <a:effectLst/>
                <a:latin typeface="Lucida Console" panose="020B0609040504020204" pitchFamily="49" charset="0"/>
              </a:rPr>
              <a:t> para Exited=1</a:t>
            </a:r>
          </a:p>
          <a:p>
            <a:pPr algn="l" latinLnBrk="1">
              <a:buNone/>
            </a:pPr>
            <a:r>
              <a:rPr lang="en-US" dirty="0">
                <a:latin typeface="Lucida Console" panose="020B0609040504020204" pitchFamily="49" charset="0"/>
              </a:rPr>
              <a:t>Los </a:t>
            </a:r>
            <a:r>
              <a:rPr lang="en-US" dirty="0" err="1">
                <a:latin typeface="Lucida Console" panose="020B0609040504020204" pitchFamily="49" charset="0"/>
              </a:rPr>
              <a:t>resultados</a:t>
            </a:r>
            <a:r>
              <a:rPr lang="en-US" dirty="0">
                <a:latin typeface="Lucida Console" panose="020B0609040504020204" pitchFamily="49" charset="0"/>
              </a:rPr>
              <a:t> </a:t>
            </a:r>
            <a:r>
              <a:rPr lang="en-US" dirty="0" err="1">
                <a:latin typeface="Lucida Console" panose="020B0609040504020204" pitchFamily="49" charset="0"/>
              </a:rPr>
              <a:t>fueron</a:t>
            </a:r>
            <a:r>
              <a:rPr lang="en-US" dirty="0">
                <a:latin typeface="Lucida Console" panose="020B0609040504020204" pitchFamily="49" charset="0"/>
              </a:rPr>
              <a:t> bueno/</a:t>
            </a:r>
            <a:r>
              <a:rPr lang="en-US" dirty="0" err="1">
                <a:latin typeface="Lucida Console" panose="020B0609040504020204" pitchFamily="49" charset="0"/>
              </a:rPr>
              <a:t>malo</a:t>
            </a:r>
            <a:r>
              <a:rPr lang="en-US" dirty="0">
                <a:latin typeface="Lucida Console" panose="020B0609040504020204" pitchFamily="49" charset="0"/>
              </a:rPr>
              <a:t>.</a:t>
            </a:r>
          </a:p>
          <a:p>
            <a:pPr algn="l" latinLnBrk="1">
              <a:buNone/>
            </a:pPr>
            <a:r>
              <a:rPr lang="en-US" b="0" i="0" dirty="0" err="1">
                <a:solidFill>
                  <a:srgbClr val="000000"/>
                </a:solidFill>
                <a:effectLst/>
                <a:latin typeface="Lucida Console" panose="020B0609040504020204" pitchFamily="49" charset="0"/>
              </a:rPr>
              <a:t>Métricas</a:t>
            </a:r>
            <a:r>
              <a:rPr lang="en-US" b="0" i="0" dirty="0">
                <a:solidFill>
                  <a:srgbClr val="000000"/>
                </a:solidFill>
                <a:effectLst/>
                <a:latin typeface="Lucida Console" panose="020B0609040504020204" pitchFamily="49" charset="0"/>
              </a:rPr>
              <a:t>:</a:t>
            </a:r>
          </a:p>
        </p:txBody>
      </p:sp>
    </p:spTree>
    <p:extLst>
      <p:ext uri="{BB962C8B-B14F-4D97-AF65-F5344CB8AC3E}">
        <p14:creationId xmlns:p14="http://schemas.microsoft.com/office/powerpoint/2010/main" val="1938449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99CF6E-112B-D9C4-F76D-9DBE2EFB22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B861A1F-D8C8-E3EE-FB99-A420783A84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Mejores modelos i métodos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CFC550B3-19E2-B999-88E4-FAA56B2062BA}"/>
              </a:ext>
            </a:extLst>
          </p:cNvPr>
          <p:cNvSpPr txBox="1"/>
          <p:nvPr/>
        </p:nvSpPr>
        <p:spPr>
          <a:xfrm>
            <a:off x="1006548" y="1412749"/>
            <a:ext cx="7875181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dirty="0"/>
              <a:t>(</a:t>
            </a:r>
            <a:r>
              <a:rPr lang="es-ES" dirty="0" err="1"/>
              <a:t>Diria</a:t>
            </a:r>
            <a:r>
              <a:rPr lang="es-ES" dirty="0"/>
              <a:t>)</a:t>
            </a:r>
            <a:r>
              <a:rPr lang="es-ES" dirty="0" err="1"/>
              <a:t>Preferibelmente</a:t>
            </a:r>
            <a:r>
              <a:rPr lang="es-ES" dirty="0"/>
              <a:t> el </a:t>
            </a:r>
            <a:r>
              <a:rPr lang="es-ES" dirty="0" err="1"/>
              <a:t>XGBoost</a:t>
            </a:r>
            <a:r>
              <a:rPr lang="es-ES" dirty="0"/>
              <a:t>, buenos (mejores) resultados ( mayor </a:t>
            </a:r>
            <a:r>
              <a:rPr lang="es-ES" dirty="0" err="1"/>
              <a:t>recal?l</a:t>
            </a:r>
            <a:r>
              <a:rPr lang="es-ES" dirty="0"/>
              <a:t>) , </a:t>
            </a:r>
            <a:r>
              <a:rPr lang="es-ES" b="1" dirty="0"/>
              <a:t>computacionalmente menos costoso.</a:t>
            </a:r>
          </a:p>
          <a:p>
            <a:r>
              <a:rPr lang="es-ES" b="1" dirty="0"/>
              <a:t> f1 similar, mirar </a:t>
            </a:r>
            <a:r>
              <a:rPr lang="es-ES" b="1" dirty="0" err="1"/>
              <a:t>besst</a:t>
            </a:r>
            <a:r>
              <a:rPr lang="es-ES" b="1" dirty="0"/>
              <a:t> </a:t>
            </a:r>
            <a:r>
              <a:rPr lang="es-ES" b="1" dirty="0" err="1"/>
              <a:t>recall</a:t>
            </a:r>
            <a:r>
              <a:rPr lang="es-ES" b="1" dirty="0"/>
              <a:t> i mas estable</a:t>
            </a:r>
          </a:p>
        </p:txBody>
      </p:sp>
    </p:spTree>
    <p:extLst>
      <p:ext uri="{BB962C8B-B14F-4D97-AF65-F5344CB8AC3E}">
        <p14:creationId xmlns:p14="http://schemas.microsoft.com/office/powerpoint/2010/main" val="1303636660"/>
      </p:ext>
    </p:extLst>
  </p:cSld>
  <p:clrMapOvr>
    <a:masterClrMapping/>
  </p:clrMapOvr>
</p:sld>
</file>

<file path=ppt/theme/theme1.xml><?xml version="1.0" encoding="utf-8"?>
<a:theme xmlns:a="http://schemas.openxmlformats.org/drawingml/2006/main" name="Cycle Diagrams Theme for a Business Plan by Slidesgo">
  <a:themeElements>
    <a:clrScheme name="Simple Light">
      <a:dk1>
        <a:srgbClr val="1B1B1B"/>
      </a:dk1>
      <a:lt1>
        <a:srgbClr val="FAFAFA"/>
      </a:lt1>
      <a:dk2>
        <a:srgbClr val="374768"/>
      </a:dk2>
      <a:lt2>
        <a:srgbClr val="43567F"/>
      </a:lt2>
      <a:accent1>
        <a:srgbClr val="9BACCA"/>
      </a:accent1>
      <a:accent2>
        <a:srgbClr val="C2CDE5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1B1B1B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Parcel</Template>
  <TotalTime>1128</TotalTime>
  <Words>403</Words>
  <Application>Microsoft Office PowerPoint</Application>
  <PresentationFormat>Presentación en pantalla (16:9)</PresentationFormat>
  <Paragraphs>50</Paragraphs>
  <Slides>6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6</vt:i4>
      </vt:variant>
    </vt:vector>
  </HeadingPairs>
  <TitlesOfParts>
    <vt:vector size="13" baseType="lpstr">
      <vt:lpstr>Didact Gothic</vt:lpstr>
      <vt:lpstr>Arial</vt:lpstr>
      <vt:lpstr>Poppins</vt:lpstr>
      <vt:lpstr>Lucida Console</vt:lpstr>
      <vt:lpstr>Wingdings</vt:lpstr>
      <vt:lpstr>Libre Franklin</vt:lpstr>
      <vt:lpstr>Cycle Diagrams Theme for a Business Plan by Slidesgo</vt:lpstr>
      <vt:lpstr>Random Forest  </vt:lpstr>
      <vt:lpstr>XGBoots</vt:lpstr>
      <vt:lpstr>GLM</vt:lpstr>
      <vt:lpstr>SVM</vt:lpstr>
      <vt:lpstr>Asignaciones del AR</vt:lpstr>
      <vt:lpstr>Mejores modelos i métodos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Modelo de clasificación  GRUPO 5</dc:title>
  <dc:creator>Mario Aragón Valderrama</dc:creator>
  <cp:lastModifiedBy>Wenjia Ye</cp:lastModifiedBy>
  <cp:revision>22</cp:revision>
  <dcterms:modified xsi:type="dcterms:W3CDTF">2025-12-16T07:51:16Z</dcterms:modified>
</cp:coreProperties>
</file>