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94" r:id="rId3"/>
    <p:sldId id="296" r:id="rId4"/>
    <p:sldId id="300" r:id="rId5"/>
    <p:sldId id="297" r:id="rId6"/>
    <p:sldId id="298" r:id="rId7"/>
  </p:sldIdLst>
  <p:sldSz cx="9144000" cy="5143500" type="screen16x9"/>
  <p:notesSz cx="6858000" cy="9144000"/>
  <p:embeddedFontLst>
    <p:embeddedFont>
      <p:font typeface="Poppins" panose="00000500000000000000"/>
      <p:regular r:id="rId13"/>
    </p:embeddedFont>
    <p:embeddedFont>
      <p:font typeface="Didact Gothic" panose="00000500000000000000"/>
      <p:regular r:id="rId14"/>
    </p:embeddedFont>
    <p:embeddedFont>
      <p:font typeface="Raleway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o Aragón Valderrama" initials="M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 autoAdjust="0"/>
    <p:restoredTop sz="94668"/>
  </p:normalViewPr>
  <p:slideViewPr>
    <p:cSldViewPr snapToGrid="0">
      <p:cViewPr varScale="1">
        <p:scale>
          <a:sx n="125" d="100"/>
          <a:sy n="125" d="100"/>
        </p:scale>
        <p:origin x="16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056151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1318850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1318850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5056153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0" name="Google Shape;30;p5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Random</a:t>
            </a:r>
            <a:r>
              <a:rPr lang="es-ES" dirty="0"/>
              <a:t> Forest</a:t>
            </a:r>
            <a:endParaRPr lang="es-ES" dirty="0"/>
          </a:p>
        </p:txBody>
      </p:sp>
      <p:graphicFrame>
        <p:nvGraphicFramePr>
          <p:cNvPr id="4" name="表格 3"/>
          <p:cNvGraphicFramePr/>
          <p:nvPr/>
        </p:nvGraphicFramePr>
        <p:xfrm>
          <a:off x="295275" y="1088390"/>
          <a:ext cx="45796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9620"/>
              </a:tblGrid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s-ES" altLang="zh-CN" sz="900"/>
                        <a:t>Estrategias</a:t>
                      </a:r>
                      <a:endParaRPr lang="es-E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s-ES" altLang="en-US" sz="900">
                          <a:sym typeface="+mn-ea"/>
                        </a:rPr>
                        <a:t>Base de datos inicial</a:t>
                      </a:r>
                      <a:r>
                        <a:rPr lang="en-US" altLang="zh-CN" sz="900">
                          <a:sym typeface="+mn-ea"/>
                        </a:rPr>
                        <a:t>: dataset completo</a:t>
                      </a:r>
                      <a:endParaRPr lang="en-US" altLang="zh-CN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Reducci</a:t>
                      </a:r>
                      <a:r>
                        <a:rPr lang="en-US" altLang="en-US" sz="900">
                          <a:sym typeface="+mn-ea"/>
                        </a:rPr>
                        <a:t>ó</a:t>
                      </a:r>
                      <a:r>
                        <a:rPr lang="en-US" altLang="zh-CN" sz="900">
                          <a:sym typeface="+mn-ea"/>
                        </a:rPr>
                        <a:t>n 1: varImp + variables significativas </a:t>
                      </a:r>
                      <a:r>
                        <a:rPr lang="en-US" altLang="en-US" sz="900">
                          <a:sym typeface="+mn-ea"/>
                        </a:rPr>
                        <a:t>→</a:t>
                      </a:r>
                      <a:r>
                        <a:rPr lang="en-US" altLang="zh-CN" sz="900">
                          <a:sym typeface="+mn-ea"/>
                        </a:rPr>
                        <a:t> peor que </a:t>
                      </a:r>
                      <a:r>
                        <a:rPr lang="es-ES" altLang="en-US" sz="900">
                          <a:sym typeface="+mn-ea"/>
                        </a:rPr>
                        <a:t>utilizar data_reducido</a:t>
                      </a:r>
                      <a:endParaRPr lang="es-ES" altLang="en-US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Reducci</a:t>
                      </a:r>
                      <a:r>
                        <a:rPr lang="en-US" altLang="en-US" sz="900">
                          <a:sym typeface="+mn-ea"/>
                        </a:rPr>
                        <a:t>ó</a:t>
                      </a:r>
                      <a:r>
                        <a:rPr lang="en-US" altLang="zh-CN" sz="900">
                          <a:sym typeface="+mn-ea"/>
                        </a:rPr>
                        <a:t>n 2: FAMD </a:t>
                      </a:r>
                      <a:r>
                        <a:rPr lang="en-US" altLang="en-US" sz="900">
                          <a:sym typeface="+mn-ea"/>
                        </a:rPr>
                        <a:t>→</a:t>
                      </a:r>
                      <a:r>
                        <a:rPr lang="en-US" altLang="zh-CN" sz="900">
                          <a:sym typeface="+mn-ea"/>
                        </a:rPr>
                        <a:t> overfitting alto</a:t>
                      </a:r>
                      <a:endParaRPr lang="en-US" altLang="zh-CN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Reducci</a:t>
                      </a:r>
                      <a:r>
                        <a:rPr lang="en-US" altLang="en-US" sz="900">
                          <a:sym typeface="+mn-ea"/>
                        </a:rPr>
                        <a:t>ó</a:t>
                      </a:r>
                      <a:r>
                        <a:rPr lang="en-US" altLang="zh-CN" sz="900">
                          <a:sym typeface="+mn-ea"/>
                        </a:rPr>
                        <a:t>n 3: solo variables estad</a:t>
                      </a:r>
                      <a:r>
                        <a:rPr lang="en-US" altLang="en-US" sz="900">
                          <a:sym typeface="+mn-ea"/>
                        </a:rPr>
                        <a:t>í</a:t>
                      </a:r>
                      <a:r>
                        <a:rPr lang="en-US" altLang="zh-CN" sz="900">
                          <a:sym typeface="+mn-ea"/>
                        </a:rPr>
                        <a:t>sticamente significativas </a:t>
                      </a:r>
                      <a:r>
                        <a:rPr lang="en-US" altLang="en-US" sz="900">
                          <a:sym typeface="+mn-ea"/>
                        </a:rPr>
                        <a:t>→</a:t>
                      </a:r>
                      <a:r>
                        <a:rPr lang="en-US" altLang="zh-CN" sz="900">
                          <a:sym typeface="+mn-ea"/>
                        </a:rPr>
                        <a:t> mejor</a:t>
                      </a:r>
                      <a:endParaRPr lang="en-US" altLang="zh-CN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Modelo final: estable, sin overfitting</a:t>
                      </a:r>
                      <a:endParaRPr lang="en-US" altLang="zh-CN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Hiperpar</a:t>
                      </a:r>
                      <a:r>
                        <a:rPr lang="en-US" altLang="en-US" sz="900">
                          <a:sym typeface="+mn-ea"/>
                        </a:rPr>
                        <a:t>á</a:t>
                      </a:r>
                      <a:r>
                        <a:rPr lang="en-US" altLang="zh-CN" sz="900">
                          <a:sym typeface="+mn-ea"/>
                        </a:rPr>
                        <a:t>metros: maxnodes=45, nodesize=20, mtry=5</a:t>
                      </a:r>
                      <a:endParaRPr lang="en-US" altLang="zh-CN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Reproducibilidad: </a:t>
                      </a:r>
                      <a:r>
                        <a:rPr lang="es-ES" sz="900">
                          <a:sym typeface="+mn-ea"/>
                        </a:rPr>
                        <a:t>Seed </a:t>
                      </a:r>
                      <a:r>
                        <a:rPr lang="es-ES" altLang="en-US" sz="900">
                          <a:sym typeface="+mn-ea"/>
                        </a:rPr>
                        <a:t>=</a:t>
                      </a:r>
                      <a:r>
                        <a:rPr lang="en-US" altLang="zh-CN" sz="900">
                          <a:sym typeface="+mn-ea"/>
                        </a:rPr>
                        <a:t> </a:t>
                      </a:r>
                      <a:r>
                        <a:rPr lang="en-US" altLang="zh-CN" sz="900">
                          <a:solidFill>
                            <a:srgbClr val="FF0000"/>
                          </a:solidFill>
                          <a:sym typeface="+mn-ea"/>
                        </a:rPr>
                        <a:t>() </a:t>
                      </a:r>
                      <a:r>
                        <a:rPr lang="en-US" altLang="zh-CN" sz="900">
                          <a:sym typeface="+mn-ea"/>
                        </a:rPr>
                        <a:t>, p </a:t>
                      </a:r>
                      <a:r>
                        <a:rPr lang="es-ES" altLang="en-US" sz="900">
                          <a:sym typeface="+mn-ea"/>
                        </a:rPr>
                        <a:t>=</a:t>
                      </a:r>
                      <a:r>
                        <a:rPr lang="es-ES" altLang="en-US" sz="900">
                          <a:solidFill>
                            <a:srgbClr val="FF0000"/>
                          </a:solidFill>
                          <a:sym typeface="+mn-ea"/>
                        </a:rPr>
                        <a:t> ()</a:t>
                      </a:r>
                      <a:endParaRPr lang="es-ES" altLang="en-US" sz="90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5221678" y="1327669"/>
          <a:ext cx="3552842" cy="27584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76421"/>
                <a:gridCol w="1776421"/>
              </a:tblGrid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KPI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F1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F1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Sprecificity_train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Specificity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295185" y="3094878"/>
          <a:ext cx="4427034" cy="2758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13517"/>
                <a:gridCol w="2213517"/>
              </a:tblGrid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Característica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Balanceo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Umbral de </a:t>
                      </a:r>
                      <a:r>
                        <a:rPr lang="ca-ES" sz="1100" dirty="0" err="1"/>
                        <a:t>discriminación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Escalado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numéricas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Cross </a:t>
                      </a:r>
                      <a:r>
                        <a:rPr lang="ca-ES" sz="1100" dirty="0" err="1"/>
                        <a:t>Validation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Criterio</a:t>
                      </a:r>
                      <a:r>
                        <a:rPr lang="ca-ES" sz="1100" dirty="0"/>
                        <a:t> para dividir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61936">
                <a:tc>
                  <a:txBody>
                    <a:bodyPr/>
                    <a:lstStyle/>
                    <a:p>
                      <a:r>
                        <a:rPr lang="ca-ES" sz="1100" dirty="0" err="1"/>
                        <a:t>Parámetro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complejidad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Cp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total de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de </a:t>
                      </a:r>
                      <a:r>
                        <a:rPr lang="ca-ES" sz="1100" dirty="0" err="1"/>
                        <a:t>hojas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Tamáño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mínimo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hoja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4345305" y="401510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ca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XGBoost</a:t>
            </a:r>
            <a:endParaRPr lang="es-ES" dirty="0"/>
          </a:p>
        </p:txBody>
      </p:sp>
      <p:graphicFrame>
        <p:nvGraphicFramePr>
          <p:cNvPr id="3" name="表格 2"/>
          <p:cNvGraphicFramePr/>
          <p:nvPr/>
        </p:nvGraphicFramePr>
        <p:xfrm>
          <a:off x="704850" y="981075"/>
          <a:ext cx="254381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810"/>
              </a:tblGrid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s-ES" altLang="zh-CN" sz="900"/>
                        <a:t>Estrategias</a:t>
                      </a:r>
                      <a:endParaRPr lang="es-E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Optimizaci</a:t>
                      </a:r>
                      <a:r>
                        <a:rPr lang="en-US" altLang="en-US" sz="900"/>
                        <a:t>ó</a:t>
                      </a:r>
                      <a:r>
                        <a:rPr lang="en-US" altLang="zh-CN" sz="900"/>
                        <a:t>n: F1 como m</a:t>
                      </a:r>
                      <a:r>
                        <a:rPr lang="en-US" altLang="en-US" sz="900"/>
                        <a:t>é</a:t>
                      </a:r>
                      <a:r>
                        <a:rPr lang="en-US" altLang="zh-CN" sz="900"/>
                        <a:t>trica principal</a:t>
                      </a:r>
                      <a:endParaRPr lang="en-US" altLang="zh-CN" sz="900"/>
                    </a:p>
                  </a:txBody>
                  <a:tcPr/>
                </a:tc>
              </a:tr>
              <a:tr h="1689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Umbral: p = </a:t>
                      </a:r>
                      <a:r>
                        <a:rPr lang="es-ES" sz="900" dirty="0">
                          <a:sym typeface="+mn-ea"/>
                        </a:rPr>
                        <a:t>0,2071429</a:t>
                      </a:r>
                      <a:r>
                        <a:rPr lang="en-US" altLang="zh-CN" sz="900">
                          <a:sym typeface="+mn-ea"/>
                        </a:rPr>
                        <a:t> </a:t>
                      </a:r>
                      <a:r>
                        <a:rPr lang="en-US" altLang="en-US" sz="900">
                          <a:sym typeface="+mn-ea"/>
                        </a:rPr>
                        <a:t>→</a:t>
                      </a:r>
                      <a:r>
                        <a:rPr lang="en-US" altLang="zh-CN" sz="900">
                          <a:sym typeface="+mn-ea"/>
                        </a:rPr>
                        <a:t> priorizar Recall</a:t>
                      </a:r>
                      <a:endParaRPr lang="zh-CN" altLang="en-US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Feature engineering: hasBalance (Balance=0)</a:t>
                      </a:r>
                      <a:endParaRPr lang="en-US" altLang="zh-CN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Variable eliminada: Balance original</a:t>
                      </a:r>
                      <a:endParaRPr lang="en-US" altLang="zh-CN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Tuning: b</a:t>
                      </a:r>
                      <a:r>
                        <a:rPr lang="en-US" altLang="en-US" sz="900">
                          <a:sym typeface="+mn-ea"/>
                        </a:rPr>
                        <a:t>ú</a:t>
                      </a:r>
                      <a:r>
                        <a:rPr lang="en-US" altLang="zh-CN" sz="900">
                          <a:sym typeface="+mn-ea"/>
                        </a:rPr>
                        <a:t>squeda de hiperpar</a:t>
                      </a:r>
                      <a:r>
                        <a:rPr lang="en-US" altLang="en-US" sz="900">
                          <a:sym typeface="+mn-ea"/>
                        </a:rPr>
                        <a:t>á</a:t>
                      </a:r>
                      <a:r>
                        <a:rPr lang="en-US" altLang="zh-CN" sz="900">
                          <a:sym typeface="+mn-ea"/>
                        </a:rPr>
                        <a:t>metros (grid)</a:t>
                      </a:r>
                      <a:endParaRPr lang="en-US" altLang="en-US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Caso Melissa: evaluado</a:t>
                      </a:r>
                      <a:r>
                        <a:rPr lang="es-ES" altLang="en-US" sz="900">
                          <a:sym typeface="+mn-ea"/>
                        </a:rPr>
                        <a:t> (?)</a:t>
                      </a:r>
                      <a:endParaRPr lang="es-ES" altLang="en-US" sz="900">
                        <a:sym typeface="+mn-ea"/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>
                          <a:sym typeface="+mn-ea"/>
                        </a:rPr>
                        <a:t>Reproducibilidad: sensibilidad a seed</a:t>
                      </a:r>
                      <a:endParaRPr lang="en-US" altLang="zh-CN" sz="9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5221678" y="1327669"/>
          <a:ext cx="3552842" cy="27584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76421"/>
                <a:gridCol w="1776421"/>
              </a:tblGrid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KPI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F1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F1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Sprecificity_train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Specificity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sz="11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00" y="508144"/>
            <a:ext cx="7704000" cy="572700"/>
          </a:xfrm>
        </p:spPr>
        <p:txBody>
          <a:bodyPr/>
          <a:lstStyle/>
          <a:p>
            <a:r>
              <a:rPr lang="es-ES" noProof="0" dirty="0"/>
              <a:t>GLM</a:t>
            </a:r>
            <a:endParaRPr lang="es-ES" noProof="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369480" y="1499123"/>
          <a:ext cx="4427034" cy="2758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13517"/>
                <a:gridCol w="2213517"/>
              </a:tblGrid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Característica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Balanceo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 (ROSE: 43-57)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Umbral de </a:t>
                      </a:r>
                      <a:r>
                        <a:rPr lang="ca-ES" sz="1100" dirty="0" err="1"/>
                        <a:t>discriminación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0.43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Escalado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numéricas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Cross </a:t>
                      </a:r>
                      <a:r>
                        <a:rPr lang="ca-ES" sz="1100" dirty="0" err="1"/>
                        <a:t>Validation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 (10 </a:t>
                      </a:r>
                      <a:r>
                        <a:rPr lang="ca-ES" sz="1100" dirty="0" err="1"/>
                        <a:t>folds</a:t>
                      </a:r>
                      <a:r>
                        <a:rPr lang="ca-ES" sz="1100" dirty="0"/>
                        <a:t>)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Criterio</a:t>
                      </a:r>
                      <a:r>
                        <a:rPr lang="ca-ES" sz="1100" dirty="0"/>
                        <a:t> para dividir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 err="1"/>
                        <a:t>Índice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Gini</a:t>
                      </a:r>
                      <a:endParaRPr lang="ca-ES" sz="1100" dirty="0"/>
                    </a:p>
                  </a:txBody>
                  <a:tcPr/>
                </a:tc>
              </a:tr>
              <a:tr h="361936">
                <a:tc>
                  <a:txBody>
                    <a:bodyPr/>
                    <a:lstStyle/>
                    <a:p>
                      <a:r>
                        <a:rPr lang="ca-ES" sz="1100" dirty="0" err="1"/>
                        <a:t>Parámetro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complejidad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Cp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 err="1"/>
                        <a:t>Optimizado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vía</a:t>
                      </a:r>
                      <a:r>
                        <a:rPr lang="ca-ES" sz="1100" dirty="0"/>
                        <a:t> CV=&gt; </a:t>
                      </a:r>
                      <a:r>
                        <a:rPr lang="es-ES" sz="1100" dirty="0"/>
                        <a:t>0.004039924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total de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27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de </a:t>
                      </a:r>
                      <a:r>
                        <a:rPr lang="ca-ES" sz="1100" dirty="0" err="1"/>
                        <a:t>hojas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14</a:t>
                      </a:r>
                      <a:endParaRPr lang="ca-ES" sz="1100" dirty="0"/>
                    </a:p>
                  </a:txBody>
                  <a:tcPr/>
                </a:tc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Tamáño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mínimo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hoja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15</a:t>
                      </a:r>
                      <a:endParaRPr lang="ca-E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ca-ES"/>
          </a:p>
        </p:txBody>
      </p:sp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5221678" y="1499119"/>
          <a:ext cx="3552842" cy="27584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76421"/>
                <a:gridCol w="1776421"/>
              </a:tblGrid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KPI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F1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</a:t>
                      </a:r>
                      <a:r>
                        <a:rPr lang="en-US" sz="1100" dirty="0">
                          <a:sym typeface="+mn-ea"/>
                        </a:rPr>
                        <a:t>4689713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/>
                        <a:t>F1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</a:t>
                      </a:r>
                      <a:r>
                        <a:rPr lang="en-US" sz="1100" dirty="0">
                          <a:sym typeface="+mn-ea"/>
                        </a:rPr>
                        <a:t>4839024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</a:t>
                      </a:r>
                      <a:r>
                        <a:rPr lang="en-US" sz="1100" dirty="0">
                          <a:sym typeface="+mn-ea"/>
                        </a:rPr>
                        <a:t>5546798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</a:t>
                      </a:r>
                      <a:r>
                        <a:rPr lang="en-US" sz="1100" dirty="0">
                          <a:sym typeface="+mn-ea"/>
                        </a:rPr>
                        <a:t>5701149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Sprecificity_train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</a:t>
                      </a:r>
                      <a:r>
                        <a:rPr lang="en-US" sz="1100" dirty="0">
                          <a:sym typeface="+mn-ea"/>
                        </a:rPr>
                        <a:t>7881596 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Specificity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</a:t>
                      </a:r>
                      <a:r>
                        <a:rPr lang="en-US" sz="1100" dirty="0">
                          <a:sym typeface="+mn-ea"/>
                        </a:rPr>
                        <a:t>7945946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</a:t>
                      </a:r>
                      <a:r>
                        <a:rPr lang="en-US" sz="1100" dirty="0">
                          <a:sym typeface="+mn-ea"/>
                        </a:rPr>
                        <a:t>7397959 </a:t>
                      </a:r>
                      <a:endParaRPr lang="ca-ES" sz="1100" dirty="0"/>
                    </a:p>
                  </a:txBody>
                  <a:tcPr/>
                </a:tc>
              </a:tr>
              <a:tr h="30670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test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</a:t>
                      </a:r>
                      <a:r>
                        <a:rPr lang="en-US" sz="1100" dirty="0">
                          <a:sym typeface="+mn-ea"/>
                        </a:rPr>
                        <a:t>7480952 </a:t>
                      </a:r>
                      <a:endParaRPr lang="ca-ES" sz="11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369570" y="0"/>
          <a:ext cx="3425190" cy="2064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5190"/>
              </a:tblGrid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s-ES" altLang="zh-CN" sz="900"/>
                        <a:t>Estrategias</a:t>
                      </a:r>
                      <a:endParaRPr lang="es-E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Enlaces probados: logit / probit / cloglog / cauchy</a:t>
                      </a:r>
                      <a:endParaRPr lang="en-US" altLang="zh-CN" sz="900"/>
                    </a:p>
                  </a:txBody>
                  <a:tcPr/>
                </a:tc>
              </a:tr>
              <a:tr h="2355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Comparaci</a:t>
                      </a:r>
                      <a:r>
                        <a:rPr lang="en-US" altLang="en-US" sz="900"/>
                        <a:t>ó</a:t>
                      </a:r>
                      <a:r>
                        <a:rPr lang="en-US" altLang="zh-CN" sz="900"/>
                        <a:t>n: diferencias peque</a:t>
                      </a:r>
                      <a:r>
                        <a:rPr lang="en-US" altLang="en-US" sz="900"/>
                        <a:t>ñ</a:t>
                      </a:r>
                      <a:r>
                        <a:rPr lang="en-US" altLang="zh-CN" sz="900"/>
                        <a:t>as </a:t>
                      </a:r>
                      <a:r>
                        <a:rPr lang="en-US" altLang="en-US" sz="900"/>
                        <a:t>→</a:t>
                      </a:r>
                      <a:r>
                        <a:rPr lang="en-US" altLang="zh-CN" sz="900"/>
                        <a:t> elecci</a:t>
                      </a:r>
                      <a:r>
                        <a:rPr lang="en-US" altLang="en-US" sz="900"/>
                        <a:t>ó</a:t>
                      </a:r>
                      <a:r>
                        <a:rPr lang="en-US" altLang="zh-CN" sz="900"/>
                        <a:t>n por simplicidad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Modelo final: cloglog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Datasets: reducido + reducido_plus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Mejor rendimiento: reducido (menos ruido)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Preproceso: scale + dummies (categ</a:t>
                      </a:r>
                      <a:r>
                        <a:rPr lang="en-US" altLang="en-US" sz="900"/>
                        <a:t>ó</a:t>
                      </a:r>
                      <a:r>
                        <a:rPr lang="en-US" altLang="zh-CN" sz="900"/>
                        <a:t>ricas)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Umbral </a:t>
                      </a:r>
                      <a:r>
                        <a:rPr lang="en-US" altLang="en-US" sz="900"/>
                        <a:t>ó</a:t>
                      </a:r>
                      <a:r>
                        <a:rPr lang="en-US" altLang="zh-CN" sz="900"/>
                        <a:t>ptimo (F1): p = 0.26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Reproducibilidad: seed = 666</a:t>
                      </a:r>
                      <a:endParaRPr lang="en-US" altLang="zh-CN" sz="9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SVM</a:t>
            </a:r>
            <a:endParaRPr lang="es-ES" dirty="0"/>
          </a:p>
        </p:txBody>
      </p:sp>
      <p:graphicFrame>
        <p:nvGraphicFramePr>
          <p:cNvPr id="3" name="表格 2"/>
          <p:cNvGraphicFramePr/>
          <p:nvPr/>
        </p:nvGraphicFramePr>
        <p:xfrm>
          <a:off x="482600" y="1111885"/>
          <a:ext cx="3200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</a:tblGrid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Estrategia</a:t>
                      </a:r>
                      <a:r>
                        <a:rPr lang="es-ES" altLang="en-US" sz="900"/>
                        <a:t>s</a:t>
                      </a:r>
                      <a:endParaRPr lang="es-ES" altLang="en-US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Dataset: </a:t>
                      </a:r>
                      <a:r>
                        <a:rPr lang="es-ES" altLang="en-US" sz="900"/>
                        <a:t>data_</a:t>
                      </a:r>
                      <a:r>
                        <a:rPr lang="en-US" altLang="zh-CN" sz="900"/>
                        <a:t>reducido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s-ES" altLang="zh-CN" sz="900"/>
                        <a:t>P</a:t>
                      </a:r>
                      <a:r>
                        <a:rPr lang="en-US" altLang="zh-CN" sz="900"/>
                        <a:t>reproceso: scale + dummies (categ</a:t>
                      </a:r>
                      <a:r>
                        <a:rPr lang="en-US" altLang="en-US" sz="900"/>
                        <a:t>ó</a:t>
                      </a:r>
                      <a:r>
                        <a:rPr lang="en-US" altLang="zh-CN" sz="900"/>
                        <a:t>ricas)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Tuning: gamma = 0.02, C = 10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Umbral </a:t>
                      </a:r>
                      <a:r>
                        <a:rPr lang="en-US" altLang="en-US" sz="900"/>
                        <a:t>ó</a:t>
                      </a:r>
                      <a:r>
                        <a:rPr lang="en-US" altLang="zh-CN" sz="900"/>
                        <a:t>ptimo (F1): p = </a:t>
                      </a:r>
                      <a:r>
                        <a:rPr lang="es-ES" altLang="en-US" sz="900">
                          <a:solidFill>
                            <a:srgbClr val="FF0000"/>
                          </a:solidFill>
                        </a:rPr>
                        <a:t>()</a:t>
                      </a:r>
                      <a:endParaRPr lang="es-ES" altLang="en-US" sz="9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Reproducibilidad: sensibilidad a seed</a:t>
                      </a:r>
                      <a:endParaRPr lang="en-US" altLang="zh-CN" sz="900"/>
                    </a:p>
                  </a:txBody>
                  <a:tcPr/>
                </a:tc>
              </a:tr>
              <a:tr h="228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900"/>
                        <a:t>Criterio pr</a:t>
                      </a:r>
                      <a:r>
                        <a:rPr lang="en-US" altLang="en-US" sz="900"/>
                        <a:t>á</a:t>
                      </a:r>
                      <a:r>
                        <a:rPr lang="en-US" altLang="zh-CN" sz="900"/>
                        <a:t>ctico: priorizar Recall si F1 se mantiene estable</a:t>
                      </a:r>
                      <a:endParaRPr lang="en-US" altLang="zh-CN" sz="9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Mejores modelos i métodos</a:t>
            </a:r>
            <a:endParaRPr lang="es-ES" dirty="0"/>
          </a:p>
        </p:txBody>
      </p:sp>
      <p:sp>
        <p:nvSpPr>
          <p:cNvPr id="4" name="文本框 3"/>
          <p:cNvSpPr txBox="1"/>
          <p:nvPr/>
        </p:nvSpPr>
        <p:spPr>
          <a:xfrm>
            <a:off x="1078230" y="1410335"/>
            <a:ext cx="7020560" cy="3250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2000"/>
              <a:t>Opci</a:t>
            </a:r>
            <a:r>
              <a:rPr lang="en-US" altLang="en-US" sz="2000"/>
              <a:t>ó</a:t>
            </a:r>
            <a:r>
              <a:rPr lang="en-US" altLang="zh-CN" sz="2000"/>
              <a:t>n preferida: </a:t>
            </a:r>
            <a:r>
              <a:rPr lang="en-US" altLang="zh-CN" sz="2000" b="1"/>
              <a:t>XGBoost</a:t>
            </a:r>
            <a:endParaRPr lang="en-US" altLang="zh-CN" sz="2000"/>
          </a:p>
          <a:p>
            <a:pPr algn="l"/>
            <a:endParaRPr lang="en-US" altLang="zh-CN" sz="2000"/>
          </a:p>
          <a:p>
            <a:pPr algn="l"/>
            <a:r>
              <a:rPr lang="es-ES" altLang="en-US" sz="2000"/>
              <a:t>Motivos:</a:t>
            </a:r>
            <a:endParaRPr lang="es-ES" altLang="en-US" sz="2000"/>
          </a:p>
          <a:p>
            <a:pPr algn="l"/>
            <a:r>
              <a:rPr lang="es-ES" altLang="en-US" sz="2000"/>
              <a:t>1. M</a:t>
            </a:r>
            <a:r>
              <a:rPr lang="en-US" altLang="zh-CN" sz="2000"/>
              <a:t>ejor Recall (prioridad del proyecto)</a:t>
            </a:r>
            <a:endParaRPr lang="en-US" altLang="zh-CN" sz="2000"/>
          </a:p>
          <a:p>
            <a:pPr algn="l"/>
            <a:r>
              <a:rPr lang="es-ES" altLang="en-US" sz="2000"/>
              <a:t>2. </a:t>
            </a:r>
            <a:r>
              <a:rPr lang="en-US" altLang="zh-CN" sz="2000"/>
              <a:t>F1 similar vs alternativas</a:t>
            </a:r>
            <a:endParaRPr lang="en-US" altLang="zh-CN" sz="2000"/>
          </a:p>
          <a:p>
            <a:pPr algn="l"/>
            <a:r>
              <a:rPr lang="es-ES" altLang="en-US" sz="2000"/>
              <a:t>3. M</a:t>
            </a:r>
            <a:r>
              <a:rPr lang="en-US" altLang="en-US" sz="2000"/>
              <a:t>á</a:t>
            </a:r>
            <a:r>
              <a:rPr lang="en-US" altLang="zh-CN" sz="2000"/>
              <a:t>s estable (menos variaci</a:t>
            </a:r>
            <a:r>
              <a:rPr lang="en-US" altLang="en-US" sz="2000"/>
              <a:t>ó</a:t>
            </a:r>
            <a:r>
              <a:rPr lang="en-US" altLang="zh-CN" sz="2000"/>
              <a:t>n)</a:t>
            </a:r>
            <a:endParaRPr lang="en-US" altLang="zh-CN" sz="2000"/>
          </a:p>
          <a:p>
            <a:pPr algn="l"/>
            <a:r>
              <a:rPr lang="es-ES" altLang="en-US" sz="2000"/>
              <a:t>4. C</a:t>
            </a:r>
            <a:r>
              <a:rPr lang="en-US" altLang="zh-CN" sz="2000"/>
              <a:t>omputacionalmente menos costoso</a:t>
            </a:r>
            <a:endParaRPr lang="en-US" altLang="zh-CN" sz="2000"/>
          </a:p>
          <a:p>
            <a:pPr algn="l"/>
            <a:endParaRPr lang="en-US" altLang="zh-CN" sz="2000"/>
          </a:p>
          <a:p>
            <a:pPr algn="l"/>
            <a:r>
              <a:rPr lang="en-US" altLang="zh-CN" sz="2000"/>
              <a:t>Criterio final: </a:t>
            </a:r>
            <a:endParaRPr lang="en-US" altLang="zh-CN" sz="2000"/>
          </a:p>
          <a:p>
            <a:pPr algn="l"/>
            <a:r>
              <a:rPr lang="en-US" altLang="zh-CN" sz="2000"/>
              <a:t>maximizar Recall manteniendo F1 aceptable</a:t>
            </a:r>
            <a:endParaRPr lang="en-US" altLang="zh-CN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0</TotalTime>
  <Words>2328</Words>
  <Application>WPS 演示</Application>
  <PresentationFormat>On-screen Show (16:9)</PresentationFormat>
  <Paragraphs>223</Paragraphs>
  <Slides>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Arial</vt:lpstr>
      <vt:lpstr>Poppins</vt:lpstr>
      <vt:lpstr>Didact Gothic</vt:lpstr>
      <vt:lpstr>Libre Franklin</vt:lpstr>
      <vt:lpstr>Raleway</vt:lpstr>
      <vt:lpstr>Arial Black</vt:lpstr>
      <vt:lpstr>ui-sans-serif</vt:lpstr>
      <vt:lpstr>Segoe Print</vt:lpstr>
      <vt:lpstr>Arial Rounded MT Bold</vt:lpstr>
      <vt:lpstr>微软雅黑</vt:lpstr>
      <vt:lpstr>Arial Unicode MS</vt:lpstr>
      <vt:lpstr>Cycle Diagrams Theme for a Business Plan by Slidesgo</vt:lpstr>
      <vt:lpstr>Random Forest</vt:lpstr>
      <vt:lpstr>XGBoost</vt:lpstr>
      <vt:lpstr>GLM</vt:lpstr>
      <vt:lpstr>SVM</vt:lpstr>
      <vt:lpstr>Mejores modelos i métodos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clasificación  GRUPO 5</dc:title>
  <dc:creator>Mario Aragón Valderrama</dc:creator>
  <cp:lastModifiedBy>Senri</cp:lastModifiedBy>
  <cp:revision>27</cp:revision>
  <dcterms:created xsi:type="dcterms:W3CDTF">2025-12-15T06:46:00Z</dcterms:created>
  <dcterms:modified xsi:type="dcterms:W3CDTF">2025-12-16T01:02:37Z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060FF5A1F8DE40999C85C594E7927946_12</vt:lpwstr>
  </property>
  <property fmtid="{D5CDD505-2E9C-101B-9397-08002B2CF9AE}" pid="3" name="KSOProductBuildVer">
    <vt:lpwstr>2052-12.1.0.24034</vt:lpwstr>
  </property>
</Properties>
</file>